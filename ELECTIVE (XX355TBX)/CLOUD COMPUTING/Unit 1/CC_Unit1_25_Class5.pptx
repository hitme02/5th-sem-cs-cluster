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30"/>
  </p:notesMasterIdLst>
  <p:handoutMasterIdLst>
    <p:handoutMasterId r:id="rId31"/>
  </p:handoutMasterIdLst>
  <p:sldIdLst>
    <p:sldId id="307" r:id="rId2"/>
    <p:sldId id="308"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3" r:id="rId26"/>
    <p:sldId id="334" r:id="rId27"/>
    <p:sldId id="331" r:id="rId28"/>
    <p:sldId id="332"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59" autoAdjust="0"/>
    <p:restoredTop sz="84239" autoAdjust="0"/>
  </p:normalViewPr>
  <p:slideViewPr>
    <p:cSldViewPr snapToGrid="0">
      <p:cViewPr varScale="1">
        <p:scale>
          <a:sx n="106" d="100"/>
          <a:sy n="106" d="100"/>
        </p:scale>
        <p:origin x="1037" y="77"/>
      </p:cViewPr>
      <p:guideLst>
        <p:guide orient="horz" pos="1620"/>
        <p:guide pos="2880"/>
      </p:guideLst>
    </p:cSldViewPr>
  </p:slideViewPr>
  <p:notesTextViewPr>
    <p:cViewPr>
      <p:scale>
        <a:sx n="1" d="1"/>
        <a:sy n="1" d="1"/>
      </p:scale>
      <p:origin x="0" y="0"/>
    </p:cViewPr>
  </p:notesTextViewPr>
  <p:notesViewPr>
    <p:cSldViewPr snapToGrid="0">
      <p:cViewPr varScale="1">
        <p:scale>
          <a:sx n="75" d="100"/>
          <a:sy n="75" d="100"/>
        </p:scale>
        <p:origin x="3066" y="2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7190C68C-FA64-8808-59DE-D20750CB28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3432E8D8-7C75-199D-4858-76BD8D21FA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FA7656-CE36-42D4-983C-4D4DD8F88F38}" type="datetimeFigureOut">
              <a:rPr lang="en-IN" smtClean="0"/>
              <a:t>19-11-2024</a:t>
            </a:fld>
            <a:endParaRPr lang="en-IN"/>
          </a:p>
        </p:txBody>
      </p:sp>
      <p:sp>
        <p:nvSpPr>
          <p:cNvPr id="4" name="Footer Placeholder 3">
            <a:extLst>
              <a:ext uri="{FF2B5EF4-FFF2-40B4-BE49-F238E27FC236}">
                <a16:creationId xmlns:a16="http://schemas.microsoft.com/office/drawing/2014/main" xmlns="" id="{1556F7F8-ABCC-1CF9-9524-CB2DCB43F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EA8C5AE9-6173-1EE2-0EB9-92FBC6A520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7CBDB4-C371-461E-B20D-3E2505CBC0CB}" type="slidenum">
              <a:rPr lang="en-IN" smtClean="0"/>
              <a:t>‹#›</a:t>
            </a:fld>
            <a:endParaRPr lang="en-IN"/>
          </a:p>
        </p:txBody>
      </p:sp>
    </p:spTree>
    <p:extLst>
      <p:ext uri="{BB962C8B-B14F-4D97-AF65-F5344CB8AC3E}">
        <p14:creationId xmlns:p14="http://schemas.microsoft.com/office/powerpoint/2010/main" val="32893467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960111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681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7872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3130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0400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844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2226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125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5449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7592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42707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6548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1887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3576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8904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6853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8457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081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2114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82139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7047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3588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2402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0395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7149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2254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60387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77238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5376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53250" y="222097"/>
            <a:ext cx="85206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7" name="Google Shape;17;p3"/>
          <p:cNvSpPr txBox="1">
            <a:spLocks noGrp="1"/>
          </p:cNvSpPr>
          <p:nvPr>
            <p:ph type="body" idx="1"/>
          </p:nvPr>
        </p:nvSpPr>
        <p:spPr>
          <a:xfrm>
            <a:off x="253250" y="1857500"/>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9" name="Google Shape;19;p3"/>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8" name="Group 7">
            <a:extLst>
              <a:ext uri="{FF2B5EF4-FFF2-40B4-BE49-F238E27FC236}">
                <a16:creationId xmlns:a16="http://schemas.microsoft.com/office/drawing/2014/main" xmlns="" id="{1A191C25-1A3C-0ABA-1BDF-1963DBAC3409}"/>
              </a:ext>
            </a:extLst>
          </p:cNvPr>
          <p:cNvGrpSpPr/>
          <p:nvPr userDrawn="1"/>
        </p:nvGrpSpPr>
        <p:grpSpPr>
          <a:xfrm>
            <a:off x="0" y="0"/>
            <a:ext cx="9144000" cy="5143500"/>
            <a:chOff x="0" y="0"/>
            <a:chExt cx="9144000" cy="5143500"/>
          </a:xfrm>
        </p:grpSpPr>
        <p:sp>
          <p:nvSpPr>
            <p:cNvPr id="7" name="Rectangle 6">
              <a:extLst>
                <a:ext uri="{FF2B5EF4-FFF2-40B4-BE49-F238E27FC236}">
                  <a16:creationId xmlns:a16="http://schemas.microsoft.com/office/drawing/2014/main" xmlns="" id="{C8D4B067-D304-59F5-C1BC-25D90471A9F8}"/>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xmlns="" id="{88F6D0E5-7268-8606-D4CC-27D4078965D9}"/>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extLst>
    <p:ext uri="{DCECCB84-F9BA-43D5-87BE-67443E8EF086}">
      <p15:sldGuideLst xmlns:p15="http://schemas.microsoft.com/office/powerpoint/2012/main">
        <p15:guide id="1" orient="horz" pos="41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71238" y="219909"/>
            <a:ext cx="85206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22" name="Google Shape;22;p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62A04933-B448-B54B-368F-D9864F99C3A4}"/>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2A9F246C-D9AB-75C5-258E-893E4432839C}"/>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8D5432EC-B246-6FD2-286E-8AEAD1C2DE1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4A779A5B-3A79-3A99-AE59-E12991F27693}"/>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F4586A1D-9758-264A-C18A-C7281B9C77C6}"/>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C6F9681E-7DB4-ECC6-58A3-5C8DA42E0C32}"/>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830C0281-BB4E-BC14-1020-F038B28DD42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30FD36F3-82E4-9820-7B3C-EEEDB9BF4D4E}"/>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63E1900F-C300-4F53-0B26-090E6E9EE205}"/>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620A2E88-C0C5-F3E1-BFDE-CCAFCC8CAECD}"/>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78143065-A6F6-FC7E-E618-2984DF46D117}"/>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1603F88D-723E-D5A2-5042-938B1131CB19}"/>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4C6107CA-D479-DBD9-442B-86DAA3339DF7}"/>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DF8C45B5-43CE-0687-BBDC-28955F0D65E0}"/>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5DF10958-A5EA-E472-8211-7F522F2CB3A3}"/>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9E3FEB3E-4F61-44F2-9AAE-1A3F0BC4987E}"/>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4B80D59B-9DFE-4595-F8A3-0013247AD4D0}"/>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EE62799D-B28B-3CB1-D50D-DD86F6B6AF93}"/>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7463A03A-9863-B929-6FD2-F2BEBAA76FAB}"/>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EE93E7E5-1903-8F06-EB29-347874908DDD}"/>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29DD75D0-7AAD-DBAE-B237-73B7EEE84BA0}"/>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61EBF5A7-032C-2FEC-A530-5DDAED5DFD38}"/>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5D710205-E448-248A-F1A8-714D3E07A8E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C3ED8E06-7678-1E49-4DD3-8274B819AD4B}"/>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8C6D8B5F-E71F-89BC-8E87-3A30BD1A4CC9}"/>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C1D23F59-17D7-E341-3EEF-E0BB0BF998D9}"/>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B515A719-DA34-2E01-979A-46397BB11384}"/>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22B0660F-D9C4-5DA1-78EE-8553930B3A5E}"/>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FC28A863-5B0F-9BCA-A385-49253AD43076}"/>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D7D09F3A-36FC-0746-667D-6B93C1215C86}"/>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778F927E-55A4-6336-27F0-54CC04169F90}"/>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5E7FB4EA-C9D5-7BAD-842D-836A077342B2}"/>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37051" y="168324"/>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2">
            <a:alphaModFix/>
          </a:blip>
          <a:stretch>
            <a:fillRect/>
          </a:stretch>
        </p:blipFill>
        <p:spPr>
          <a:xfrm>
            <a:off x="216000" y="216000"/>
            <a:ext cx="1507681" cy="647999"/>
          </a:xfrm>
          <a:prstGeom prst="rect">
            <a:avLst/>
          </a:prstGeom>
          <a:noFill/>
          <a:ln>
            <a:noFill/>
          </a:ln>
        </p:spPr>
      </p:pic>
      <p:sp>
        <p:nvSpPr>
          <p:cNvPr id="5" name="Rectangle 4">
            <a:extLst>
              <a:ext uri="{FF2B5EF4-FFF2-40B4-BE49-F238E27FC236}">
                <a16:creationId xmlns:a16="http://schemas.microsoft.com/office/drawing/2014/main" xmlns="" id="{6E59EC21-A6EB-AA16-2565-465E8F414E64}"/>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754874"/>
          </a:xfrm>
          <a:prstGeom prst="rect">
            <a:avLst/>
          </a:prstGeom>
        </p:spPr>
        <p:txBody>
          <a:bodyPr wrap="square">
            <a:spAutoFit/>
          </a:bodyPr>
          <a:lstStyle/>
          <a:p>
            <a:pPr marL="285750" indent="-285750" algn="just">
              <a:buFont typeface="Arial" panose="020B0604020202020204" pitchFamily="34" charset="0"/>
              <a:buChar char="•"/>
            </a:pPr>
            <a:r>
              <a:rPr lang="en-US" b="1" dirty="0">
                <a:solidFill>
                  <a:srgbClr val="C00000"/>
                </a:solidFill>
                <a:latin typeface="Times New Roman" panose="02020603050405020304" pitchFamily="18" charset="0"/>
                <a:cs typeface="Times New Roman" panose="02020603050405020304" pitchFamily="18" charset="0"/>
              </a:rPr>
              <a:t>Identity as a Service</a:t>
            </a:r>
            <a:r>
              <a:rPr lang="en-US" dirty="0">
                <a:solidFill>
                  <a:srgbClr val="C00000"/>
                </a:solidFill>
                <a:latin typeface="Times New Roman" panose="02020603050405020304" pitchFamily="18" charset="0"/>
                <a:cs typeface="Times New Roman" panose="02020603050405020304" pitchFamily="18" charset="0"/>
              </a:rPr>
              <a:t>, or </a:t>
            </a:r>
            <a:r>
              <a:rPr lang="en-US" dirty="0" smtClean="0">
                <a:solidFill>
                  <a:srgbClr val="C00000"/>
                </a:solidFill>
                <a:latin typeface="Times New Roman" panose="02020603050405020304" pitchFamily="18" charset="0"/>
                <a:cs typeface="Times New Roman" panose="02020603050405020304" pitchFamily="18" charset="0"/>
              </a:rPr>
              <a:t> </a:t>
            </a:r>
            <a:r>
              <a:rPr lang="en-US" dirty="0" err="1" smtClean="0">
                <a:solidFill>
                  <a:srgbClr val="C00000"/>
                </a:solidFill>
                <a:latin typeface="Times New Roman" panose="02020603050405020304" pitchFamily="18" charset="0"/>
                <a:cs typeface="Times New Roman" panose="02020603050405020304" pitchFamily="18" charset="0"/>
              </a:rPr>
              <a:t>IDaaS</a:t>
            </a:r>
            <a:r>
              <a:rPr lang="en-US" dirty="0" smtClean="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companies supply cloud-based authentication or identity management to enterprises who subscribe</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IDaaS</a:t>
            </a:r>
            <a:r>
              <a:rPr lang="en-US" dirty="0">
                <a:solidFill>
                  <a:srgbClr val="C00000"/>
                </a:solidFill>
                <a:latin typeface="Times New Roman" panose="02020603050405020304" pitchFamily="18" charset="0"/>
                <a:cs typeface="Times New Roman" panose="02020603050405020304" pitchFamily="18" charset="0"/>
              </a:rPr>
              <a:t> companies supply cloud-based authentication or identity management to enterprises who subscribe. </a:t>
            </a:r>
            <a:r>
              <a:rPr lang="en-US" b="1" dirty="0">
                <a:solidFill>
                  <a:srgbClr val="C00000"/>
                </a:solidFill>
                <a:latin typeface="Times New Roman" panose="02020603050405020304" pitchFamily="18" charset="0"/>
                <a:cs typeface="Times New Roman" panose="02020603050405020304" pitchFamily="18" charset="0"/>
              </a:rPr>
              <a:t>The X-as-a-service</a:t>
            </a:r>
            <a:r>
              <a:rPr lang="en-US" dirty="0">
                <a:solidFill>
                  <a:srgbClr val="C00000"/>
                </a:solidFill>
                <a:latin typeface="Times New Roman" panose="02020603050405020304" pitchFamily="18" charset="0"/>
                <a:cs typeface="Times New Roman" panose="02020603050405020304" pitchFamily="18" charset="0"/>
              </a:rPr>
              <a:t> model in information technology is easy to understand</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The X-as-a-service model in information technology is easy to understand. It means some feature is being delivered or served to a company through a remote connection from a third-party provider, as opposed to a feature being managed on site and by in-house personnel alone.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Think </a:t>
            </a:r>
            <a:r>
              <a:rPr lang="en-US" dirty="0">
                <a:solidFill>
                  <a:srgbClr val="002060"/>
                </a:solidFill>
                <a:latin typeface="Times New Roman" panose="02020603050405020304" pitchFamily="18" charset="0"/>
                <a:cs typeface="Times New Roman" panose="02020603050405020304" pitchFamily="18" charset="0"/>
              </a:rPr>
              <a:t>of local email, such as Microsoft Outlook or Thunderbird, operating primarily on one's own computer versus cloud email, such as Gmail, being provided to users as a service through web connections. Identity, security, and other features can similarly be provided as a service</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fontAlgn="base">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The goal of an Identity Service is to ensure users are who they claim to be, and to give them the right kinds of access to software applications, files, or other resources at the right times. If the infrastructure to make this happen is built on site, then the company has to figure out what to do every time a problem comes up. </a:t>
            </a:r>
            <a:endParaRPr lang="en-US"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46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970318"/>
          </a:xfrm>
          <a:prstGeom prst="rect">
            <a:avLst/>
          </a:prstGeom>
        </p:spPr>
        <p:txBody>
          <a:bodyPr wrap="square">
            <a:spAutoFit/>
          </a:bodyPr>
          <a:lstStyle/>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If </a:t>
            </a:r>
            <a:r>
              <a:rPr lang="en-US" b="1" dirty="0">
                <a:solidFill>
                  <a:srgbClr val="C00000"/>
                </a:solidFill>
                <a:latin typeface="Times New Roman" panose="02020603050405020304" pitchFamily="18" charset="0"/>
                <a:cs typeface="Times New Roman" panose="02020603050405020304" pitchFamily="18" charset="0"/>
              </a:rPr>
              <a:t>Bring Your Own Device (BYOD) </a:t>
            </a:r>
            <a:r>
              <a:rPr lang="en-US" dirty="0">
                <a:solidFill>
                  <a:srgbClr val="C00000"/>
                </a:solidFill>
                <a:latin typeface="Times New Roman" panose="02020603050405020304" pitchFamily="18" charset="0"/>
                <a:cs typeface="Times New Roman" panose="02020603050405020304" pitchFamily="18" charset="0"/>
              </a:rPr>
              <a:t>employees are changing to different types of phones, for example, the local identity provisioning has to adapt immediately.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It </a:t>
            </a:r>
            <a:r>
              <a:rPr lang="en-US" dirty="0">
                <a:solidFill>
                  <a:srgbClr val="C00000"/>
                </a:solidFill>
                <a:latin typeface="Times New Roman" panose="02020603050405020304" pitchFamily="18" charset="0"/>
                <a:cs typeface="Times New Roman" panose="02020603050405020304" pitchFamily="18" charset="0"/>
              </a:rPr>
              <a:t>is much simpler to implement a centralized cloud-based system created by identity experts who have already solved such problems for hundreds of organizations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fontAlgn="base">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Services </a:t>
            </a:r>
            <a:r>
              <a:rPr lang="en-US" dirty="0">
                <a:solidFill>
                  <a:srgbClr val="C00000"/>
                </a:solidFill>
                <a:latin typeface="Times New Roman" panose="02020603050405020304" pitchFamily="18" charset="0"/>
                <a:cs typeface="Times New Roman" panose="02020603050405020304" pitchFamily="18" charset="0"/>
              </a:rPr>
              <a:t>that provide digital identity management as a service have been part of </a:t>
            </a:r>
            <a:r>
              <a:rPr lang="en-US" dirty="0" smtClean="0">
                <a:solidFill>
                  <a:srgbClr val="C00000"/>
                </a:solidFill>
                <a:latin typeface="Times New Roman" panose="02020603050405020304" pitchFamily="18" charset="0"/>
                <a:cs typeface="Times New Roman" panose="02020603050405020304" pitchFamily="18" charset="0"/>
              </a:rPr>
              <a:t>internetworked systems </a:t>
            </a:r>
            <a:r>
              <a:rPr lang="en-US" dirty="0">
                <a:solidFill>
                  <a:srgbClr val="C00000"/>
                </a:solidFill>
                <a:latin typeface="Times New Roman" panose="02020603050405020304" pitchFamily="18" charset="0"/>
                <a:cs typeface="Times New Roman" panose="02020603050405020304" pitchFamily="18" charset="0"/>
              </a:rPr>
              <a:t>from Day One. Like so many concepts in cloud computing, </a:t>
            </a:r>
            <a:r>
              <a:rPr lang="en-US" dirty="0" err="1">
                <a:solidFill>
                  <a:srgbClr val="C00000"/>
                </a:solidFill>
                <a:latin typeface="Times New Roman" panose="02020603050405020304" pitchFamily="18" charset="0"/>
                <a:cs typeface="Times New Roman" panose="02020603050405020304" pitchFamily="18" charset="0"/>
              </a:rPr>
              <a:t>IDentity</a:t>
            </a:r>
            <a:r>
              <a:rPr lang="en-US" dirty="0">
                <a:solidFill>
                  <a:srgbClr val="C00000"/>
                </a:solidFill>
                <a:latin typeface="Times New Roman" panose="02020603050405020304" pitchFamily="18" charset="0"/>
                <a:cs typeface="Times New Roman" panose="02020603050405020304" pitchFamily="18" charset="0"/>
              </a:rPr>
              <a:t> as a Service is </a:t>
            </a:r>
            <a:r>
              <a:rPr lang="en-US" dirty="0" smtClean="0">
                <a:solidFill>
                  <a:srgbClr val="C00000"/>
                </a:solidFill>
                <a:latin typeface="Times New Roman" panose="02020603050405020304" pitchFamily="18" charset="0"/>
                <a:cs typeface="Times New Roman" panose="02020603050405020304" pitchFamily="18" charset="0"/>
              </a:rPr>
              <a:t>a FLAV or </a:t>
            </a:r>
            <a:r>
              <a:rPr lang="en-US" dirty="0">
                <a:solidFill>
                  <a:srgbClr val="C00000"/>
                </a:solidFill>
                <a:latin typeface="Times New Roman" panose="02020603050405020304" pitchFamily="18" charset="0"/>
                <a:cs typeface="Times New Roman" panose="02020603050405020304" pitchFamily="18" charset="0"/>
              </a:rPr>
              <a:t>(Four Letter Acronym) of the month, applied to services that already exist.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The Domain Name </a:t>
            </a:r>
            <a:r>
              <a:rPr lang="en-US" dirty="0">
                <a:solidFill>
                  <a:srgbClr val="002060"/>
                </a:solidFill>
                <a:latin typeface="Times New Roman" panose="02020603050405020304" pitchFamily="18" charset="0"/>
                <a:cs typeface="Times New Roman" panose="02020603050405020304" pitchFamily="18" charset="0"/>
              </a:rPr>
              <a:t>Service can run on a private network, but is at the heart of the Internet as a service that </a:t>
            </a:r>
            <a:r>
              <a:rPr lang="en-US" dirty="0" smtClean="0">
                <a:solidFill>
                  <a:srgbClr val="002060"/>
                </a:solidFill>
                <a:latin typeface="Times New Roman" panose="02020603050405020304" pitchFamily="18" charset="0"/>
                <a:cs typeface="Times New Roman" panose="02020603050405020304" pitchFamily="18" charset="0"/>
              </a:rPr>
              <a:t>provides </a:t>
            </a:r>
            <a:r>
              <a:rPr lang="en-US" dirty="0">
                <a:solidFill>
                  <a:srgbClr val="002060"/>
                </a:solidFill>
                <a:latin typeface="Times New Roman" panose="02020603050405020304" pitchFamily="18" charset="0"/>
                <a:cs typeface="Times New Roman" panose="02020603050405020304" pitchFamily="18" charset="0"/>
              </a:rPr>
              <a:t>identity authorization and lookup. The name servers that run the various Internet </a:t>
            </a:r>
            <a:r>
              <a:rPr lang="en-US" b="1" dirty="0" smtClean="0">
                <a:solidFill>
                  <a:srgbClr val="002060"/>
                </a:solidFill>
                <a:latin typeface="Times New Roman" panose="02020603050405020304" pitchFamily="18" charset="0"/>
                <a:cs typeface="Times New Roman" panose="02020603050405020304" pitchFamily="18" charset="0"/>
              </a:rPr>
              <a:t>domains (.</a:t>
            </a:r>
            <a:r>
              <a:rPr lang="en-US" b="1" dirty="0">
                <a:solidFill>
                  <a:srgbClr val="002060"/>
                </a:solidFill>
                <a:latin typeface="Times New Roman" panose="02020603050405020304" pitchFamily="18" charset="0"/>
                <a:cs typeface="Times New Roman" panose="02020603050405020304" pitchFamily="18" charset="0"/>
              </a:rPr>
              <a:t>COM, .ORG, .EDU, .MIL, .TV, .RU, and so on) are </a:t>
            </a:r>
            <a:r>
              <a:rPr lang="en-US" b="1" dirty="0" err="1">
                <a:solidFill>
                  <a:srgbClr val="002060"/>
                </a:solidFill>
                <a:latin typeface="Times New Roman" panose="02020603050405020304" pitchFamily="18" charset="0"/>
                <a:cs typeface="Times New Roman" panose="02020603050405020304" pitchFamily="18" charset="0"/>
              </a:rPr>
              <a:t>IDaaS</a:t>
            </a:r>
            <a:r>
              <a:rPr lang="en-US" b="1" dirty="0">
                <a:solidFill>
                  <a:srgbClr val="002060"/>
                </a:solidFill>
                <a:latin typeface="Times New Roman" panose="02020603050405020304" pitchFamily="18" charset="0"/>
                <a:cs typeface="Times New Roman" panose="02020603050405020304" pitchFamily="18" charset="0"/>
              </a:rPr>
              <a:t> servers. </a:t>
            </a:r>
            <a:endParaRPr lang="en-US" b="1" dirty="0" smtClean="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b="1" dirty="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DNS </a:t>
            </a:r>
            <a:r>
              <a:rPr lang="en-US" dirty="0">
                <a:solidFill>
                  <a:srgbClr val="002060"/>
                </a:solidFill>
                <a:latin typeface="Times New Roman" panose="02020603050405020304" pitchFamily="18" charset="0"/>
                <a:cs typeface="Times New Roman" panose="02020603050405020304" pitchFamily="18" charset="0"/>
              </a:rPr>
              <a:t>establishes the identity </a:t>
            </a:r>
            <a:r>
              <a:rPr lang="en-US" dirty="0" smtClean="0">
                <a:solidFill>
                  <a:srgbClr val="002060"/>
                </a:solidFill>
                <a:latin typeface="Times New Roman" panose="02020603050405020304" pitchFamily="18" charset="0"/>
                <a:cs typeface="Times New Roman" panose="02020603050405020304" pitchFamily="18" charset="0"/>
              </a:rPr>
              <a:t>of a </a:t>
            </a:r>
            <a:r>
              <a:rPr lang="en-US" dirty="0">
                <a:solidFill>
                  <a:srgbClr val="002060"/>
                </a:solidFill>
                <a:latin typeface="Times New Roman" panose="02020603050405020304" pitchFamily="18" charset="0"/>
                <a:cs typeface="Times New Roman" panose="02020603050405020304" pitchFamily="18" charset="0"/>
              </a:rPr>
              <a:t>domain as belonging to a set of assigned addresses, associated with an owner and that </a:t>
            </a:r>
            <a:r>
              <a:rPr lang="en-US" dirty="0" smtClean="0">
                <a:solidFill>
                  <a:srgbClr val="002060"/>
                </a:solidFill>
                <a:latin typeface="Times New Roman" panose="02020603050405020304" pitchFamily="18" charset="0"/>
                <a:cs typeface="Times New Roman" panose="02020603050405020304" pitchFamily="18" charset="0"/>
              </a:rPr>
              <a:t>owner’s information</a:t>
            </a:r>
            <a:r>
              <a:rPr lang="en-US" dirty="0">
                <a:solidFill>
                  <a:srgbClr val="002060"/>
                </a:solidFill>
                <a:latin typeface="Times New Roman" panose="02020603050405020304" pitchFamily="18" charset="0"/>
                <a:cs typeface="Times New Roman" panose="02020603050405020304" pitchFamily="18" charset="0"/>
              </a:rPr>
              <a:t>, and so forth. If the identification is the assigned IP number, the other properties </a:t>
            </a:r>
            <a:r>
              <a:rPr lang="en-US" dirty="0" smtClean="0">
                <a:solidFill>
                  <a:srgbClr val="002060"/>
                </a:solidFill>
                <a:latin typeface="Times New Roman" panose="02020603050405020304" pitchFamily="18" charset="0"/>
                <a:cs typeface="Times New Roman" panose="02020603050405020304" pitchFamily="18" charset="0"/>
              </a:rPr>
              <a:t>are its </a:t>
            </a:r>
            <a:r>
              <a:rPr lang="en-US" dirty="0">
                <a:solidFill>
                  <a:srgbClr val="002060"/>
                </a:solidFill>
                <a:latin typeface="Times New Roman" panose="02020603050405020304" pitchFamily="18" charset="0"/>
                <a:cs typeface="Times New Roman" panose="02020603050405020304" pitchFamily="18" charset="0"/>
              </a:rPr>
              <a:t>metadata.</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771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4185761"/>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An identity is a set of characteristics or traits that make something recognizable or known. In </a:t>
            </a:r>
            <a:r>
              <a:rPr lang="en-IN" dirty="0" smtClean="0">
                <a:solidFill>
                  <a:srgbClr val="C00000"/>
                </a:solidFill>
                <a:latin typeface="Times New Roman" panose="02020603050405020304" pitchFamily="18" charset="0"/>
                <a:cs typeface="Times New Roman" panose="02020603050405020304" pitchFamily="18" charset="0"/>
              </a:rPr>
              <a:t>computer </a:t>
            </a:r>
            <a:r>
              <a:rPr lang="en-IN" dirty="0">
                <a:solidFill>
                  <a:srgbClr val="C00000"/>
                </a:solidFill>
                <a:latin typeface="Times New Roman" panose="02020603050405020304" pitchFamily="18" charset="0"/>
                <a:cs typeface="Times New Roman" panose="02020603050405020304" pitchFamily="18" charset="0"/>
              </a:rPr>
              <a:t>network systems, it is one’s digital identity that most concerns us.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smtClean="0">
                <a:solidFill>
                  <a:srgbClr val="C00000"/>
                </a:solidFill>
                <a:latin typeface="Times New Roman" panose="02020603050405020304" pitchFamily="18" charset="0"/>
                <a:cs typeface="Times New Roman" panose="02020603050405020304" pitchFamily="18" charset="0"/>
              </a:rPr>
              <a:t>A </a:t>
            </a:r>
            <a:r>
              <a:rPr lang="en-IN" b="1" dirty="0">
                <a:solidFill>
                  <a:srgbClr val="C00000"/>
                </a:solidFill>
                <a:latin typeface="Times New Roman" panose="02020603050405020304" pitchFamily="18" charset="0"/>
                <a:cs typeface="Times New Roman" panose="02020603050405020304" pitchFamily="18" charset="0"/>
              </a:rPr>
              <a:t>digital identity is </a:t>
            </a:r>
            <a:r>
              <a:rPr lang="en-IN" b="1" dirty="0" smtClean="0">
                <a:solidFill>
                  <a:srgbClr val="C00000"/>
                </a:solidFill>
                <a:latin typeface="Times New Roman" panose="02020603050405020304" pitchFamily="18" charset="0"/>
                <a:cs typeface="Times New Roman" panose="02020603050405020304" pitchFamily="18" charset="0"/>
              </a:rPr>
              <a:t>those attributes </a:t>
            </a:r>
            <a:r>
              <a:rPr lang="en-IN" b="1" dirty="0">
                <a:solidFill>
                  <a:srgbClr val="C00000"/>
                </a:solidFill>
                <a:latin typeface="Times New Roman" panose="02020603050405020304" pitchFamily="18" charset="0"/>
                <a:cs typeface="Times New Roman" panose="02020603050405020304" pitchFamily="18" charset="0"/>
              </a:rPr>
              <a:t>and metadata</a:t>
            </a:r>
            <a:r>
              <a:rPr lang="en-IN" dirty="0">
                <a:solidFill>
                  <a:srgbClr val="C00000"/>
                </a:solidFill>
                <a:latin typeface="Times New Roman" panose="02020603050405020304" pitchFamily="18" charset="0"/>
                <a:cs typeface="Times New Roman" panose="02020603050405020304" pitchFamily="18" charset="0"/>
              </a:rPr>
              <a:t> of an object along with a set of relationships with other objects that </a:t>
            </a:r>
            <a:r>
              <a:rPr lang="en-IN" dirty="0" smtClean="0">
                <a:solidFill>
                  <a:srgbClr val="C00000"/>
                </a:solidFill>
                <a:latin typeface="Times New Roman" panose="02020603050405020304" pitchFamily="18" charset="0"/>
                <a:cs typeface="Times New Roman" panose="02020603050405020304" pitchFamily="18" charset="0"/>
              </a:rPr>
              <a:t>makes an </a:t>
            </a:r>
            <a:r>
              <a:rPr lang="en-IN" dirty="0">
                <a:solidFill>
                  <a:srgbClr val="C00000"/>
                </a:solidFill>
                <a:latin typeface="Times New Roman" panose="02020603050405020304" pitchFamily="18" charset="0"/>
                <a:cs typeface="Times New Roman" panose="02020603050405020304" pitchFamily="18" charset="0"/>
              </a:rPr>
              <a:t>object identifiable.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Not </a:t>
            </a:r>
            <a:r>
              <a:rPr lang="en-IN" dirty="0">
                <a:solidFill>
                  <a:srgbClr val="C00000"/>
                </a:solidFill>
                <a:latin typeface="Times New Roman" panose="02020603050405020304" pitchFamily="18" charset="0"/>
                <a:cs typeface="Times New Roman" panose="02020603050405020304" pitchFamily="18" charset="0"/>
              </a:rPr>
              <a:t>all objects are unique, but by definition a digital identity must </a:t>
            </a:r>
            <a:r>
              <a:rPr lang="en-IN" dirty="0" smtClean="0">
                <a:solidFill>
                  <a:srgbClr val="C00000"/>
                </a:solidFill>
                <a:latin typeface="Times New Roman" panose="02020603050405020304" pitchFamily="18" charset="0"/>
                <a:cs typeface="Times New Roman" panose="02020603050405020304" pitchFamily="18" charset="0"/>
              </a:rPr>
              <a:t>be unique</a:t>
            </a:r>
            <a:r>
              <a:rPr lang="en-IN" dirty="0">
                <a:solidFill>
                  <a:srgbClr val="C00000"/>
                </a:solidFill>
                <a:latin typeface="Times New Roman" panose="02020603050405020304" pitchFamily="18" charset="0"/>
                <a:cs typeface="Times New Roman" panose="02020603050405020304" pitchFamily="18" charset="0"/>
              </a:rPr>
              <a:t>, if only trivially so, through the assignment of a unique identification attribute. </a:t>
            </a:r>
            <a:r>
              <a:rPr lang="en-IN" dirty="0" smtClean="0">
                <a:solidFill>
                  <a:srgbClr val="C00000"/>
                </a:solidFill>
                <a:latin typeface="Times New Roman" panose="02020603050405020304" pitchFamily="18" charset="0"/>
                <a:cs typeface="Times New Roman" panose="02020603050405020304" pitchFamily="18" charset="0"/>
              </a:rPr>
              <a:t>An identity must </a:t>
            </a:r>
            <a:r>
              <a:rPr lang="en-IN" dirty="0">
                <a:solidFill>
                  <a:srgbClr val="C00000"/>
                </a:solidFill>
                <a:latin typeface="Times New Roman" panose="02020603050405020304" pitchFamily="18" charset="0"/>
                <a:cs typeface="Times New Roman" panose="02020603050405020304" pitchFamily="18" charset="0"/>
              </a:rPr>
              <a:t>therefore have a context in which it exists.</a:t>
            </a:r>
          </a:p>
          <a:p>
            <a:pPr marL="285750" indent="-285750" algn="just">
              <a:buFont typeface="Arial" panose="020B0604020202020204" pitchFamily="34" charset="0"/>
              <a:buChar char="•"/>
            </a:pP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This </a:t>
            </a:r>
            <a:r>
              <a:rPr lang="en-IN" dirty="0">
                <a:solidFill>
                  <a:srgbClr val="C00000"/>
                </a:solidFill>
                <a:latin typeface="Times New Roman" panose="02020603050405020304" pitchFamily="18" charset="0"/>
                <a:cs typeface="Times New Roman" panose="02020603050405020304" pitchFamily="18" charset="0"/>
              </a:rPr>
              <a:t>description of an identity as an object with attributes and relationships is one that </a:t>
            </a:r>
            <a:r>
              <a:rPr lang="en-IN" dirty="0" smtClean="0">
                <a:solidFill>
                  <a:srgbClr val="C00000"/>
                </a:solidFill>
                <a:latin typeface="Times New Roman" panose="02020603050405020304" pitchFamily="18" charset="0"/>
                <a:cs typeface="Times New Roman" panose="02020603050405020304" pitchFamily="18" charset="0"/>
              </a:rPr>
              <a:t>programmer’s </a:t>
            </a:r>
            <a:r>
              <a:rPr lang="en-IN" dirty="0">
                <a:solidFill>
                  <a:srgbClr val="C00000"/>
                </a:solidFill>
                <a:latin typeface="Times New Roman" panose="02020603050405020304" pitchFamily="18" charset="0"/>
                <a:cs typeface="Times New Roman" panose="02020603050405020304" pitchFamily="18" charset="0"/>
              </a:rPr>
              <a:t>would recognize</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Databases </a:t>
            </a:r>
            <a:r>
              <a:rPr lang="en-IN" dirty="0">
                <a:solidFill>
                  <a:srgbClr val="002060"/>
                </a:solidFill>
                <a:latin typeface="Times New Roman" panose="02020603050405020304" pitchFamily="18" charset="0"/>
                <a:cs typeface="Times New Roman" panose="02020603050405020304" pitchFamily="18" charset="0"/>
              </a:rPr>
              <a:t>store information and relationships in tables, rows, and </a:t>
            </a:r>
            <a:r>
              <a:rPr lang="en-IN" dirty="0" smtClean="0">
                <a:solidFill>
                  <a:srgbClr val="002060"/>
                </a:solidFill>
                <a:latin typeface="Times New Roman" panose="02020603050405020304" pitchFamily="18" charset="0"/>
                <a:cs typeface="Times New Roman" panose="02020603050405020304" pitchFamily="18" charset="0"/>
              </a:rPr>
              <a:t>columns</a:t>
            </a:r>
            <a:r>
              <a:rPr lang="en-IN" dirty="0">
                <a:solidFill>
                  <a:srgbClr val="002060"/>
                </a:solidFill>
                <a:latin typeface="Times New Roman" panose="02020603050405020304" pitchFamily="18" charset="0"/>
                <a:cs typeface="Times New Roman" panose="02020603050405020304" pitchFamily="18" charset="0"/>
              </a:rPr>
              <a:t>, and the identity of information stored in this way conforms to the notion of an entity and </a:t>
            </a:r>
            <a:r>
              <a:rPr lang="en-IN" dirty="0" smtClean="0">
                <a:solidFill>
                  <a:srgbClr val="002060"/>
                </a:solidFill>
                <a:latin typeface="Times New Roman" panose="02020603050405020304" pitchFamily="18" charset="0"/>
                <a:cs typeface="Times New Roman" panose="02020603050405020304" pitchFamily="18" charset="0"/>
              </a:rPr>
              <a:t>a relationship or </a:t>
            </a:r>
            <a:r>
              <a:rPr lang="en-IN" dirty="0">
                <a:solidFill>
                  <a:srgbClr val="002060"/>
                </a:solidFill>
                <a:latin typeface="Times New Roman" panose="02020603050405020304" pitchFamily="18" charset="0"/>
                <a:cs typeface="Times New Roman" panose="02020603050405020304" pitchFamily="18" charset="0"/>
              </a:rPr>
              <a:t>alternatively under the notion of </a:t>
            </a:r>
            <a:r>
              <a:rPr lang="en-IN" b="1" dirty="0">
                <a:solidFill>
                  <a:srgbClr val="002060"/>
                </a:solidFill>
                <a:latin typeface="Times New Roman" panose="02020603050405020304" pitchFamily="18" charset="0"/>
                <a:cs typeface="Times New Roman" panose="02020603050405020304" pitchFamily="18" charset="0"/>
              </a:rPr>
              <a:t>an object role model (</a:t>
            </a:r>
            <a:r>
              <a:rPr lang="en-IN" b="1" dirty="0" smtClean="0">
                <a:solidFill>
                  <a:srgbClr val="002060"/>
                </a:solidFill>
                <a:latin typeface="Times New Roman" panose="02020603050405020304" pitchFamily="18" charset="0"/>
                <a:cs typeface="Times New Roman" panose="02020603050405020304" pitchFamily="18" charset="0"/>
              </a:rPr>
              <a:t>ORM)</a:t>
            </a:r>
            <a:r>
              <a:rPr lang="en-IN" dirty="0" smtClean="0">
                <a:solidFill>
                  <a:srgbClr val="002060"/>
                </a:solidFill>
                <a:latin typeface="Times New Roman" panose="02020603050405020304" pitchFamily="18" charset="0"/>
                <a:cs typeface="Times New Roman" panose="02020603050405020304" pitchFamily="18" charset="0"/>
              </a:rPr>
              <a:t>and database architects </a:t>
            </a:r>
            <a:r>
              <a:rPr lang="en-IN" dirty="0">
                <a:solidFill>
                  <a:srgbClr val="002060"/>
                </a:solidFill>
                <a:latin typeface="Times New Roman" panose="02020603050405020304" pitchFamily="18" charset="0"/>
                <a:cs typeface="Times New Roman" panose="02020603050405020304" pitchFamily="18" charset="0"/>
              </a:rPr>
              <a:t>are always wrestling with the best way of reducing their data set to a basic set of </a:t>
            </a:r>
            <a:r>
              <a:rPr lang="en-IN" dirty="0" smtClean="0">
                <a:solidFill>
                  <a:srgbClr val="002060"/>
                </a:solidFill>
                <a:latin typeface="Times New Roman" panose="02020603050405020304" pitchFamily="18" charset="0"/>
                <a:cs typeface="Times New Roman" panose="02020603050405020304" pitchFamily="18" charset="0"/>
              </a:rPr>
              <a:t>identities</a:t>
            </a:r>
            <a:r>
              <a:rPr lang="en-IN" dirty="0">
                <a:solidFill>
                  <a:srgbClr val="002060"/>
                </a:solidFill>
                <a:latin typeface="Times New Roman" panose="02020603050405020304" pitchFamily="18" charset="0"/>
                <a:cs typeface="Times New Roman" panose="02020603050405020304" pitchFamily="18" charset="0"/>
              </a:rPr>
              <a:t>. </a:t>
            </a: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You </a:t>
            </a:r>
            <a:r>
              <a:rPr lang="en-IN" dirty="0">
                <a:solidFill>
                  <a:srgbClr val="002060"/>
                </a:solidFill>
                <a:latin typeface="Times New Roman" panose="02020603050405020304" pitchFamily="18" charset="0"/>
                <a:cs typeface="Times New Roman" panose="02020603050405020304" pitchFamily="18" charset="0"/>
              </a:rPr>
              <a:t>can extend this notion to the idea of an identity having a profile and profiling </a:t>
            </a:r>
            <a:r>
              <a:rPr lang="en-IN" dirty="0" smtClean="0">
                <a:solidFill>
                  <a:srgbClr val="002060"/>
                </a:solidFill>
                <a:latin typeface="Times New Roman" panose="02020603050405020304" pitchFamily="18" charset="0"/>
                <a:cs typeface="Times New Roman" panose="02020603050405020304" pitchFamily="18" charset="0"/>
              </a:rPr>
              <a:t>services such </a:t>
            </a:r>
            <a:r>
              <a:rPr lang="en-IN" dirty="0">
                <a:solidFill>
                  <a:srgbClr val="002060"/>
                </a:solidFill>
                <a:latin typeface="Times New Roman" panose="02020603050405020304" pitchFamily="18" charset="0"/>
                <a:cs typeface="Times New Roman" panose="02020603050405020304" pitchFamily="18" charset="0"/>
              </a:rPr>
              <a:t>as Facebook as being an extension of the notion of Identity as a Service in cloud </a:t>
            </a:r>
            <a:r>
              <a:rPr lang="en-IN" dirty="0" smtClean="0">
                <a:solidFill>
                  <a:srgbClr val="002060"/>
                </a:solidFill>
                <a:latin typeface="Times New Roman" panose="02020603050405020304" pitchFamily="18" charset="0"/>
                <a:cs typeface="Times New Roman" panose="02020603050405020304" pitchFamily="18" charset="0"/>
              </a:rPr>
              <a:t>computing.</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6027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223200" y="928913"/>
            <a:ext cx="8683200" cy="3323987"/>
          </a:xfrm>
          <a:prstGeom prst="rect">
            <a:avLst/>
          </a:prstGeom>
        </p:spPr>
        <p:txBody>
          <a:bodyPr wrap="square">
            <a:spAutoFit/>
          </a:bodyPr>
          <a:lstStyle/>
          <a:p>
            <a:pPr algn="just"/>
            <a:r>
              <a:rPr lang="en-IN" dirty="0">
                <a:solidFill>
                  <a:srgbClr val="C00000"/>
                </a:solidFill>
                <a:latin typeface="Times New Roman" panose="02020603050405020304" pitchFamily="18" charset="0"/>
                <a:cs typeface="Times New Roman" panose="02020603050405020304" pitchFamily="18" charset="0"/>
              </a:rPr>
              <a:t>An identity can belong to a person and may include the following</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smtClean="0">
                <a:solidFill>
                  <a:srgbClr val="C00000"/>
                </a:solidFill>
                <a:latin typeface="Times New Roman" panose="02020603050405020304" pitchFamily="18" charset="0"/>
                <a:cs typeface="Times New Roman" panose="02020603050405020304" pitchFamily="18" charset="0"/>
              </a:rPr>
              <a:t>Things </a:t>
            </a:r>
            <a:r>
              <a:rPr lang="en-IN" b="1" dirty="0">
                <a:solidFill>
                  <a:srgbClr val="C00000"/>
                </a:solidFill>
                <a:latin typeface="Times New Roman" panose="02020603050405020304" pitchFamily="18" charset="0"/>
                <a:cs typeface="Times New Roman" panose="02020603050405020304" pitchFamily="18" charset="0"/>
              </a:rPr>
              <a:t>you are</a:t>
            </a:r>
            <a:r>
              <a:rPr lang="en-IN" dirty="0">
                <a:solidFill>
                  <a:srgbClr val="C00000"/>
                </a:solidFill>
                <a:latin typeface="Times New Roman" panose="02020603050405020304" pitchFamily="18" charset="0"/>
                <a:cs typeface="Times New Roman" panose="02020603050405020304" pitchFamily="18" charset="0"/>
              </a:rPr>
              <a:t>: Biological characteristics such as age, race, gender, appearance, </a:t>
            </a:r>
            <a:r>
              <a:rPr lang="en-IN" dirty="0" smtClean="0">
                <a:solidFill>
                  <a:srgbClr val="C00000"/>
                </a:solidFill>
                <a:latin typeface="Times New Roman" panose="02020603050405020304" pitchFamily="18" charset="0"/>
                <a:cs typeface="Times New Roman" panose="02020603050405020304" pitchFamily="18" charset="0"/>
              </a:rPr>
              <a:t>and so forth.</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a:solidFill>
                  <a:srgbClr val="C00000"/>
                </a:solidFill>
                <a:latin typeface="Times New Roman" panose="02020603050405020304" pitchFamily="18" charset="0"/>
                <a:cs typeface="Times New Roman" panose="02020603050405020304" pitchFamily="18" charset="0"/>
              </a:rPr>
              <a:t>T</a:t>
            </a:r>
            <a:r>
              <a:rPr lang="en-IN" b="1" dirty="0" smtClean="0">
                <a:solidFill>
                  <a:srgbClr val="C00000"/>
                </a:solidFill>
                <a:latin typeface="Times New Roman" panose="02020603050405020304" pitchFamily="18" charset="0"/>
                <a:cs typeface="Times New Roman" panose="02020603050405020304" pitchFamily="18" charset="0"/>
              </a:rPr>
              <a:t>hings </a:t>
            </a:r>
            <a:r>
              <a:rPr lang="en-IN" b="1" dirty="0">
                <a:solidFill>
                  <a:srgbClr val="C00000"/>
                </a:solidFill>
                <a:latin typeface="Times New Roman" panose="02020603050405020304" pitchFamily="18" charset="0"/>
                <a:cs typeface="Times New Roman" panose="02020603050405020304" pitchFamily="18" charset="0"/>
              </a:rPr>
              <a:t>you know: </a:t>
            </a:r>
            <a:r>
              <a:rPr lang="en-IN" dirty="0">
                <a:solidFill>
                  <a:srgbClr val="C00000"/>
                </a:solidFill>
                <a:latin typeface="Times New Roman" panose="02020603050405020304" pitchFamily="18" charset="0"/>
                <a:cs typeface="Times New Roman" panose="02020603050405020304" pitchFamily="18" charset="0"/>
              </a:rPr>
              <a:t>Biography, personal data such as social security numbers, PINs, </a:t>
            </a:r>
            <a:r>
              <a:rPr lang="en-IN" dirty="0" smtClean="0">
                <a:solidFill>
                  <a:srgbClr val="C00000"/>
                </a:solidFill>
                <a:latin typeface="Times New Roman" panose="02020603050405020304" pitchFamily="18" charset="0"/>
                <a:cs typeface="Times New Roman" panose="02020603050405020304" pitchFamily="18" charset="0"/>
              </a:rPr>
              <a:t>where you </a:t>
            </a:r>
            <a:r>
              <a:rPr lang="en-IN" dirty="0">
                <a:solidFill>
                  <a:srgbClr val="C00000"/>
                </a:solidFill>
                <a:latin typeface="Times New Roman" panose="02020603050405020304" pitchFamily="18" charset="0"/>
                <a:cs typeface="Times New Roman" panose="02020603050405020304" pitchFamily="18" charset="0"/>
              </a:rPr>
              <a:t>went to school, and so on</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smtClean="0">
                <a:solidFill>
                  <a:srgbClr val="002060"/>
                </a:solidFill>
                <a:latin typeface="Times New Roman" panose="02020603050405020304" pitchFamily="18" charset="0"/>
                <a:cs typeface="Times New Roman" panose="02020603050405020304" pitchFamily="18" charset="0"/>
              </a:rPr>
              <a:t>Things </a:t>
            </a:r>
            <a:r>
              <a:rPr lang="en-IN" b="1" dirty="0">
                <a:solidFill>
                  <a:srgbClr val="002060"/>
                </a:solidFill>
                <a:latin typeface="Times New Roman" panose="02020603050405020304" pitchFamily="18" charset="0"/>
                <a:cs typeface="Times New Roman" panose="02020603050405020304" pitchFamily="18" charset="0"/>
              </a:rPr>
              <a:t>you have</a:t>
            </a:r>
            <a:r>
              <a:rPr lang="en-IN" dirty="0">
                <a:solidFill>
                  <a:srgbClr val="002060"/>
                </a:solidFill>
                <a:latin typeface="Times New Roman" panose="02020603050405020304" pitchFamily="18" charset="0"/>
                <a:cs typeface="Times New Roman" panose="02020603050405020304" pitchFamily="18" charset="0"/>
              </a:rPr>
              <a:t>: A pattern of blood vessels in your eye, your fingerprints, a </a:t>
            </a:r>
            <a:r>
              <a:rPr lang="en-IN" dirty="0" smtClean="0">
                <a:solidFill>
                  <a:srgbClr val="002060"/>
                </a:solidFill>
                <a:latin typeface="Times New Roman" panose="02020603050405020304" pitchFamily="18" charset="0"/>
                <a:cs typeface="Times New Roman" panose="02020603050405020304" pitchFamily="18" charset="0"/>
              </a:rPr>
              <a:t>bank account </a:t>
            </a:r>
            <a:r>
              <a:rPr lang="en-IN" dirty="0">
                <a:solidFill>
                  <a:srgbClr val="002060"/>
                </a:solidFill>
                <a:latin typeface="Times New Roman" panose="02020603050405020304" pitchFamily="18" charset="0"/>
                <a:cs typeface="Times New Roman" panose="02020603050405020304" pitchFamily="18" charset="0"/>
              </a:rPr>
              <a:t>you can access, a security key you were given, objects and possessions, and more</a:t>
            </a: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smtClean="0">
                <a:solidFill>
                  <a:srgbClr val="002060"/>
                </a:solidFill>
                <a:latin typeface="Times New Roman" panose="02020603050405020304" pitchFamily="18" charset="0"/>
                <a:cs typeface="Times New Roman" panose="02020603050405020304" pitchFamily="18" charset="0"/>
              </a:rPr>
              <a:t>Things </a:t>
            </a:r>
            <a:r>
              <a:rPr lang="en-IN" b="1" dirty="0">
                <a:solidFill>
                  <a:srgbClr val="002060"/>
                </a:solidFill>
                <a:latin typeface="Times New Roman" panose="02020603050405020304" pitchFamily="18" charset="0"/>
                <a:cs typeface="Times New Roman" panose="02020603050405020304" pitchFamily="18" charset="0"/>
              </a:rPr>
              <a:t>you relate to: </a:t>
            </a:r>
            <a:r>
              <a:rPr lang="en-IN" dirty="0">
                <a:solidFill>
                  <a:srgbClr val="002060"/>
                </a:solidFill>
                <a:latin typeface="Times New Roman" panose="02020603050405020304" pitchFamily="18" charset="0"/>
                <a:cs typeface="Times New Roman" panose="02020603050405020304" pitchFamily="18" charset="0"/>
              </a:rPr>
              <a:t>Your family and friends, a software license, beliefs and </a:t>
            </a:r>
            <a:r>
              <a:rPr lang="en-IN" dirty="0" smtClean="0">
                <a:solidFill>
                  <a:srgbClr val="002060"/>
                </a:solidFill>
                <a:latin typeface="Times New Roman" panose="02020603050405020304" pitchFamily="18" charset="0"/>
                <a:cs typeface="Times New Roman" panose="02020603050405020304" pitchFamily="18" charset="0"/>
              </a:rPr>
              <a:t>values, activities and </a:t>
            </a:r>
            <a:r>
              <a:rPr lang="en-IN" dirty="0" err="1" smtClean="0">
                <a:solidFill>
                  <a:srgbClr val="002060"/>
                </a:solidFill>
                <a:latin typeface="Times New Roman" panose="02020603050405020304" pitchFamily="18" charset="0"/>
                <a:cs typeface="Times New Roman" panose="02020603050405020304" pitchFamily="18" charset="0"/>
              </a:rPr>
              <a:t>endeavors</a:t>
            </a:r>
            <a:r>
              <a:rPr lang="en-IN" dirty="0">
                <a:solidFill>
                  <a:srgbClr val="002060"/>
                </a:solidFill>
                <a:latin typeface="Times New Roman" panose="02020603050405020304" pitchFamily="18" charset="0"/>
                <a:cs typeface="Times New Roman" panose="02020603050405020304" pitchFamily="18" charset="0"/>
              </a:rPr>
              <a:t>, personal selections and choices, habits and practices, an </a:t>
            </a:r>
            <a:r>
              <a:rPr lang="en-IN" dirty="0" err="1" smtClean="0">
                <a:solidFill>
                  <a:srgbClr val="002060"/>
                </a:solidFill>
                <a:latin typeface="Times New Roman" panose="02020603050405020304" pitchFamily="18" charset="0"/>
                <a:cs typeface="Times New Roman" panose="02020603050405020304" pitchFamily="18" charset="0"/>
              </a:rPr>
              <a:t>iGoogle</a:t>
            </a:r>
            <a:r>
              <a:rPr lang="en-IN" dirty="0" smtClean="0">
                <a:solidFill>
                  <a:srgbClr val="002060"/>
                </a:solidFill>
                <a:latin typeface="Times New Roman" panose="02020603050405020304" pitchFamily="18" charset="0"/>
                <a:cs typeface="Times New Roman" panose="02020603050405020304" pitchFamily="18" charset="0"/>
              </a:rPr>
              <a:t> account</a:t>
            </a:r>
            <a:r>
              <a:rPr lang="en-IN" dirty="0">
                <a:solidFill>
                  <a:srgbClr val="002060"/>
                </a:solidFill>
                <a:latin typeface="Times New Roman" panose="02020603050405020304" pitchFamily="18" charset="0"/>
                <a:cs typeface="Times New Roman" panose="02020603050405020304" pitchFamily="18" charset="0"/>
              </a:rPr>
              <a:t>, and </a:t>
            </a:r>
            <a:r>
              <a:rPr lang="en-IN" dirty="0" smtClean="0">
                <a:solidFill>
                  <a:srgbClr val="002060"/>
                </a:solidFill>
                <a:latin typeface="Times New Roman" panose="02020603050405020304" pitchFamily="18" charset="0"/>
                <a:cs typeface="Times New Roman" panose="02020603050405020304" pitchFamily="18" charset="0"/>
              </a:rPr>
              <a:t>more.</a:t>
            </a:r>
          </a:p>
          <a:p>
            <a:pPr algn="just"/>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0139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3"/>
            <a:ext cx="8904516" cy="4293483"/>
          </a:xfrm>
          <a:prstGeom prst="rect">
            <a:avLst/>
          </a:prstGeom>
        </p:spPr>
        <p:txBody>
          <a:bodyPr wrap="square">
            <a:spAutoFit/>
          </a:bodyPr>
          <a:lstStyle/>
          <a:p>
            <a:pPr marL="285750" indent="-285750" algn="just">
              <a:buFont typeface="Arial" panose="020B0604020202020204" pitchFamily="34" charset="0"/>
              <a:buChar char="•"/>
            </a:pPr>
            <a:r>
              <a:rPr lang="en-US" sz="1300" dirty="0">
                <a:solidFill>
                  <a:srgbClr val="C00000"/>
                </a:solidFill>
                <a:latin typeface="Times New Roman" panose="02020603050405020304" pitchFamily="18" charset="0"/>
                <a:cs typeface="Times New Roman" panose="02020603050405020304" pitchFamily="18" charset="0"/>
              </a:rPr>
              <a:t>To establish your identity on a network, you might be asked to provide a name and </a:t>
            </a:r>
            <a:r>
              <a:rPr lang="en-US" sz="1300" dirty="0" smtClean="0">
                <a:solidFill>
                  <a:srgbClr val="C00000"/>
                </a:solidFill>
                <a:latin typeface="Times New Roman" panose="02020603050405020304" pitchFamily="18" charset="0"/>
                <a:cs typeface="Times New Roman" panose="02020603050405020304" pitchFamily="18" charset="0"/>
              </a:rPr>
              <a:t>password, which </a:t>
            </a:r>
            <a:r>
              <a:rPr lang="en-US" sz="1300" dirty="0">
                <a:solidFill>
                  <a:srgbClr val="C00000"/>
                </a:solidFill>
                <a:latin typeface="Times New Roman" panose="02020603050405020304" pitchFamily="18" charset="0"/>
                <a:cs typeface="Times New Roman" panose="02020603050405020304" pitchFamily="18" charset="0"/>
              </a:rPr>
              <a:t>is called a single-factor authentication method. </a:t>
            </a:r>
            <a:endParaRPr lang="en-US" sz="1300"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300"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C00000"/>
                </a:solidFill>
                <a:latin typeface="Times New Roman" panose="02020603050405020304" pitchFamily="18" charset="0"/>
                <a:cs typeface="Times New Roman" panose="02020603050405020304" pitchFamily="18" charset="0"/>
              </a:rPr>
              <a:t>More </a:t>
            </a:r>
            <a:r>
              <a:rPr lang="en-US" sz="1300" dirty="0">
                <a:solidFill>
                  <a:srgbClr val="C00000"/>
                </a:solidFill>
                <a:latin typeface="Times New Roman" panose="02020603050405020304" pitchFamily="18" charset="0"/>
                <a:cs typeface="Times New Roman" panose="02020603050405020304" pitchFamily="18" charset="0"/>
              </a:rPr>
              <a:t>secure authentication requires the </a:t>
            </a:r>
            <a:r>
              <a:rPr lang="en-US" sz="1300" dirty="0" smtClean="0">
                <a:solidFill>
                  <a:srgbClr val="C00000"/>
                </a:solidFill>
                <a:latin typeface="Times New Roman" panose="02020603050405020304" pitchFamily="18" charset="0"/>
                <a:cs typeface="Times New Roman" panose="02020603050405020304" pitchFamily="18" charset="0"/>
              </a:rPr>
              <a:t>use of </a:t>
            </a:r>
            <a:r>
              <a:rPr lang="en-US" sz="1300" dirty="0">
                <a:solidFill>
                  <a:srgbClr val="C00000"/>
                </a:solidFill>
                <a:latin typeface="Times New Roman" panose="02020603050405020304" pitchFamily="18" charset="0"/>
                <a:cs typeface="Times New Roman" panose="02020603050405020304" pitchFamily="18" charset="0"/>
              </a:rPr>
              <a:t>at least two-factor authentication; for example, not only name and password (things you </a:t>
            </a:r>
            <a:r>
              <a:rPr lang="en-US" sz="1300" dirty="0" smtClean="0">
                <a:solidFill>
                  <a:srgbClr val="C00000"/>
                </a:solidFill>
                <a:latin typeface="Times New Roman" panose="02020603050405020304" pitchFamily="18" charset="0"/>
                <a:cs typeface="Times New Roman" panose="02020603050405020304" pitchFamily="18" charset="0"/>
              </a:rPr>
              <a:t>know) but </a:t>
            </a:r>
            <a:r>
              <a:rPr lang="en-US" sz="1300" dirty="0">
                <a:solidFill>
                  <a:srgbClr val="C00000"/>
                </a:solidFill>
                <a:latin typeface="Times New Roman" panose="02020603050405020304" pitchFamily="18" charset="0"/>
                <a:cs typeface="Times New Roman" panose="02020603050405020304" pitchFamily="18" charset="0"/>
              </a:rPr>
              <a:t>also a transient token number provided by a hardware key (something you have). </a:t>
            </a:r>
            <a:endParaRPr lang="en-US" sz="1300"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300"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C00000"/>
                </a:solidFill>
                <a:latin typeface="Times New Roman" panose="02020603050405020304" pitchFamily="18" charset="0"/>
                <a:cs typeface="Times New Roman" panose="02020603050405020304" pitchFamily="18" charset="0"/>
              </a:rPr>
              <a:t>To </a:t>
            </a:r>
            <a:r>
              <a:rPr lang="en-US" sz="1300" dirty="0">
                <a:solidFill>
                  <a:srgbClr val="C00000"/>
                </a:solidFill>
                <a:latin typeface="Times New Roman" panose="02020603050405020304" pitchFamily="18" charset="0"/>
                <a:cs typeface="Times New Roman" panose="02020603050405020304" pitchFamily="18" charset="0"/>
              </a:rPr>
              <a:t>get </a:t>
            </a:r>
            <a:r>
              <a:rPr lang="en-US" sz="1300" dirty="0" smtClean="0">
                <a:solidFill>
                  <a:srgbClr val="C00000"/>
                </a:solidFill>
                <a:latin typeface="Times New Roman" panose="02020603050405020304" pitchFamily="18" charset="0"/>
                <a:cs typeface="Times New Roman" panose="02020603050405020304" pitchFamily="18" charset="0"/>
              </a:rPr>
              <a:t>to multifactor </a:t>
            </a:r>
            <a:r>
              <a:rPr lang="en-US" sz="1300" dirty="0">
                <a:solidFill>
                  <a:srgbClr val="C00000"/>
                </a:solidFill>
                <a:latin typeface="Times New Roman" panose="02020603050405020304" pitchFamily="18" charset="0"/>
                <a:cs typeface="Times New Roman" panose="02020603050405020304" pitchFamily="18" charset="0"/>
              </a:rPr>
              <a:t>authentication, you might have a system that examines a biometric factor such as </a:t>
            </a:r>
            <a:r>
              <a:rPr lang="en-US" sz="1300" dirty="0" smtClean="0">
                <a:solidFill>
                  <a:srgbClr val="C00000"/>
                </a:solidFill>
                <a:latin typeface="Times New Roman" panose="02020603050405020304" pitchFamily="18" charset="0"/>
                <a:cs typeface="Times New Roman" panose="02020603050405020304" pitchFamily="18" charset="0"/>
              </a:rPr>
              <a:t>a fingerprint </a:t>
            </a:r>
            <a:r>
              <a:rPr lang="en-US" sz="1300" dirty="0">
                <a:solidFill>
                  <a:srgbClr val="C00000"/>
                </a:solidFill>
                <a:latin typeface="Times New Roman" panose="02020603050405020304" pitchFamily="18" charset="0"/>
                <a:cs typeface="Times New Roman" panose="02020603050405020304" pitchFamily="18" charset="0"/>
              </a:rPr>
              <a:t>or retinal blood vessel pattern—both of which are essentially unique things you are.</a:t>
            </a:r>
          </a:p>
          <a:p>
            <a:pPr marL="285750" indent="-285750" algn="just">
              <a:buFont typeface="Arial" panose="020B0604020202020204" pitchFamily="34" charset="0"/>
              <a:buChar char="•"/>
            </a:pPr>
            <a:endParaRPr lang="en-US" sz="1300"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002060"/>
                </a:solidFill>
                <a:latin typeface="Times New Roman" panose="02020603050405020304" pitchFamily="18" charset="0"/>
                <a:cs typeface="Times New Roman" panose="02020603050405020304" pitchFamily="18" charset="0"/>
              </a:rPr>
              <a:t>Multifactor </a:t>
            </a:r>
            <a:r>
              <a:rPr lang="en-US" sz="1300" dirty="0">
                <a:solidFill>
                  <a:srgbClr val="002060"/>
                </a:solidFill>
                <a:latin typeface="Times New Roman" panose="02020603050405020304" pitchFamily="18" charset="0"/>
                <a:cs typeface="Times New Roman" panose="02020603050405020304" pitchFamily="18" charset="0"/>
              </a:rPr>
              <a:t>authentication requires the outside use of a network security or trust service, and it </a:t>
            </a:r>
            <a:r>
              <a:rPr lang="en-US" sz="1300" dirty="0" smtClean="0">
                <a:solidFill>
                  <a:srgbClr val="002060"/>
                </a:solidFill>
                <a:latin typeface="Times New Roman" panose="02020603050405020304" pitchFamily="18" charset="0"/>
                <a:cs typeface="Times New Roman" panose="02020603050405020304" pitchFamily="18" charset="0"/>
              </a:rPr>
              <a:t>is in </a:t>
            </a:r>
            <a:r>
              <a:rPr lang="en-US" sz="1300" dirty="0">
                <a:solidFill>
                  <a:srgbClr val="002060"/>
                </a:solidFill>
                <a:latin typeface="Times New Roman" panose="02020603050405020304" pitchFamily="18" charset="0"/>
                <a:cs typeface="Times New Roman" panose="02020603050405020304" pitchFamily="18" charset="0"/>
              </a:rPr>
              <a:t>the deployment of trust services that our first and most common </a:t>
            </a:r>
            <a:r>
              <a:rPr lang="en-US" sz="1300" dirty="0" err="1">
                <a:solidFill>
                  <a:srgbClr val="002060"/>
                </a:solidFill>
                <a:latin typeface="Times New Roman" panose="02020603050405020304" pitchFamily="18" charset="0"/>
                <a:cs typeface="Times New Roman" panose="02020603050405020304" pitchFamily="18" charset="0"/>
              </a:rPr>
              <a:t>IDaaS</a:t>
            </a:r>
            <a:r>
              <a:rPr lang="en-US" sz="1300" dirty="0">
                <a:solidFill>
                  <a:srgbClr val="002060"/>
                </a:solidFill>
                <a:latin typeface="Times New Roman" panose="02020603050405020304" pitchFamily="18" charset="0"/>
                <a:cs typeface="Times New Roman" panose="02020603050405020304" pitchFamily="18" charset="0"/>
              </a:rPr>
              <a:t> applications </a:t>
            </a:r>
            <a:r>
              <a:rPr lang="en-US" sz="1300" dirty="0" smtClean="0">
                <a:solidFill>
                  <a:srgbClr val="002060"/>
                </a:solidFill>
                <a:latin typeface="Times New Roman" panose="02020603050405020304" pitchFamily="18" charset="0"/>
                <a:cs typeface="Times New Roman" panose="02020603050405020304" pitchFamily="18" charset="0"/>
              </a:rPr>
              <a:t>are employed </a:t>
            </a:r>
            <a:r>
              <a:rPr lang="en-US" sz="1300" dirty="0">
                <a:solidFill>
                  <a:srgbClr val="002060"/>
                </a:solidFill>
                <a:latin typeface="Times New Roman" panose="02020603050405020304" pitchFamily="18" charset="0"/>
                <a:cs typeface="Times New Roman" panose="02020603050405020304" pitchFamily="18" charset="0"/>
              </a:rPr>
              <a:t>in the cloud.</a:t>
            </a:r>
          </a:p>
          <a:p>
            <a:pPr marL="285750" indent="-285750" algn="just">
              <a:buFont typeface="Arial" panose="020B0604020202020204" pitchFamily="34" charset="0"/>
              <a:buChar char="•"/>
            </a:pPr>
            <a:endParaRPr lang="en-US" sz="1300"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002060"/>
                </a:solidFill>
                <a:latin typeface="Times New Roman" panose="02020603050405020304" pitchFamily="18" charset="0"/>
                <a:cs typeface="Times New Roman" panose="02020603050405020304" pitchFamily="18" charset="0"/>
              </a:rPr>
              <a:t>Of </a:t>
            </a:r>
            <a:r>
              <a:rPr lang="en-US" sz="1300" dirty="0">
                <a:solidFill>
                  <a:srgbClr val="002060"/>
                </a:solidFill>
                <a:latin typeface="Times New Roman" panose="02020603050405020304" pitchFamily="18" charset="0"/>
                <a:cs typeface="Times New Roman" panose="02020603050405020304" pitchFamily="18" charset="0"/>
              </a:rPr>
              <a:t>course, many things have digital identities. User and machine accounts, devices, and </a:t>
            </a:r>
            <a:r>
              <a:rPr lang="en-US" sz="1300" dirty="0" smtClean="0">
                <a:solidFill>
                  <a:srgbClr val="002060"/>
                </a:solidFill>
                <a:latin typeface="Times New Roman" panose="02020603050405020304" pitchFamily="18" charset="0"/>
                <a:cs typeface="Times New Roman" panose="02020603050405020304" pitchFamily="18" charset="0"/>
              </a:rPr>
              <a:t>other objects </a:t>
            </a:r>
            <a:r>
              <a:rPr lang="en-US" sz="1300" dirty="0">
                <a:solidFill>
                  <a:srgbClr val="002060"/>
                </a:solidFill>
                <a:latin typeface="Times New Roman" panose="02020603050405020304" pitchFamily="18" charset="0"/>
                <a:cs typeface="Times New Roman" panose="02020603050405020304" pitchFamily="18" charset="0"/>
              </a:rPr>
              <a:t>establish their identities in a number of ways. </a:t>
            </a:r>
            <a:endParaRPr lang="en-US" sz="1300"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300"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002060"/>
                </a:solidFill>
                <a:latin typeface="Times New Roman" panose="02020603050405020304" pitchFamily="18" charset="0"/>
                <a:cs typeface="Times New Roman" panose="02020603050405020304" pitchFamily="18" charset="0"/>
              </a:rPr>
              <a:t>For </a:t>
            </a:r>
            <a:r>
              <a:rPr lang="en-US" sz="1300" dirty="0">
                <a:solidFill>
                  <a:srgbClr val="002060"/>
                </a:solidFill>
                <a:latin typeface="Times New Roman" panose="02020603050405020304" pitchFamily="18" charset="0"/>
                <a:cs typeface="Times New Roman" panose="02020603050405020304" pitchFamily="18" charset="0"/>
              </a:rPr>
              <a:t>user and machine accounts, </a:t>
            </a:r>
            <a:r>
              <a:rPr lang="en-US" sz="1300" dirty="0" smtClean="0">
                <a:solidFill>
                  <a:srgbClr val="002060"/>
                </a:solidFill>
                <a:latin typeface="Times New Roman" panose="02020603050405020304" pitchFamily="18" charset="0"/>
                <a:cs typeface="Times New Roman" panose="02020603050405020304" pitchFamily="18" charset="0"/>
              </a:rPr>
              <a:t>identities are </a:t>
            </a:r>
            <a:r>
              <a:rPr lang="en-US" sz="1300" dirty="0">
                <a:solidFill>
                  <a:srgbClr val="002060"/>
                </a:solidFill>
                <a:latin typeface="Times New Roman" panose="02020603050405020304" pitchFamily="18" charset="0"/>
                <a:cs typeface="Times New Roman" panose="02020603050405020304" pitchFamily="18" charset="0"/>
              </a:rPr>
              <a:t>created and stored in domain security databases that are the basis for any network </a:t>
            </a:r>
            <a:r>
              <a:rPr lang="en-US" sz="1300" dirty="0" smtClean="0">
                <a:solidFill>
                  <a:srgbClr val="002060"/>
                </a:solidFill>
                <a:latin typeface="Times New Roman" panose="02020603050405020304" pitchFamily="18" charset="0"/>
                <a:cs typeface="Times New Roman" panose="02020603050405020304" pitchFamily="18" charset="0"/>
              </a:rPr>
              <a:t>domain, in </a:t>
            </a:r>
            <a:r>
              <a:rPr lang="en-US" sz="1300" dirty="0">
                <a:solidFill>
                  <a:srgbClr val="002060"/>
                </a:solidFill>
                <a:latin typeface="Times New Roman" panose="02020603050405020304" pitchFamily="18" charset="0"/>
                <a:cs typeface="Times New Roman" panose="02020603050405020304" pitchFamily="18" charset="0"/>
              </a:rPr>
              <a:t>directory services, and in data stores in federated systems. </a:t>
            </a:r>
            <a:endParaRPr lang="en-US" sz="1300"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300"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002060"/>
                </a:solidFill>
                <a:latin typeface="Times New Roman" panose="02020603050405020304" pitchFamily="18" charset="0"/>
                <a:cs typeface="Times New Roman" panose="02020603050405020304" pitchFamily="18" charset="0"/>
              </a:rPr>
              <a:t>Network </a:t>
            </a:r>
            <a:r>
              <a:rPr lang="en-US" sz="1300" dirty="0">
                <a:solidFill>
                  <a:srgbClr val="002060"/>
                </a:solidFill>
                <a:latin typeface="Times New Roman" panose="02020603050405020304" pitchFamily="18" charset="0"/>
                <a:cs typeface="Times New Roman" panose="02020603050405020304" pitchFamily="18" charset="0"/>
              </a:rPr>
              <a:t>interfaces are </a:t>
            </a:r>
            <a:r>
              <a:rPr lang="en-US" sz="1300" dirty="0" smtClean="0">
                <a:solidFill>
                  <a:srgbClr val="002060"/>
                </a:solidFill>
                <a:latin typeface="Times New Roman" panose="02020603050405020304" pitchFamily="18" charset="0"/>
                <a:cs typeface="Times New Roman" panose="02020603050405020304" pitchFamily="18" charset="0"/>
              </a:rPr>
              <a:t>identified uniquely </a:t>
            </a:r>
            <a:r>
              <a:rPr lang="en-US" sz="1300" dirty="0">
                <a:solidFill>
                  <a:srgbClr val="002060"/>
                </a:solidFill>
                <a:latin typeface="Times New Roman" panose="02020603050405020304" pitchFamily="18" charset="0"/>
                <a:cs typeface="Times New Roman" panose="02020603050405020304" pitchFamily="18" charset="0"/>
              </a:rPr>
              <a:t>by Media Access Control (MAC) addresses, which alternatively are referred to as </a:t>
            </a:r>
            <a:r>
              <a:rPr lang="en-US" sz="1300" dirty="0" smtClean="0">
                <a:solidFill>
                  <a:srgbClr val="002060"/>
                </a:solidFill>
                <a:latin typeface="Times New Roman" panose="02020603050405020304" pitchFamily="18" charset="0"/>
                <a:cs typeface="Times New Roman" panose="02020603050405020304" pitchFamily="18" charset="0"/>
              </a:rPr>
              <a:t>Ethernet Hardware </a:t>
            </a:r>
            <a:r>
              <a:rPr lang="en-US" sz="1300" dirty="0">
                <a:solidFill>
                  <a:srgbClr val="002060"/>
                </a:solidFill>
                <a:latin typeface="Times New Roman" panose="02020603050405020304" pitchFamily="18" charset="0"/>
                <a:cs typeface="Times New Roman" panose="02020603050405020304" pitchFamily="18" charset="0"/>
              </a:rPr>
              <a:t>Addresses (EHAs). It is the assignment of a network identity to a specific MAC </a:t>
            </a:r>
            <a:r>
              <a:rPr lang="en-US" sz="1300" dirty="0" smtClean="0">
                <a:solidFill>
                  <a:srgbClr val="002060"/>
                </a:solidFill>
                <a:latin typeface="Times New Roman" panose="02020603050405020304" pitchFamily="18" charset="0"/>
                <a:cs typeface="Times New Roman" panose="02020603050405020304" pitchFamily="18" charset="0"/>
              </a:rPr>
              <a:t>address that </a:t>
            </a:r>
            <a:r>
              <a:rPr lang="en-US" sz="1300" dirty="0">
                <a:solidFill>
                  <a:srgbClr val="002060"/>
                </a:solidFill>
                <a:latin typeface="Times New Roman" panose="02020603050405020304" pitchFamily="18" charset="0"/>
                <a:cs typeface="Times New Roman" panose="02020603050405020304" pitchFamily="18" charset="0"/>
              </a:rPr>
              <a:t>allows systems to be found on networks.</a:t>
            </a:r>
            <a:endParaRPr lang="en-IN" sz="13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4861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3"/>
            <a:ext cx="8904516" cy="3754874"/>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The manner in which Microsoft validates your installation of Windows and Office is </a:t>
            </a:r>
            <a:r>
              <a:rPr lang="en-US" dirty="0" smtClean="0">
                <a:solidFill>
                  <a:srgbClr val="C00000"/>
                </a:solidFill>
                <a:latin typeface="Times New Roman" panose="02020603050405020304" pitchFamily="18" charset="0"/>
                <a:cs typeface="Times New Roman" panose="02020603050405020304" pitchFamily="18" charset="0"/>
              </a:rPr>
              <a:t>called Windows </a:t>
            </a:r>
            <a:r>
              <a:rPr lang="en-US" dirty="0">
                <a:solidFill>
                  <a:srgbClr val="C00000"/>
                </a:solidFill>
                <a:latin typeface="Times New Roman" panose="02020603050405020304" pitchFamily="18" charset="0"/>
                <a:cs typeface="Times New Roman" panose="02020603050405020304" pitchFamily="18" charset="0"/>
              </a:rPr>
              <a:t>Product Activation and creates an identification index or profile of your system, </a:t>
            </a:r>
            <a:r>
              <a:rPr lang="en-US" dirty="0" smtClean="0">
                <a:solidFill>
                  <a:srgbClr val="C00000"/>
                </a:solidFill>
                <a:latin typeface="Times New Roman" panose="02020603050405020304" pitchFamily="18" charset="0"/>
                <a:cs typeface="Times New Roman" panose="02020603050405020304" pitchFamily="18" charset="0"/>
              </a:rPr>
              <a:t>which is </a:t>
            </a:r>
            <a:r>
              <a:rPr lang="en-US" dirty="0">
                <a:solidFill>
                  <a:srgbClr val="C00000"/>
                </a:solidFill>
                <a:latin typeface="Times New Roman" panose="02020603050405020304" pitchFamily="18" charset="0"/>
                <a:cs typeface="Times New Roman" panose="02020603050405020304" pitchFamily="18" charset="0"/>
              </a:rPr>
              <a:t>instructive</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During activation, the following unique data items are retrieved</a:t>
            </a:r>
            <a:r>
              <a:rPr lang="en-US" b="1"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A </a:t>
            </a:r>
            <a:r>
              <a:rPr lang="en-US" dirty="0">
                <a:solidFill>
                  <a:srgbClr val="C00000"/>
                </a:solidFill>
                <a:latin typeface="Times New Roman" panose="02020603050405020304" pitchFamily="18" charset="0"/>
                <a:cs typeface="Times New Roman" panose="02020603050405020304" pitchFamily="18" charset="0"/>
              </a:rPr>
              <a:t>25-character software product key and product ID</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The </a:t>
            </a:r>
            <a:r>
              <a:rPr lang="en-US" dirty="0">
                <a:solidFill>
                  <a:srgbClr val="C00000"/>
                </a:solidFill>
                <a:latin typeface="Times New Roman" panose="02020603050405020304" pitchFamily="18" charset="0"/>
                <a:cs typeface="Times New Roman" panose="02020603050405020304" pitchFamily="18" charset="0"/>
              </a:rPr>
              <a:t>uniquely assigned Global Unique Identifier or GUID</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PC </a:t>
            </a:r>
            <a:r>
              <a:rPr lang="en-US" dirty="0">
                <a:solidFill>
                  <a:srgbClr val="C00000"/>
                </a:solidFill>
                <a:latin typeface="Times New Roman" panose="02020603050405020304" pitchFamily="18" charset="0"/>
                <a:cs typeface="Times New Roman" panose="02020603050405020304" pitchFamily="18" charset="0"/>
              </a:rPr>
              <a:t>manufacturer</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CPU </a:t>
            </a:r>
            <a:r>
              <a:rPr lang="en-US" dirty="0">
                <a:solidFill>
                  <a:srgbClr val="C00000"/>
                </a:solidFill>
                <a:latin typeface="Times New Roman" panose="02020603050405020304" pitchFamily="18" charset="0"/>
                <a:cs typeface="Times New Roman" panose="02020603050405020304" pitchFamily="18" charset="0"/>
              </a:rPr>
              <a:t>type and serial number</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BIOS </a:t>
            </a:r>
            <a:r>
              <a:rPr lang="en-US" dirty="0">
                <a:solidFill>
                  <a:srgbClr val="002060"/>
                </a:solidFill>
                <a:latin typeface="Times New Roman" panose="02020603050405020304" pitchFamily="18" charset="0"/>
                <a:cs typeface="Times New Roman" panose="02020603050405020304" pitchFamily="18" charset="0"/>
              </a:rPr>
              <a:t>checksum</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Network </a:t>
            </a:r>
            <a:r>
              <a:rPr lang="en-US" dirty="0">
                <a:solidFill>
                  <a:srgbClr val="002060"/>
                </a:solidFill>
                <a:latin typeface="Times New Roman" panose="02020603050405020304" pitchFamily="18" charset="0"/>
                <a:cs typeface="Times New Roman" panose="02020603050405020304" pitchFamily="18" charset="0"/>
              </a:rPr>
              <a:t>adapter and its MAC address</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Display </a:t>
            </a:r>
            <a:r>
              <a:rPr lang="en-US" dirty="0">
                <a:solidFill>
                  <a:srgbClr val="002060"/>
                </a:solidFill>
                <a:latin typeface="Times New Roman" panose="02020603050405020304" pitchFamily="18" charset="0"/>
                <a:cs typeface="Times New Roman" panose="02020603050405020304" pitchFamily="18" charset="0"/>
              </a:rPr>
              <a:t>adapter</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SCSCI </a:t>
            </a:r>
            <a:r>
              <a:rPr lang="en-US" dirty="0">
                <a:solidFill>
                  <a:srgbClr val="002060"/>
                </a:solidFill>
                <a:latin typeface="Times New Roman" panose="02020603050405020304" pitchFamily="18" charset="0"/>
                <a:cs typeface="Times New Roman" panose="02020603050405020304" pitchFamily="18" charset="0"/>
              </a:rPr>
              <a:t>and IDE adapters</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RAM </a:t>
            </a:r>
            <a:r>
              <a:rPr lang="en-US" dirty="0">
                <a:solidFill>
                  <a:srgbClr val="002060"/>
                </a:solidFill>
                <a:latin typeface="Times New Roman" panose="02020603050405020304" pitchFamily="18" charset="0"/>
                <a:cs typeface="Times New Roman" panose="02020603050405020304" pitchFamily="18" charset="0"/>
              </a:rPr>
              <a:t>amount</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Hard </a:t>
            </a:r>
            <a:r>
              <a:rPr lang="en-US" dirty="0">
                <a:solidFill>
                  <a:srgbClr val="002060"/>
                </a:solidFill>
                <a:latin typeface="Times New Roman" panose="02020603050405020304" pitchFamily="18" charset="0"/>
                <a:cs typeface="Times New Roman" panose="02020603050405020304" pitchFamily="18" charset="0"/>
              </a:rPr>
              <a:t>drive and volume serial </a:t>
            </a:r>
            <a:r>
              <a:rPr lang="en-US" dirty="0" smtClean="0">
                <a:solidFill>
                  <a:srgbClr val="002060"/>
                </a:solidFill>
                <a:latin typeface="Times New Roman" panose="02020603050405020304" pitchFamily="18" charset="0"/>
                <a:cs typeface="Times New Roman" panose="02020603050405020304" pitchFamily="18" charset="0"/>
              </a:rPr>
              <a:t>number</a:t>
            </a: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Optical drive</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Region </a:t>
            </a:r>
            <a:r>
              <a:rPr lang="en-US" dirty="0">
                <a:solidFill>
                  <a:srgbClr val="002060"/>
                </a:solidFill>
                <a:latin typeface="Times New Roman" panose="02020603050405020304" pitchFamily="18" charset="0"/>
                <a:cs typeface="Times New Roman" panose="02020603050405020304" pitchFamily="18" charset="0"/>
              </a:rPr>
              <a:t>and language settings and user locale</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504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2246769"/>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From this information, a code is calculated, checked, and entered into the registration </a:t>
            </a:r>
            <a:r>
              <a:rPr lang="en-US" dirty="0" smtClean="0">
                <a:solidFill>
                  <a:srgbClr val="C00000"/>
                </a:solidFill>
                <a:latin typeface="Times New Roman" panose="02020603050405020304" pitchFamily="18" charset="0"/>
                <a:cs typeface="Times New Roman" panose="02020603050405020304" pitchFamily="18" charset="0"/>
              </a:rPr>
              <a:t>database. </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Each </a:t>
            </a:r>
            <a:r>
              <a:rPr lang="en-US" dirty="0">
                <a:solidFill>
                  <a:srgbClr val="C00000"/>
                </a:solidFill>
                <a:latin typeface="Times New Roman" panose="02020603050405020304" pitchFamily="18" charset="0"/>
                <a:cs typeface="Times New Roman" panose="02020603050405020304" pitchFamily="18" charset="0"/>
              </a:rPr>
              <a:t>of these uniquely identified hardware attributes is assigned a weighting factor such that </a:t>
            </a:r>
            <a:r>
              <a:rPr lang="en-US" dirty="0" smtClean="0">
                <a:solidFill>
                  <a:srgbClr val="C00000"/>
                </a:solidFill>
                <a:latin typeface="Times New Roman" panose="02020603050405020304" pitchFamily="18" charset="0"/>
                <a:cs typeface="Times New Roman" panose="02020603050405020304" pitchFamily="18" charset="0"/>
              </a:rPr>
              <a:t>an overall </a:t>
            </a:r>
            <a:r>
              <a:rPr lang="en-US" dirty="0">
                <a:solidFill>
                  <a:srgbClr val="C00000"/>
                </a:solidFill>
                <a:latin typeface="Times New Roman" panose="02020603050405020304" pitchFamily="18" charset="0"/>
                <a:cs typeface="Times New Roman" panose="02020603050405020304" pitchFamily="18" charset="0"/>
              </a:rPr>
              <a:t>sum may be calculated. If you change enough </a:t>
            </a:r>
            <a:r>
              <a:rPr lang="en-US" dirty="0" smtClean="0">
                <a:solidFill>
                  <a:srgbClr val="C00000"/>
                </a:solidFill>
                <a:latin typeface="Times New Roman" panose="02020603050405020304" pitchFamily="18" charset="0"/>
                <a:cs typeface="Times New Roman" panose="02020603050405020304" pitchFamily="18" charset="0"/>
              </a:rPr>
              <a:t>factors </a:t>
            </a:r>
            <a:r>
              <a:rPr lang="en-US" b="1" dirty="0" smtClean="0">
                <a:solidFill>
                  <a:srgbClr val="C00000"/>
                </a:solidFill>
                <a:latin typeface="Times New Roman" panose="02020603050405020304" pitchFamily="18" charset="0"/>
                <a:cs typeface="Times New Roman" panose="02020603050405020304" pitchFamily="18" charset="0"/>
              </a:rPr>
              <a:t>NIC </a:t>
            </a:r>
            <a:r>
              <a:rPr lang="en-US" b="1" dirty="0">
                <a:solidFill>
                  <a:srgbClr val="C00000"/>
                </a:solidFill>
                <a:latin typeface="Times New Roman" panose="02020603050405020304" pitchFamily="18" charset="0"/>
                <a:cs typeface="Times New Roman" panose="02020603050405020304" pitchFamily="18" charset="0"/>
              </a:rPr>
              <a:t>and CPU, display </a:t>
            </a:r>
            <a:r>
              <a:rPr lang="en-US" b="1" dirty="0" smtClean="0">
                <a:solidFill>
                  <a:srgbClr val="C00000"/>
                </a:solidFill>
                <a:latin typeface="Times New Roman" panose="02020603050405020304" pitchFamily="18" charset="0"/>
                <a:cs typeface="Times New Roman" panose="02020603050405020304" pitchFamily="18" charset="0"/>
              </a:rPr>
              <a:t>adapter, RAM </a:t>
            </a:r>
            <a:r>
              <a:rPr lang="en-US" b="1" dirty="0">
                <a:solidFill>
                  <a:srgbClr val="C00000"/>
                </a:solidFill>
                <a:latin typeface="Times New Roman" panose="02020603050405020304" pitchFamily="18" charset="0"/>
                <a:cs typeface="Times New Roman" panose="02020603050405020304" pitchFamily="18" charset="0"/>
              </a:rPr>
              <a:t>amount, and hard drive</a:t>
            </a:r>
            <a:r>
              <a:rPr lang="en-US" dirty="0">
                <a:solidFill>
                  <a:srgbClr val="C00000"/>
                </a:solidFill>
                <a:latin typeface="Times New Roman" panose="02020603050405020304" pitchFamily="18" charset="0"/>
                <a:cs typeface="Times New Roman" panose="02020603050405020304" pitchFamily="18" charset="0"/>
              </a:rPr>
              <a:t>—you trigger a request for a reactivation based on system changes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This activation profile is also required when you register for the Windows Genuine Advantage </a:t>
            </a:r>
            <a:r>
              <a:rPr lang="en-US" dirty="0" smtClean="0">
                <a:solidFill>
                  <a:srgbClr val="002060"/>
                </a:solidFill>
                <a:latin typeface="Times New Roman" panose="02020603050405020304" pitchFamily="18" charset="0"/>
                <a:cs typeface="Times New Roman" panose="02020603050405020304" pitchFamily="18" charset="0"/>
              </a:rPr>
              <a:t>program</a:t>
            </a:r>
            <a:r>
              <a:rPr lang="en-US" dirty="0">
                <a:solidFill>
                  <a:srgbClr val="002060"/>
                </a:solidFill>
                <a:latin typeface="Times New Roman" panose="02020603050405020304" pitchFamily="18" charset="0"/>
                <a:cs typeface="Times New Roman" panose="02020603050405020304" pitchFamily="18" charset="0"/>
              </a:rPr>
              <a:t>. Windows Product Activation and Windows Genuine Advantage are cloud computing </a:t>
            </a:r>
            <a:r>
              <a:rPr lang="en-US" dirty="0" smtClean="0">
                <a:solidFill>
                  <a:srgbClr val="002060"/>
                </a:solidFill>
                <a:latin typeface="Times New Roman" panose="02020603050405020304" pitchFamily="18" charset="0"/>
                <a:cs typeface="Times New Roman" panose="02020603050405020304" pitchFamily="18" charset="0"/>
              </a:rPr>
              <a:t>applications</a:t>
            </a:r>
            <a:r>
              <a:rPr lang="en-US" dirty="0">
                <a:solidFill>
                  <a:srgbClr val="002060"/>
                </a:solidFill>
                <a:latin typeface="Times New Roman" panose="02020603050405020304" pitchFamily="18" charset="0"/>
                <a:cs typeface="Times New Roman" panose="02020603050405020304" pitchFamily="18" charset="0"/>
              </a:rPr>
              <a:t>, albeit proprietary ones.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Whether </a:t>
            </a:r>
            <a:r>
              <a:rPr lang="en-US" dirty="0">
                <a:solidFill>
                  <a:srgbClr val="002060"/>
                </a:solidFill>
                <a:latin typeface="Times New Roman" panose="02020603050405020304" pitchFamily="18" charset="0"/>
                <a:cs typeface="Times New Roman" panose="02020603050405020304" pitchFamily="18" charset="0"/>
              </a:rPr>
              <a:t>people consider these applications to be services is </a:t>
            </a:r>
            <a:r>
              <a:rPr lang="en-US" dirty="0" smtClean="0">
                <a:solidFill>
                  <a:srgbClr val="002060"/>
                </a:solidFill>
                <a:latin typeface="Times New Roman" panose="02020603050405020304" pitchFamily="18" charset="0"/>
                <a:cs typeface="Times New Roman" panose="02020603050405020304" pitchFamily="18" charset="0"/>
              </a:rPr>
              <a:t>a point </a:t>
            </a:r>
            <a:r>
              <a:rPr lang="en-US" dirty="0">
                <a:solidFill>
                  <a:srgbClr val="002060"/>
                </a:solidFill>
                <a:latin typeface="Times New Roman" panose="02020603050405020304" pitchFamily="18" charset="0"/>
                <a:cs typeface="Times New Roman" panose="02020603050405020304" pitchFamily="18" charset="0"/>
              </a:rPr>
              <a:t>of contention.</a:t>
            </a:r>
            <a:endParaRPr lang="en-IN" dirty="0">
              <a:solidFill>
                <a:srgbClr val="002060"/>
              </a:solidFill>
              <a:latin typeface="Times New Roman" panose="02020603050405020304" pitchFamily="18" charset="0"/>
              <a:cs typeface="Times New Roman" panose="02020603050405020304" pitchFamily="18" charset="0"/>
            </a:endParaRPr>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705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Networked </a:t>
            </a:r>
            <a:r>
              <a:rPr lang="en-US" sz="2400" b="1" dirty="0">
                <a:solidFill>
                  <a:srgbClr val="002060"/>
                </a:solidFill>
                <a:latin typeface="Times New Roman" panose="02020603050405020304" pitchFamily="18" charset="0"/>
                <a:cs typeface="Times New Roman" panose="02020603050405020304" pitchFamily="18" charset="0"/>
              </a:rPr>
              <a:t>I</a:t>
            </a:r>
            <a:r>
              <a:rPr lang="en-US" sz="2400" b="1" dirty="0" smtClean="0">
                <a:solidFill>
                  <a:srgbClr val="002060"/>
                </a:solidFill>
                <a:latin typeface="Times New Roman" panose="02020603050405020304" pitchFamily="18" charset="0"/>
                <a:cs typeface="Times New Roman" panose="02020603050405020304" pitchFamily="18" charset="0"/>
              </a:rPr>
              <a:t>dentity </a:t>
            </a:r>
            <a:r>
              <a:rPr lang="en-US" sz="2400" b="1" dirty="0">
                <a:solidFill>
                  <a:srgbClr val="002060"/>
                </a:solidFill>
                <a:latin typeface="Times New Roman" panose="02020603050405020304" pitchFamily="18" charset="0"/>
                <a:cs typeface="Times New Roman" panose="02020603050405020304" pitchFamily="18" charset="0"/>
              </a:rPr>
              <a:t>S</a:t>
            </a:r>
            <a:r>
              <a:rPr lang="en-US" sz="2400" b="1" dirty="0" smtClean="0">
                <a:solidFill>
                  <a:srgbClr val="002060"/>
                </a:solidFill>
                <a:latin typeface="Times New Roman" panose="02020603050405020304" pitchFamily="18" charset="0"/>
                <a:cs typeface="Times New Roman" panose="02020603050405020304" pitchFamily="18" charset="0"/>
              </a:rPr>
              <a:t>ervice </a:t>
            </a:r>
            <a:r>
              <a:rPr lang="en-US" sz="2400" b="1" dirty="0">
                <a:solidFill>
                  <a:srgbClr val="002060"/>
                </a:solidFill>
                <a:latin typeface="Times New Roman" panose="02020603050405020304" pitchFamily="18" charset="0"/>
                <a:cs typeface="Times New Roman" panose="02020603050405020304" pitchFamily="18" charset="0"/>
              </a:rPr>
              <a:t>C</a:t>
            </a:r>
            <a:r>
              <a:rPr lang="en-US" sz="2400" b="1" dirty="0" smtClean="0">
                <a:solidFill>
                  <a:srgbClr val="002060"/>
                </a:solidFill>
                <a:latin typeface="Times New Roman" panose="02020603050405020304" pitchFamily="18" charset="0"/>
                <a:cs typeface="Times New Roman" panose="02020603050405020304" pitchFamily="18" charset="0"/>
              </a:rPr>
              <a:t>lasses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216001" y="928913"/>
            <a:ext cx="8844086" cy="3970318"/>
          </a:xfrm>
          <a:prstGeom prst="rect">
            <a:avLst/>
          </a:prstGeom>
        </p:spPr>
        <p:txBody>
          <a:bodyPr wrap="square">
            <a:spAutoFit/>
          </a:bodyPr>
          <a:lstStyle/>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To </a:t>
            </a:r>
            <a:r>
              <a:rPr lang="en-IN" dirty="0">
                <a:solidFill>
                  <a:srgbClr val="C00000"/>
                </a:solidFill>
                <a:latin typeface="Times New Roman" panose="02020603050405020304" pitchFamily="18" charset="0"/>
                <a:cs typeface="Times New Roman" panose="02020603050405020304" pitchFamily="18" charset="0"/>
              </a:rPr>
              <a:t>validate </a:t>
            </a:r>
            <a:r>
              <a:rPr lang="en-IN" b="1" dirty="0">
                <a:solidFill>
                  <a:srgbClr val="C00000"/>
                </a:solidFill>
                <a:latin typeface="Times New Roman" panose="02020603050405020304" pitchFamily="18" charset="0"/>
                <a:cs typeface="Times New Roman" panose="02020603050405020304" pitchFamily="18" charset="0"/>
              </a:rPr>
              <a:t>Web sites, transactions, transaction participants, clients, and network </a:t>
            </a:r>
            <a:r>
              <a:rPr lang="en-IN" b="1" dirty="0" smtClean="0">
                <a:solidFill>
                  <a:srgbClr val="C00000"/>
                </a:solidFill>
                <a:latin typeface="Times New Roman" panose="02020603050405020304" pitchFamily="18" charset="0"/>
                <a:cs typeface="Times New Roman" panose="02020603050405020304" pitchFamily="18" charset="0"/>
              </a:rPr>
              <a:t>services </a:t>
            </a:r>
            <a:r>
              <a:rPr lang="en-IN" dirty="0" smtClean="0">
                <a:solidFill>
                  <a:srgbClr val="C00000"/>
                </a:solidFill>
                <a:latin typeface="Times New Roman" panose="02020603050405020304" pitchFamily="18" charset="0"/>
                <a:cs typeface="Times New Roman" panose="02020603050405020304" pitchFamily="18" charset="0"/>
              </a:rPr>
              <a:t>various forms </a:t>
            </a:r>
            <a:r>
              <a:rPr lang="en-IN" dirty="0">
                <a:solidFill>
                  <a:srgbClr val="C00000"/>
                </a:solidFill>
                <a:latin typeface="Times New Roman" panose="02020603050405020304" pitchFamily="18" charset="0"/>
                <a:cs typeface="Times New Roman" panose="02020603050405020304" pitchFamily="18" charset="0"/>
              </a:rPr>
              <a:t>of identity services—have been deployed on networks.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smtClean="0">
                <a:solidFill>
                  <a:srgbClr val="C00000"/>
                </a:solidFill>
                <a:latin typeface="Times New Roman" panose="02020603050405020304" pitchFamily="18" charset="0"/>
                <a:cs typeface="Times New Roman" panose="02020603050405020304" pitchFamily="18" charset="0"/>
              </a:rPr>
              <a:t>Ticket </a:t>
            </a:r>
            <a:r>
              <a:rPr lang="en-IN" b="1" dirty="0">
                <a:solidFill>
                  <a:srgbClr val="C00000"/>
                </a:solidFill>
                <a:latin typeface="Times New Roman" panose="02020603050405020304" pitchFamily="18" charset="0"/>
                <a:cs typeface="Times New Roman" panose="02020603050405020304" pitchFamily="18" charset="0"/>
              </a:rPr>
              <a:t>or token providing </a:t>
            </a:r>
            <a:r>
              <a:rPr lang="en-IN" b="1" dirty="0" smtClean="0">
                <a:solidFill>
                  <a:srgbClr val="C00000"/>
                </a:solidFill>
                <a:latin typeface="Times New Roman" panose="02020603050405020304" pitchFamily="18" charset="0"/>
                <a:cs typeface="Times New Roman" panose="02020603050405020304" pitchFamily="18" charset="0"/>
              </a:rPr>
              <a:t>services, certificate </a:t>
            </a:r>
            <a:r>
              <a:rPr lang="en-IN" b="1" dirty="0">
                <a:solidFill>
                  <a:srgbClr val="C00000"/>
                </a:solidFill>
                <a:latin typeface="Times New Roman" panose="02020603050405020304" pitchFamily="18" charset="0"/>
                <a:cs typeface="Times New Roman" panose="02020603050405020304" pitchFamily="18" charset="0"/>
              </a:rPr>
              <a:t>servers</a:t>
            </a:r>
            <a:r>
              <a:rPr lang="en-IN" dirty="0">
                <a:solidFill>
                  <a:srgbClr val="C00000"/>
                </a:solidFill>
                <a:latin typeface="Times New Roman" panose="02020603050405020304" pitchFamily="18" charset="0"/>
                <a:cs typeface="Times New Roman" panose="02020603050405020304" pitchFamily="18" charset="0"/>
              </a:rPr>
              <a:t>, and other trust mechanisms all provide identity services that can be pushed </a:t>
            </a:r>
            <a:r>
              <a:rPr lang="en-IN" dirty="0" smtClean="0">
                <a:solidFill>
                  <a:srgbClr val="C00000"/>
                </a:solidFill>
                <a:latin typeface="Times New Roman" panose="02020603050405020304" pitchFamily="18" charset="0"/>
                <a:cs typeface="Times New Roman" panose="02020603050405020304" pitchFamily="18" charset="0"/>
              </a:rPr>
              <a:t>out of </a:t>
            </a:r>
            <a:r>
              <a:rPr lang="en-IN" dirty="0">
                <a:solidFill>
                  <a:srgbClr val="C00000"/>
                </a:solidFill>
                <a:latin typeface="Times New Roman" panose="02020603050405020304" pitchFamily="18" charset="0"/>
                <a:cs typeface="Times New Roman" panose="02020603050405020304" pitchFamily="18" charset="0"/>
              </a:rPr>
              <a:t>private networks and into the cloud</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Identity protection is one of the more expensive and complex areas of network computing. </a:t>
            </a:r>
            <a:r>
              <a:rPr lang="en-IN" dirty="0" smtClean="0">
                <a:solidFill>
                  <a:srgbClr val="C00000"/>
                </a:solidFill>
                <a:latin typeface="Times New Roman" panose="02020603050405020304" pitchFamily="18" charset="0"/>
                <a:cs typeface="Times New Roman" panose="02020603050405020304" pitchFamily="18" charset="0"/>
              </a:rPr>
              <a:t>If you think </a:t>
            </a:r>
            <a:r>
              <a:rPr lang="en-IN" dirty="0">
                <a:solidFill>
                  <a:srgbClr val="C00000"/>
                </a:solidFill>
                <a:latin typeface="Times New Roman" panose="02020603050405020304" pitchFamily="18" charset="0"/>
                <a:cs typeface="Times New Roman" panose="02020603050405020304" pitchFamily="18" charset="0"/>
              </a:rPr>
              <a:t>about it, requests for information on identity by personnel such as </a:t>
            </a:r>
            <a:r>
              <a:rPr lang="en-IN" b="1" dirty="0">
                <a:solidFill>
                  <a:srgbClr val="C00000"/>
                </a:solidFill>
                <a:latin typeface="Times New Roman" panose="02020603050405020304" pitchFamily="18" charset="0"/>
                <a:cs typeface="Times New Roman" panose="02020603050405020304" pitchFamily="18" charset="0"/>
              </a:rPr>
              <a:t>HR, managers</a:t>
            </a:r>
            <a:r>
              <a:rPr lang="en-IN" dirty="0">
                <a:solidFill>
                  <a:srgbClr val="C00000"/>
                </a:solidFill>
                <a:latin typeface="Times New Roman" panose="02020603050405020304" pitchFamily="18" charset="0"/>
                <a:cs typeface="Times New Roman" panose="02020603050405020304" pitchFamily="18" charset="0"/>
              </a:rPr>
              <a:t>, and </a:t>
            </a:r>
            <a:r>
              <a:rPr lang="en-IN" dirty="0" smtClean="0">
                <a:solidFill>
                  <a:srgbClr val="C00000"/>
                </a:solidFill>
                <a:latin typeface="Times New Roman" panose="02020603050405020304" pitchFamily="18" charset="0"/>
                <a:cs typeface="Times New Roman" panose="02020603050405020304" pitchFamily="18" charset="0"/>
              </a:rPr>
              <a:t>others.</a:t>
            </a:r>
          </a:p>
          <a:p>
            <a:pPr marL="285750" indent="-285750" algn="just">
              <a:buFont typeface="Arial" panose="020B0604020202020204" pitchFamily="34" charset="0"/>
              <a:buChar char="•"/>
            </a:pP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By </a:t>
            </a:r>
            <a:r>
              <a:rPr lang="en-IN" dirty="0">
                <a:solidFill>
                  <a:srgbClr val="002060"/>
                </a:solidFill>
                <a:latin typeface="Times New Roman" panose="02020603050405020304" pitchFamily="18" charset="0"/>
                <a:cs typeface="Times New Roman" panose="02020603050405020304" pitchFamily="18" charset="0"/>
              </a:rPr>
              <a:t>systems and resources for access requests; as identification for network traffic; and the </a:t>
            </a:r>
            <a:r>
              <a:rPr lang="en-IN" dirty="0" smtClean="0">
                <a:solidFill>
                  <a:srgbClr val="002060"/>
                </a:solidFill>
                <a:latin typeface="Times New Roman" panose="02020603050405020304" pitchFamily="18" charset="0"/>
                <a:cs typeface="Times New Roman" panose="02020603050405020304" pitchFamily="18" charset="0"/>
              </a:rPr>
              <a:t>myriad </a:t>
            </a:r>
            <a:r>
              <a:rPr lang="en-IN" dirty="0">
                <a:solidFill>
                  <a:srgbClr val="002060"/>
                </a:solidFill>
                <a:latin typeface="Times New Roman" panose="02020603050405020304" pitchFamily="18" charset="0"/>
                <a:cs typeface="Times New Roman" panose="02020603050405020304" pitchFamily="18" charset="0"/>
              </a:rPr>
              <a:t>other requirements mean that a significant percentage of all network traffic is supporting </a:t>
            </a:r>
            <a:r>
              <a:rPr lang="en-IN" dirty="0" smtClean="0">
                <a:solidFill>
                  <a:srgbClr val="002060"/>
                </a:solidFill>
                <a:latin typeface="Times New Roman" panose="02020603050405020304" pitchFamily="18" charset="0"/>
                <a:cs typeface="Times New Roman" panose="02020603050405020304" pitchFamily="18" charset="0"/>
              </a:rPr>
              <a:t>an identification </a:t>
            </a:r>
            <a:r>
              <a:rPr lang="en-IN" dirty="0">
                <a:solidFill>
                  <a:srgbClr val="002060"/>
                </a:solidFill>
                <a:latin typeface="Times New Roman" panose="02020603050405020304" pitchFamily="18" charset="0"/>
                <a:cs typeface="Times New Roman" panose="02020603050405020304" pitchFamily="18" charset="0"/>
              </a:rPr>
              <a:t>service. </a:t>
            </a: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Literally </a:t>
            </a:r>
            <a:r>
              <a:rPr lang="en-IN" dirty="0">
                <a:solidFill>
                  <a:srgbClr val="002060"/>
                </a:solidFill>
                <a:latin typeface="Times New Roman" panose="02020603050405020304" pitchFamily="18" charset="0"/>
                <a:cs typeface="Times New Roman" panose="02020603050405020304" pitchFamily="18" charset="0"/>
              </a:rPr>
              <a:t>hundreds of messages on a network every minute are </a:t>
            </a:r>
            <a:r>
              <a:rPr lang="en-IN" dirty="0" smtClean="0">
                <a:solidFill>
                  <a:srgbClr val="002060"/>
                </a:solidFill>
                <a:latin typeface="Times New Roman" panose="02020603050405020304" pitchFamily="18" charset="0"/>
                <a:cs typeface="Times New Roman" panose="02020603050405020304" pitchFamily="18" charset="0"/>
              </a:rPr>
              <a:t>checking identity</a:t>
            </a:r>
            <a:r>
              <a:rPr lang="en-IN" dirty="0">
                <a:solidFill>
                  <a:srgbClr val="002060"/>
                </a:solidFill>
                <a:latin typeface="Times New Roman" panose="02020603050405020304" pitchFamily="18" charset="0"/>
                <a:cs typeface="Times New Roman" panose="02020603050405020304" pitchFamily="18" charset="0"/>
              </a:rPr>
              <a:t>, and every Ethernet packet contains header fields that are used to identify the </a:t>
            </a:r>
            <a:r>
              <a:rPr lang="en-IN" dirty="0" smtClean="0">
                <a:solidFill>
                  <a:srgbClr val="002060"/>
                </a:solidFill>
                <a:latin typeface="Times New Roman" panose="02020603050405020304" pitchFamily="18" charset="0"/>
                <a:cs typeface="Times New Roman" panose="02020603050405020304" pitchFamily="18" charset="0"/>
              </a:rPr>
              <a:t>information it </a:t>
            </a:r>
            <a:r>
              <a:rPr lang="en-IN" dirty="0">
                <a:solidFill>
                  <a:srgbClr val="002060"/>
                </a:solidFill>
                <a:latin typeface="Times New Roman" panose="02020603050405020304" pitchFamily="18" charset="0"/>
                <a:cs typeface="Times New Roman" panose="02020603050405020304" pitchFamily="18" charset="0"/>
              </a:rPr>
              <a:t>contains</a:t>
            </a:r>
            <a:r>
              <a:rPr lang="en-IN"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As systems become even more specialized, it has become increasingly difficult to find the </a:t>
            </a:r>
            <a:r>
              <a:rPr lang="en-IN" dirty="0" smtClean="0">
                <a:solidFill>
                  <a:srgbClr val="002060"/>
                </a:solidFill>
                <a:latin typeface="Times New Roman" panose="02020603050405020304" pitchFamily="18" charset="0"/>
                <a:cs typeface="Times New Roman" panose="02020603050405020304" pitchFamily="18" charset="0"/>
              </a:rPr>
              <a:t>security experts </a:t>
            </a:r>
            <a:r>
              <a:rPr lang="en-IN" dirty="0">
                <a:solidFill>
                  <a:srgbClr val="002060"/>
                </a:solidFill>
                <a:latin typeface="Times New Roman" panose="02020603050405020304" pitchFamily="18" charset="0"/>
                <a:cs typeface="Times New Roman" panose="02020603050405020304" pitchFamily="18" charset="0"/>
              </a:rPr>
              <a:t>needed to run an ID service. </a:t>
            </a:r>
            <a:r>
              <a:rPr lang="en-IN" dirty="0" smtClean="0">
                <a:solidFill>
                  <a:srgbClr val="002060"/>
                </a:solidFill>
                <a:latin typeface="Times New Roman" panose="02020603050405020304" pitchFamily="18" charset="0"/>
                <a:cs typeface="Times New Roman" panose="02020603050405020304" pitchFamily="18" charset="0"/>
              </a:rPr>
              <a:t>Identity </a:t>
            </a:r>
            <a:r>
              <a:rPr lang="en-IN" dirty="0">
                <a:solidFill>
                  <a:srgbClr val="002060"/>
                </a:solidFill>
                <a:latin typeface="Times New Roman" panose="02020603050405020304" pitchFamily="18" charset="0"/>
                <a:cs typeface="Times New Roman" panose="02020603050405020304" pitchFamily="18" charset="0"/>
              </a:rPr>
              <a:t>as a Service or the related hosted (managed) </a:t>
            </a:r>
            <a:r>
              <a:rPr lang="en-IN" dirty="0" smtClean="0">
                <a:solidFill>
                  <a:srgbClr val="002060"/>
                </a:solidFill>
                <a:latin typeface="Times New Roman" panose="02020603050405020304" pitchFamily="18" charset="0"/>
                <a:cs typeface="Times New Roman" panose="02020603050405020304" pitchFamily="18" charset="0"/>
              </a:rPr>
              <a:t>identity services </a:t>
            </a:r>
            <a:r>
              <a:rPr lang="en-IN" dirty="0">
                <a:solidFill>
                  <a:srgbClr val="002060"/>
                </a:solidFill>
                <a:latin typeface="Times New Roman" panose="02020603050405020304" pitchFamily="18" charset="0"/>
                <a:cs typeface="Times New Roman" panose="02020603050405020304" pitchFamily="18" charset="0"/>
              </a:rPr>
              <a:t>may be the most valuable and cost effective distributed service types you can subscribe </a:t>
            </a:r>
            <a:r>
              <a:rPr lang="en-IN" dirty="0" smtClean="0">
                <a:solidFill>
                  <a:srgbClr val="002060"/>
                </a:solidFill>
                <a:latin typeface="Times New Roman" panose="02020603050405020304" pitchFamily="18" charset="0"/>
                <a:cs typeface="Times New Roman" panose="02020603050405020304" pitchFamily="18" charset="0"/>
              </a:rPr>
              <a:t>to.</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480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Networked </a:t>
            </a:r>
            <a:r>
              <a:rPr lang="en-US" sz="2400" b="1" dirty="0">
                <a:solidFill>
                  <a:srgbClr val="002060"/>
                </a:solidFill>
                <a:latin typeface="Times New Roman" panose="02020603050405020304" pitchFamily="18" charset="0"/>
                <a:cs typeface="Times New Roman" panose="02020603050405020304" pitchFamily="18" charset="0"/>
              </a:rPr>
              <a:t>identity service classes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216001" y="928913"/>
            <a:ext cx="8844086" cy="3970318"/>
          </a:xfrm>
          <a:prstGeom prst="rect">
            <a:avLst/>
          </a:prstGeom>
        </p:spPr>
        <p:txBody>
          <a:bodyPr wrap="square">
            <a:spAutoFit/>
          </a:bodyPr>
          <a:lstStyle/>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Identity </a:t>
            </a:r>
            <a:r>
              <a:rPr lang="en-US" dirty="0">
                <a:solidFill>
                  <a:srgbClr val="C00000"/>
                </a:solidFill>
                <a:latin typeface="Times New Roman" panose="02020603050405020304" pitchFamily="18" charset="0"/>
                <a:cs typeface="Times New Roman" panose="02020603050405020304" pitchFamily="18" charset="0"/>
              </a:rPr>
              <a:t>as a Service (</a:t>
            </a:r>
            <a:r>
              <a:rPr lang="en-US" dirty="0" err="1">
                <a:solidFill>
                  <a:srgbClr val="C00000"/>
                </a:solidFill>
                <a:latin typeface="Times New Roman" panose="02020603050405020304" pitchFamily="18" charset="0"/>
                <a:cs typeface="Times New Roman" panose="02020603050405020304" pitchFamily="18" charset="0"/>
              </a:rPr>
              <a:t>IDaaS</a:t>
            </a:r>
            <a:r>
              <a:rPr lang="en-US" dirty="0">
                <a:solidFill>
                  <a:srgbClr val="C00000"/>
                </a:solidFill>
                <a:latin typeface="Times New Roman" panose="02020603050405020304" pitchFamily="18" charset="0"/>
                <a:cs typeface="Times New Roman" panose="02020603050405020304" pitchFamily="18" charset="0"/>
              </a:rPr>
              <a:t>) may include any of the following:</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Authentication </a:t>
            </a:r>
            <a:r>
              <a:rPr lang="en-US" dirty="0">
                <a:solidFill>
                  <a:srgbClr val="C00000"/>
                </a:solidFill>
                <a:latin typeface="Times New Roman" panose="02020603050405020304" pitchFamily="18" charset="0"/>
                <a:cs typeface="Times New Roman" panose="02020603050405020304" pitchFamily="18" charset="0"/>
              </a:rPr>
              <a:t>services (identity verification)</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Directory </a:t>
            </a:r>
            <a:r>
              <a:rPr lang="en-US" dirty="0">
                <a:solidFill>
                  <a:srgbClr val="C00000"/>
                </a:solidFill>
                <a:latin typeface="Times New Roman" panose="02020603050405020304" pitchFamily="18" charset="0"/>
                <a:cs typeface="Times New Roman" panose="02020603050405020304" pitchFamily="18" charset="0"/>
              </a:rPr>
              <a:t>services</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Federated </a:t>
            </a:r>
            <a:r>
              <a:rPr lang="en-US" dirty="0">
                <a:solidFill>
                  <a:srgbClr val="C00000"/>
                </a:solidFill>
                <a:latin typeface="Times New Roman" panose="02020603050405020304" pitchFamily="18" charset="0"/>
                <a:cs typeface="Times New Roman" panose="02020603050405020304" pitchFamily="18" charset="0"/>
              </a:rPr>
              <a:t>identity</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Identity </a:t>
            </a:r>
            <a:r>
              <a:rPr lang="en-US" dirty="0">
                <a:solidFill>
                  <a:srgbClr val="C00000"/>
                </a:solidFill>
                <a:latin typeface="Times New Roman" panose="02020603050405020304" pitchFamily="18" charset="0"/>
                <a:cs typeface="Times New Roman" panose="02020603050405020304" pitchFamily="18" charset="0"/>
              </a:rPr>
              <a:t>governance</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Identity </a:t>
            </a:r>
            <a:r>
              <a:rPr lang="en-US" dirty="0">
                <a:solidFill>
                  <a:srgbClr val="C00000"/>
                </a:solidFill>
                <a:latin typeface="Times New Roman" panose="02020603050405020304" pitchFamily="18" charset="0"/>
                <a:cs typeface="Times New Roman" panose="02020603050405020304" pitchFamily="18" charset="0"/>
              </a:rPr>
              <a:t>and profile management</a:t>
            </a: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Policies</a:t>
            </a:r>
            <a:r>
              <a:rPr lang="en-US" dirty="0">
                <a:solidFill>
                  <a:srgbClr val="C00000"/>
                </a:solidFill>
                <a:latin typeface="Times New Roman" panose="02020603050405020304" pitchFamily="18" charset="0"/>
                <a:cs typeface="Times New Roman" panose="02020603050405020304" pitchFamily="18" charset="0"/>
              </a:rPr>
              <a:t>, roles, and enforcement</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Provisioning </a:t>
            </a:r>
            <a:r>
              <a:rPr lang="en-US" dirty="0">
                <a:solidFill>
                  <a:srgbClr val="002060"/>
                </a:solidFill>
                <a:latin typeface="Times New Roman" panose="02020603050405020304" pitchFamily="18" charset="0"/>
                <a:cs typeface="Times New Roman" panose="02020603050405020304" pitchFamily="18" charset="0"/>
              </a:rPr>
              <a:t>(external policy administration)</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Registration</a:t>
            </a: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Risk </a:t>
            </a:r>
            <a:r>
              <a:rPr lang="en-US" dirty="0">
                <a:solidFill>
                  <a:srgbClr val="002060"/>
                </a:solidFill>
                <a:latin typeface="Times New Roman" panose="02020603050405020304" pitchFamily="18" charset="0"/>
                <a:cs typeface="Times New Roman" panose="02020603050405020304" pitchFamily="18" charset="0"/>
              </a:rPr>
              <a:t>and event monitoring, including audits</a:t>
            </a: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Single </a:t>
            </a:r>
            <a:r>
              <a:rPr lang="en-US" dirty="0">
                <a:solidFill>
                  <a:srgbClr val="002060"/>
                </a:solidFill>
                <a:latin typeface="Times New Roman" panose="02020603050405020304" pitchFamily="18" charset="0"/>
                <a:cs typeface="Times New Roman" panose="02020603050405020304" pitchFamily="18" charset="0"/>
              </a:rPr>
              <a:t>sign-on services (pass-through authentication</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The </a:t>
            </a:r>
            <a:r>
              <a:rPr lang="en-US" dirty="0">
                <a:solidFill>
                  <a:srgbClr val="002060"/>
                </a:solidFill>
                <a:latin typeface="Times New Roman" panose="02020603050405020304" pitchFamily="18" charset="0"/>
                <a:cs typeface="Times New Roman" panose="02020603050405020304" pitchFamily="18" charset="0"/>
              </a:rPr>
              <a:t>sharing of any or all of these attributes over a network may be the subject of different </a:t>
            </a:r>
            <a:r>
              <a:rPr lang="en-US" dirty="0" smtClean="0">
                <a:solidFill>
                  <a:srgbClr val="002060"/>
                </a:solidFill>
                <a:latin typeface="Times New Roman" panose="02020603050405020304" pitchFamily="18" charset="0"/>
                <a:cs typeface="Times New Roman" panose="02020603050405020304" pitchFamily="18" charset="0"/>
              </a:rPr>
              <a:t>government </a:t>
            </a:r>
            <a:r>
              <a:rPr lang="en-US" dirty="0">
                <a:solidFill>
                  <a:srgbClr val="002060"/>
                </a:solidFill>
                <a:latin typeface="Times New Roman" panose="02020603050405020304" pitchFamily="18" charset="0"/>
                <a:cs typeface="Times New Roman" panose="02020603050405020304" pitchFamily="18" charset="0"/>
              </a:rPr>
              <a:t>regulations and in many cases must be protected so that only justifiable parties may </a:t>
            </a:r>
            <a:r>
              <a:rPr lang="en-US" dirty="0" smtClean="0">
                <a:solidFill>
                  <a:srgbClr val="002060"/>
                </a:solidFill>
                <a:latin typeface="Times New Roman" panose="02020603050405020304" pitchFamily="18" charset="0"/>
                <a:cs typeface="Times New Roman" panose="02020603050405020304" pitchFamily="18" charset="0"/>
              </a:rPr>
              <a:t>have access </a:t>
            </a:r>
            <a:r>
              <a:rPr lang="en-US" dirty="0">
                <a:solidFill>
                  <a:srgbClr val="002060"/>
                </a:solidFill>
                <a:latin typeface="Times New Roman" panose="02020603050405020304" pitchFamily="18" charset="0"/>
                <a:cs typeface="Times New Roman" panose="02020603050405020304" pitchFamily="18" charset="0"/>
              </a:rPr>
              <a:t>to the minimal amount that may be disclosed.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This </a:t>
            </a:r>
            <a:r>
              <a:rPr lang="en-US" dirty="0">
                <a:solidFill>
                  <a:srgbClr val="002060"/>
                </a:solidFill>
                <a:latin typeface="Times New Roman" panose="02020603050405020304" pitchFamily="18" charset="0"/>
                <a:cs typeface="Times New Roman" panose="02020603050405020304" pitchFamily="18" charset="0"/>
              </a:rPr>
              <a:t>level of access defines what may </a:t>
            </a:r>
            <a:r>
              <a:rPr lang="en-US" dirty="0" smtClean="0">
                <a:solidFill>
                  <a:srgbClr val="002060"/>
                </a:solidFill>
                <a:latin typeface="Times New Roman" panose="02020603050405020304" pitchFamily="18" charset="0"/>
                <a:cs typeface="Times New Roman" panose="02020603050405020304" pitchFamily="18" charset="0"/>
              </a:rPr>
              <a:t>be called </a:t>
            </a:r>
            <a:r>
              <a:rPr lang="en-US" dirty="0">
                <a:solidFill>
                  <a:srgbClr val="002060"/>
                </a:solidFill>
                <a:latin typeface="Times New Roman" panose="02020603050405020304" pitchFamily="18" charset="0"/>
                <a:cs typeface="Times New Roman" panose="02020603050405020304" pitchFamily="18" charset="0"/>
              </a:rPr>
              <a:t>an identity relationship</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83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S</a:t>
            </a:r>
            <a:r>
              <a:rPr lang="en-US" sz="2400" b="1" dirty="0" smtClean="0">
                <a:solidFill>
                  <a:srgbClr val="002060"/>
                </a:solidFill>
                <a:latin typeface="Times New Roman" panose="02020603050405020304" pitchFamily="18" charset="0"/>
                <a:cs typeface="Times New Roman" panose="02020603050405020304" pitchFamily="18" charset="0"/>
              </a:rPr>
              <a:t>ystem </a:t>
            </a:r>
            <a:r>
              <a:rPr lang="en-US" sz="2400" b="1" dirty="0">
                <a:solidFill>
                  <a:srgbClr val="002060"/>
                </a:solidFill>
                <a:latin typeface="Times New Roman" panose="02020603050405020304" pitchFamily="18" charset="0"/>
                <a:cs typeface="Times New Roman" panose="02020603050405020304" pitchFamily="18" charset="0"/>
              </a:rPr>
              <a:t>C</a:t>
            </a:r>
            <a:r>
              <a:rPr lang="en-US" sz="2400" b="1" dirty="0" smtClean="0">
                <a:solidFill>
                  <a:srgbClr val="002060"/>
                </a:solidFill>
                <a:latin typeface="Times New Roman" panose="02020603050405020304" pitchFamily="18" charset="0"/>
                <a:cs typeface="Times New Roman" panose="02020603050405020304" pitchFamily="18" charset="0"/>
              </a:rPr>
              <a:t>odes </a:t>
            </a:r>
            <a:r>
              <a:rPr lang="en-US" sz="2400" b="1" dirty="0">
                <a:solidFill>
                  <a:srgbClr val="002060"/>
                </a:solidFill>
                <a:latin typeface="Times New Roman" panose="02020603050405020304" pitchFamily="18" charset="0"/>
                <a:cs typeface="Times New Roman" panose="02020603050405020304" pitchFamily="18" charset="0"/>
              </a:rPr>
              <a:t>of </a:t>
            </a:r>
            <a:r>
              <a:rPr lang="en-US" sz="2400" b="1" dirty="0" smtClean="0">
                <a:solidFill>
                  <a:srgbClr val="002060"/>
                </a:solidFill>
                <a:latin typeface="Times New Roman" panose="02020603050405020304" pitchFamily="18" charset="0"/>
                <a:cs typeface="Times New Roman" panose="02020603050405020304" pitchFamily="18" charset="0"/>
              </a:rPr>
              <a:t>Conduct</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7" name="Rectangle 6"/>
          <p:cNvSpPr/>
          <p:nvPr/>
        </p:nvSpPr>
        <p:spPr>
          <a:xfrm>
            <a:off x="215999" y="993600"/>
            <a:ext cx="8775599" cy="3893374"/>
          </a:xfrm>
          <a:prstGeom prst="rect">
            <a:avLst/>
          </a:prstGeom>
        </p:spPr>
        <p:txBody>
          <a:bodyPr wrap="square">
            <a:spAutoFit/>
          </a:bodyPr>
          <a:lstStyle/>
          <a:p>
            <a:pPr marL="285750" indent="-285750" algn="just">
              <a:buFont typeface="Arial" panose="020B0604020202020204" pitchFamily="34" charset="0"/>
              <a:buChar char="•"/>
            </a:pPr>
            <a:r>
              <a:rPr lang="en-IN" sz="1300" dirty="0">
                <a:solidFill>
                  <a:srgbClr val="C00000"/>
                </a:solidFill>
                <a:latin typeface="Times New Roman" panose="02020603050405020304" pitchFamily="18" charset="0"/>
                <a:cs typeface="Times New Roman" panose="02020603050405020304" pitchFamily="18" charset="0"/>
              </a:rPr>
              <a:t>Certain codes of conduct must be observed legally, and if not legally at the moment, then </a:t>
            </a:r>
            <a:r>
              <a:rPr lang="en-IN" sz="1300" dirty="0" smtClean="0">
                <a:solidFill>
                  <a:srgbClr val="C00000"/>
                </a:solidFill>
                <a:latin typeface="Times New Roman" panose="02020603050405020304" pitchFamily="18" charset="0"/>
                <a:cs typeface="Times New Roman" panose="02020603050405020304" pitchFamily="18" charset="0"/>
              </a:rPr>
              <a:t>certainly on </a:t>
            </a:r>
            <a:r>
              <a:rPr lang="en-IN" sz="1300" dirty="0">
                <a:solidFill>
                  <a:srgbClr val="C00000"/>
                </a:solidFill>
                <a:latin typeface="Times New Roman" panose="02020603050405020304" pitchFamily="18" charset="0"/>
                <a:cs typeface="Times New Roman" panose="02020603050405020304" pitchFamily="18" charset="0"/>
              </a:rPr>
              <a:t>a moral basis. </a:t>
            </a:r>
            <a:r>
              <a:rPr lang="en-IN" sz="1300" dirty="0" smtClean="0">
                <a:solidFill>
                  <a:srgbClr val="C00000"/>
                </a:solidFill>
                <a:latin typeface="Times New Roman" panose="02020603050405020304" pitchFamily="18" charset="0"/>
                <a:cs typeface="Times New Roman" panose="02020603050405020304" pitchFamily="18" charset="0"/>
              </a:rPr>
              <a:t>Cloud </a:t>
            </a:r>
            <a:r>
              <a:rPr lang="en-IN" sz="1300" dirty="0">
                <a:solidFill>
                  <a:srgbClr val="C00000"/>
                </a:solidFill>
                <a:latin typeface="Times New Roman" panose="02020603050405020304" pitchFamily="18" charset="0"/>
                <a:cs typeface="Times New Roman" panose="02020603050405020304" pitchFamily="18" charset="0"/>
              </a:rPr>
              <a:t>computing services that don’t observe these codes do so at their peril. </a:t>
            </a:r>
            <a:r>
              <a:rPr lang="en-IN" sz="1300" dirty="0" smtClean="0">
                <a:solidFill>
                  <a:srgbClr val="C00000"/>
                </a:solidFill>
                <a:latin typeface="Times New Roman" panose="02020603050405020304" pitchFamily="18" charset="0"/>
                <a:cs typeface="Times New Roman" panose="02020603050405020304" pitchFamily="18" charset="0"/>
              </a:rPr>
              <a:t>In working </a:t>
            </a:r>
            <a:r>
              <a:rPr lang="en-IN" sz="1300" dirty="0">
                <a:solidFill>
                  <a:srgbClr val="C00000"/>
                </a:solidFill>
                <a:latin typeface="Times New Roman" panose="02020603050405020304" pitchFamily="18" charset="0"/>
                <a:cs typeface="Times New Roman" panose="02020603050405020304" pitchFamily="18" charset="0"/>
              </a:rPr>
              <a:t>with </a:t>
            </a:r>
            <a:r>
              <a:rPr lang="en-IN" sz="1300" dirty="0" err="1">
                <a:solidFill>
                  <a:srgbClr val="C00000"/>
                </a:solidFill>
                <a:latin typeface="Times New Roman" panose="02020603050405020304" pitchFamily="18" charset="0"/>
                <a:cs typeface="Times New Roman" panose="02020603050405020304" pitchFamily="18" charset="0"/>
              </a:rPr>
              <a:t>IDaaS</a:t>
            </a:r>
            <a:r>
              <a:rPr lang="en-IN" sz="1300" dirty="0">
                <a:solidFill>
                  <a:srgbClr val="C00000"/>
                </a:solidFill>
                <a:latin typeface="Times New Roman" panose="02020603050405020304" pitchFamily="18" charset="0"/>
                <a:cs typeface="Times New Roman" panose="02020603050405020304" pitchFamily="18" charset="0"/>
              </a:rPr>
              <a:t> software, evaluate </a:t>
            </a:r>
            <a:r>
              <a:rPr lang="en-IN" sz="1300" dirty="0" err="1">
                <a:solidFill>
                  <a:srgbClr val="C00000"/>
                </a:solidFill>
                <a:latin typeface="Times New Roman" panose="02020603050405020304" pitchFamily="18" charset="0"/>
                <a:cs typeface="Times New Roman" panose="02020603050405020304" pitchFamily="18" charset="0"/>
              </a:rPr>
              <a:t>IDaaS</a:t>
            </a:r>
            <a:r>
              <a:rPr lang="en-IN" sz="1300" dirty="0">
                <a:solidFill>
                  <a:srgbClr val="C00000"/>
                </a:solidFill>
                <a:latin typeface="Times New Roman" panose="02020603050405020304" pitchFamily="18" charset="0"/>
                <a:cs typeface="Times New Roman" panose="02020603050405020304" pitchFamily="18" charset="0"/>
              </a:rPr>
              <a:t> applications on the following basis:</a:t>
            </a:r>
          </a:p>
          <a:p>
            <a:pPr marL="285750" indent="-285750" algn="just">
              <a:buFont typeface="Arial" panose="020B0604020202020204" pitchFamily="34" charset="0"/>
              <a:buChar char="•"/>
            </a:pPr>
            <a:r>
              <a:rPr lang="en-IN" sz="1300" b="1" dirty="0" smtClean="0">
                <a:solidFill>
                  <a:srgbClr val="C00000"/>
                </a:solidFill>
                <a:latin typeface="Times New Roman" panose="02020603050405020304" pitchFamily="18" charset="0"/>
                <a:cs typeface="Times New Roman" panose="02020603050405020304" pitchFamily="18" charset="0"/>
              </a:rPr>
              <a:t>User </a:t>
            </a:r>
            <a:r>
              <a:rPr lang="en-IN" sz="1300" b="1" dirty="0">
                <a:solidFill>
                  <a:srgbClr val="C00000"/>
                </a:solidFill>
                <a:latin typeface="Times New Roman" panose="02020603050405020304" pitchFamily="18" charset="0"/>
                <a:cs typeface="Times New Roman" panose="02020603050405020304" pitchFamily="18" charset="0"/>
              </a:rPr>
              <a:t>control for consent: </a:t>
            </a:r>
            <a:r>
              <a:rPr lang="en-IN" sz="1300" dirty="0">
                <a:solidFill>
                  <a:srgbClr val="C00000"/>
                </a:solidFill>
                <a:latin typeface="Times New Roman" panose="02020603050405020304" pitchFamily="18" charset="0"/>
                <a:cs typeface="Times New Roman" panose="02020603050405020304" pitchFamily="18" charset="0"/>
              </a:rPr>
              <a:t>Users control their identity and must consent to the use </a:t>
            </a:r>
            <a:r>
              <a:rPr lang="en-IN" sz="1300" dirty="0" smtClean="0">
                <a:solidFill>
                  <a:srgbClr val="C00000"/>
                </a:solidFill>
                <a:latin typeface="Times New Roman" panose="02020603050405020304" pitchFamily="18" charset="0"/>
                <a:cs typeface="Times New Roman" panose="02020603050405020304" pitchFamily="18" charset="0"/>
              </a:rPr>
              <a:t>of their </a:t>
            </a:r>
            <a:r>
              <a:rPr lang="en-IN" sz="1300" dirty="0">
                <a:solidFill>
                  <a:srgbClr val="C00000"/>
                </a:solidFill>
                <a:latin typeface="Times New Roman" panose="02020603050405020304" pitchFamily="18" charset="0"/>
                <a:cs typeface="Times New Roman" panose="02020603050405020304" pitchFamily="18" charset="0"/>
              </a:rPr>
              <a:t>information.</a:t>
            </a:r>
          </a:p>
          <a:p>
            <a:pPr marL="285750" indent="-285750" algn="just">
              <a:buFont typeface="Arial" panose="020B0604020202020204" pitchFamily="34" charset="0"/>
              <a:buChar char="•"/>
            </a:pPr>
            <a:r>
              <a:rPr lang="en-IN" sz="1300" b="1" dirty="0" smtClean="0">
                <a:solidFill>
                  <a:srgbClr val="C00000"/>
                </a:solidFill>
                <a:latin typeface="Times New Roman" panose="02020603050405020304" pitchFamily="18" charset="0"/>
                <a:cs typeface="Times New Roman" panose="02020603050405020304" pitchFamily="18" charset="0"/>
              </a:rPr>
              <a:t>Minimal </a:t>
            </a:r>
            <a:r>
              <a:rPr lang="en-IN" sz="1300" b="1" dirty="0">
                <a:solidFill>
                  <a:srgbClr val="C00000"/>
                </a:solidFill>
                <a:latin typeface="Times New Roman" panose="02020603050405020304" pitchFamily="18" charset="0"/>
                <a:cs typeface="Times New Roman" panose="02020603050405020304" pitchFamily="18" charset="0"/>
              </a:rPr>
              <a:t>Disclosure: </a:t>
            </a:r>
            <a:r>
              <a:rPr lang="en-IN" sz="1300" dirty="0">
                <a:solidFill>
                  <a:srgbClr val="C00000"/>
                </a:solidFill>
                <a:latin typeface="Times New Roman" panose="02020603050405020304" pitchFamily="18" charset="0"/>
                <a:cs typeface="Times New Roman" panose="02020603050405020304" pitchFamily="18" charset="0"/>
              </a:rPr>
              <a:t>The minimal amount of information should be disclosed for </a:t>
            </a:r>
            <a:r>
              <a:rPr lang="en-IN" sz="1300" dirty="0" smtClean="0">
                <a:solidFill>
                  <a:srgbClr val="C00000"/>
                </a:solidFill>
                <a:latin typeface="Times New Roman" panose="02020603050405020304" pitchFamily="18" charset="0"/>
                <a:cs typeface="Times New Roman" panose="02020603050405020304" pitchFamily="18" charset="0"/>
              </a:rPr>
              <a:t>an Intended </a:t>
            </a:r>
            <a:r>
              <a:rPr lang="en-IN" sz="1300" dirty="0">
                <a:solidFill>
                  <a:srgbClr val="C00000"/>
                </a:solidFill>
                <a:latin typeface="Times New Roman" panose="02020603050405020304" pitchFamily="18" charset="0"/>
                <a:cs typeface="Times New Roman" panose="02020603050405020304" pitchFamily="18" charset="0"/>
              </a:rPr>
              <a:t>use.</a:t>
            </a:r>
          </a:p>
          <a:p>
            <a:pPr marL="285750" indent="-285750" algn="just">
              <a:buFont typeface="Arial" panose="020B0604020202020204" pitchFamily="34" charset="0"/>
              <a:buChar char="•"/>
            </a:pPr>
            <a:endParaRPr lang="en-IN" sz="1300"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300" b="1" dirty="0" smtClean="0">
                <a:solidFill>
                  <a:srgbClr val="C00000"/>
                </a:solidFill>
                <a:latin typeface="Times New Roman" panose="02020603050405020304" pitchFamily="18" charset="0"/>
                <a:cs typeface="Times New Roman" panose="02020603050405020304" pitchFamily="18" charset="0"/>
              </a:rPr>
              <a:t>Justifiable </a:t>
            </a:r>
            <a:r>
              <a:rPr lang="en-IN" sz="1300" b="1" dirty="0">
                <a:solidFill>
                  <a:srgbClr val="C00000"/>
                </a:solidFill>
                <a:latin typeface="Times New Roman" panose="02020603050405020304" pitchFamily="18" charset="0"/>
                <a:cs typeface="Times New Roman" panose="02020603050405020304" pitchFamily="18" charset="0"/>
              </a:rPr>
              <a:t>access: </a:t>
            </a:r>
            <a:r>
              <a:rPr lang="en-IN" sz="1300" dirty="0">
                <a:solidFill>
                  <a:srgbClr val="C00000"/>
                </a:solidFill>
                <a:latin typeface="Times New Roman" panose="02020603050405020304" pitchFamily="18" charset="0"/>
                <a:cs typeface="Times New Roman" panose="02020603050405020304" pitchFamily="18" charset="0"/>
              </a:rPr>
              <a:t>Only parties who have a justified use of the information contained in </a:t>
            </a:r>
            <a:r>
              <a:rPr lang="en-IN" sz="1300" dirty="0" smtClean="0">
                <a:solidFill>
                  <a:srgbClr val="C00000"/>
                </a:solidFill>
                <a:latin typeface="Times New Roman" panose="02020603050405020304" pitchFamily="18" charset="0"/>
                <a:cs typeface="Times New Roman" panose="02020603050405020304" pitchFamily="18" charset="0"/>
              </a:rPr>
              <a:t>a digital </a:t>
            </a:r>
            <a:r>
              <a:rPr lang="en-IN" sz="1300" dirty="0">
                <a:solidFill>
                  <a:srgbClr val="C00000"/>
                </a:solidFill>
                <a:latin typeface="Times New Roman" panose="02020603050405020304" pitchFamily="18" charset="0"/>
                <a:cs typeface="Times New Roman" panose="02020603050405020304" pitchFamily="18" charset="0"/>
              </a:rPr>
              <a:t>identity and have a trusted identity relationship with the owner of the </a:t>
            </a:r>
            <a:r>
              <a:rPr lang="en-IN" sz="1300" dirty="0" smtClean="0">
                <a:solidFill>
                  <a:srgbClr val="C00000"/>
                </a:solidFill>
                <a:latin typeface="Times New Roman" panose="02020603050405020304" pitchFamily="18" charset="0"/>
                <a:cs typeface="Times New Roman" panose="02020603050405020304" pitchFamily="18" charset="0"/>
              </a:rPr>
              <a:t>information may </a:t>
            </a:r>
            <a:r>
              <a:rPr lang="en-IN" sz="1300" dirty="0">
                <a:solidFill>
                  <a:srgbClr val="C00000"/>
                </a:solidFill>
                <a:latin typeface="Times New Roman" panose="02020603050405020304" pitchFamily="18" charset="0"/>
                <a:cs typeface="Times New Roman" panose="02020603050405020304" pitchFamily="18" charset="0"/>
              </a:rPr>
              <a:t>be given access to </a:t>
            </a:r>
            <a:r>
              <a:rPr lang="en-IN" sz="1300" dirty="0" smtClean="0">
                <a:solidFill>
                  <a:srgbClr val="C00000"/>
                </a:solidFill>
                <a:latin typeface="Times New Roman" panose="02020603050405020304" pitchFamily="18" charset="0"/>
                <a:cs typeface="Times New Roman" panose="02020603050405020304" pitchFamily="18" charset="0"/>
              </a:rPr>
              <a:t>that information</a:t>
            </a:r>
            <a:r>
              <a:rPr lang="en-IN" sz="1300" dirty="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sz="1300"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300" b="1" dirty="0" smtClean="0">
                <a:solidFill>
                  <a:srgbClr val="C00000"/>
                </a:solidFill>
                <a:latin typeface="Times New Roman" panose="02020603050405020304" pitchFamily="18" charset="0"/>
                <a:cs typeface="Times New Roman" panose="02020603050405020304" pitchFamily="18" charset="0"/>
              </a:rPr>
              <a:t>Directional </a:t>
            </a:r>
            <a:r>
              <a:rPr lang="en-IN" sz="1300" b="1" dirty="0">
                <a:solidFill>
                  <a:srgbClr val="C00000"/>
                </a:solidFill>
                <a:latin typeface="Times New Roman" panose="02020603050405020304" pitchFamily="18" charset="0"/>
                <a:cs typeface="Times New Roman" panose="02020603050405020304" pitchFamily="18" charset="0"/>
              </a:rPr>
              <a:t>Exposure: </a:t>
            </a:r>
            <a:r>
              <a:rPr lang="en-IN" sz="1300" dirty="0">
                <a:solidFill>
                  <a:srgbClr val="C00000"/>
                </a:solidFill>
                <a:latin typeface="Times New Roman" panose="02020603050405020304" pitchFamily="18" charset="0"/>
                <a:cs typeface="Times New Roman" panose="02020603050405020304" pitchFamily="18" charset="0"/>
              </a:rPr>
              <a:t>An ID system must support bidirectional identification for a </a:t>
            </a:r>
            <a:r>
              <a:rPr lang="en-IN" sz="1300" dirty="0" smtClean="0">
                <a:solidFill>
                  <a:srgbClr val="C00000"/>
                </a:solidFill>
                <a:latin typeface="Times New Roman" panose="02020603050405020304" pitchFamily="18" charset="0"/>
                <a:cs typeface="Times New Roman" panose="02020603050405020304" pitchFamily="18" charset="0"/>
              </a:rPr>
              <a:t>public </a:t>
            </a:r>
            <a:r>
              <a:rPr lang="en-IN" sz="1300" dirty="0">
                <a:solidFill>
                  <a:srgbClr val="C00000"/>
                </a:solidFill>
                <a:latin typeface="Times New Roman" panose="02020603050405020304" pitchFamily="18" charset="0"/>
                <a:cs typeface="Times New Roman" panose="02020603050405020304" pitchFamily="18" charset="0"/>
              </a:rPr>
              <a:t>entity so that it is discoverable and a unidirectional identifier for private entities, </a:t>
            </a:r>
            <a:r>
              <a:rPr lang="en-IN" sz="1300" dirty="0" smtClean="0">
                <a:solidFill>
                  <a:srgbClr val="C00000"/>
                </a:solidFill>
                <a:latin typeface="Times New Roman" panose="02020603050405020304" pitchFamily="18" charset="0"/>
                <a:cs typeface="Times New Roman" panose="02020603050405020304" pitchFamily="18" charset="0"/>
              </a:rPr>
              <a:t>thus protecting </a:t>
            </a:r>
            <a:r>
              <a:rPr lang="en-IN" sz="1300" dirty="0">
                <a:solidFill>
                  <a:srgbClr val="C00000"/>
                </a:solidFill>
                <a:latin typeface="Times New Roman" panose="02020603050405020304" pitchFamily="18" charset="0"/>
                <a:cs typeface="Times New Roman" panose="02020603050405020304" pitchFamily="18" charset="0"/>
              </a:rPr>
              <a:t>the private ID.</a:t>
            </a:r>
          </a:p>
          <a:p>
            <a:pPr marL="285750" indent="-285750" algn="just">
              <a:buFont typeface="Arial" panose="020B0604020202020204" pitchFamily="34" charset="0"/>
              <a:buChar char="•"/>
            </a:pPr>
            <a:endParaRPr lang="en-IN" sz="1300"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300" b="1" dirty="0">
                <a:solidFill>
                  <a:srgbClr val="002060"/>
                </a:solidFill>
                <a:latin typeface="Times New Roman" panose="02020603050405020304" pitchFamily="18" charset="0"/>
                <a:cs typeface="Times New Roman" panose="02020603050405020304" pitchFamily="18" charset="0"/>
              </a:rPr>
              <a:t>I</a:t>
            </a:r>
            <a:r>
              <a:rPr lang="en-IN" sz="1300" b="1" dirty="0" smtClean="0">
                <a:solidFill>
                  <a:srgbClr val="002060"/>
                </a:solidFill>
                <a:latin typeface="Times New Roman" panose="02020603050405020304" pitchFamily="18" charset="0"/>
                <a:cs typeface="Times New Roman" panose="02020603050405020304" pitchFamily="18" charset="0"/>
              </a:rPr>
              <a:t>nteroperability</a:t>
            </a:r>
            <a:r>
              <a:rPr lang="en-IN" sz="1300" b="1" dirty="0">
                <a:solidFill>
                  <a:srgbClr val="002060"/>
                </a:solidFill>
                <a:latin typeface="Times New Roman" panose="02020603050405020304" pitchFamily="18" charset="0"/>
                <a:cs typeface="Times New Roman" panose="02020603050405020304" pitchFamily="18" charset="0"/>
              </a:rPr>
              <a:t>: </a:t>
            </a:r>
            <a:r>
              <a:rPr lang="en-IN" sz="1300" dirty="0">
                <a:solidFill>
                  <a:srgbClr val="002060"/>
                </a:solidFill>
                <a:latin typeface="Times New Roman" panose="02020603050405020304" pitchFamily="18" charset="0"/>
                <a:cs typeface="Times New Roman" panose="02020603050405020304" pitchFamily="18" charset="0"/>
              </a:rPr>
              <a:t>A cloud computing ID system must interoperate with other identity </a:t>
            </a:r>
            <a:r>
              <a:rPr lang="en-IN" sz="1300" dirty="0" smtClean="0">
                <a:solidFill>
                  <a:srgbClr val="002060"/>
                </a:solidFill>
                <a:latin typeface="Times New Roman" panose="02020603050405020304" pitchFamily="18" charset="0"/>
                <a:cs typeface="Times New Roman" panose="02020603050405020304" pitchFamily="18" charset="0"/>
              </a:rPr>
              <a:t>services </a:t>
            </a:r>
            <a:r>
              <a:rPr lang="en-IN" sz="1300" dirty="0">
                <a:solidFill>
                  <a:srgbClr val="002060"/>
                </a:solidFill>
                <a:latin typeface="Times New Roman" panose="02020603050405020304" pitchFamily="18" charset="0"/>
                <a:cs typeface="Times New Roman" panose="02020603050405020304" pitchFamily="18" charset="0"/>
              </a:rPr>
              <a:t>from other identity providers</a:t>
            </a:r>
            <a:r>
              <a:rPr lang="en-IN" sz="1300"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sz="1300"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300" b="1" dirty="0" smtClean="0">
                <a:solidFill>
                  <a:srgbClr val="002060"/>
                </a:solidFill>
                <a:latin typeface="Times New Roman" panose="02020603050405020304" pitchFamily="18" charset="0"/>
                <a:cs typeface="Times New Roman" panose="02020603050405020304" pitchFamily="18" charset="0"/>
              </a:rPr>
              <a:t>Unambiguous </a:t>
            </a:r>
            <a:r>
              <a:rPr lang="en-IN" sz="1300" b="1" dirty="0">
                <a:solidFill>
                  <a:srgbClr val="002060"/>
                </a:solidFill>
                <a:latin typeface="Times New Roman" panose="02020603050405020304" pitchFamily="18" charset="0"/>
                <a:cs typeface="Times New Roman" panose="02020603050405020304" pitchFamily="18" charset="0"/>
              </a:rPr>
              <a:t>human identification: </a:t>
            </a:r>
            <a:r>
              <a:rPr lang="en-IN" sz="1300" dirty="0">
                <a:solidFill>
                  <a:srgbClr val="002060"/>
                </a:solidFill>
                <a:latin typeface="Times New Roman" panose="02020603050405020304" pitchFamily="18" charset="0"/>
                <a:cs typeface="Times New Roman" panose="02020603050405020304" pitchFamily="18" charset="0"/>
              </a:rPr>
              <a:t>An </a:t>
            </a:r>
            <a:r>
              <a:rPr lang="en-IN" sz="1300" dirty="0" err="1">
                <a:solidFill>
                  <a:srgbClr val="002060"/>
                </a:solidFill>
                <a:latin typeface="Times New Roman" panose="02020603050405020304" pitchFamily="18" charset="0"/>
                <a:cs typeface="Times New Roman" panose="02020603050405020304" pitchFamily="18" charset="0"/>
              </a:rPr>
              <a:t>IDaaS</a:t>
            </a:r>
            <a:r>
              <a:rPr lang="en-IN" sz="1300" dirty="0">
                <a:solidFill>
                  <a:srgbClr val="002060"/>
                </a:solidFill>
                <a:latin typeface="Times New Roman" panose="02020603050405020304" pitchFamily="18" charset="0"/>
                <a:cs typeface="Times New Roman" panose="02020603050405020304" pitchFamily="18" charset="0"/>
              </a:rPr>
              <a:t> application must provide an </a:t>
            </a:r>
            <a:r>
              <a:rPr lang="en-IN" sz="1300" dirty="0" smtClean="0">
                <a:solidFill>
                  <a:srgbClr val="002060"/>
                </a:solidFill>
                <a:latin typeface="Times New Roman" panose="02020603050405020304" pitchFamily="18" charset="0"/>
                <a:cs typeface="Times New Roman" panose="02020603050405020304" pitchFamily="18" charset="0"/>
              </a:rPr>
              <a:t>unambiguous </a:t>
            </a:r>
            <a:r>
              <a:rPr lang="en-IN" sz="1300" dirty="0">
                <a:solidFill>
                  <a:srgbClr val="002060"/>
                </a:solidFill>
                <a:latin typeface="Times New Roman" panose="02020603050405020304" pitchFamily="18" charset="0"/>
                <a:cs typeface="Times New Roman" panose="02020603050405020304" pitchFamily="18" charset="0"/>
              </a:rPr>
              <a:t>mechanism for allowing a human to interact with a system while protecting that </a:t>
            </a:r>
            <a:r>
              <a:rPr lang="en-IN" sz="1300" dirty="0" smtClean="0">
                <a:solidFill>
                  <a:srgbClr val="002060"/>
                </a:solidFill>
                <a:latin typeface="Times New Roman" panose="02020603050405020304" pitchFamily="18" charset="0"/>
                <a:cs typeface="Times New Roman" panose="02020603050405020304" pitchFamily="18" charset="0"/>
              </a:rPr>
              <a:t>use against </a:t>
            </a:r>
            <a:r>
              <a:rPr lang="en-IN" sz="1300" dirty="0">
                <a:solidFill>
                  <a:srgbClr val="002060"/>
                </a:solidFill>
                <a:latin typeface="Times New Roman" panose="02020603050405020304" pitchFamily="18" charset="0"/>
                <a:cs typeface="Times New Roman" panose="02020603050405020304" pitchFamily="18" charset="0"/>
              </a:rPr>
              <a:t>an identity attack</a:t>
            </a:r>
            <a:r>
              <a:rPr lang="en-IN" sz="1300"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sz="1300" b="1"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300" b="1" dirty="0" smtClean="0">
                <a:solidFill>
                  <a:srgbClr val="002060"/>
                </a:solidFill>
                <a:latin typeface="Times New Roman" panose="02020603050405020304" pitchFamily="18" charset="0"/>
                <a:cs typeface="Times New Roman" panose="02020603050405020304" pitchFamily="18" charset="0"/>
              </a:rPr>
              <a:t> </a:t>
            </a:r>
            <a:r>
              <a:rPr lang="en-IN" sz="1300" b="1" dirty="0">
                <a:solidFill>
                  <a:srgbClr val="002060"/>
                </a:solidFill>
                <a:latin typeface="Times New Roman" panose="02020603050405020304" pitchFamily="18" charset="0"/>
                <a:cs typeface="Times New Roman" panose="02020603050405020304" pitchFamily="18" charset="0"/>
              </a:rPr>
              <a:t>Consistency of Service: </a:t>
            </a:r>
            <a:r>
              <a:rPr lang="en-IN" sz="1300" dirty="0">
                <a:solidFill>
                  <a:srgbClr val="002060"/>
                </a:solidFill>
                <a:latin typeface="Times New Roman" panose="02020603050405020304" pitchFamily="18" charset="0"/>
                <a:cs typeface="Times New Roman" panose="02020603050405020304" pitchFamily="18" charset="0"/>
              </a:rPr>
              <a:t>An </a:t>
            </a:r>
            <a:r>
              <a:rPr lang="en-IN" sz="1300" dirty="0" err="1">
                <a:solidFill>
                  <a:srgbClr val="002060"/>
                </a:solidFill>
                <a:latin typeface="Times New Roman" panose="02020603050405020304" pitchFamily="18" charset="0"/>
                <a:cs typeface="Times New Roman" panose="02020603050405020304" pitchFamily="18" charset="0"/>
              </a:rPr>
              <a:t>IDaaS</a:t>
            </a:r>
            <a:r>
              <a:rPr lang="en-IN" sz="1300" dirty="0">
                <a:solidFill>
                  <a:srgbClr val="002060"/>
                </a:solidFill>
                <a:latin typeface="Times New Roman" panose="02020603050405020304" pitchFamily="18" charset="0"/>
                <a:cs typeface="Times New Roman" panose="02020603050405020304" pitchFamily="18" charset="0"/>
              </a:rPr>
              <a:t> service must be simple to use, consistent across all </a:t>
            </a:r>
            <a:r>
              <a:rPr lang="en-IN" sz="1300" dirty="0" smtClean="0">
                <a:solidFill>
                  <a:srgbClr val="002060"/>
                </a:solidFill>
                <a:latin typeface="Times New Roman" panose="02020603050405020304" pitchFamily="18" charset="0"/>
                <a:cs typeface="Times New Roman" panose="02020603050405020304" pitchFamily="18" charset="0"/>
              </a:rPr>
              <a:t>its uses</a:t>
            </a:r>
            <a:r>
              <a:rPr lang="en-IN" sz="1300" dirty="0">
                <a:solidFill>
                  <a:srgbClr val="002060"/>
                </a:solidFill>
                <a:latin typeface="Times New Roman" panose="02020603050405020304" pitchFamily="18" charset="0"/>
                <a:cs typeface="Times New Roman" panose="02020603050405020304" pitchFamily="18" charset="0"/>
              </a:rPr>
              <a:t>, and able to operate in different contexts using different technologies.</a:t>
            </a:r>
          </a:p>
        </p:txBody>
      </p:sp>
    </p:spTree>
    <p:extLst>
      <p:ext uri="{BB962C8B-B14F-4D97-AF65-F5344CB8AC3E}">
        <p14:creationId xmlns:p14="http://schemas.microsoft.com/office/powerpoint/2010/main" val="2091849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 I</a:t>
            </a:r>
            <a:r>
              <a:rPr lang="en-US" sz="2400" b="1" dirty="0" smtClean="0">
                <a:solidFill>
                  <a:srgbClr val="002060"/>
                </a:solidFill>
                <a:latin typeface="Times New Roman" panose="02020603050405020304" pitchFamily="18" charset="0"/>
                <a:cs typeface="Times New Roman" panose="02020603050405020304" pitchFamily="18" charset="0"/>
              </a:rPr>
              <a:t>nteroperability</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84917" cy="4185761"/>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Identity as a Service provides an easy mechanism for integrating identity services into </a:t>
            </a:r>
            <a:r>
              <a:rPr lang="en-IN" dirty="0" smtClean="0">
                <a:solidFill>
                  <a:srgbClr val="C00000"/>
                </a:solidFill>
                <a:latin typeface="Times New Roman" panose="02020603050405020304" pitchFamily="18" charset="0"/>
                <a:cs typeface="Times New Roman" panose="02020603050405020304" pitchFamily="18" charset="0"/>
              </a:rPr>
              <a:t>individual applications </a:t>
            </a:r>
            <a:r>
              <a:rPr lang="en-IN" dirty="0">
                <a:solidFill>
                  <a:srgbClr val="C00000"/>
                </a:solidFill>
                <a:latin typeface="Times New Roman" panose="02020603050405020304" pitchFamily="18" charset="0"/>
                <a:cs typeface="Times New Roman" panose="02020603050405020304" pitchFamily="18" charset="0"/>
              </a:rPr>
              <a:t>with minimal development effort, by allowing the identification logic and storage </a:t>
            </a:r>
            <a:r>
              <a:rPr lang="en-IN" dirty="0" smtClean="0">
                <a:solidFill>
                  <a:srgbClr val="C00000"/>
                </a:solidFill>
                <a:latin typeface="Times New Roman" panose="02020603050405020304" pitchFamily="18" charset="0"/>
                <a:cs typeface="Times New Roman" panose="02020603050405020304" pitchFamily="18" charset="0"/>
              </a:rPr>
              <a:t>of an </a:t>
            </a:r>
            <a:r>
              <a:rPr lang="en-IN" dirty="0">
                <a:solidFill>
                  <a:srgbClr val="C00000"/>
                </a:solidFill>
                <a:latin typeface="Times New Roman" panose="02020603050405020304" pitchFamily="18" charset="0"/>
                <a:cs typeface="Times New Roman" panose="02020603050405020304" pitchFamily="18" charset="0"/>
              </a:rPr>
              <a:t>identity’s attributes to be maintained externally. </a:t>
            </a:r>
            <a:endParaRPr lang="en-IN" dirty="0" smtClean="0">
              <a:solidFill>
                <a:srgbClr val="C00000"/>
              </a:solidFill>
              <a:latin typeface="Times New Roman" panose="02020603050405020304" pitchFamily="18" charset="0"/>
              <a:cs typeface="Times New Roman" panose="02020603050405020304" pitchFamily="18" charset="0"/>
            </a:endParaRPr>
          </a:p>
          <a:p>
            <a:pPr algn="just"/>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Cloud </a:t>
            </a:r>
            <a:r>
              <a:rPr lang="en-US" dirty="0">
                <a:solidFill>
                  <a:srgbClr val="C00000"/>
                </a:solidFill>
                <a:latin typeface="Times New Roman" panose="02020603050405020304" pitchFamily="18" charset="0"/>
                <a:cs typeface="Times New Roman" panose="02020603050405020304" pitchFamily="18" charset="0"/>
              </a:rPr>
              <a:t>computing </a:t>
            </a:r>
            <a:r>
              <a:rPr lang="en-US" dirty="0" err="1">
                <a:solidFill>
                  <a:srgbClr val="C00000"/>
                </a:solidFill>
                <a:latin typeface="Times New Roman" panose="02020603050405020304" pitchFamily="18" charset="0"/>
                <a:cs typeface="Times New Roman" panose="02020603050405020304" pitchFamily="18" charset="0"/>
              </a:rPr>
              <a:t>IDaaS</a:t>
            </a:r>
            <a:r>
              <a:rPr lang="en-US" dirty="0">
                <a:solidFill>
                  <a:srgbClr val="C00000"/>
                </a:solidFill>
                <a:latin typeface="Times New Roman" panose="02020603050405020304" pitchFamily="18" charset="0"/>
                <a:cs typeface="Times New Roman" panose="02020603050405020304" pitchFamily="18" charset="0"/>
              </a:rPr>
              <a:t> applications must rely on a set of developing industry </a:t>
            </a:r>
            <a:r>
              <a:rPr lang="en-US" dirty="0" smtClean="0">
                <a:solidFill>
                  <a:srgbClr val="C00000"/>
                </a:solidFill>
                <a:latin typeface="Times New Roman" panose="02020603050405020304" pitchFamily="18" charset="0"/>
                <a:cs typeface="Times New Roman" panose="02020603050405020304" pitchFamily="18" charset="0"/>
              </a:rPr>
              <a:t>standards to </a:t>
            </a:r>
            <a:r>
              <a:rPr lang="en-US" dirty="0">
                <a:solidFill>
                  <a:srgbClr val="C00000"/>
                </a:solidFill>
                <a:latin typeface="Times New Roman" panose="02020603050405020304" pitchFamily="18" charset="0"/>
                <a:cs typeface="Times New Roman" panose="02020603050405020304" pitchFamily="18" charset="0"/>
              </a:rPr>
              <a:t>provide interoperability. </a:t>
            </a:r>
            <a:r>
              <a:rPr lang="en-US" dirty="0" smtClean="0">
                <a:solidFill>
                  <a:srgbClr val="C00000"/>
                </a:solidFill>
                <a:latin typeface="Times New Roman" panose="02020603050405020304" pitchFamily="18" charset="0"/>
                <a:cs typeface="Times New Roman" panose="02020603050405020304" pitchFamily="18" charset="0"/>
              </a:rPr>
              <a:t>The </a:t>
            </a:r>
            <a:r>
              <a:rPr lang="en-US" dirty="0">
                <a:solidFill>
                  <a:srgbClr val="C00000"/>
                </a:solidFill>
                <a:latin typeface="Times New Roman" panose="02020603050405020304" pitchFamily="18" charset="0"/>
                <a:cs typeface="Times New Roman" panose="02020603050405020304" pitchFamily="18" charset="0"/>
              </a:rPr>
              <a:t>following are among the more important of these services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smtClean="0">
                <a:solidFill>
                  <a:srgbClr val="C00000"/>
                </a:solidFill>
                <a:latin typeface="Times New Roman" panose="02020603050405020304" pitchFamily="18" charset="0"/>
                <a:cs typeface="Times New Roman" panose="02020603050405020304" pitchFamily="18" charset="0"/>
              </a:rPr>
              <a:t>User </a:t>
            </a:r>
            <a:r>
              <a:rPr lang="en-US" b="1" dirty="0">
                <a:solidFill>
                  <a:srgbClr val="C00000"/>
                </a:solidFill>
                <a:latin typeface="Times New Roman" panose="02020603050405020304" pitchFamily="18" charset="0"/>
                <a:cs typeface="Times New Roman" panose="02020603050405020304" pitchFamily="18" charset="0"/>
              </a:rPr>
              <a:t>centric authentication </a:t>
            </a:r>
            <a:r>
              <a:rPr lang="en-US" dirty="0">
                <a:solidFill>
                  <a:srgbClr val="C00000"/>
                </a:solidFill>
                <a:latin typeface="Times New Roman" panose="02020603050405020304" pitchFamily="18" charset="0"/>
                <a:cs typeface="Times New Roman" panose="02020603050405020304" pitchFamily="18" charset="0"/>
              </a:rPr>
              <a:t>(usually in the form of information cards): The </a:t>
            </a:r>
            <a:r>
              <a:rPr lang="en-US" dirty="0" smtClean="0">
                <a:solidFill>
                  <a:srgbClr val="C00000"/>
                </a:solidFill>
                <a:latin typeface="Times New Roman" panose="02020603050405020304" pitchFamily="18" charset="0"/>
                <a:cs typeface="Times New Roman" panose="02020603050405020304" pitchFamily="18" charset="0"/>
              </a:rPr>
              <a:t>OpenID and </a:t>
            </a:r>
            <a:r>
              <a:rPr lang="en-US" dirty="0">
                <a:solidFill>
                  <a:srgbClr val="C00000"/>
                </a:solidFill>
                <a:latin typeface="Times New Roman" panose="02020603050405020304" pitchFamily="18" charset="0"/>
                <a:cs typeface="Times New Roman" panose="02020603050405020304" pitchFamily="18" charset="0"/>
              </a:rPr>
              <a:t>CardSpace specifications support this type of data object.</a:t>
            </a:r>
          </a:p>
          <a:p>
            <a:pPr marL="285750" indent="-285750" algn="just">
              <a:buFont typeface="Arial" panose="020B0604020202020204" pitchFamily="34" charset="0"/>
              <a:buChar char="•"/>
            </a:pPr>
            <a:r>
              <a:rPr lang="en-US" b="1" dirty="0" smtClean="0">
                <a:solidFill>
                  <a:srgbClr val="C00000"/>
                </a:solidFill>
                <a:latin typeface="Times New Roman" panose="02020603050405020304" pitchFamily="18" charset="0"/>
                <a:cs typeface="Times New Roman" panose="02020603050405020304" pitchFamily="18" charset="0"/>
              </a:rPr>
              <a:t>The </a:t>
            </a:r>
            <a:r>
              <a:rPr lang="en-US" b="1" dirty="0">
                <a:solidFill>
                  <a:srgbClr val="C00000"/>
                </a:solidFill>
                <a:latin typeface="Times New Roman" panose="02020603050405020304" pitchFamily="18" charset="0"/>
                <a:cs typeface="Times New Roman" panose="02020603050405020304" pitchFamily="18" charset="0"/>
              </a:rPr>
              <a:t>XACML Policy Language</a:t>
            </a:r>
            <a:r>
              <a:rPr lang="en-US" dirty="0">
                <a:solidFill>
                  <a:srgbClr val="C00000"/>
                </a:solidFill>
                <a:latin typeface="Times New Roman" panose="02020603050405020304" pitchFamily="18" charset="0"/>
                <a:cs typeface="Times New Roman" panose="02020603050405020304" pitchFamily="18" charset="0"/>
              </a:rPr>
              <a:t>: This is a general-purpose authorization policy </a:t>
            </a:r>
            <a:r>
              <a:rPr lang="en-US" dirty="0" smtClean="0">
                <a:solidFill>
                  <a:srgbClr val="C00000"/>
                </a:solidFill>
                <a:latin typeface="Times New Roman" panose="02020603050405020304" pitchFamily="18" charset="0"/>
                <a:cs typeface="Times New Roman" panose="02020603050405020304" pitchFamily="18" charset="0"/>
              </a:rPr>
              <a:t>language that </a:t>
            </a:r>
            <a:r>
              <a:rPr lang="en-US" dirty="0">
                <a:solidFill>
                  <a:srgbClr val="C00000"/>
                </a:solidFill>
                <a:latin typeface="Times New Roman" panose="02020603050405020304" pitchFamily="18" charset="0"/>
                <a:cs typeface="Times New Roman" panose="02020603050405020304" pitchFamily="18" charset="0"/>
              </a:rPr>
              <a:t>allows a distributed ID system to write and enforce custom policy expressions.</a:t>
            </a:r>
          </a:p>
          <a:p>
            <a:pPr marL="285750" indent="-285750" algn="just">
              <a:buFont typeface="Arial" panose="020B0604020202020204" pitchFamily="34" charset="0"/>
              <a:buChar char="•"/>
            </a:pPr>
            <a:r>
              <a:rPr lang="en-US" b="1" dirty="0">
                <a:solidFill>
                  <a:srgbClr val="002060"/>
                </a:solidFill>
                <a:latin typeface="Times New Roman" panose="02020603050405020304" pitchFamily="18" charset="0"/>
                <a:cs typeface="Times New Roman" panose="02020603050405020304" pitchFamily="18" charset="0"/>
              </a:rPr>
              <a:t>XACML can work with SAML</a:t>
            </a:r>
            <a:r>
              <a:rPr lang="en-US" dirty="0">
                <a:solidFill>
                  <a:srgbClr val="002060"/>
                </a:solidFill>
                <a:latin typeface="Times New Roman" panose="02020603050405020304" pitchFamily="18" charset="0"/>
                <a:cs typeface="Times New Roman" panose="02020603050405020304" pitchFamily="18" charset="0"/>
              </a:rPr>
              <a:t>; when SAML presents a request for ID </a:t>
            </a:r>
            <a:r>
              <a:rPr lang="en-US" dirty="0" smtClean="0">
                <a:solidFill>
                  <a:srgbClr val="002060"/>
                </a:solidFill>
                <a:latin typeface="Times New Roman" panose="02020603050405020304" pitchFamily="18" charset="0"/>
                <a:cs typeface="Times New Roman" panose="02020603050405020304" pitchFamily="18" charset="0"/>
              </a:rPr>
              <a:t>authorization, XACML </a:t>
            </a:r>
            <a:r>
              <a:rPr lang="en-US" dirty="0">
                <a:solidFill>
                  <a:srgbClr val="002060"/>
                </a:solidFill>
                <a:latin typeface="Times New Roman" panose="02020603050405020304" pitchFamily="18" charset="0"/>
                <a:cs typeface="Times New Roman" panose="02020603050405020304" pitchFamily="18" charset="0"/>
              </a:rPr>
              <a:t>checks the ID request against its policies and either allows or denies the request.</a:t>
            </a:r>
          </a:p>
          <a:p>
            <a:pPr marL="285750" indent="-285750" algn="just">
              <a:buFont typeface="Arial" panose="020B0604020202020204" pitchFamily="34" charset="0"/>
              <a:buChar char="•"/>
            </a:pPr>
            <a:r>
              <a:rPr lang="en-US" b="1" dirty="0" smtClean="0">
                <a:solidFill>
                  <a:srgbClr val="002060"/>
                </a:solidFill>
                <a:latin typeface="Times New Roman" panose="02020603050405020304" pitchFamily="18" charset="0"/>
                <a:cs typeface="Times New Roman" panose="02020603050405020304" pitchFamily="18" charset="0"/>
              </a:rPr>
              <a:t>The </a:t>
            </a:r>
            <a:r>
              <a:rPr lang="en-US" b="1" dirty="0">
                <a:solidFill>
                  <a:srgbClr val="002060"/>
                </a:solidFill>
                <a:latin typeface="Times New Roman" panose="02020603050405020304" pitchFamily="18" charset="0"/>
                <a:cs typeface="Times New Roman" panose="02020603050405020304" pitchFamily="18" charset="0"/>
              </a:rPr>
              <a:t>SPML Provisioning Language: </a:t>
            </a:r>
            <a:r>
              <a:rPr lang="en-US" dirty="0">
                <a:solidFill>
                  <a:srgbClr val="002060"/>
                </a:solidFill>
                <a:latin typeface="Times New Roman" panose="02020603050405020304" pitchFamily="18" charset="0"/>
                <a:cs typeface="Times New Roman" panose="02020603050405020304" pitchFamily="18" charset="0"/>
              </a:rPr>
              <a:t>This is an XML request/response language that </a:t>
            </a:r>
            <a:r>
              <a:rPr lang="en-US" dirty="0" smtClean="0">
                <a:solidFill>
                  <a:srgbClr val="002060"/>
                </a:solidFill>
                <a:latin typeface="Times New Roman" panose="02020603050405020304" pitchFamily="18" charset="0"/>
                <a:cs typeface="Times New Roman" panose="02020603050405020304" pitchFamily="18" charset="0"/>
              </a:rPr>
              <a:t>is used </a:t>
            </a:r>
            <a:r>
              <a:rPr lang="en-US" dirty="0">
                <a:solidFill>
                  <a:srgbClr val="002060"/>
                </a:solidFill>
                <a:latin typeface="Times New Roman" panose="02020603050405020304" pitchFamily="18" charset="0"/>
                <a:cs typeface="Times New Roman" panose="02020603050405020304" pitchFamily="18" charset="0"/>
              </a:rPr>
              <a:t>to integrate and interoperate service provisioning requests. SPML is a </a:t>
            </a:r>
            <a:r>
              <a:rPr lang="en-US" dirty="0" smtClean="0">
                <a:solidFill>
                  <a:srgbClr val="002060"/>
                </a:solidFill>
                <a:latin typeface="Times New Roman" panose="02020603050405020304" pitchFamily="18" charset="0"/>
                <a:cs typeface="Times New Roman" panose="02020603050405020304" pitchFamily="18" charset="0"/>
              </a:rPr>
              <a:t>standard of </a:t>
            </a:r>
            <a:r>
              <a:rPr lang="en-US" dirty="0">
                <a:solidFill>
                  <a:srgbClr val="002060"/>
                </a:solidFill>
                <a:latin typeface="Times New Roman" panose="02020603050405020304" pitchFamily="18" charset="0"/>
                <a:cs typeface="Times New Roman" panose="02020603050405020304" pitchFamily="18" charset="0"/>
              </a:rPr>
              <a:t>OASIS’s Provision Services Technical Committee (PSTC) that conforms to the </a:t>
            </a:r>
            <a:r>
              <a:rPr lang="en-US" dirty="0" smtClean="0">
                <a:solidFill>
                  <a:srgbClr val="002060"/>
                </a:solidFill>
                <a:latin typeface="Times New Roman" panose="02020603050405020304" pitchFamily="18" charset="0"/>
                <a:cs typeface="Times New Roman" panose="02020603050405020304" pitchFamily="18" charset="0"/>
              </a:rPr>
              <a:t>SOA architecture</a:t>
            </a:r>
            <a:r>
              <a:rPr lang="en-US" dirty="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b="1" dirty="0" smtClean="0">
                <a:solidFill>
                  <a:srgbClr val="002060"/>
                </a:solidFill>
                <a:latin typeface="Times New Roman" panose="02020603050405020304" pitchFamily="18" charset="0"/>
                <a:cs typeface="Times New Roman" panose="02020603050405020304" pitchFamily="18" charset="0"/>
              </a:rPr>
              <a:t>The </a:t>
            </a:r>
            <a:r>
              <a:rPr lang="en-US" b="1" dirty="0">
                <a:solidFill>
                  <a:srgbClr val="002060"/>
                </a:solidFill>
                <a:latin typeface="Times New Roman" panose="02020603050405020304" pitchFamily="18" charset="0"/>
                <a:cs typeface="Times New Roman" panose="02020603050405020304" pitchFamily="18" charset="0"/>
              </a:rPr>
              <a:t>XDAS Audit System:</a:t>
            </a:r>
            <a:r>
              <a:rPr lang="en-US" dirty="0">
                <a:solidFill>
                  <a:srgbClr val="002060"/>
                </a:solidFill>
                <a:latin typeface="Times New Roman" panose="02020603050405020304" pitchFamily="18" charset="0"/>
                <a:cs typeface="Times New Roman" panose="02020603050405020304" pitchFamily="18" charset="0"/>
              </a:rPr>
              <a:t> The Distributed Audit Service provides accountability </a:t>
            </a:r>
            <a:r>
              <a:rPr lang="en-US" dirty="0" smtClean="0">
                <a:solidFill>
                  <a:srgbClr val="002060"/>
                </a:solidFill>
                <a:latin typeface="Times New Roman" panose="02020603050405020304" pitchFamily="18" charset="0"/>
                <a:cs typeface="Times New Roman" panose="02020603050405020304" pitchFamily="18" charset="0"/>
              </a:rPr>
              <a:t>for users </a:t>
            </a:r>
            <a:r>
              <a:rPr lang="en-US" dirty="0">
                <a:solidFill>
                  <a:srgbClr val="002060"/>
                </a:solidFill>
                <a:latin typeface="Times New Roman" panose="02020603050405020304" pitchFamily="18" charset="0"/>
                <a:cs typeface="Times New Roman" panose="02020603050405020304" pitchFamily="18" charset="0"/>
              </a:rPr>
              <a:t>accessing a system, and the detection of security policy violations when attempts </a:t>
            </a:r>
            <a:r>
              <a:rPr lang="en-US" dirty="0" smtClean="0">
                <a:solidFill>
                  <a:srgbClr val="002060"/>
                </a:solidFill>
                <a:latin typeface="Times New Roman" panose="02020603050405020304" pitchFamily="18" charset="0"/>
                <a:cs typeface="Times New Roman" panose="02020603050405020304" pitchFamily="18" charset="0"/>
              </a:rPr>
              <a:t>are made </a:t>
            </a:r>
            <a:r>
              <a:rPr lang="en-US" dirty="0">
                <a:solidFill>
                  <a:srgbClr val="002060"/>
                </a:solidFill>
                <a:latin typeface="Times New Roman" panose="02020603050405020304" pitchFamily="18" charset="0"/>
                <a:cs typeface="Times New Roman" panose="02020603050405020304" pitchFamily="18" charset="0"/>
              </a:rPr>
              <a:t>to access the system by unauthorized users or by users accessing the system in </a:t>
            </a:r>
            <a:r>
              <a:rPr lang="en-US" dirty="0" smtClean="0">
                <a:solidFill>
                  <a:srgbClr val="002060"/>
                </a:solidFill>
                <a:latin typeface="Times New Roman" panose="02020603050405020304" pitchFamily="18" charset="0"/>
                <a:cs typeface="Times New Roman" panose="02020603050405020304" pitchFamily="18" charset="0"/>
              </a:rPr>
              <a:t>an unauthorized </a:t>
            </a:r>
            <a:r>
              <a:rPr lang="en-US" dirty="0">
                <a:solidFill>
                  <a:srgbClr val="002060"/>
                </a:solidFill>
                <a:latin typeface="Times New Roman" panose="02020603050405020304" pitchFamily="18" charset="0"/>
                <a:cs typeface="Times New Roman" panose="02020603050405020304" pitchFamily="18" charset="0"/>
              </a:rPr>
              <a:t>way.</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10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smtClean="0">
                <a:solidFill>
                  <a:srgbClr val="002060"/>
                </a:solidFill>
                <a:latin typeface="Times New Roman" panose="02020603050405020304" pitchFamily="18" charset="0"/>
                <a:cs typeface="Times New Roman" panose="02020603050405020304" pitchFamily="18" charset="0"/>
              </a:rPr>
              <a:t>Interoperability</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878400" y="1093342"/>
            <a:ext cx="7495199" cy="3485858"/>
          </a:xfrm>
          <a:prstGeom prst="rect">
            <a:avLst/>
          </a:prstGeom>
        </p:spPr>
      </p:pic>
    </p:spTree>
    <p:extLst>
      <p:ext uri="{BB962C8B-B14F-4D97-AF65-F5344CB8AC3E}">
        <p14:creationId xmlns:p14="http://schemas.microsoft.com/office/powerpoint/2010/main" val="2515936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a:solidFill>
                  <a:srgbClr val="002060"/>
                </a:solidFill>
                <a:latin typeface="Times New Roman" panose="02020603050405020304" pitchFamily="18" charset="0"/>
                <a:cs typeface="Times New Roman" panose="02020603050405020304" pitchFamily="18" charset="0"/>
              </a:rPr>
              <a:t> I</a:t>
            </a:r>
            <a:r>
              <a:rPr lang="en-US" sz="2400" b="1" dirty="0" smtClean="0">
                <a:solidFill>
                  <a:srgbClr val="002060"/>
                </a:solidFill>
                <a:latin typeface="Times New Roman" panose="02020603050405020304" pitchFamily="18" charset="0"/>
                <a:cs typeface="Times New Roman" panose="02020603050405020304" pitchFamily="18" charset="0"/>
              </a:rPr>
              <a:t>nteroperability</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3539430"/>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T</a:t>
            </a:r>
            <a:r>
              <a:rPr lang="en-IN" dirty="0" smtClean="0">
                <a:solidFill>
                  <a:srgbClr val="C00000"/>
                </a:solidFill>
                <a:latin typeface="Times New Roman" panose="02020603050405020304" pitchFamily="18" charset="0"/>
                <a:cs typeface="Times New Roman" panose="02020603050405020304" pitchFamily="18" charset="0"/>
              </a:rPr>
              <a:t>he </a:t>
            </a:r>
            <a:r>
              <a:rPr lang="en-IN" dirty="0">
                <a:solidFill>
                  <a:srgbClr val="C00000"/>
                </a:solidFill>
                <a:latin typeface="Times New Roman" panose="02020603050405020304" pitchFamily="18" charset="0"/>
                <a:cs typeface="Times New Roman" panose="02020603050405020304" pitchFamily="18" charset="0"/>
              </a:rPr>
              <a:t>Identity Governance Framework (IGF) is a standards initiative of the Liberty </a:t>
            </a:r>
            <a:r>
              <a:rPr lang="en-IN" dirty="0" smtClean="0">
                <a:solidFill>
                  <a:srgbClr val="C00000"/>
                </a:solidFill>
                <a:latin typeface="Times New Roman" panose="02020603050405020304" pitchFamily="18" charset="0"/>
                <a:cs typeface="Times New Roman" panose="02020603050405020304" pitchFamily="18" charset="0"/>
              </a:rPr>
              <a:t>Alliance (http</a:t>
            </a:r>
            <a:r>
              <a:rPr lang="en-IN" dirty="0">
                <a:solidFill>
                  <a:srgbClr val="C00000"/>
                </a:solidFill>
                <a:latin typeface="Times New Roman" panose="02020603050405020304" pitchFamily="18" charset="0"/>
                <a:cs typeface="Times New Roman" panose="02020603050405020304" pitchFamily="18" charset="0"/>
              </a:rPr>
              <a:t>://www.projectliberty.org/) that is concerned with the exchange and </a:t>
            </a:r>
            <a:r>
              <a:rPr lang="en-IN" dirty="0" smtClean="0">
                <a:solidFill>
                  <a:srgbClr val="C00000"/>
                </a:solidFill>
                <a:latin typeface="Times New Roman" panose="02020603050405020304" pitchFamily="18" charset="0"/>
                <a:cs typeface="Times New Roman" panose="02020603050405020304" pitchFamily="18" charset="0"/>
              </a:rPr>
              <a:t>control of </a:t>
            </a:r>
            <a:r>
              <a:rPr lang="en-IN" dirty="0">
                <a:solidFill>
                  <a:srgbClr val="C00000"/>
                </a:solidFill>
                <a:latin typeface="Times New Roman" panose="02020603050405020304" pitchFamily="18" charset="0"/>
                <a:cs typeface="Times New Roman" panose="02020603050405020304" pitchFamily="18" charset="0"/>
              </a:rPr>
              <a:t>identity information using standards such as </a:t>
            </a:r>
            <a:r>
              <a:rPr lang="en-IN" b="1" dirty="0">
                <a:solidFill>
                  <a:srgbClr val="C00000"/>
                </a:solidFill>
                <a:latin typeface="Times New Roman" panose="02020603050405020304" pitchFamily="18" charset="0"/>
                <a:cs typeface="Times New Roman" panose="02020603050405020304" pitchFamily="18" charset="0"/>
              </a:rPr>
              <a:t>WS-Trust, ID-WSF, SAML, and LDAP </a:t>
            </a:r>
            <a:r>
              <a:rPr lang="en-IN" b="1" dirty="0" smtClean="0">
                <a:solidFill>
                  <a:srgbClr val="C00000"/>
                </a:solidFill>
                <a:latin typeface="Times New Roman" panose="02020603050405020304" pitchFamily="18" charset="0"/>
                <a:cs typeface="Times New Roman" panose="02020603050405020304" pitchFamily="18" charset="0"/>
              </a:rPr>
              <a:t>directory services</a:t>
            </a:r>
            <a:r>
              <a:rPr lang="en-IN" dirty="0">
                <a:solidFill>
                  <a:srgbClr val="C00000"/>
                </a:solidFill>
                <a:latin typeface="Times New Roman" panose="02020603050405020304" pitchFamily="18" charset="0"/>
                <a:cs typeface="Times New Roman" panose="02020603050405020304" pitchFamily="18" charset="0"/>
              </a:rPr>
              <a:t>.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The </a:t>
            </a:r>
            <a:r>
              <a:rPr lang="en-IN" dirty="0">
                <a:solidFill>
                  <a:srgbClr val="C00000"/>
                </a:solidFill>
                <a:latin typeface="Times New Roman" panose="02020603050405020304" pitchFamily="18" charset="0"/>
                <a:cs typeface="Times New Roman" panose="02020603050405020304" pitchFamily="18" charset="0"/>
              </a:rPr>
              <a:t>Liberty Alliance was established by an industry group in 2001 with the purpose </a:t>
            </a:r>
            <a:r>
              <a:rPr lang="en-IN" dirty="0" smtClean="0">
                <a:solidFill>
                  <a:srgbClr val="C00000"/>
                </a:solidFill>
                <a:latin typeface="Times New Roman" panose="02020603050405020304" pitchFamily="18" charset="0"/>
                <a:cs typeface="Times New Roman" panose="02020603050405020304" pitchFamily="18" charset="0"/>
              </a:rPr>
              <a:t>of </a:t>
            </a:r>
            <a:r>
              <a:rPr lang="en-US" dirty="0" smtClean="0">
                <a:solidFill>
                  <a:srgbClr val="C00000"/>
                </a:solidFill>
                <a:latin typeface="Times New Roman" panose="02020603050405020304" pitchFamily="18" charset="0"/>
                <a:cs typeface="Times New Roman" panose="02020603050405020304" pitchFamily="18" charset="0"/>
              </a:rPr>
              <a:t>promoting </a:t>
            </a:r>
            <a:r>
              <a:rPr lang="en-US" dirty="0">
                <a:solidFill>
                  <a:srgbClr val="C00000"/>
                </a:solidFill>
                <a:latin typeface="Times New Roman" panose="02020603050405020304" pitchFamily="18" charset="0"/>
                <a:cs typeface="Times New Roman" panose="02020603050405020304" pitchFamily="18" charset="0"/>
              </a:rPr>
              <a:t>open identity interchanges through policy standards that applications can use </a:t>
            </a:r>
            <a:r>
              <a:rPr lang="en-US" dirty="0" smtClean="0">
                <a:solidFill>
                  <a:srgbClr val="C00000"/>
                </a:solidFill>
                <a:latin typeface="Times New Roman" panose="02020603050405020304" pitchFamily="18" charset="0"/>
                <a:cs typeface="Times New Roman" panose="02020603050405020304" pitchFamily="18" charset="0"/>
              </a:rPr>
              <a:t>to enforce </a:t>
            </a:r>
            <a:r>
              <a:rPr lang="en-US" dirty="0">
                <a:solidFill>
                  <a:srgbClr val="C00000"/>
                </a:solidFill>
                <a:latin typeface="Times New Roman" panose="02020603050405020304" pitchFamily="18" charset="0"/>
                <a:cs typeface="Times New Roman" panose="02020603050405020304" pitchFamily="18" charset="0"/>
              </a:rPr>
              <a:t>privacy as well as to allow privacy auditing</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In </a:t>
            </a:r>
            <a:r>
              <a:rPr lang="en-US" dirty="0">
                <a:solidFill>
                  <a:srgbClr val="002060"/>
                </a:solidFill>
                <a:latin typeface="Times New Roman" panose="02020603050405020304" pitchFamily="18" charset="0"/>
                <a:cs typeface="Times New Roman" panose="02020603050405020304" pitchFamily="18" charset="0"/>
              </a:rPr>
              <a:t>2009, this group released its Client </a:t>
            </a:r>
            <a:r>
              <a:rPr lang="en-US" dirty="0" smtClean="0">
                <a:solidFill>
                  <a:srgbClr val="002060"/>
                </a:solidFill>
                <a:latin typeface="Times New Roman" panose="02020603050405020304" pitchFamily="18" charset="0"/>
                <a:cs typeface="Times New Roman" panose="02020603050405020304" pitchFamily="18" charset="0"/>
              </a:rPr>
              <a:t>Attribute Requirements </a:t>
            </a:r>
            <a:r>
              <a:rPr lang="en-US" dirty="0">
                <a:solidFill>
                  <a:srgbClr val="002060"/>
                </a:solidFill>
                <a:latin typeface="Times New Roman" panose="02020603050405020304" pitchFamily="18" charset="0"/>
                <a:cs typeface="Times New Roman" panose="02020603050405020304" pitchFamily="18" charset="0"/>
              </a:rPr>
              <a:t>Markup Language (CARML) and a set of IGF Privacy Constraints that forms the </a:t>
            </a:r>
            <a:r>
              <a:rPr lang="en-US" dirty="0" smtClean="0">
                <a:solidFill>
                  <a:srgbClr val="002060"/>
                </a:solidFill>
                <a:latin typeface="Times New Roman" panose="02020603050405020304" pitchFamily="18" charset="0"/>
                <a:cs typeface="Times New Roman" panose="02020603050405020304" pitchFamily="18" charset="0"/>
              </a:rPr>
              <a:t>basis of </a:t>
            </a:r>
            <a:r>
              <a:rPr lang="en-US" dirty="0">
                <a:solidFill>
                  <a:srgbClr val="002060"/>
                </a:solidFill>
                <a:latin typeface="Times New Roman" panose="02020603050405020304" pitchFamily="18" charset="0"/>
                <a:cs typeface="Times New Roman" panose="02020603050405020304" pitchFamily="18" charset="0"/>
              </a:rPr>
              <a:t>the open source project called </a:t>
            </a:r>
            <a:r>
              <a:rPr lang="en-US" dirty="0" smtClean="0">
                <a:solidFill>
                  <a:srgbClr val="002060"/>
                </a:solidFill>
                <a:latin typeface="Times New Roman" panose="02020603050405020304" pitchFamily="18" charset="0"/>
                <a:cs typeface="Times New Roman" panose="02020603050405020304" pitchFamily="18" charset="0"/>
              </a:rPr>
              <a:t>Aristotle (http</a:t>
            </a:r>
            <a:r>
              <a:rPr lang="en-US" dirty="0">
                <a:solidFill>
                  <a:srgbClr val="002060"/>
                </a:solidFill>
                <a:latin typeface="Times New Roman" panose="02020603050405020304" pitchFamily="18" charset="0"/>
                <a:cs typeface="Times New Roman" panose="02020603050405020304" pitchFamily="18" charset="0"/>
              </a:rPr>
              <a:t>://</a:t>
            </a:r>
            <a:r>
              <a:rPr lang="en-US" dirty="0" smtClean="0">
                <a:solidFill>
                  <a:srgbClr val="002060"/>
                </a:solidFill>
                <a:latin typeface="Times New Roman" panose="02020603050405020304" pitchFamily="18" charset="0"/>
                <a:cs typeface="Times New Roman" panose="02020603050405020304" pitchFamily="18" charset="0"/>
              </a:rPr>
              <a:t>www.openliberty.org/wiki/index.php/ </a:t>
            </a:r>
            <a:r>
              <a:rPr lang="en-US" dirty="0" err="1" smtClean="0">
                <a:solidFill>
                  <a:srgbClr val="002060"/>
                </a:solidFill>
                <a:latin typeface="Times New Roman" panose="02020603050405020304" pitchFamily="18" charset="0"/>
                <a:cs typeface="Times New Roman" panose="02020603050405020304" pitchFamily="18" charset="0"/>
              </a:rPr>
              <a:t>ProjectAris</a:t>
            </a:r>
            <a:r>
              <a:rPr lang="en-US" dirty="0">
                <a:solidFill>
                  <a:srgbClr val="002060"/>
                </a:solidFill>
                <a:latin typeface="Times New Roman" panose="02020603050405020304" pitchFamily="18" charset="0"/>
                <a:cs typeface="Times New Roman" panose="02020603050405020304" pitchFamily="18" charset="0"/>
              </a:rPr>
              <a:t>), which has as its goal the creation of an API for identity interchange</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439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User </a:t>
            </a:r>
            <a:r>
              <a:rPr lang="en-US" sz="2400" b="1" dirty="0">
                <a:solidFill>
                  <a:srgbClr val="002060"/>
                </a:solidFill>
                <a:latin typeface="Times New Roman" panose="02020603050405020304" pitchFamily="18" charset="0"/>
                <a:cs typeface="Times New Roman" panose="02020603050405020304" pitchFamily="18" charset="0"/>
              </a:rPr>
              <a:t>A</a:t>
            </a:r>
            <a:r>
              <a:rPr lang="en-US" sz="2400" b="1" dirty="0" smtClean="0">
                <a:solidFill>
                  <a:srgbClr val="002060"/>
                </a:solidFill>
                <a:latin typeface="Times New Roman" panose="02020603050405020304" pitchFamily="18" charset="0"/>
                <a:cs typeface="Times New Roman" panose="02020603050405020304" pitchFamily="18" charset="0"/>
              </a:rPr>
              <a:t>uthentication</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970318"/>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OpenID is a developing industry standard for authenticating “end users” by storing their </a:t>
            </a:r>
            <a:r>
              <a:rPr lang="en-IN" dirty="0" smtClean="0">
                <a:solidFill>
                  <a:srgbClr val="C00000"/>
                </a:solidFill>
                <a:latin typeface="Times New Roman" panose="02020603050405020304" pitchFamily="18" charset="0"/>
                <a:cs typeface="Times New Roman" panose="02020603050405020304" pitchFamily="18" charset="0"/>
              </a:rPr>
              <a:t>digital identity </a:t>
            </a:r>
            <a:r>
              <a:rPr lang="en-IN" dirty="0">
                <a:solidFill>
                  <a:srgbClr val="C00000"/>
                </a:solidFill>
                <a:latin typeface="Times New Roman" panose="02020603050405020304" pitchFamily="18" charset="0"/>
                <a:cs typeface="Times New Roman" panose="02020603050405020304" pitchFamily="18" charset="0"/>
              </a:rPr>
              <a:t>in a common format. When an identity is created in an OpenID system, that </a:t>
            </a:r>
            <a:r>
              <a:rPr lang="en-IN" dirty="0" smtClean="0">
                <a:solidFill>
                  <a:srgbClr val="C00000"/>
                </a:solidFill>
                <a:latin typeface="Times New Roman" panose="02020603050405020304" pitchFamily="18" charset="0"/>
                <a:cs typeface="Times New Roman" panose="02020603050405020304" pitchFamily="18" charset="0"/>
              </a:rPr>
              <a:t>information is </a:t>
            </a:r>
            <a:r>
              <a:rPr lang="en-IN" dirty="0">
                <a:solidFill>
                  <a:srgbClr val="C00000"/>
                </a:solidFill>
                <a:latin typeface="Times New Roman" panose="02020603050405020304" pitchFamily="18" charset="0"/>
                <a:cs typeface="Times New Roman" panose="02020603050405020304" pitchFamily="18" charset="0"/>
              </a:rPr>
              <a:t>stored in the system of any OpenID service provider and translated into a unique identifier</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Identifiers take the form of a Uniform Resource Locator (URL) or as an Extensible </a:t>
            </a:r>
            <a:r>
              <a:rPr lang="en-IN" dirty="0" smtClean="0">
                <a:solidFill>
                  <a:srgbClr val="C00000"/>
                </a:solidFill>
                <a:latin typeface="Times New Roman" panose="02020603050405020304" pitchFamily="18" charset="0"/>
                <a:cs typeface="Times New Roman" panose="02020603050405020304" pitchFamily="18" charset="0"/>
              </a:rPr>
              <a:t>Resource Identifier </a:t>
            </a:r>
            <a:r>
              <a:rPr lang="en-IN" dirty="0">
                <a:solidFill>
                  <a:srgbClr val="C00000"/>
                </a:solidFill>
                <a:latin typeface="Times New Roman" panose="02020603050405020304" pitchFamily="18" charset="0"/>
                <a:cs typeface="Times New Roman" panose="02020603050405020304" pitchFamily="18" charset="0"/>
              </a:rPr>
              <a:t>(XRI) that is authenticated by that OpenID service provider. Any software </a:t>
            </a:r>
            <a:r>
              <a:rPr lang="en-IN" dirty="0" smtClean="0">
                <a:solidFill>
                  <a:srgbClr val="C00000"/>
                </a:solidFill>
                <a:latin typeface="Times New Roman" panose="02020603050405020304" pitchFamily="18" charset="0"/>
                <a:cs typeface="Times New Roman" panose="02020603050405020304" pitchFamily="18" charset="0"/>
              </a:rPr>
              <a:t>application that </a:t>
            </a:r>
            <a:r>
              <a:rPr lang="en-IN" dirty="0">
                <a:solidFill>
                  <a:srgbClr val="C00000"/>
                </a:solidFill>
                <a:latin typeface="Times New Roman" panose="02020603050405020304" pitchFamily="18" charset="0"/>
                <a:cs typeface="Times New Roman" panose="02020603050405020304" pitchFamily="18" charset="0"/>
              </a:rPr>
              <a:t>complies with the standard accepts an OpenID that is authenticated by a trusted provider</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A very impressive group of cloud computing vendors serve as identity providers (or OpenID </a:t>
            </a:r>
            <a:r>
              <a:rPr lang="en-IN" dirty="0" smtClean="0">
                <a:solidFill>
                  <a:srgbClr val="002060"/>
                </a:solidFill>
                <a:latin typeface="Times New Roman" panose="02020603050405020304" pitchFamily="18" charset="0"/>
                <a:cs typeface="Times New Roman" panose="02020603050405020304" pitchFamily="18" charset="0"/>
              </a:rPr>
              <a:t>providers</a:t>
            </a:r>
            <a:r>
              <a:rPr lang="en-IN" dirty="0">
                <a:solidFill>
                  <a:srgbClr val="002060"/>
                </a:solidFill>
                <a:latin typeface="Times New Roman" panose="02020603050405020304" pitchFamily="18" charset="0"/>
                <a:cs typeface="Times New Roman" panose="02020603050405020304" pitchFamily="18" charset="0"/>
              </a:rPr>
              <a:t>), including AOL, Facebook, Google, IBM, Microsoft, </a:t>
            </a:r>
            <a:r>
              <a:rPr lang="en-IN" dirty="0" err="1">
                <a:solidFill>
                  <a:srgbClr val="002060"/>
                </a:solidFill>
                <a:latin typeface="Times New Roman" panose="02020603050405020304" pitchFamily="18" charset="0"/>
                <a:cs typeface="Times New Roman" panose="02020603050405020304" pitchFamily="18" charset="0"/>
              </a:rPr>
              <a:t>MySpace</a:t>
            </a:r>
            <a:r>
              <a:rPr lang="en-IN" dirty="0">
                <a:solidFill>
                  <a:srgbClr val="002060"/>
                </a:solidFill>
                <a:latin typeface="Times New Roman" panose="02020603050405020304" pitchFamily="18" charset="0"/>
                <a:cs typeface="Times New Roman" panose="02020603050405020304" pitchFamily="18" charset="0"/>
              </a:rPr>
              <a:t>, Orange, PayPal, </a:t>
            </a:r>
            <a:r>
              <a:rPr lang="en-IN" dirty="0" smtClean="0">
                <a:solidFill>
                  <a:srgbClr val="002060"/>
                </a:solidFill>
                <a:latin typeface="Times New Roman" panose="02020603050405020304" pitchFamily="18" charset="0"/>
                <a:cs typeface="Times New Roman" panose="02020603050405020304" pitchFamily="18" charset="0"/>
              </a:rPr>
              <a:t>VeriSign, LiveJournal</a:t>
            </a:r>
            <a:r>
              <a:rPr lang="en-IN" dirty="0">
                <a:solidFill>
                  <a:srgbClr val="002060"/>
                </a:solidFill>
                <a:latin typeface="Times New Roman" panose="02020603050405020304" pitchFamily="18" charset="0"/>
                <a:cs typeface="Times New Roman" panose="02020603050405020304" pitchFamily="18" charset="0"/>
              </a:rPr>
              <a:t>, </a:t>
            </a:r>
            <a:r>
              <a:rPr lang="en-IN" dirty="0" err="1">
                <a:solidFill>
                  <a:srgbClr val="002060"/>
                </a:solidFill>
                <a:latin typeface="Times New Roman" panose="02020603050405020304" pitchFamily="18" charset="0"/>
                <a:cs typeface="Times New Roman" panose="02020603050405020304" pitchFamily="18" charset="0"/>
              </a:rPr>
              <a:t>Ustream</a:t>
            </a:r>
            <a:r>
              <a:rPr lang="en-IN" dirty="0">
                <a:solidFill>
                  <a:srgbClr val="002060"/>
                </a:solidFill>
                <a:latin typeface="Times New Roman" panose="02020603050405020304" pitchFamily="18" charset="0"/>
                <a:cs typeface="Times New Roman" panose="02020603050405020304" pitchFamily="18" charset="0"/>
              </a:rPr>
              <a:t>, Yahoo!, and others</a:t>
            </a:r>
            <a:r>
              <a:rPr lang="en-IN"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The OpenID standard applies to the unique identity of the URL; it is up to the service provider </a:t>
            </a:r>
            <a:r>
              <a:rPr lang="en-IN" dirty="0" smtClean="0">
                <a:solidFill>
                  <a:srgbClr val="002060"/>
                </a:solidFill>
                <a:latin typeface="Times New Roman" panose="02020603050405020304" pitchFamily="18" charset="0"/>
                <a:cs typeface="Times New Roman" panose="02020603050405020304" pitchFamily="18" charset="0"/>
              </a:rPr>
              <a:t>to store </a:t>
            </a:r>
            <a:r>
              <a:rPr lang="en-IN" dirty="0">
                <a:solidFill>
                  <a:srgbClr val="002060"/>
                </a:solidFill>
                <a:latin typeface="Times New Roman" panose="02020603050405020304" pitchFamily="18" charset="0"/>
                <a:cs typeface="Times New Roman" panose="02020603050405020304" pitchFamily="18" charset="0"/>
              </a:rPr>
              <a:t>the information and specify the forms of authentication required to successfully log onto </a:t>
            </a:r>
            <a:r>
              <a:rPr lang="en-IN" dirty="0" smtClean="0">
                <a:solidFill>
                  <a:srgbClr val="002060"/>
                </a:solidFill>
                <a:latin typeface="Times New Roman" panose="02020603050405020304" pitchFamily="18" charset="0"/>
                <a:cs typeface="Times New Roman" panose="02020603050405020304" pitchFamily="18" charset="0"/>
              </a:rPr>
              <a:t>the system.</a:t>
            </a: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Thus </a:t>
            </a:r>
            <a:r>
              <a:rPr lang="en-IN" dirty="0">
                <a:solidFill>
                  <a:srgbClr val="002060"/>
                </a:solidFill>
                <a:latin typeface="Times New Roman" panose="02020603050405020304" pitchFamily="18" charset="0"/>
                <a:cs typeface="Times New Roman" panose="02020603050405020304" pitchFamily="18" charset="0"/>
              </a:rPr>
              <a:t>an OpenID authorization can include not only passwords, but smart cards, </a:t>
            </a:r>
            <a:r>
              <a:rPr lang="en-IN" dirty="0" smtClean="0">
                <a:solidFill>
                  <a:srgbClr val="002060"/>
                </a:solidFill>
                <a:latin typeface="Times New Roman" panose="02020603050405020304" pitchFamily="18" charset="0"/>
                <a:cs typeface="Times New Roman" panose="02020603050405020304" pitchFamily="18" charset="0"/>
              </a:rPr>
              <a:t>hardware keys</a:t>
            </a:r>
            <a:r>
              <a:rPr lang="en-IN" dirty="0">
                <a:solidFill>
                  <a:srgbClr val="002060"/>
                </a:solidFill>
                <a:latin typeface="Times New Roman" panose="02020603050405020304" pitchFamily="18" charset="0"/>
                <a:cs typeface="Times New Roman" panose="02020603050405020304" pitchFamily="18" charset="0"/>
              </a:rPr>
              <a:t>, tokens, and biometrics as well. OpenID is supported by the OpenID Foundation (http</a:t>
            </a:r>
            <a:r>
              <a:rPr lang="en-IN" dirty="0" smtClean="0">
                <a:solidFill>
                  <a:srgbClr val="002060"/>
                </a:solidFill>
                <a:latin typeface="Times New Roman" panose="02020603050405020304" pitchFamily="18" charset="0"/>
                <a:cs typeface="Times New Roman" panose="02020603050405020304" pitchFamily="18" charset="0"/>
              </a:rPr>
              <a:t>://openid.net/foundation</a:t>
            </a:r>
            <a:r>
              <a:rPr lang="en-IN" dirty="0">
                <a:solidFill>
                  <a:srgbClr val="002060"/>
                </a:solidFill>
                <a:latin typeface="Times New Roman" panose="02020603050405020304" pitchFamily="18" charset="0"/>
                <a:cs typeface="Times New Roman" panose="02020603050405020304" pitchFamily="18" charset="0"/>
              </a:rPr>
              <a:t>/), a not-for-profit organization that promotes the technology</a:t>
            </a:r>
            <a:r>
              <a:rPr lang="en-IN" dirty="0" smtClean="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51166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User </a:t>
            </a:r>
            <a:r>
              <a:rPr lang="en-US" sz="2400" b="1" dirty="0">
                <a:solidFill>
                  <a:srgbClr val="002060"/>
                </a:solidFill>
                <a:latin typeface="Times New Roman" panose="02020603050405020304" pitchFamily="18" charset="0"/>
                <a:cs typeface="Times New Roman" panose="02020603050405020304" pitchFamily="18" charset="0"/>
              </a:rPr>
              <a:t>A</a:t>
            </a:r>
            <a:r>
              <a:rPr lang="en-US" sz="2400" b="1" dirty="0" smtClean="0">
                <a:solidFill>
                  <a:srgbClr val="002060"/>
                </a:solidFill>
                <a:latin typeface="Times New Roman" panose="02020603050405020304" pitchFamily="18" charset="0"/>
                <a:cs typeface="Times New Roman" panose="02020603050405020304" pitchFamily="18" charset="0"/>
              </a:rPr>
              <a:t>uthentication</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55574" y="928908"/>
            <a:ext cx="8836024" cy="3754874"/>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These are samples of trusted providers and their URL formats</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Blogger</a:t>
            </a:r>
            <a:r>
              <a:rPr lang="en-IN" dirty="0">
                <a:solidFill>
                  <a:srgbClr val="C00000"/>
                </a:solidFill>
                <a:latin typeface="Times New Roman" panose="02020603050405020304" pitchFamily="18" charset="0"/>
                <a:cs typeface="Times New Roman" panose="02020603050405020304" pitchFamily="18" charset="0"/>
              </a:rPr>
              <a:t>: &lt;username&gt;.blogger.com or &lt;</a:t>
            </a:r>
            <a:r>
              <a:rPr lang="en-IN" dirty="0" err="1">
                <a:solidFill>
                  <a:srgbClr val="C00000"/>
                </a:solidFill>
                <a:latin typeface="Times New Roman" panose="02020603050405020304" pitchFamily="18" charset="0"/>
                <a:cs typeface="Times New Roman" panose="02020603050405020304" pitchFamily="18" charset="0"/>
              </a:rPr>
              <a:t>blogid</a:t>
            </a:r>
            <a:r>
              <a:rPr lang="en-IN" dirty="0">
                <a:solidFill>
                  <a:srgbClr val="C00000"/>
                </a:solidFill>
                <a:latin typeface="Times New Roman" panose="02020603050405020304" pitchFamily="18" charset="0"/>
                <a:cs typeface="Times New Roman" panose="02020603050405020304" pitchFamily="18" charset="0"/>
              </a:rPr>
              <a:t>&gt;.blogspot.com</a:t>
            </a:r>
          </a:p>
          <a:p>
            <a:pPr marL="285750" indent="-285750" algn="just">
              <a:buFont typeface="Arial" panose="020B0604020202020204" pitchFamily="34" charset="0"/>
              <a:buChar char="•"/>
            </a:pPr>
            <a:r>
              <a:rPr lang="en-IN" dirty="0" err="1" smtClean="0">
                <a:solidFill>
                  <a:srgbClr val="C00000"/>
                </a:solidFill>
                <a:latin typeface="Times New Roman" panose="02020603050405020304" pitchFamily="18" charset="0"/>
                <a:cs typeface="Times New Roman" panose="02020603050405020304" pitchFamily="18" charset="0"/>
              </a:rPr>
              <a:t>MySpace</a:t>
            </a:r>
            <a:r>
              <a:rPr lang="en-IN" dirty="0">
                <a:solidFill>
                  <a:srgbClr val="C00000"/>
                </a:solidFill>
                <a:latin typeface="Times New Roman" panose="02020603050405020304" pitchFamily="18" charset="0"/>
                <a:cs typeface="Times New Roman" panose="02020603050405020304" pitchFamily="18" charset="0"/>
              </a:rPr>
              <a:t>: myspace.com/&lt;username&gt;</a:t>
            </a: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Google</a:t>
            </a:r>
            <a:r>
              <a:rPr lang="en-IN" dirty="0">
                <a:solidFill>
                  <a:srgbClr val="C00000"/>
                </a:solidFill>
                <a:latin typeface="Times New Roman" panose="02020603050405020304" pitchFamily="18" charset="0"/>
                <a:cs typeface="Times New Roman" panose="02020603050405020304" pitchFamily="18" charset="0"/>
              </a:rPr>
              <a:t>: https://www.google.com/accounts/o8/id</a:t>
            </a: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Google </a:t>
            </a:r>
            <a:r>
              <a:rPr lang="en-IN" dirty="0">
                <a:solidFill>
                  <a:srgbClr val="C00000"/>
                </a:solidFill>
                <a:latin typeface="Times New Roman" panose="02020603050405020304" pitchFamily="18" charset="0"/>
                <a:cs typeface="Times New Roman" panose="02020603050405020304" pitchFamily="18" charset="0"/>
              </a:rPr>
              <a:t>Profile: google.com/profiles/&lt;username&gt;</a:t>
            </a: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Microsoft</a:t>
            </a:r>
            <a:r>
              <a:rPr lang="en-IN" dirty="0">
                <a:solidFill>
                  <a:srgbClr val="C00000"/>
                </a:solidFill>
                <a:latin typeface="Times New Roman" panose="02020603050405020304" pitchFamily="18" charset="0"/>
                <a:cs typeface="Times New Roman" panose="02020603050405020304" pitchFamily="18" charset="0"/>
              </a:rPr>
              <a:t>: accountservices.passport.net/</a:t>
            </a:r>
          </a:p>
          <a:p>
            <a:pPr marL="285750" indent="-285750" algn="just">
              <a:buFont typeface="Arial" panose="020B0604020202020204" pitchFamily="34" charset="0"/>
              <a:buChar char="•"/>
            </a:pPr>
            <a:r>
              <a:rPr lang="en-IN" dirty="0" err="1" smtClean="0">
                <a:solidFill>
                  <a:srgbClr val="C00000"/>
                </a:solidFill>
                <a:latin typeface="Times New Roman" panose="02020603050405020304" pitchFamily="18" charset="0"/>
                <a:cs typeface="Times New Roman" panose="02020603050405020304" pitchFamily="18" charset="0"/>
              </a:rPr>
              <a:t>MyOpenID</a:t>
            </a:r>
            <a:r>
              <a:rPr lang="en-IN" dirty="0">
                <a:solidFill>
                  <a:srgbClr val="C00000"/>
                </a:solidFill>
                <a:latin typeface="Times New Roman" panose="02020603050405020304" pitchFamily="18" charset="0"/>
                <a:cs typeface="Times New Roman" panose="02020603050405020304" pitchFamily="18" charset="0"/>
              </a:rPr>
              <a:t>: &lt;username&gt;.myopenid.com</a:t>
            </a: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Orange</a:t>
            </a:r>
            <a:r>
              <a:rPr lang="en-IN" dirty="0">
                <a:solidFill>
                  <a:srgbClr val="C00000"/>
                </a:solidFill>
                <a:latin typeface="Times New Roman" panose="02020603050405020304" pitchFamily="18" charset="0"/>
                <a:cs typeface="Times New Roman" panose="02020603050405020304" pitchFamily="18" charset="0"/>
              </a:rPr>
              <a:t>: openid.orange.fr/username or simply orange.fr/</a:t>
            </a: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Verisign</a:t>
            </a:r>
            <a:r>
              <a:rPr lang="en-IN" dirty="0">
                <a:solidFill>
                  <a:srgbClr val="002060"/>
                </a:solidFill>
                <a:latin typeface="Times New Roman" panose="02020603050405020304" pitchFamily="18" charset="0"/>
                <a:cs typeface="Times New Roman" panose="02020603050405020304" pitchFamily="18" charset="0"/>
              </a:rPr>
              <a:t>: &lt;username&gt;.pip.verisinglabs.com</a:t>
            </a: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WordPress</a:t>
            </a:r>
            <a:r>
              <a:rPr lang="en-IN" dirty="0">
                <a:solidFill>
                  <a:srgbClr val="002060"/>
                </a:solidFill>
                <a:latin typeface="Times New Roman" panose="02020603050405020304" pitchFamily="18" charset="0"/>
                <a:cs typeface="Times New Roman" panose="02020603050405020304" pitchFamily="18" charset="0"/>
              </a:rPr>
              <a:t>: &lt;username&gt;.wordpress.com</a:t>
            </a: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Yahoo</a:t>
            </a:r>
            <a:r>
              <a:rPr lang="en-IN" dirty="0">
                <a:solidFill>
                  <a:srgbClr val="002060"/>
                </a:solidFill>
                <a:latin typeface="Times New Roman" panose="02020603050405020304" pitchFamily="18" charset="0"/>
                <a:cs typeface="Times New Roman" panose="02020603050405020304" pitchFamily="18" charset="0"/>
              </a:rPr>
              <a:t>!: openid.yahoo.com</a:t>
            </a:r>
          </a:p>
          <a:p>
            <a:pPr marL="285750" indent="-285750" algn="just">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After you have logged onto a trusted provider, that logon may provide you access to other </a:t>
            </a:r>
            <a:r>
              <a:rPr lang="en-IN" dirty="0" smtClean="0">
                <a:solidFill>
                  <a:srgbClr val="002060"/>
                </a:solidFill>
                <a:latin typeface="Times New Roman" panose="02020603050405020304" pitchFamily="18" charset="0"/>
                <a:cs typeface="Times New Roman" panose="02020603050405020304" pitchFamily="18" charset="0"/>
              </a:rPr>
              <a:t>Web sites </a:t>
            </a:r>
            <a:r>
              <a:rPr lang="en-IN" dirty="0">
                <a:solidFill>
                  <a:srgbClr val="002060"/>
                </a:solidFill>
                <a:latin typeface="Times New Roman" panose="02020603050405020304" pitchFamily="18" charset="0"/>
                <a:cs typeface="Times New Roman" panose="02020603050405020304" pitchFamily="18" charset="0"/>
              </a:rPr>
              <a:t>that support OpenID</a:t>
            </a:r>
            <a:r>
              <a:rPr lang="en-IN"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When </a:t>
            </a:r>
            <a:r>
              <a:rPr lang="en-IN" dirty="0">
                <a:solidFill>
                  <a:srgbClr val="002060"/>
                </a:solidFill>
                <a:latin typeface="Times New Roman" panose="02020603050405020304" pitchFamily="18" charset="0"/>
                <a:cs typeface="Times New Roman" panose="02020603050405020304" pitchFamily="18" charset="0"/>
              </a:rPr>
              <a:t>you request access to a site through your browser (or </a:t>
            </a:r>
            <a:r>
              <a:rPr lang="en-IN" dirty="0" smtClean="0">
                <a:solidFill>
                  <a:srgbClr val="002060"/>
                </a:solidFill>
                <a:latin typeface="Times New Roman" panose="02020603050405020304" pitchFamily="18" charset="0"/>
                <a:cs typeface="Times New Roman" panose="02020603050405020304" pitchFamily="18" charset="0"/>
              </a:rPr>
              <a:t>another application </a:t>
            </a:r>
            <a:r>
              <a:rPr lang="en-IN" dirty="0">
                <a:solidFill>
                  <a:srgbClr val="002060"/>
                </a:solidFill>
                <a:latin typeface="Times New Roman" panose="02020603050405020304" pitchFamily="18" charset="0"/>
                <a:cs typeface="Times New Roman" panose="02020603050405020304" pitchFamily="18" charset="0"/>
              </a:rPr>
              <a:t>that is referred to as a user-agent), that site serves as the “relying party” and requests </a:t>
            </a:r>
            <a:r>
              <a:rPr lang="en-IN" dirty="0" smtClean="0">
                <a:solidFill>
                  <a:srgbClr val="002060"/>
                </a:solidFill>
                <a:latin typeface="Times New Roman" panose="02020603050405020304" pitchFamily="18" charset="0"/>
                <a:cs typeface="Times New Roman" panose="02020603050405020304" pitchFamily="18" charset="0"/>
              </a:rPr>
              <a:t>of the </a:t>
            </a:r>
            <a:r>
              <a:rPr lang="en-IN" dirty="0">
                <a:solidFill>
                  <a:srgbClr val="002060"/>
                </a:solidFill>
                <a:latin typeface="Times New Roman" panose="02020603050405020304" pitchFamily="18" charset="0"/>
                <a:cs typeface="Times New Roman" panose="02020603050405020304" pitchFamily="18" charset="0"/>
              </a:rPr>
              <a:t>server or server-agent that it verify the end-user’s identifier. </a:t>
            </a:r>
          </a:p>
        </p:txBody>
      </p:sp>
    </p:spTree>
    <p:extLst>
      <p:ext uri="{BB962C8B-B14F-4D97-AF65-F5344CB8AC3E}">
        <p14:creationId xmlns:p14="http://schemas.microsoft.com/office/powerpoint/2010/main" val="2684439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User </a:t>
            </a:r>
            <a:r>
              <a:rPr lang="en-US" sz="2400" b="1" dirty="0">
                <a:solidFill>
                  <a:srgbClr val="002060"/>
                </a:solidFill>
                <a:latin typeface="Times New Roman" panose="02020603050405020304" pitchFamily="18" charset="0"/>
                <a:cs typeface="Times New Roman" panose="02020603050405020304" pitchFamily="18" charset="0"/>
              </a:rPr>
              <a:t>A</a:t>
            </a:r>
            <a:r>
              <a:rPr lang="en-US" sz="2400" b="1" dirty="0" smtClean="0">
                <a:solidFill>
                  <a:srgbClr val="002060"/>
                </a:solidFill>
                <a:latin typeface="Times New Roman" panose="02020603050405020304" pitchFamily="18" charset="0"/>
                <a:cs typeface="Times New Roman" panose="02020603050405020304" pitchFamily="18" charset="0"/>
              </a:rPr>
              <a:t>uthentication</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55574" y="928908"/>
            <a:ext cx="8836024" cy="3754874"/>
          </a:xfrm>
          <a:prstGeom prst="rect">
            <a:avLst/>
          </a:prstGeom>
        </p:spPr>
        <p:txBody>
          <a:bodyPr wrap="square">
            <a:spAutoFit/>
          </a:bodyPr>
          <a:lstStyle/>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CardSpace </a:t>
            </a:r>
            <a:r>
              <a:rPr lang="en-US" dirty="0">
                <a:solidFill>
                  <a:srgbClr val="C00000"/>
                </a:solidFill>
                <a:latin typeface="Times New Roman" panose="02020603050405020304" pitchFamily="18" charset="0"/>
                <a:cs typeface="Times New Roman" panose="02020603050405020304" pitchFamily="18" charset="0"/>
              </a:rPr>
              <a:t>is a Microsoft software client that is part of the company’s Identity Metasystem and </a:t>
            </a:r>
            <a:r>
              <a:rPr lang="en-US" dirty="0" smtClean="0">
                <a:solidFill>
                  <a:srgbClr val="C00000"/>
                </a:solidFill>
                <a:latin typeface="Times New Roman" panose="02020603050405020304" pitchFamily="18" charset="0"/>
                <a:cs typeface="Times New Roman" panose="02020603050405020304" pitchFamily="18" charset="0"/>
              </a:rPr>
              <a:t>built into </a:t>
            </a:r>
            <a:r>
              <a:rPr lang="en-US" dirty="0">
                <a:solidFill>
                  <a:srgbClr val="C00000"/>
                </a:solidFill>
                <a:latin typeface="Times New Roman" panose="02020603050405020304" pitchFamily="18" charset="0"/>
                <a:cs typeface="Times New Roman" panose="02020603050405020304" pitchFamily="18" charset="0"/>
              </a:rPr>
              <a:t>the Web Services Protocol Stack.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This </a:t>
            </a:r>
            <a:r>
              <a:rPr lang="en-US" dirty="0">
                <a:solidFill>
                  <a:srgbClr val="C00000"/>
                </a:solidFill>
                <a:latin typeface="Times New Roman" panose="02020603050405020304" pitchFamily="18" charset="0"/>
                <a:cs typeface="Times New Roman" panose="02020603050405020304" pitchFamily="18" charset="0"/>
              </a:rPr>
              <a:t>stack is built on the OASIS standards (</a:t>
            </a:r>
            <a:r>
              <a:rPr lang="en-US" dirty="0" smtClean="0">
                <a:solidFill>
                  <a:srgbClr val="C00000"/>
                </a:solidFill>
                <a:latin typeface="Times New Roman" panose="02020603050405020304" pitchFamily="18" charset="0"/>
                <a:cs typeface="Times New Roman" panose="02020603050405020304" pitchFamily="18" charset="0"/>
              </a:rPr>
              <a:t>WS-Trust, WS-Security</a:t>
            </a:r>
            <a:r>
              <a:rPr lang="en-US" dirty="0">
                <a:solidFill>
                  <a:srgbClr val="C00000"/>
                </a:solidFill>
                <a:latin typeface="Times New Roman" panose="02020603050405020304" pitchFamily="18" charset="0"/>
                <a:cs typeface="Times New Roman" panose="02020603050405020304" pitchFamily="18" charset="0"/>
              </a:rPr>
              <a:t>, WS-</a:t>
            </a:r>
            <a:r>
              <a:rPr lang="en-US" dirty="0" err="1">
                <a:solidFill>
                  <a:srgbClr val="C00000"/>
                </a:solidFill>
                <a:latin typeface="Times New Roman" panose="02020603050405020304" pitchFamily="18" charset="0"/>
                <a:cs typeface="Times New Roman" panose="02020603050405020304" pitchFamily="18" charset="0"/>
              </a:rPr>
              <a:t>SecurityPolicy</a:t>
            </a:r>
            <a:r>
              <a:rPr lang="en-US" dirty="0">
                <a:solidFill>
                  <a:srgbClr val="C00000"/>
                </a:solidFill>
                <a:latin typeface="Times New Roman" panose="02020603050405020304" pitchFamily="18" charset="0"/>
                <a:cs typeface="Times New Roman" panose="02020603050405020304" pitchFamily="18" charset="0"/>
              </a:rPr>
              <a:t>, and WS-</a:t>
            </a:r>
            <a:r>
              <a:rPr lang="en-US" dirty="0" err="1">
                <a:solidFill>
                  <a:srgbClr val="C00000"/>
                </a:solidFill>
                <a:latin typeface="Times New Roman" panose="02020603050405020304" pitchFamily="18" charset="0"/>
                <a:cs typeface="Times New Roman" panose="02020603050405020304" pitchFamily="18" charset="0"/>
              </a:rPr>
              <a:t>MetadataExchange</a:t>
            </a:r>
            <a:r>
              <a:rPr lang="en-US" dirty="0">
                <a:solidFill>
                  <a:srgbClr val="C00000"/>
                </a:solidFill>
                <a:latin typeface="Times New Roman" panose="02020603050405020304" pitchFamily="18" charset="0"/>
                <a:cs typeface="Times New Roman" panose="02020603050405020304" pitchFamily="18" charset="0"/>
              </a:rPr>
              <a:t>), so any application that </a:t>
            </a:r>
            <a:r>
              <a:rPr lang="en-US" dirty="0" smtClean="0">
                <a:solidFill>
                  <a:srgbClr val="C00000"/>
                </a:solidFill>
                <a:latin typeface="Times New Roman" panose="02020603050405020304" pitchFamily="18" charset="0"/>
                <a:cs typeface="Times New Roman" panose="02020603050405020304" pitchFamily="18" charset="0"/>
              </a:rPr>
              <a:t>conforms with </a:t>
            </a:r>
            <a:r>
              <a:rPr lang="en-US" dirty="0">
                <a:solidFill>
                  <a:srgbClr val="C00000"/>
                </a:solidFill>
                <a:latin typeface="Times New Roman" panose="02020603050405020304" pitchFamily="18" charset="0"/>
                <a:cs typeface="Times New Roman" panose="02020603050405020304" pitchFamily="18" charset="0"/>
              </a:rPr>
              <a:t>the OASIS WS- standards can interoperate with CardSpace. CardSpace was introduced </a:t>
            </a:r>
            <a:r>
              <a:rPr lang="en-US" dirty="0" smtClean="0">
                <a:solidFill>
                  <a:srgbClr val="C00000"/>
                </a:solidFill>
                <a:latin typeface="Times New Roman" panose="02020603050405020304" pitchFamily="18" charset="0"/>
                <a:cs typeface="Times New Roman" panose="02020603050405020304" pitchFamily="18" charset="0"/>
              </a:rPr>
              <a:t>with .NET </a:t>
            </a:r>
            <a:r>
              <a:rPr lang="en-US" dirty="0">
                <a:solidFill>
                  <a:srgbClr val="C00000"/>
                </a:solidFill>
                <a:latin typeface="Times New Roman" panose="02020603050405020304" pitchFamily="18" charset="0"/>
                <a:cs typeface="Times New Roman" panose="02020603050405020304" pitchFamily="18" charset="0"/>
              </a:rPr>
              <a:t>Frameworks 3.0 and can be installed on Windows XP, Server 2003, and later</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It is </a:t>
            </a:r>
            <a:r>
              <a:rPr lang="en-US" dirty="0" smtClean="0">
                <a:solidFill>
                  <a:srgbClr val="C00000"/>
                </a:solidFill>
                <a:latin typeface="Times New Roman" panose="02020603050405020304" pitchFamily="18" charset="0"/>
                <a:cs typeface="Times New Roman" panose="02020603050405020304" pitchFamily="18" charset="0"/>
              </a:rPr>
              <a:t>installed by </a:t>
            </a:r>
            <a:r>
              <a:rPr lang="en-US" dirty="0">
                <a:solidFill>
                  <a:srgbClr val="C00000"/>
                </a:solidFill>
                <a:latin typeface="Times New Roman" panose="02020603050405020304" pitchFamily="18" charset="0"/>
                <a:cs typeface="Times New Roman" panose="02020603050405020304" pitchFamily="18" charset="0"/>
              </a:rPr>
              <a:t>default on Windows Vista and Windows </a:t>
            </a:r>
            <a:r>
              <a:rPr lang="en-US" dirty="0" smtClean="0">
                <a:solidFill>
                  <a:srgbClr val="C00000"/>
                </a:solidFill>
                <a:latin typeface="Times New Roman" panose="02020603050405020304" pitchFamily="18" charset="0"/>
                <a:cs typeface="Times New Roman" panose="02020603050405020304" pitchFamily="18" charset="0"/>
              </a:rPr>
              <a:t>7. </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CardSpace </a:t>
            </a:r>
            <a:r>
              <a:rPr lang="en-US" dirty="0">
                <a:solidFill>
                  <a:srgbClr val="002060"/>
                </a:solidFill>
                <a:latin typeface="Times New Roman" panose="02020603050405020304" pitchFamily="18" charset="0"/>
                <a:cs typeface="Times New Roman" panose="02020603050405020304" pitchFamily="18" charset="0"/>
              </a:rPr>
              <a:t>offers another way of authenticating users in the cloud. An Information Card may </a:t>
            </a:r>
            <a:r>
              <a:rPr lang="en-US" dirty="0" smtClean="0">
                <a:solidFill>
                  <a:srgbClr val="002060"/>
                </a:solidFill>
                <a:latin typeface="Times New Roman" panose="02020603050405020304" pitchFamily="18" charset="0"/>
                <a:cs typeface="Times New Roman" panose="02020603050405020304" pitchFamily="18" charset="0"/>
              </a:rPr>
              <a:t>be requested </a:t>
            </a:r>
            <a:r>
              <a:rPr lang="en-US" dirty="0">
                <a:solidFill>
                  <a:srgbClr val="002060"/>
                </a:solidFill>
                <a:latin typeface="Times New Roman" panose="02020603050405020304" pitchFamily="18" charset="0"/>
                <a:cs typeface="Times New Roman" panose="02020603050405020304" pitchFamily="18" charset="0"/>
              </a:rPr>
              <a:t>with an HTML &lt;OBJECT&gt; tag, and the trusted Identity Provider then creates an </a:t>
            </a:r>
            <a:r>
              <a:rPr lang="en-US" dirty="0" smtClean="0">
                <a:solidFill>
                  <a:srgbClr val="002060"/>
                </a:solidFill>
                <a:latin typeface="Times New Roman" panose="02020603050405020304" pitchFamily="18" charset="0"/>
                <a:cs typeface="Times New Roman" panose="02020603050405020304" pitchFamily="18" charset="0"/>
              </a:rPr>
              <a:t>encrypted and </a:t>
            </a:r>
            <a:r>
              <a:rPr lang="en-US" dirty="0">
                <a:solidFill>
                  <a:srgbClr val="002060"/>
                </a:solidFill>
                <a:latin typeface="Times New Roman" panose="02020603050405020304" pitchFamily="18" charset="0"/>
                <a:cs typeface="Times New Roman" panose="02020603050405020304" pitchFamily="18" charset="0"/>
              </a:rPr>
              <a:t>digitally signed token using the Security Token Service (STS) that is part of a WS-Trust </a:t>
            </a:r>
            <a:r>
              <a:rPr lang="en-US" dirty="0" smtClean="0">
                <a:solidFill>
                  <a:srgbClr val="002060"/>
                </a:solidFill>
                <a:latin typeface="Times New Roman" panose="02020603050405020304" pitchFamily="18" charset="0"/>
                <a:cs typeface="Times New Roman" panose="02020603050405020304" pitchFamily="18" charset="0"/>
              </a:rPr>
              <a:t>request/ reply </a:t>
            </a:r>
            <a:r>
              <a:rPr lang="en-US" dirty="0">
                <a:solidFill>
                  <a:srgbClr val="002060"/>
                </a:solidFill>
                <a:latin typeface="Times New Roman" panose="02020603050405020304" pitchFamily="18" charset="0"/>
                <a:cs typeface="Times New Roman" panose="02020603050405020304" pitchFamily="18" charset="0"/>
              </a:rPr>
              <a:t>mechanism.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CardSpace </a:t>
            </a:r>
            <a:r>
              <a:rPr lang="en-US" dirty="0">
                <a:solidFill>
                  <a:srgbClr val="002060"/>
                </a:solidFill>
                <a:latin typeface="Times New Roman" panose="02020603050405020304" pitchFamily="18" charset="0"/>
                <a:cs typeface="Times New Roman" panose="02020603050405020304" pitchFamily="18" charset="0"/>
              </a:rPr>
              <a:t>may be seen as an alternative mechanism to the use of OpenID </a:t>
            </a:r>
            <a:r>
              <a:rPr lang="en-US" dirty="0" smtClean="0">
                <a:solidFill>
                  <a:srgbClr val="002060"/>
                </a:solidFill>
                <a:latin typeface="Times New Roman" panose="02020603050405020304" pitchFamily="18" charset="0"/>
                <a:cs typeface="Times New Roman" panose="02020603050405020304" pitchFamily="18" charset="0"/>
              </a:rPr>
              <a:t>and SAML </a:t>
            </a:r>
            <a:r>
              <a:rPr lang="en-US" dirty="0">
                <a:solidFill>
                  <a:srgbClr val="002060"/>
                </a:solidFill>
                <a:latin typeface="Times New Roman" panose="02020603050405020304" pitchFamily="18" charset="0"/>
                <a:cs typeface="Times New Roman" panose="02020603050405020304" pitchFamily="18" charset="0"/>
              </a:rPr>
              <a:t>and is used to sign into those services as well as Windows Live ID accounts</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2899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User </a:t>
            </a:r>
            <a:r>
              <a:rPr lang="en-US" sz="2400" b="1" dirty="0">
                <a:solidFill>
                  <a:srgbClr val="002060"/>
                </a:solidFill>
                <a:latin typeface="Times New Roman" panose="02020603050405020304" pitchFamily="18" charset="0"/>
                <a:cs typeface="Times New Roman" panose="02020603050405020304" pitchFamily="18" charset="0"/>
              </a:rPr>
              <a:t>A</a:t>
            </a:r>
            <a:r>
              <a:rPr lang="en-US" sz="2400" b="1" dirty="0" smtClean="0">
                <a:solidFill>
                  <a:srgbClr val="002060"/>
                </a:solidFill>
                <a:latin typeface="Times New Roman" panose="02020603050405020304" pitchFamily="18" charset="0"/>
                <a:cs typeface="Times New Roman" panose="02020603050405020304" pitchFamily="18" charset="0"/>
              </a:rPr>
              <a:t>uthentication</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219599" y="1015200"/>
            <a:ext cx="8701201" cy="3945600"/>
          </a:xfrm>
          <a:prstGeom prst="rect">
            <a:avLst/>
          </a:prstGeom>
        </p:spPr>
      </p:pic>
    </p:spTree>
    <p:extLst>
      <p:ext uri="{BB962C8B-B14F-4D97-AF65-F5344CB8AC3E}">
        <p14:creationId xmlns:p14="http://schemas.microsoft.com/office/powerpoint/2010/main" val="1200953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User </a:t>
            </a:r>
            <a:r>
              <a:rPr lang="en-US" sz="2400" b="1" dirty="0">
                <a:solidFill>
                  <a:srgbClr val="002060"/>
                </a:solidFill>
                <a:latin typeface="Times New Roman" panose="02020603050405020304" pitchFamily="18" charset="0"/>
                <a:cs typeface="Times New Roman" panose="02020603050405020304" pitchFamily="18" charset="0"/>
              </a:rPr>
              <a:t>A</a:t>
            </a:r>
            <a:r>
              <a:rPr lang="en-US" sz="2400" b="1" dirty="0" smtClean="0">
                <a:solidFill>
                  <a:srgbClr val="002060"/>
                </a:solidFill>
                <a:latin typeface="Times New Roman" panose="02020603050405020304" pitchFamily="18" charset="0"/>
                <a:cs typeface="Times New Roman" panose="02020603050405020304" pitchFamily="18" charset="0"/>
              </a:rPr>
              <a:t>uthentication</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stretch>
            <a:fillRect/>
          </a:stretch>
        </p:blipFill>
        <p:spPr>
          <a:xfrm>
            <a:off x="460375" y="1188802"/>
            <a:ext cx="8388425" cy="3638664"/>
          </a:xfrm>
          <a:prstGeom prst="rect">
            <a:avLst/>
          </a:prstGeom>
        </p:spPr>
      </p:pic>
    </p:spTree>
    <p:extLst>
      <p:ext uri="{BB962C8B-B14F-4D97-AF65-F5344CB8AC3E}">
        <p14:creationId xmlns:p14="http://schemas.microsoft.com/office/powerpoint/2010/main" val="4263461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Authorization </a:t>
            </a:r>
            <a:r>
              <a:rPr lang="en-US" sz="2400" b="1" dirty="0" smtClean="0">
                <a:solidFill>
                  <a:srgbClr val="002060"/>
                </a:solidFill>
                <a:latin typeface="Times New Roman" panose="02020603050405020304" pitchFamily="18" charset="0"/>
                <a:cs typeface="Times New Roman" panose="02020603050405020304" pitchFamily="18" charset="0"/>
              </a:rPr>
              <a:t>Markup Languages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970318"/>
          </a:xfrm>
          <a:prstGeom prst="rect">
            <a:avLst/>
          </a:prstGeom>
        </p:spPr>
        <p:txBody>
          <a:bodyPr wrap="square">
            <a:spAutoFit/>
          </a:bodyPr>
          <a:lstStyle/>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Information </a:t>
            </a:r>
            <a:r>
              <a:rPr lang="en-IN" dirty="0">
                <a:solidFill>
                  <a:srgbClr val="C00000"/>
                </a:solidFill>
                <a:latin typeface="Times New Roman" panose="02020603050405020304" pitchFamily="18" charset="0"/>
                <a:cs typeface="Times New Roman" panose="02020603050405020304" pitchFamily="18" charset="0"/>
              </a:rPr>
              <a:t>requests and replies in cloud computing are nearly always in the form of XML </a:t>
            </a:r>
            <a:r>
              <a:rPr lang="en-IN" dirty="0" smtClean="0">
                <a:solidFill>
                  <a:srgbClr val="C00000"/>
                </a:solidFill>
                <a:latin typeface="Times New Roman" panose="02020603050405020304" pitchFamily="18" charset="0"/>
                <a:cs typeface="Times New Roman" panose="02020603050405020304" pitchFamily="18" charset="0"/>
              </a:rPr>
              <a:t>replies or </a:t>
            </a:r>
            <a:r>
              <a:rPr lang="en-IN" dirty="0">
                <a:solidFill>
                  <a:srgbClr val="C00000"/>
                </a:solidFill>
                <a:latin typeface="Times New Roman" panose="02020603050405020304" pitchFamily="18" charset="0"/>
                <a:cs typeface="Times New Roman" panose="02020603050405020304" pitchFamily="18" charset="0"/>
              </a:rPr>
              <a:t>requests. XML files are text files and are self-describing.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That </a:t>
            </a:r>
            <a:r>
              <a:rPr lang="en-IN" dirty="0">
                <a:solidFill>
                  <a:srgbClr val="C00000"/>
                </a:solidFill>
                <a:latin typeface="Times New Roman" panose="02020603050405020304" pitchFamily="18" charset="0"/>
                <a:cs typeface="Times New Roman" panose="02020603050405020304" pitchFamily="18" charset="0"/>
              </a:rPr>
              <a:t>is, XML files contain a schema </a:t>
            </a:r>
            <a:r>
              <a:rPr lang="en-IN" dirty="0" smtClean="0">
                <a:solidFill>
                  <a:srgbClr val="C00000"/>
                </a:solidFill>
                <a:latin typeface="Times New Roman" panose="02020603050405020304" pitchFamily="18" charset="0"/>
                <a:cs typeface="Times New Roman" panose="02020603050405020304" pitchFamily="18" charset="0"/>
              </a:rPr>
              <a:t>that describes </a:t>
            </a:r>
            <a:r>
              <a:rPr lang="en-IN" dirty="0">
                <a:solidFill>
                  <a:srgbClr val="C00000"/>
                </a:solidFill>
                <a:latin typeface="Times New Roman" panose="02020603050405020304" pitchFamily="18" charset="0"/>
                <a:cs typeface="Times New Roman" panose="02020603050405020304" pitchFamily="18" charset="0"/>
              </a:rPr>
              <a:t>the data it contains or contains a point to another text file with its schema</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A </a:t>
            </a:r>
            <a:r>
              <a:rPr lang="en-IN" dirty="0">
                <a:solidFill>
                  <a:srgbClr val="C00000"/>
                </a:solidFill>
                <a:latin typeface="Times New Roman" panose="02020603050405020304" pitchFamily="18" charset="0"/>
                <a:cs typeface="Times New Roman" panose="02020603050405020304" pitchFamily="18" charset="0"/>
              </a:rPr>
              <a:t>variety </a:t>
            </a:r>
            <a:r>
              <a:rPr lang="en-IN" dirty="0" smtClean="0">
                <a:solidFill>
                  <a:srgbClr val="C00000"/>
                </a:solidFill>
                <a:latin typeface="Times New Roman" panose="02020603050405020304" pitchFamily="18" charset="0"/>
                <a:cs typeface="Times New Roman" panose="02020603050405020304" pitchFamily="18" charset="0"/>
              </a:rPr>
              <a:t>of specialized </a:t>
            </a:r>
            <a:r>
              <a:rPr lang="en-IN" dirty="0">
                <a:solidFill>
                  <a:srgbClr val="C00000"/>
                </a:solidFill>
                <a:latin typeface="Times New Roman" panose="02020603050405020304" pitchFamily="18" charset="0"/>
                <a:cs typeface="Times New Roman" panose="02020603050405020304" pitchFamily="18" charset="0"/>
              </a:rPr>
              <a:t>XML files are in the identity framework, the ones of note being XACML and </a:t>
            </a:r>
            <a:r>
              <a:rPr lang="en-IN" dirty="0" smtClean="0">
                <a:solidFill>
                  <a:srgbClr val="C00000"/>
                </a:solidFill>
                <a:latin typeface="Times New Roman" panose="02020603050405020304" pitchFamily="18" charset="0"/>
                <a:cs typeface="Times New Roman" panose="02020603050405020304" pitchFamily="18" charset="0"/>
              </a:rPr>
              <a:t>SAML, shown </a:t>
            </a:r>
            <a:r>
              <a:rPr lang="en-IN" dirty="0">
                <a:solidFill>
                  <a:srgbClr val="C00000"/>
                </a:solidFill>
                <a:latin typeface="Times New Roman" panose="02020603050405020304" pitchFamily="18" charset="0"/>
                <a:cs typeface="Times New Roman" panose="02020603050405020304" pitchFamily="18" charset="0"/>
              </a:rPr>
              <a:t>in </a:t>
            </a:r>
            <a:r>
              <a:rPr lang="en-IN" dirty="0" smtClean="0">
                <a:solidFill>
                  <a:srgbClr val="C00000"/>
                </a:solidFill>
                <a:latin typeface="Times New Roman" panose="02020603050405020304" pitchFamily="18" charset="0"/>
                <a:cs typeface="Times New Roman" panose="02020603050405020304" pitchFamily="18" charset="0"/>
              </a:rPr>
              <a:t>Figure.</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The </a:t>
            </a:r>
            <a:r>
              <a:rPr lang="en-IN" dirty="0" err="1">
                <a:solidFill>
                  <a:srgbClr val="002060"/>
                </a:solidFill>
                <a:latin typeface="Times New Roman" panose="02020603050405020304" pitchFamily="18" charset="0"/>
                <a:cs typeface="Times New Roman" panose="02020603050405020304" pitchFamily="18" charset="0"/>
              </a:rPr>
              <a:t>eXtensible</a:t>
            </a:r>
            <a:r>
              <a:rPr lang="en-IN" dirty="0">
                <a:solidFill>
                  <a:srgbClr val="002060"/>
                </a:solidFill>
                <a:latin typeface="Times New Roman" panose="02020603050405020304" pitchFamily="18" charset="0"/>
                <a:cs typeface="Times New Roman" panose="02020603050405020304" pitchFamily="18" charset="0"/>
              </a:rPr>
              <a:t> Access Control </a:t>
            </a:r>
            <a:r>
              <a:rPr lang="en-IN" dirty="0" err="1">
                <a:solidFill>
                  <a:srgbClr val="002060"/>
                </a:solidFill>
                <a:latin typeface="Times New Roman" panose="02020603050405020304" pitchFamily="18" charset="0"/>
                <a:cs typeface="Times New Roman" panose="02020603050405020304" pitchFamily="18" charset="0"/>
              </a:rPr>
              <a:t>Markup</a:t>
            </a:r>
            <a:r>
              <a:rPr lang="en-IN" dirty="0">
                <a:solidFill>
                  <a:srgbClr val="002060"/>
                </a:solidFill>
                <a:latin typeface="Times New Roman" panose="02020603050405020304" pitchFamily="18" charset="0"/>
                <a:cs typeface="Times New Roman" panose="02020603050405020304" pitchFamily="18" charset="0"/>
              </a:rPr>
              <a:t> Language (XACML) is an OASIS standard (see http</a:t>
            </a:r>
            <a:r>
              <a:rPr lang="en-IN" dirty="0" smtClean="0">
                <a:solidFill>
                  <a:srgbClr val="002060"/>
                </a:solidFill>
                <a:latin typeface="Times New Roman" panose="02020603050405020304" pitchFamily="18" charset="0"/>
                <a:cs typeface="Times New Roman" panose="02020603050405020304" pitchFamily="18" charset="0"/>
              </a:rPr>
              <a:t>://xml.coverpages.org/xacml.html</a:t>
            </a:r>
            <a:r>
              <a:rPr lang="en-IN" dirty="0">
                <a:solidFill>
                  <a:srgbClr val="002060"/>
                </a:solidFill>
                <a:latin typeface="Times New Roman" panose="02020603050405020304" pitchFamily="18" charset="0"/>
                <a:cs typeface="Times New Roman" panose="02020603050405020304" pitchFamily="18" charset="0"/>
              </a:rPr>
              <a:t>) for a set of policy statements written in XML that </a:t>
            </a:r>
            <a:r>
              <a:rPr lang="en-IN" dirty="0" smtClean="0">
                <a:solidFill>
                  <a:srgbClr val="002060"/>
                </a:solidFill>
                <a:latin typeface="Times New Roman" panose="02020603050405020304" pitchFamily="18" charset="0"/>
                <a:cs typeface="Times New Roman" panose="02020603050405020304" pitchFamily="18" charset="0"/>
              </a:rPr>
              <a:t>support </a:t>
            </a:r>
            <a:r>
              <a:rPr lang="en-IN" dirty="0">
                <a:solidFill>
                  <a:srgbClr val="002060"/>
                </a:solidFill>
                <a:latin typeface="Times New Roman" panose="02020603050405020304" pitchFamily="18" charset="0"/>
                <a:cs typeface="Times New Roman" panose="02020603050405020304" pitchFamily="18" charset="0"/>
              </a:rPr>
              <a:t>an authentication process. </a:t>
            </a: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A </a:t>
            </a:r>
            <a:r>
              <a:rPr lang="en-IN" dirty="0">
                <a:solidFill>
                  <a:srgbClr val="002060"/>
                </a:solidFill>
                <a:latin typeface="Times New Roman" panose="02020603050405020304" pitchFamily="18" charset="0"/>
                <a:cs typeface="Times New Roman" panose="02020603050405020304" pitchFamily="18" charset="0"/>
              </a:rPr>
              <a:t>policy in XACML describes a subject element that requests </a:t>
            </a:r>
            <a:r>
              <a:rPr lang="en-IN" dirty="0" smtClean="0">
                <a:solidFill>
                  <a:srgbClr val="002060"/>
                </a:solidFill>
                <a:latin typeface="Times New Roman" panose="02020603050405020304" pitchFamily="18" charset="0"/>
                <a:cs typeface="Times New Roman" panose="02020603050405020304" pitchFamily="18" charset="0"/>
              </a:rPr>
              <a:t>an action </a:t>
            </a:r>
            <a:r>
              <a:rPr lang="en-IN" dirty="0">
                <a:solidFill>
                  <a:srgbClr val="002060"/>
                </a:solidFill>
                <a:latin typeface="Times New Roman" panose="02020603050405020304" pitchFamily="18" charset="0"/>
                <a:cs typeface="Times New Roman" panose="02020603050405020304" pitchFamily="18" charset="0"/>
              </a:rPr>
              <a:t>from a resource. These three elements operate within an environment that also can </a:t>
            </a:r>
            <a:r>
              <a:rPr lang="en-IN" dirty="0" smtClean="0">
                <a:solidFill>
                  <a:srgbClr val="002060"/>
                </a:solidFill>
                <a:latin typeface="Times New Roman" panose="02020603050405020304" pitchFamily="18" charset="0"/>
                <a:cs typeface="Times New Roman" panose="02020603050405020304" pitchFamily="18" charset="0"/>
              </a:rPr>
              <a:t>be described </a:t>
            </a:r>
            <a:r>
              <a:rPr lang="en-IN" dirty="0">
                <a:solidFill>
                  <a:srgbClr val="002060"/>
                </a:solidFill>
                <a:latin typeface="Times New Roman" panose="02020603050405020304" pitchFamily="18" charset="0"/>
                <a:cs typeface="Times New Roman" panose="02020603050405020304" pitchFamily="18" charset="0"/>
              </a:rPr>
              <a:t>in terms of an Action element</a:t>
            </a:r>
            <a:r>
              <a:rPr lang="en-IN"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Subject </a:t>
            </a:r>
            <a:r>
              <a:rPr lang="en-IN" dirty="0">
                <a:solidFill>
                  <a:srgbClr val="002060"/>
                </a:solidFill>
                <a:latin typeface="Times New Roman" panose="02020603050405020304" pitchFamily="18" charset="0"/>
                <a:cs typeface="Times New Roman" panose="02020603050405020304" pitchFamily="18" charset="0"/>
              </a:rPr>
              <a:t>and Action elements (which are terms of art </a:t>
            </a:r>
            <a:r>
              <a:rPr lang="en-IN" dirty="0" smtClean="0">
                <a:solidFill>
                  <a:srgbClr val="002060"/>
                </a:solidFill>
                <a:latin typeface="Times New Roman" panose="02020603050405020304" pitchFamily="18" charset="0"/>
                <a:cs typeface="Times New Roman" panose="02020603050405020304" pitchFamily="18" charset="0"/>
              </a:rPr>
              <a:t>in XACML</a:t>
            </a:r>
            <a:r>
              <a:rPr lang="en-IN" dirty="0">
                <a:solidFill>
                  <a:srgbClr val="002060"/>
                </a:solidFill>
                <a:latin typeface="Times New Roman" panose="02020603050405020304" pitchFamily="18" charset="0"/>
                <a:cs typeface="Times New Roman" panose="02020603050405020304" pitchFamily="18" charset="0"/>
              </a:rPr>
              <a:t>) are elements that can have one or more attributes. Resources (which are services, </a:t>
            </a:r>
            <a:r>
              <a:rPr lang="en-IN" dirty="0" smtClean="0">
                <a:solidFill>
                  <a:srgbClr val="002060"/>
                </a:solidFill>
                <a:latin typeface="Times New Roman" panose="02020603050405020304" pitchFamily="18" charset="0"/>
                <a:cs typeface="Times New Roman" panose="02020603050405020304" pitchFamily="18" charset="0"/>
              </a:rPr>
              <a:t>system components</a:t>
            </a:r>
            <a:r>
              <a:rPr lang="en-IN" dirty="0">
                <a:solidFill>
                  <a:srgbClr val="002060"/>
                </a:solidFill>
                <a:latin typeface="Times New Roman" panose="02020603050405020304" pitchFamily="18" charset="0"/>
                <a:cs typeface="Times New Roman" panose="02020603050405020304" pitchFamily="18" charset="0"/>
              </a:rPr>
              <a:t>, or data) have a single attribute, which is usually its URL.</a:t>
            </a:r>
          </a:p>
        </p:txBody>
      </p:sp>
    </p:spTree>
    <p:extLst>
      <p:ext uri="{BB962C8B-B14F-4D97-AF65-F5344CB8AC3E}">
        <p14:creationId xmlns:p14="http://schemas.microsoft.com/office/powerpoint/2010/main" val="1193916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Authorization </a:t>
            </a:r>
            <a:r>
              <a:rPr lang="en-US" sz="2400" b="1" dirty="0" smtClean="0">
                <a:solidFill>
                  <a:srgbClr val="002060"/>
                </a:solidFill>
                <a:latin typeface="Times New Roman" panose="02020603050405020304" pitchFamily="18" charset="0"/>
                <a:cs typeface="Times New Roman" panose="02020603050405020304" pitchFamily="18" charset="0"/>
              </a:rPr>
              <a:t>Markup Languages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stretch>
            <a:fillRect/>
          </a:stretch>
        </p:blipFill>
        <p:spPr>
          <a:xfrm>
            <a:off x="374400" y="986400"/>
            <a:ext cx="8517599" cy="3816000"/>
          </a:xfrm>
          <a:prstGeom prst="rect">
            <a:avLst/>
          </a:prstGeom>
        </p:spPr>
      </p:pic>
    </p:spTree>
    <p:extLst>
      <p:ext uri="{BB962C8B-B14F-4D97-AF65-F5344CB8AC3E}">
        <p14:creationId xmlns:p14="http://schemas.microsoft.com/office/powerpoint/2010/main" val="1096218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Authorization </a:t>
            </a:r>
            <a:r>
              <a:rPr lang="en-US" sz="2400" b="1" dirty="0" smtClean="0">
                <a:solidFill>
                  <a:srgbClr val="002060"/>
                </a:solidFill>
                <a:latin typeface="Times New Roman" panose="02020603050405020304" pitchFamily="18" charset="0"/>
                <a:cs typeface="Times New Roman" panose="02020603050405020304" pitchFamily="18" charset="0"/>
              </a:rPr>
              <a:t>Markup Languages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219599" y="1036800"/>
            <a:ext cx="8715601" cy="3657303"/>
          </a:xfrm>
          <a:prstGeom prst="rect">
            <a:avLst/>
          </a:prstGeom>
        </p:spPr>
      </p:pic>
    </p:spTree>
    <p:extLst>
      <p:ext uri="{BB962C8B-B14F-4D97-AF65-F5344CB8AC3E}">
        <p14:creationId xmlns:p14="http://schemas.microsoft.com/office/powerpoint/2010/main" val="2412864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Authorization </a:t>
            </a:r>
            <a:r>
              <a:rPr lang="en-US" sz="2400" b="1" dirty="0" smtClean="0">
                <a:solidFill>
                  <a:srgbClr val="002060"/>
                </a:solidFill>
                <a:latin typeface="Times New Roman" panose="02020603050405020304" pitchFamily="18" charset="0"/>
                <a:cs typeface="Times New Roman" panose="02020603050405020304" pitchFamily="18" charset="0"/>
              </a:rPr>
              <a:t>Markup Languages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3754874"/>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A SAML assertion is a security statement in the SAML file that makes a claim regarding </a:t>
            </a:r>
            <a:r>
              <a:rPr lang="en-IN" dirty="0" err="1" smtClean="0">
                <a:solidFill>
                  <a:srgbClr val="C00000"/>
                </a:solidFill>
                <a:latin typeface="Times New Roman" panose="02020603050405020304" pitchFamily="18" charset="0"/>
                <a:cs typeface="Times New Roman" panose="02020603050405020304" pitchFamily="18" charset="0"/>
              </a:rPr>
              <a:t>authenticaion</a:t>
            </a:r>
            <a:r>
              <a:rPr lang="en-IN" dirty="0">
                <a:solidFill>
                  <a:srgbClr val="C00000"/>
                </a:solidFill>
                <a:latin typeface="Times New Roman" panose="02020603050405020304" pitchFamily="18" charset="0"/>
                <a:cs typeface="Times New Roman" panose="02020603050405020304" pitchFamily="18" charset="0"/>
              </a:rPr>
              <a:t>, attributes, or authorization.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b="1" dirty="0">
              <a:solidFill>
                <a:srgbClr val="C0000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The </a:t>
            </a:r>
            <a:r>
              <a:rPr lang="en-IN" b="1" dirty="0">
                <a:solidFill>
                  <a:srgbClr val="C00000"/>
                </a:solidFill>
                <a:latin typeface="Times New Roman" panose="02020603050405020304" pitchFamily="18" charset="0"/>
                <a:cs typeface="Times New Roman" panose="02020603050405020304" pitchFamily="18" charset="0"/>
              </a:rPr>
              <a:t>statement is of this form</a:t>
            </a:r>
            <a:r>
              <a:rPr lang="en-IN" b="1" dirty="0" smtClean="0">
                <a:solidFill>
                  <a:srgbClr val="C00000"/>
                </a:solidFill>
                <a:latin typeface="Times New Roman" panose="02020603050405020304" pitchFamily="18" charset="0"/>
                <a:cs typeface="Times New Roman" panose="02020603050405020304" pitchFamily="18" charset="0"/>
              </a:rPr>
              <a:t>:</a:t>
            </a:r>
          </a:p>
          <a:p>
            <a:pPr algn="just"/>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Assertion X created at Time T by User U about Subject S is true when Conditions </a:t>
            </a:r>
            <a:r>
              <a:rPr lang="en-IN" dirty="0" smtClean="0">
                <a:solidFill>
                  <a:srgbClr val="C00000"/>
                </a:solidFill>
                <a:latin typeface="Times New Roman" panose="02020603050405020304" pitchFamily="18" charset="0"/>
                <a:cs typeface="Times New Roman" panose="02020603050405020304" pitchFamily="18" charset="0"/>
              </a:rPr>
              <a:t>Care </a:t>
            </a:r>
            <a:r>
              <a:rPr lang="en-IN" dirty="0">
                <a:solidFill>
                  <a:srgbClr val="C00000"/>
                </a:solidFill>
                <a:latin typeface="Times New Roman" panose="02020603050405020304" pitchFamily="18" charset="0"/>
                <a:cs typeface="Times New Roman" panose="02020603050405020304" pitchFamily="18" charset="0"/>
              </a:rPr>
              <a:t>TRUE.</a:t>
            </a:r>
          </a:p>
          <a:p>
            <a:pPr marL="285750" indent="-285750" algn="just">
              <a:buFont typeface="Arial" panose="020B0604020202020204" pitchFamily="34" charset="0"/>
              <a:buChar char="•"/>
            </a:pP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It </a:t>
            </a:r>
            <a:r>
              <a:rPr lang="en-IN" dirty="0">
                <a:solidFill>
                  <a:srgbClr val="C00000"/>
                </a:solidFill>
                <a:latin typeface="Times New Roman" panose="02020603050405020304" pitchFamily="18" charset="0"/>
                <a:cs typeface="Times New Roman" panose="02020603050405020304" pitchFamily="18" charset="0"/>
              </a:rPr>
              <a:t>is up to the identity provider to parse this statement and determine its validity. The </a:t>
            </a:r>
            <a:r>
              <a:rPr lang="en-IN" dirty="0" smtClean="0">
                <a:solidFill>
                  <a:srgbClr val="C00000"/>
                </a:solidFill>
                <a:latin typeface="Times New Roman" panose="02020603050405020304" pitchFamily="18" charset="0"/>
                <a:cs typeface="Times New Roman" panose="02020603050405020304" pitchFamily="18" charset="0"/>
              </a:rPr>
              <a:t>SAML protocol </a:t>
            </a:r>
            <a:r>
              <a:rPr lang="en-IN" dirty="0">
                <a:solidFill>
                  <a:srgbClr val="C00000"/>
                </a:solidFill>
                <a:latin typeface="Times New Roman" panose="02020603050405020304" pitchFamily="18" charset="0"/>
                <a:cs typeface="Times New Roman" panose="02020603050405020304" pitchFamily="18" charset="0"/>
              </a:rPr>
              <a:t>request is often referred to as a query; the three different supported query types are </a:t>
            </a:r>
            <a:r>
              <a:rPr lang="en-IN" dirty="0" smtClean="0">
                <a:solidFill>
                  <a:srgbClr val="C00000"/>
                </a:solidFill>
                <a:latin typeface="Times New Roman" panose="02020603050405020304" pitchFamily="18" charset="0"/>
                <a:cs typeface="Times New Roman" panose="02020603050405020304" pitchFamily="18" charset="0"/>
              </a:rPr>
              <a:t>an authentication </a:t>
            </a:r>
            <a:r>
              <a:rPr lang="en-IN" dirty="0">
                <a:solidFill>
                  <a:srgbClr val="C00000"/>
                </a:solidFill>
                <a:latin typeface="Times New Roman" panose="02020603050405020304" pitchFamily="18" charset="0"/>
                <a:cs typeface="Times New Roman" panose="02020603050405020304" pitchFamily="18" charset="0"/>
              </a:rPr>
              <a:t>query, an attribute query, and an authorization decision query.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SAML </a:t>
            </a:r>
            <a:r>
              <a:rPr lang="en-IN" dirty="0">
                <a:solidFill>
                  <a:srgbClr val="002060"/>
                </a:solidFill>
                <a:latin typeface="Times New Roman" panose="02020603050405020304" pitchFamily="18" charset="0"/>
                <a:cs typeface="Times New Roman" panose="02020603050405020304" pitchFamily="18" charset="0"/>
              </a:rPr>
              <a:t>requests </a:t>
            </a:r>
            <a:r>
              <a:rPr lang="en-IN" dirty="0" smtClean="0">
                <a:solidFill>
                  <a:srgbClr val="002060"/>
                </a:solidFill>
                <a:latin typeface="Times New Roman" panose="02020603050405020304" pitchFamily="18" charset="0"/>
                <a:cs typeface="Times New Roman" panose="02020603050405020304" pitchFamily="18" charset="0"/>
              </a:rPr>
              <a:t>use a </a:t>
            </a:r>
            <a:r>
              <a:rPr lang="en-IN" dirty="0">
                <a:solidFill>
                  <a:srgbClr val="002060"/>
                </a:solidFill>
                <a:latin typeface="Times New Roman" panose="02020603050405020304" pitchFamily="18" charset="0"/>
                <a:cs typeface="Times New Roman" panose="02020603050405020304" pitchFamily="18" charset="0"/>
              </a:rPr>
              <a:t>SOAP binding; that is, the SAML request or response is embedded in a SOAP wrapper within </a:t>
            </a:r>
            <a:r>
              <a:rPr lang="en-IN" dirty="0" smtClean="0">
                <a:solidFill>
                  <a:srgbClr val="002060"/>
                </a:solidFill>
                <a:latin typeface="Times New Roman" panose="02020603050405020304" pitchFamily="18" charset="0"/>
                <a:cs typeface="Times New Roman" panose="02020603050405020304" pitchFamily="18" charset="0"/>
              </a:rPr>
              <a:t>an HTTP </a:t>
            </a:r>
            <a:r>
              <a:rPr lang="en-IN" dirty="0">
                <a:solidFill>
                  <a:srgbClr val="002060"/>
                </a:solidFill>
                <a:latin typeface="Times New Roman" panose="02020603050405020304" pitchFamily="18" charset="0"/>
                <a:cs typeface="Times New Roman" panose="02020603050405020304" pitchFamily="18" charset="0"/>
              </a:rPr>
              <a:t>message.</a:t>
            </a:r>
          </a:p>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SAML </a:t>
            </a:r>
            <a:r>
              <a:rPr lang="en-IN" dirty="0">
                <a:solidFill>
                  <a:srgbClr val="002060"/>
                </a:solidFill>
                <a:latin typeface="Times New Roman" panose="02020603050405020304" pitchFamily="18" charset="0"/>
                <a:cs typeface="Times New Roman" panose="02020603050405020304" pitchFamily="18" charset="0"/>
              </a:rPr>
              <a:t>is used to provide a mechanism for a Web Browser Single Sign On (SSO). In this instance, </a:t>
            </a:r>
            <a:r>
              <a:rPr lang="en-IN" dirty="0" smtClean="0">
                <a:solidFill>
                  <a:srgbClr val="002060"/>
                </a:solidFill>
                <a:latin typeface="Times New Roman" panose="02020603050405020304" pitchFamily="18" charset="0"/>
                <a:cs typeface="Times New Roman" panose="02020603050405020304" pitchFamily="18" charset="0"/>
              </a:rPr>
              <a:t>a Web browser </a:t>
            </a:r>
            <a:r>
              <a:rPr lang="en-IN" dirty="0">
                <a:solidFill>
                  <a:srgbClr val="002060"/>
                </a:solidFill>
                <a:latin typeface="Times New Roman" panose="02020603050405020304" pitchFamily="18" charset="0"/>
                <a:cs typeface="Times New Roman" panose="02020603050405020304" pitchFamily="18" charset="0"/>
              </a:rPr>
              <a:t>is the user agent, which requests access to a resource that is authorized by a </a:t>
            </a:r>
            <a:r>
              <a:rPr lang="en-IN" dirty="0" smtClean="0">
                <a:solidFill>
                  <a:srgbClr val="002060"/>
                </a:solidFill>
                <a:latin typeface="Times New Roman" panose="02020603050405020304" pitchFamily="18" charset="0"/>
                <a:cs typeface="Times New Roman" panose="02020603050405020304" pitchFamily="18" charset="0"/>
              </a:rPr>
              <a:t>SAML service </a:t>
            </a:r>
            <a:r>
              <a:rPr lang="en-IN" dirty="0">
                <a:solidFill>
                  <a:srgbClr val="002060"/>
                </a:solidFill>
                <a:latin typeface="Times New Roman" panose="02020603050405020304" pitchFamily="18" charset="0"/>
                <a:cs typeface="Times New Roman" panose="02020603050405020304" pitchFamily="18" charset="0"/>
              </a:rPr>
              <a:t>provider. </a:t>
            </a: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8859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Authorization </a:t>
            </a:r>
            <a:r>
              <a:rPr lang="en-US" sz="2400" b="1" dirty="0" smtClean="0">
                <a:solidFill>
                  <a:srgbClr val="002060"/>
                </a:solidFill>
                <a:latin typeface="Times New Roman" panose="02020603050405020304" pitchFamily="18" charset="0"/>
                <a:cs typeface="Times New Roman" panose="02020603050405020304" pitchFamily="18" charset="0"/>
              </a:rPr>
              <a:t>Markup Languages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4093428"/>
          </a:xfrm>
          <a:prstGeom prst="rect">
            <a:avLst/>
          </a:prstGeom>
        </p:spPr>
        <p:txBody>
          <a:bodyPr wrap="square">
            <a:spAutoFit/>
          </a:bodyPr>
          <a:lstStyle/>
          <a:p>
            <a:pPr marL="285750" indent="-285750" algn="just">
              <a:buFont typeface="Arial" panose="020B0604020202020204" pitchFamily="34" charset="0"/>
              <a:buChar char="•"/>
            </a:pPr>
            <a:r>
              <a:rPr lang="en-IN" sz="1300" dirty="0" smtClean="0">
                <a:solidFill>
                  <a:srgbClr val="C00000"/>
                </a:solidFill>
                <a:latin typeface="Times New Roman" panose="02020603050405020304" pitchFamily="18" charset="0"/>
                <a:cs typeface="Times New Roman" panose="02020603050405020304" pitchFamily="18" charset="0"/>
              </a:rPr>
              <a:t>The </a:t>
            </a:r>
            <a:r>
              <a:rPr lang="en-IN" sz="1300" dirty="0">
                <a:solidFill>
                  <a:srgbClr val="C00000"/>
                </a:solidFill>
                <a:latin typeface="Times New Roman" panose="02020603050405020304" pitchFamily="18" charset="0"/>
                <a:cs typeface="Times New Roman" panose="02020603050405020304" pitchFamily="18" charset="0"/>
              </a:rPr>
              <a:t>service provider takes a request from a user for access to the resource </a:t>
            </a:r>
            <a:r>
              <a:rPr lang="en-IN" sz="1300" dirty="0" smtClean="0">
                <a:solidFill>
                  <a:srgbClr val="C00000"/>
                </a:solidFill>
                <a:latin typeface="Times New Roman" panose="02020603050405020304" pitchFamily="18" charset="0"/>
                <a:cs typeface="Times New Roman" panose="02020603050405020304" pitchFamily="18" charset="0"/>
              </a:rPr>
              <a:t>and sends </a:t>
            </a:r>
            <a:r>
              <a:rPr lang="en-IN" sz="1300" dirty="0">
                <a:solidFill>
                  <a:srgbClr val="C00000"/>
                </a:solidFill>
                <a:latin typeface="Times New Roman" panose="02020603050405020304" pitchFamily="18" charset="0"/>
                <a:cs typeface="Times New Roman" panose="02020603050405020304" pitchFamily="18" charset="0"/>
              </a:rPr>
              <a:t>an authentication request to the SAML identity provider directly from the initiating </a:t>
            </a:r>
            <a:r>
              <a:rPr lang="en-IN" sz="1300" dirty="0" smtClean="0">
                <a:solidFill>
                  <a:srgbClr val="C00000"/>
                </a:solidFill>
                <a:latin typeface="Times New Roman" panose="02020603050405020304" pitchFamily="18" charset="0"/>
                <a:cs typeface="Times New Roman" panose="02020603050405020304" pitchFamily="18" charset="0"/>
              </a:rPr>
              <a:t>user agent </a:t>
            </a:r>
            <a:r>
              <a:rPr lang="en-IN" sz="1300" dirty="0">
                <a:solidFill>
                  <a:srgbClr val="C00000"/>
                </a:solidFill>
                <a:latin typeface="Times New Roman" panose="02020603050405020304" pitchFamily="18" charset="0"/>
                <a:cs typeface="Times New Roman" panose="02020603050405020304" pitchFamily="18" charset="0"/>
              </a:rPr>
              <a:t>(Web browser). Figure </a:t>
            </a:r>
            <a:r>
              <a:rPr lang="en-IN" sz="1300" dirty="0" smtClean="0">
                <a:solidFill>
                  <a:srgbClr val="C00000"/>
                </a:solidFill>
                <a:latin typeface="Times New Roman" panose="02020603050405020304" pitchFamily="18" charset="0"/>
                <a:cs typeface="Times New Roman" panose="02020603050405020304" pitchFamily="18" charset="0"/>
              </a:rPr>
              <a:t>shows </a:t>
            </a:r>
            <a:r>
              <a:rPr lang="en-IN" sz="1300" dirty="0">
                <a:solidFill>
                  <a:srgbClr val="C00000"/>
                </a:solidFill>
                <a:latin typeface="Times New Roman" panose="02020603050405020304" pitchFamily="18" charset="0"/>
                <a:cs typeface="Times New Roman" panose="02020603050405020304" pitchFamily="18" charset="0"/>
              </a:rPr>
              <a:t>the SAML Single Sign On Request/Response mechanism</a:t>
            </a:r>
            <a:r>
              <a:rPr lang="en-IN" sz="1300"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sz="1300"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300" dirty="0">
                <a:solidFill>
                  <a:srgbClr val="C00000"/>
                </a:solidFill>
                <a:latin typeface="Times New Roman" panose="02020603050405020304" pitchFamily="18" charset="0"/>
                <a:cs typeface="Times New Roman" panose="02020603050405020304" pitchFamily="18" charset="0"/>
              </a:rPr>
              <a:t>The Service Provisioning </a:t>
            </a:r>
            <a:r>
              <a:rPr lang="en-IN" sz="1300" dirty="0" err="1">
                <a:solidFill>
                  <a:srgbClr val="C00000"/>
                </a:solidFill>
                <a:latin typeface="Times New Roman" panose="02020603050405020304" pitchFamily="18" charset="0"/>
                <a:cs typeface="Times New Roman" panose="02020603050405020304" pitchFamily="18" charset="0"/>
              </a:rPr>
              <a:t>Markup</a:t>
            </a:r>
            <a:r>
              <a:rPr lang="en-IN" sz="1300" dirty="0">
                <a:solidFill>
                  <a:srgbClr val="C00000"/>
                </a:solidFill>
                <a:latin typeface="Times New Roman" panose="02020603050405020304" pitchFamily="18" charset="0"/>
                <a:cs typeface="Times New Roman" panose="02020603050405020304" pitchFamily="18" charset="0"/>
              </a:rPr>
              <a:t> Language (SPML) is another of the OASIS open standards </a:t>
            </a:r>
            <a:r>
              <a:rPr lang="en-IN" sz="1300" dirty="0" smtClean="0">
                <a:solidFill>
                  <a:srgbClr val="C00000"/>
                </a:solidFill>
                <a:latin typeface="Times New Roman" panose="02020603050405020304" pitchFamily="18" charset="0"/>
                <a:cs typeface="Times New Roman" panose="02020603050405020304" pitchFamily="18" charset="0"/>
              </a:rPr>
              <a:t>developed </a:t>
            </a:r>
            <a:r>
              <a:rPr lang="en-IN" sz="1300" dirty="0">
                <a:solidFill>
                  <a:srgbClr val="C00000"/>
                </a:solidFill>
                <a:latin typeface="Times New Roman" panose="02020603050405020304" pitchFamily="18" charset="0"/>
                <a:cs typeface="Times New Roman" panose="02020603050405020304" pitchFamily="18" charset="0"/>
              </a:rPr>
              <a:t>to provide for service provisioning. Provisioning is the process by which a resource is </a:t>
            </a:r>
            <a:r>
              <a:rPr lang="en-IN" sz="1300" dirty="0" smtClean="0">
                <a:solidFill>
                  <a:srgbClr val="C00000"/>
                </a:solidFill>
                <a:latin typeface="Times New Roman" panose="02020603050405020304" pitchFamily="18" charset="0"/>
                <a:cs typeface="Times New Roman" panose="02020603050405020304" pitchFamily="18" charset="0"/>
              </a:rPr>
              <a:t>prepared </a:t>
            </a:r>
            <a:r>
              <a:rPr lang="en-IN" sz="1300" dirty="0">
                <a:solidFill>
                  <a:srgbClr val="C00000"/>
                </a:solidFill>
                <a:latin typeface="Times New Roman" panose="02020603050405020304" pitchFamily="18" charset="0"/>
                <a:cs typeface="Times New Roman" panose="02020603050405020304" pitchFamily="18" charset="0"/>
              </a:rPr>
              <a:t>for use, reserved, accessed, used, and then released when the transaction is completed. </a:t>
            </a:r>
            <a:r>
              <a:rPr lang="en-IN" sz="1300" dirty="0" smtClean="0">
                <a:solidFill>
                  <a:srgbClr val="C00000"/>
                </a:solidFill>
                <a:latin typeface="Times New Roman" panose="02020603050405020304" pitchFamily="18" charset="0"/>
                <a:cs typeface="Times New Roman" panose="02020603050405020304" pitchFamily="18" charset="0"/>
              </a:rPr>
              <a:t>A classic </a:t>
            </a:r>
            <a:r>
              <a:rPr lang="en-IN" sz="1300" dirty="0">
                <a:solidFill>
                  <a:srgbClr val="C00000"/>
                </a:solidFill>
                <a:latin typeface="Times New Roman" panose="02020603050405020304" pitchFamily="18" charset="0"/>
                <a:cs typeface="Times New Roman" panose="02020603050405020304" pitchFamily="18" charset="0"/>
              </a:rPr>
              <a:t>example of provisioning a resource is the reservation and use of a phone line or a </a:t>
            </a:r>
            <a:r>
              <a:rPr lang="en-IN" sz="1300" dirty="0" smtClean="0">
                <a:solidFill>
                  <a:srgbClr val="C00000"/>
                </a:solidFill>
                <a:latin typeface="Times New Roman" panose="02020603050405020304" pitchFamily="18" charset="0"/>
                <a:cs typeface="Times New Roman" panose="02020603050405020304" pitchFamily="18" charset="0"/>
              </a:rPr>
              <a:t>Virtual Private </a:t>
            </a:r>
            <a:r>
              <a:rPr lang="en-IN" sz="1300" dirty="0">
                <a:solidFill>
                  <a:srgbClr val="C00000"/>
                </a:solidFill>
                <a:latin typeface="Times New Roman" panose="02020603050405020304" pitchFamily="18" charset="0"/>
                <a:cs typeface="Times New Roman" panose="02020603050405020304" pitchFamily="18" charset="0"/>
              </a:rPr>
              <a:t>Network</a:t>
            </a:r>
            <a:r>
              <a:rPr lang="en-IN" sz="1300"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sz="1300"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a:solidFill>
                  <a:srgbClr val="002060"/>
                </a:solidFill>
                <a:latin typeface="Times New Roman" panose="02020603050405020304" pitchFamily="18" charset="0"/>
                <a:cs typeface="Times New Roman" panose="02020603050405020304" pitchFamily="18" charset="0"/>
              </a:rPr>
              <a:t>A provisioning system has three types of components: A Requesting Authority (RA) is the </a:t>
            </a:r>
            <a:r>
              <a:rPr lang="en-US" sz="1300" dirty="0" smtClean="0">
                <a:solidFill>
                  <a:srgbClr val="002060"/>
                </a:solidFill>
                <a:latin typeface="Times New Roman" panose="02020603050405020304" pitchFamily="18" charset="0"/>
                <a:cs typeface="Times New Roman" panose="02020603050405020304" pitchFamily="18" charset="0"/>
              </a:rPr>
              <a:t>client, the </a:t>
            </a:r>
            <a:r>
              <a:rPr lang="en-US" sz="1300" dirty="0">
                <a:solidFill>
                  <a:srgbClr val="002060"/>
                </a:solidFill>
                <a:latin typeface="Times New Roman" panose="02020603050405020304" pitchFamily="18" charset="0"/>
                <a:cs typeface="Times New Roman" panose="02020603050405020304" pitchFamily="18" charset="0"/>
              </a:rPr>
              <a:t>Provisioning Service Point (PSP) is the cloud component that receives the request and returns </a:t>
            </a:r>
            <a:r>
              <a:rPr lang="en-US" sz="1300" dirty="0" smtClean="0">
                <a:solidFill>
                  <a:srgbClr val="002060"/>
                </a:solidFill>
                <a:latin typeface="Times New Roman" panose="02020603050405020304" pitchFamily="18" charset="0"/>
                <a:cs typeface="Times New Roman" panose="02020603050405020304" pitchFamily="18" charset="0"/>
              </a:rPr>
              <a:t>a response </a:t>
            </a:r>
            <a:r>
              <a:rPr lang="en-US" sz="1300" dirty="0">
                <a:solidFill>
                  <a:srgbClr val="002060"/>
                </a:solidFill>
                <a:latin typeface="Times New Roman" panose="02020603050405020304" pitchFamily="18" charset="0"/>
                <a:cs typeface="Times New Roman" panose="02020603050405020304" pitchFamily="18" charset="0"/>
              </a:rPr>
              <a:t>to the RA, and a Provisioning Service Targets (PST) is the software application </a:t>
            </a:r>
            <a:r>
              <a:rPr lang="en-US" sz="1300" dirty="0" smtClean="0">
                <a:solidFill>
                  <a:srgbClr val="002060"/>
                </a:solidFill>
                <a:latin typeface="Times New Roman" panose="02020603050405020304" pitchFamily="18" charset="0"/>
                <a:cs typeface="Times New Roman" panose="02020603050405020304" pitchFamily="18" charset="0"/>
              </a:rPr>
              <a:t>upon which </a:t>
            </a:r>
            <a:r>
              <a:rPr lang="en-US" sz="1300" dirty="0">
                <a:solidFill>
                  <a:srgbClr val="002060"/>
                </a:solidFill>
                <a:latin typeface="Times New Roman" panose="02020603050405020304" pitchFamily="18" charset="0"/>
                <a:cs typeface="Times New Roman" panose="02020603050405020304" pitchFamily="18" charset="0"/>
              </a:rPr>
              <a:t>the provisioning action is performed. </a:t>
            </a:r>
            <a:endParaRPr lang="en-US" sz="1300"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300"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002060"/>
                </a:solidFill>
                <a:latin typeface="Times New Roman" panose="02020603050405020304" pitchFamily="18" charset="0"/>
                <a:cs typeface="Times New Roman" panose="02020603050405020304" pitchFamily="18" charset="0"/>
              </a:rPr>
              <a:t>The </a:t>
            </a:r>
            <a:r>
              <a:rPr lang="en-US" sz="1300" dirty="0">
                <a:solidFill>
                  <a:srgbClr val="002060"/>
                </a:solidFill>
                <a:latin typeface="Times New Roman" panose="02020603050405020304" pitchFamily="18" charset="0"/>
                <a:cs typeface="Times New Roman" panose="02020603050405020304" pitchFamily="18" charset="0"/>
              </a:rPr>
              <a:t>SPML provisioning system (which can be </a:t>
            </a:r>
            <a:r>
              <a:rPr lang="en-US" sz="1300" dirty="0" smtClean="0">
                <a:solidFill>
                  <a:srgbClr val="002060"/>
                </a:solidFill>
                <a:latin typeface="Times New Roman" panose="02020603050405020304" pitchFamily="18" charset="0"/>
                <a:cs typeface="Times New Roman" panose="02020603050405020304" pitchFamily="18" charset="0"/>
              </a:rPr>
              <a:t>thought of </a:t>
            </a:r>
            <a:r>
              <a:rPr lang="en-US" sz="1300" dirty="0">
                <a:solidFill>
                  <a:srgbClr val="002060"/>
                </a:solidFill>
                <a:latin typeface="Times New Roman" panose="02020603050405020304" pitchFamily="18" charset="0"/>
                <a:cs typeface="Times New Roman" panose="02020603050405020304" pitchFamily="18" charset="0"/>
              </a:rPr>
              <a:t>as an architectural layer) means that identity information need only be entered into these </a:t>
            </a:r>
            <a:r>
              <a:rPr lang="en-US" sz="1300" dirty="0" smtClean="0">
                <a:solidFill>
                  <a:srgbClr val="002060"/>
                </a:solidFill>
                <a:latin typeface="Times New Roman" panose="02020603050405020304" pitchFamily="18" charset="0"/>
                <a:cs typeface="Times New Roman" panose="02020603050405020304" pitchFamily="18" charset="0"/>
              </a:rPr>
              <a:t>three components once. SPML </a:t>
            </a:r>
            <a:r>
              <a:rPr lang="en-US" sz="1300" dirty="0">
                <a:solidFill>
                  <a:srgbClr val="002060"/>
                </a:solidFill>
                <a:latin typeface="Times New Roman" panose="02020603050405020304" pitchFamily="18" charset="0"/>
                <a:cs typeface="Times New Roman" panose="02020603050405020304" pitchFamily="18" charset="0"/>
              </a:rPr>
              <a:t>is used to prepare Web services and applications for use, signal that the resource is </a:t>
            </a:r>
            <a:r>
              <a:rPr lang="en-US" sz="1300" dirty="0" smtClean="0">
                <a:solidFill>
                  <a:srgbClr val="002060"/>
                </a:solidFill>
                <a:latin typeface="Times New Roman" panose="02020603050405020304" pitchFamily="18" charset="0"/>
                <a:cs typeface="Times New Roman" panose="02020603050405020304" pitchFamily="18" charset="0"/>
              </a:rPr>
              <a:t>available for </a:t>
            </a:r>
            <a:r>
              <a:rPr lang="en-US" sz="1300" dirty="0">
                <a:solidFill>
                  <a:srgbClr val="002060"/>
                </a:solidFill>
                <a:latin typeface="Times New Roman" panose="02020603050405020304" pitchFamily="18" charset="0"/>
                <a:cs typeface="Times New Roman" panose="02020603050405020304" pitchFamily="18" charset="0"/>
              </a:rPr>
              <a:t>use and waiting for instructions, and signal when the use or transaction has been </a:t>
            </a:r>
            <a:r>
              <a:rPr lang="en-US" sz="1300" dirty="0" smtClean="0">
                <a:solidFill>
                  <a:srgbClr val="002060"/>
                </a:solidFill>
                <a:latin typeface="Times New Roman" panose="02020603050405020304" pitchFamily="18" charset="0"/>
                <a:cs typeface="Times New Roman" panose="02020603050405020304" pitchFamily="18" charset="0"/>
              </a:rPr>
              <a:t>completed.</a:t>
            </a:r>
          </a:p>
          <a:p>
            <a:pPr marL="285750" indent="-285750" algn="just">
              <a:buFont typeface="Arial" panose="020B0604020202020204" pitchFamily="34" charset="0"/>
              <a:buChar char="•"/>
            </a:pPr>
            <a:endParaRPr lang="en-US" sz="1300"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dirty="0" smtClean="0">
                <a:solidFill>
                  <a:srgbClr val="002060"/>
                </a:solidFill>
                <a:latin typeface="Times New Roman" panose="02020603050405020304" pitchFamily="18" charset="0"/>
                <a:cs typeface="Times New Roman" panose="02020603050405020304" pitchFamily="18" charset="0"/>
              </a:rPr>
              <a:t>With </a:t>
            </a:r>
            <a:r>
              <a:rPr lang="en-US" sz="1300" dirty="0">
                <a:solidFill>
                  <a:srgbClr val="002060"/>
                </a:solidFill>
                <a:latin typeface="Times New Roman" panose="02020603050405020304" pitchFamily="18" charset="0"/>
                <a:cs typeface="Times New Roman" panose="02020603050405020304" pitchFamily="18" charset="0"/>
              </a:rPr>
              <a:t>SPML, a system can provide automated user and system access, enforce access rights, </a:t>
            </a:r>
            <a:r>
              <a:rPr lang="en-US" sz="1300" dirty="0" smtClean="0">
                <a:solidFill>
                  <a:srgbClr val="002060"/>
                </a:solidFill>
                <a:latin typeface="Times New Roman" panose="02020603050405020304" pitchFamily="18" charset="0"/>
                <a:cs typeface="Times New Roman" panose="02020603050405020304" pitchFamily="18" charset="0"/>
              </a:rPr>
              <a:t>and make </a:t>
            </a:r>
            <a:r>
              <a:rPr lang="en-US" sz="1300" dirty="0">
                <a:solidFill>
                  <a:srgbClr val="002060"/>
                </a:solidFill>
                <a:latin typeface="Times New Roman" panose="02020603050405020304" pitchFamily="18" charset="0"/>
                <a:cs typeface="Times New Roman" panose="02020603050405020304" pitchFamily="18" charset="0"/>
              </a:rPr>
              <a:t>cloud computing services available across network systems. Without a provisioning </a:t>
            </a:r>
            <a:r>
              <a:rPr lang="en-US" sz="1300" dirty="0" smtClean="0">
                <a:solidFill>
                  <a:srgbClr val="002060"/>
                </a:solidFill>
                <a:latin typeface="Times New Roman" panose="02020603050405020304" pitchFamily="18" charset="0"/>
                <a:cs typeface="Times New Roman" panose="02020603050405020304" pitchFamily="18" charset="0"/>
              </a:rPr>
              <a:t>system, a </a:t>
            </a:r>
            <a:r>
              <a:rPr lang="en-US" sz="1300" dirty="0">
                <a:solidFill>
                  <a:srgbClr val="002060"/>
                </a:solidFill>
                <a:latin typeface="Times New Roman" panose="02020603050405020304" pitchFamily="18" charset="0"/>
                <a:cs typeface="Times New Roman" panose="02020603050405020304" pitchFamily="18" charset="0"/>
              </a:rPr>
              <a:t>cloud computing system can be very inefficient and potentially unreliable.</a:t>
            </a:r>
            <a:endParaRPr lang="en-IN" sz="13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5072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1200329"/>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Identity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IDaaS</a:t>
            </a:r>
            <a:r>
              <a:rPr lang="en-US" sz="2400" b="1" dirty="0" smtClean="0">
                <a:solidFill>
                  <a:srgbClr val="002060"/>
                </a:solidFill>
                <a:latin typeface="Times New Roman" panose="02020603050405020304" pitchFamily="18" charset="0"/>
                <a:cs typeface="Times New Roman" panose="02020603050405020304" pitchFamily="18" charset="0"/>
              </a:rPr>
              <a:t>)-Benefits</a:t>
            </a:r>
            <a:endParaRPr lang="en-IN" sz="2400" b="1" dirty="0">
              <a:solidFill>
                <a:srgbClr val="002060"/>
              </a:solidFill>
              <a:latin typeface="Times New Roman" panose="02020603050405020304" pitchFamily="18" charset="0"/>
              <a:cs typeface="Times New Roman" panose="02020603050405020304" pitchFamily="18" charset="0"/>
            </a:endParaRPr>
          </a:p>
          <a:p>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292388"/>
          </a:xfrm>
          <a:prstGeom prst="rect">
            <a:avLst/>
          </a:prstGeom>
        </p:spPr>
        <p:txBody>
          <a:bodyPr wrap="square">
            <a:spAutoFit/>
          </a:bodyPr>
          <a:lstStyle/>
          <a:p>
            <a:pPr marL="285750" indent="-285750" algn="just">
              <a:buFont typeface="Arial" panose="020B0604020202020204" pitchFamily="34" charset="0"/>
              <a:buChar char="•"/>
            </a:pPr>
            <a:endParaRPr lang="en-IN" sz="1300" dirty="0">
              <a:solidFill>
                <a:srgbClr val="002060"/>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219599" y="986399"/>
            <a:ext cx="8771999" cy="3539430"/>
          </a:xfrm>
          <a:prstGeom prst="rect">
            <a:avLst/>
          </a:prstGeom>
        </p:spPr>
        <p:txBody>
          <a:bodyPr wrap="square">
            <a:spAutoFit/>
          </a:bodyPr>
          <a:lstStyle/>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Advantage </a:t>
            </a:r>
            <a:r>
              <a:rPr lang="en-US" dirty="0">
                <a:solidFill>
                  <a:srgbClr val="C00000"/>
                </a:solidFill>
                <a:latin typeface="Times New Roman" panose="02020603050405020304" pitchFamily="18" charset="0"/>
                <a:cs typeface="Times New Roman" panose="02020603050405020304" pitchFamily="18" charset="0"/>
              </a:rPr>
              <a:t>of </a:t>
            </a:r>
            <a:r>
              <a:rPr lang="en-US" dirty="0" err="1">
                <a:solidFill>
                  <a:srgbClr val="C00000"/>
                </a:solidFill>
                <a:latin typeface="Times New Roman" panose="02020603050405020304" pitchFamily="18" charset="0"/>
                <a:cs typeface="Times New Roman" panose="02020603050405020304" pitchFamily="18" charset="0"/>
              </a:rPr>
              <a:t>IDaaS</a:t>
            </a:r>
            <a:r>
              <a:rPr lang="en-US" dirty="0">
                <a:solidFill>
                  <a:srgbClr val="C00000"/>
                </a:solidFill>
                <a:latin typeface="Times New Roman" panose="02020603050405020304" pitchFamily="18" charset="0"/>
                <a:cs typeface="Times New Roman" panose="02020603050405020304" pitchFamily="18" charset="0"/>
              </a:rPr>
              <a:t> is savings.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Provisioning </a:t>
            </a:r>
            <a:r>
              <a:rPr lang="en-US" dirty="0">
                <a:solidFill>
                  <a:srgbClr val="C00000"/>
                </a:solidFill>
                <a:latin typeface="Times New Roman" panose="02020603050405020304" pitchFamily="18" charset="0"/>
                <a:cs typeface="Times New Roman" panose="02020603050405020304" pitchFamily="18" charset="0"/>
              </a:rPr>
              <a:t>identity on site, with software such as Active Directory Domain Services, can be full of costs.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Your </a:t>
            </a:r>
            <a:r>
              <a:rPr lang="en-US" dirty="0">
                <a:solidFill>
                  <a:srgbClr val="C00000"/>
                </a:solidFill>
                <a:latin typeface="Times New Roman" panose="02020603050405020304" pitchFamily="18" charset="0"/>
                <a:cs typeface="Times New Roman" panose="02020603050405020304" pitchFamily="18" charset="0"/>
              </a:rPr>
              <a:t>team has to keep up servers; purchase, upgrade, and install software; back up data regularly; pay hosting fees; monitor the additional turf on premises for network security; set up VPNs; and much more.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With </a:t>
            </a:r>
            <a:r>
              <a:rPr lang="en-US" dirty="0" err="1">
                <a:solidFill>
                  <a:srgbClr val="C00000"/>
                </a:solidFill>
                <a:latin typeface="Times New Roman" panose="02020603050405020304" pitchFamily="18" charset="0"/>
                <a:cs typeface="Times New Roman" panose="02020603050405020304" pitchFamily="18" charset="0"/>
              </a:rPr>
              <a:t>IDaaS</a:t>
            </a:r>
            <a:r>
              <a:rPr lang="en-US" dirty="0">
                <a:solidFill>
                  <a:srgbClr val="C00000"/>
                </a:solidFill>
                <a:latin typeface="Times New Roman" panose="02020603050405020304" pitchFamily="18" charset="0"/>
                <a:cs typeface="Times New Roman" panose="02020603050405020304" pitchFamily="18" charset="0"/>
              </a:rPr>
              <a:t>, costs drop to the subscription fee and the administration work. </a:t>
            </a:r>
          </a:p>
          <a:p>
            <a:pPr marL="285750" indent="-285750" algn="just" fontAlgn="base">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Besides </a:t>
            </a:r>
            <a:r>
              <a:rPr lang="en-US" dirty="0">
                <a:solidFill>
                  <a:srgbClr val="002060"/>
                </a:solidFill>
                <a:latin typeface="Times New Roman" panose="02020603050405020304" pitchFamily="18" charset="0"/>
                <a:cs typeface="Times New Roman" panose="02020603050405020304" pitchFamily="18" charset="0"/>
              </a:rPr>
              <a:t>savings, ROI for </a:t>
            </a:r>
            <a:r>
              <a:rPr lang="en-US" dirty="0" err="1">
                <a:solidFill>
                  <a:srgbClr val="002060"/>
                </a:solidFill>
                <a:latin typeface="Times New Roman" panose="02020603050405020304" pitchFamily="18" charset="0"/>
                <a:cs typeface="Times New Roman" panose="02020603050405020304" pitchFamily="18" charset="0"/>
              </a:rPr>
              <a:t>IDaaS</a:t>
            </a:r>
            <a:r>
              <a:rPr lang="en-US" dirty="0">
                <a:solidFill>
                  <a:srgbClr val="002060"/>
                </a:solidFill>
                <a:latin typeface="Times New Roman" panose="02020603050405020304" pitchFamily="18" charset="0"/>
                <a:cs typeface="Times New Roman" panose="02020603050405020304" pitchFamily="18" charset="0"/>
              </a:rPr>
              <a:t> includes improved cybersecurity and saved time with faster logins and fewer password resets.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Whether </a:t>
            </a:r>
            <a:r>
              <a:rPr lang="en-US" dirty="0">
                <a:solidFill>
                  <a:srgbClr val="002060"/>
                </a:solidFill>
                <a:latin typeface="Times New Roman" panose="02020603050405020304" pitchFamily="18" charset="0"/>
                <a:cs typeface="Times New Roman" panose="02020603050405020304" pitchFamily="18" charset="0"/>
              </a:rPr>
              <a:t>a user is signing in from open </a:t>
            </a:r>
            <a:r>
              <a:rPr lang="en-US" dirty="0" err="1">
                <a:solidFill>
                  <a:srgbClr val="002060"/>
                </a:solidFill>
                <a:latin typeface="Times New Roman" panose="02020603050405020304" pitchFamily="18" charset="0"/>
                <a:cs typeface="Times New Roman" panose="02020603050405020304" pitchFamily="18" charset="0"/>
              </a:rPr>
              <a:t>WiFi</a:t>
            </a:r>
            <a:r>
              <a:rPr lang="en-US" dirty="0">
                <a:solidFill>
                  <a:srgbClr val="002060"/>
                </a:solidFill>
                <a:latin typeface="Times New Roman" panose="02020603050405020304" pitchFamily="18" charset="0"/>
                <a:cs typeface="Times New Roman" panose="02020603050405020304" pitchFamily="18" charset="0"/>
              </a:rPr>
              <a:t> at an airport or from a desk in the office, the process </a:t>
            </a:r>
            <a:r>
              <a:rPr lang="en-US" dirty="0" smtClean="0">
                <a:solidFill>
                  <a:srgbClr val="002060"/>
                </a:solidFill>
                <a:latin typeface="Times New Roman" panose="02020603050405020304" pitchFamily="18" charset="0"/>
                <a:cs typeface="Times New Roman" panose="02020603050405020304" pitchFamily="18" charset="0"/>
              </a:rPr>
              <a:t>is seamless </a:t>
            </a:r>
            <a:r>
              <a:rPr lang="en-US" dirty="0">
                <a:solidFill>
                  <a:srgbClr val="002060"/>
                </a:solidFill>
                <a:latin typeface="Times New Roman" panose="02020603050405020304" pitchFamily="18" charset="0"/>
                <a:cs typeface="Times New Roman" panose="02020603050405020304" pitchFamily="18" charset="0"/>
              </a:rPr>
              <a:t>and secure.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The </a:t>
            </a:r>
            <a:r>
              <a:rPr lang="en-US" dirty="0">
                <a:solidFill>
                  <a:srgbClr val="002060"/>
                </a:solidFill>
                <a:latin typeface="Times New Roman" panose="02020603050405020304" pitchFamily="18" charset="0"/>
                <a:cs typeface="Times New Roman" panose="02020603050405020304" pitchFamily="18" charset="0"/>
              </a:rPr>
              <a:t>improved security can keep companies from facing a hack or breach that might topple their business.</a:t>
            </a:r>
          </a:p>
        </p:txBody>
      </p:sp>
    </p:spTree>
    <p:extLst>
      <p:ext uri="{BB962C8B-B14F-4D97-AF65-F5344CB8AC3E}">
        <p14:creationId xmlns:p14="http://schemas.microsoft.com/office/powerpoint/2010/main" val="323502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1200329"/>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Compliance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CaaS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a:p>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292388"/>
          </a:xfrm>
          <a:prstGeom prst="rect">
            <a:avLst/>
          </a:prstGeom>
        </p:spPr>
        <p:txBody>
          <a:bodyPr wrap="square">
            <a:spAutoFit/>
          </a:bodyPr>
          <a:lstStyle/>
          <a:p>
            <a:pPr marL="285750" indent="-285750" algn="just">
              <a:buFont typeface="Arial" panose="020B0604020202020204" pitchFamily="34" charset="0"/>
              <a:buChar char="•"/>
            </a:pPr>
            <a:endParaRPr lang="en-IN" sz="1300"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219599" y="928908"/>
            <a:ext cx="8836024" cy="1815882"/>
          </a:xfrm>
          <a:prstGeom prst="rect">
            <a:avLst/>
          </a:prstGeom>
        </p:spPr>
        <p:txBody>
          <a:bodyPr wrap="square">
            <a:spAutoFit/>
          </a:bodyPr>
          <a:lstStyle/>
          <a:p>
            <a:pPr marL="285750" indent="-285750" algn="just">
              <a:buFont typeface="Arial" panose="020B0604020202020204" pitchFamily="34" charset="0"/>
              <a:buChar char="•"/>
            </a:pPr>
            <a:r>
              <a:rPr lang="en-US" b="1" dirty="0" smtClean="0">
                <a:solidFill>
                  <a:srgbClr val="C00000"/>
                </a:solidFill>
                <a:latin typeface="Times New Roman" panose="02020603050405020304" pitchFamily="18" charset="0"/>
                <a:cs typeface="Times New Roman" panose="02020603050405020304" pitchFamily="18" charset="0"/>
              </a:rPr>
              <a:t>Compliance </a:t>
            </a:r>
            <a:r>
              <a:rPr lang="en-US" b="1" dirty="0">
                <a:solidFill>
                  <a:srgbClr val="C00000"/>
                </a:solidFill>
                <a:latin typeface="Times New Roman" panose="02020603050405020304" pitchFamily="18" charset="0"/>
                <a:cs typeface="Times New Roman" panose="02020603050405020304" pitchFamily="18" charset="0"/>
              </a:rPr>
              <a:t>as a Service (</a:t>
            </a:r>
            <a:r>
              <a:rPr lang="en-US" b="1" dirty="0" err="1">
                <a:solidFill>
                  <a:srgbClr val="C00000"/>
                </a:solidFill>
                <a:latin typeface="Times New Roman" panose="02020603050405020304" pitchFamily="18" charset="0"/>
                <a:cs typeface="Times New Roman" panose="02020603050405020304" pitchFamily="18" charset="0"/>
              </a:rPr>
              <a:t>CaaS</a:t>
            </a:r>
            <a:r>
              <a:rPr lang="en-US" b="1" dirty="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is a cloud-based model that helps organizations meet regulatory compliance requirements by outsourcing compliance management to a third </a:t>
            </a:r>
            <a:r>
              <a:rPr lang="en-US" dirty="0" smtClean="0">
                <a:solidFill>
                  <a:srgbClr val="C00000"/>
                </a:solidFill>
                <a:latin typeface="Times New Roman" panose="02020603050405020304" pitchFamily="18" charset="0"/>
                <a:cs typeface="Times New Roman" panose="02020603050405020304" pitchFamily="18" charset="0"/>
              </a:rPr>
              <a:t>party.</a:t>
            </a: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C</a:t>
            </a:r>
            <a:r>
              <a:rPr lang="en-US" dirty="0" smtClean="0">
                <a:solidFill>
                  <a:srgbClr val="002060"/>
                </a:solidFill>
                <a:latin typeface="Times New Roman" panose="02020603050405020304" pitchFamily="18" charset="0"/>
                <a:cs typeface="Times New Roman" panose="02020603050405020304" pitchFamily="18" charset="0"/>
              </a:rPr>
              <a:t>ompliance </a:t>
            </a:r>
            <a:r>
              <a:rPr lang="en-US" dirty="0">
                <a:solidFill>
                  <a:srgbClr val="002060"/>
                </a:solidFill>
                <a:latin typeface="Times New Roman" panose="02020603050405020304" pitchFamily="18" charset="0"/>
                <a:cs typeface="Times New Roman" panose="02020603050405020304" pitchFamily="18" charset="0"/>
              </a:rPr>
              <a:t>implementation, management and maintenance services to regulated companies in various industries, often such as healthcare, financial and government</a:t>
            </a:r>
            <a:r>
              <a:rPr lang="en-US" dirty="0" smtClean="0">
                <a:solidFill>
                  <a:srgbClr val="002060"/>
                </a:solidFill>
                <a:latin typeface="Times New Roman" panose="02020603050405020304" pitchFamily="18" charset="0"/>
                <a:cs typeface="Times New Roman" panose="02020603050405020304" pitchFamily="18" charset="0"/>
              </a:rPr>
              <a:t>.</a:t>
            </a:r>
          </a:p>
          <a:p>
            <a:endParaRPr lang="en-US" dirty="0"/>
          </a:p>
          <a:p>
            <a:endParaRPr lang="en-US" dirty="0"/>
          </a:p>
          <a:p>
            <a:endParaRPr lang="en-IN" dirty="0"/>
          </a:p>
        </p:txBody>
      </p:sp>
      <p:pic>
        <p:nvPicPr>
          <p:cNvPr id="12" name="Picture 11"/>
          <p:cNvPicPr>
            <a:picLocks noChangeAspect="1"/>
          </p:cNvPicPr>
          <p:nvPr/>
        </p:nvPicPr>
        <p:blipFill>
          <a:blip r:embed="rId3"/>
          <a:stretch>
            <a:fillRect/>
          </a:stretch>
        </p:blipFill>
        <p:spPr>
          <a:xfrm>
            <a:off x="722013" y="2220706"/>
            <a:ext cx="7699973" cy="2640661"/>
          </a:xfrm>
          <a:prstGeom prst="rect">
            <a:avLst/>
          </a:prstGeom>
        </p:spPr>
      </p:pic>
    </p:spTree>
    <p:extLst>
      <p:ext uri="{BB962C8B-B14F-4D97-AF65-F5344CB8AC3E}">
        <p14:creationId xmlns:p14="http://schemas.microsoft.com/office/powerpoint/2010/main" val="1341087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1200329"/>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Compliance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CaaS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a:p>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292388"/>
          </a:xfrm>
          <a:prstGeom prst="rect">
            <a:avLst/>
          </a:prstGeom>
        </p:spPr>
        <p:txBody>
          <a:bodyPr wrap="square">
            <a:spAutoFit/>
          </a:bodyPr>
          <a:lstStyle/>
          <a:p>
            <a:pPr marL="285750" indent="-285750" algn="just">
              <a:buFont typeface="Arial" panose="020B0604020202020204" pitchFamily="34" charset="0"/>
              <a:buChar char="•"/>
            </a:pPr>
            <a:endParaRPr lang="en-IN" sz="1300"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219599" y="928908"/>
            <a:ext cx="8836024" cy="300082"/>
          </a:xfrm>
          <a:prstGeom prst="rect">
            <a:avLst/>
          </a:prstGeom>
        </p:spPr>
        <p:txBody>
          <a:bodyPr wrap="square">
            <a:spAutoFit/>
          </a:bodyPr>
          <a:lstStyle/>
          <a:p>
            <a:pPr marL="285750" indent="-285750" algn="just">
              <a:buFont typeface="Arial" panose="020B0604020202020204" pitchFamily="34" charset="0"/>
              <a:buChar char="•"/>
            </a:pPr>
            <a:endParaRPr lang="en-IN" sz="1350" dirty="0">
              <a:solidFill>
                <a:srgbClr val="002060"/>
              </a:solidFill>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1114524" y="1228990"/>
            <a:ext cx="6914951" cy="3503030"/>
          </a:xfrm>
          <a:prstGeom prst="rect">
            <a:avLst/>
          </a:prstGeom>
        </p:spPr>
      </p:pic>
    </p:spTree>
    <p:extLst>
      <p:ext uri="{BB962C8B-B14F-4D97-AF65-F5344CB8AC3E}">
        <p14:creationId xmlns:p14="http://schemas.microsoft.com/office/powerpoint/2010/main" val="2365727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1200329"/>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Compliance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CaaS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a:p>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292388"/>
          </a:xfrm>
          <a:prstGeom prst="rect">
            <a:avLst/>
          </a:prstGeom>
        </p:spPr>
        <p:txBody>
          <a:bodyPr wrap="square">
            <a:spAutoFit/>
          </a:bodyPr>
          <a:lstStyle/>
          <a:p>
            <a:pPr marL="285750" indent="-285750" algn="just">
              <a:buFont typeface="Arial" panose="020B0604020202020204" pitchFamily="34" charset="0"/>
              <a:buChar char="•"/>
            </a:pPr>
            <a:endParaRPr lang="en-IN" sz="1300"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219599" y="928908"/>
            <a:ext cx="8836024" cy="4401205"/>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Cloud computing by its very nature spans different jurisdictions. The laws of the country of </a:t>
            </a:r>
            <a:r>
              <a:rPr lang="en-IN" dirty="0" smtClean="0">
                <a:solidFill>
                  <a:srgbClr val="C00000"/>
                </a:solidFill>
                <a:latin typeface="Times New Roman" panose="02020603050405020304" pitchFamily="18" charset="0"/>
                <a:cs typeface="Times New Roman" panose="02020603050405020304" pitchFamily="18" charset="0"/>
              </a:rPr>
              <a:t>a request’s </a:t>
            </a:r>
            <a:r>
              <a:rPr lang="en-IN" dirty="0">
                <a:solidFill>
                  <a:srgbClr val="C00000"/>
                </a:solidFill>
                <a:latin typeface="Times New Roman" panose="02020603050405020304" pitchFamily="18" charset="0"/>
                <a:cs typeface="Times New Roman" panose="02020603050405020304" pitchFamily="18" charset="0"/>
              </a:rPr>
              <a:t>origin may not match the laws of the country where the request is processed, and </a:t>
            </a:r>
            <a:r>
              <a:rPr lang="en-IN" dirty="0" smtClean="0">
                <a:solidFill>
                  <a:srgbClr val="C00000"/>
                </a:solidFill>
                <a:latin typeface="Times New Roman" panose="02020603050405020304" pitchFamily="18" charset="0"/>
                <a:cs typeface="Times New Roman" panose="02020603050405020304" pitchFamily="18" charset="0"/>
              </a:rPr>
              <a:t>it’s possible </a:t>
            </a:r>
            <a:r>
              <a:rPr lang="en-IN" dirty="0">
                <a:solidFill>
                  <a:srgbClr val="C00000"/>
                </a:solidFill>
                <a:latin typeface="Times New Roman" panose="02020603050405020304" pitchFamily="18" charset="0"/>
                <a:cs typeface="Times New Roman" panose="02020603050405020304" pitchFamily="18" charset="0"/>
              </a:rPr>
              <a:t>that neither location’s laws match the laws of the country where the service is provided</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Compliance is much more than simply providing an anonymous service token to an identity so </a:t>
            </a:r>
            <a:r>
              <a:rPr lang="en-IN" dirty="0" smtClean="0">
                <a:solidFill>
                  <a:srgbClr val="C00000"/>
                </a:solidFill>
                <a:latin typeface="Times New Roman" panose="02020603050405020304" pitchFamily="18" charset="0"/>
                <a:cs typeface="Times New Roman" panose="02020603050405020304" pitchFamily="18" charset="0"/>
              </a:rPr>
              <a:t>they can </a:t>
            </a:r>
            <a:r>
              <a:rPr lang="en-IN" dirty="0">
                <a:solidFill>
                  <a:srgbClr val="C00000"/>
                </a:solidFill>
                <a:latin typeface="Times New Roman" panose="02020603050405020304" pitchFamily="18" charset="0"/>
                <a:cs typeface="Times New Roman" panose="02020603050405020304" pitchFamily="18" charset="0"/>
              </a:rPr>
              <a:t>obtain access to a resource. Compliance is a complex issue that requires considerable expertise</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While Compliance as a Service (</a:t>
            </a:r>
            <a:r>
              <a:rPr lang="en-US" dirty="0" err="1">
                <a:solidFill>
                  <a:srgbClr val="C00000"/>
                </a:solidFill>
                <a:latin typeface="Times New Roman" panose="02020603050405020304" pitchFamily="18" charset="0"/>
                <a:cs typeface="Times New Roman" panose="02020603050405020304" pitchFamily="18" charset="0"/>
              </a:rPr>
              <a:t>CaaS</a:t>
            </a:r>
            <a:r>
              <a:rPr lang="en-US" dirty="0">
                <a:solidFill>
                  <a:srgbClr val="C00000"/>
                </a:solidFill>
                <a:latin typeface="Times New Roman" panose="02020603050405020304" pitchFamily="18" charset="0"/>
                <a:cs typeface="Times New Roman" panose="02020603050405020304" pitchFamily="18" charset="0"/>
              </a:rPr>
              <a:t>) appears in discussions, few examples of this kind of </a:t>
            </a:r>
            <a:r>
              <a:rPr lang="en-US" dirty="0" smtClean="0">
                <a:solidFill>
                  <a:srgbClr val="C00000"/>
                </a:solidFill>
                <a:latin typeface="Times New Roman" panose="02020603050405020304" pitchFamily="18" charset="0"/>
                <a:cs typeface="Times New Roman" panose="02020603050405020304" pitchFamily="18" charset="0"/>
              </a:rPr>
              <a:t>service exist </a:t>
            </a:r>
            <a:r>
              <a:rPr lang="en-US" dirty="0">
                <a:solidFill>
                  <a:srgbClr val="C00000"/>
                </a:solidFill>
                <a:latin typeface="Times New Roman" panose="02020603050405020304" pitchFamily="18" charset="0"/>
                <a:cs typeface="Times New Roman" panose="02020603050405020304" pitchFamily="18" charset="0"/>
              </a:rPr>
              <a:t>as a general product for a cloud computing architecture.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A </a:t>
            </a:r>
            <a:r>
              <a:rPr lang="en-US" dirty="0">
                <a:solidFill>
                  <a:srgbClr val="002060"/>
                </a:solidFill>
                <a:latin typeface="Times New Roman" panose="02020603050405020304" pitchFamily="18" charset="0"/>
                <a:cs typeface="Times New Roman" panose="02020603050405020304" pitchFamily="18" charset="0"/>
              </a:rPr>
              <a:t>Compliance as a Service </a:t>
            </a:r>
            <a:r>
              <a:rPr lang="en-US" dirty="0" smtClean="0">
                <a:solidFill>
                  <a:srgbClr val="002060"/>
                </a:solidFill>
                <a:latin typeface="Times New Roman" panose="02020603050405020304" pitchFamily="18" charset="0"/>
                <a:cs typeface="Times New Roman" panose="02020603050405020304" pitchFamily="18" charset="0"/>
              </a:rPr>
              <a:t>application </a:t>
            </a:r>
            <a:r>
              <a:rPr lang="en-US" dirty="0">
                <a:solidFill>
                  <a:srgbClr val="002060"/>
                </a:solidFill>
                <a:latin typeface="Times New Roman" panose="02020603050405020304" pitchFamily="18" charset="0"/>
                <a:cs typeface="Times New Roman" panose="02020603050405020304" pitchFamily="18" charset="0"/>
              </a:rPr>
              <a:t>would need to serve as a </a:t>
            </a:r>
            <a:r>
              <a:rPr lang="en-US" b="1" dirty="0">
                <a:solidFill>
                  <a:srgbClr val="002060"/>
                </a:solidFill>
                <a:latin typeface="Times New Roman" panose="02020603050405020304" pitchFamily="18" charset="0"/>
                <a:cs typeface="Times New Roman" panose="02020603050405020304" pitchFamily="18" charset="0"/>
              </a:rPr>
              <a:t>trusted third party, </a:t>
            </a:r>
            <a:r>
              <a:rPr lang="en-US" dirty="0">
                <a:solidFill>
                  <a:srgbClr val="002060"/>
                </a:solidFill>
                <a:latin typeface="Times New Roman" panose="02020603050405020304" pitchFamily="18" charset="0"/>
                <a:cs typeface="Times New Roman" panose="02020603050405020304" pitchFamily="18" charset="0"/>
              </a:rPr>
              <a:t>because this is a man-in-the-middle type of </a:t>
            </a:r>
            <a:r>
              <a:rPr lang="en-US" dirty="0" smtClean="0">
                <a:solidFill>
                  <a:srgbClr val="002060"/>
                </a:solidFill>
                <a:latin typeface="Times New Roman" panose="02020603050405020304" pitchFamily="18" charset="0"/>
                <a:cs typeface="Times New Roman" panose="02020603050405020304" pitchFamily="18" charset="0"/>
              </a:rPr>
              <a:t>service</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CaaS</a:t>
            </a:r>
            <a:r>
              <a:rPr lang="en-US" dirty="0">
                <a:solidFill>
                  <a:srgbClr val="002060"/>
                </a:solidFill>
                <a:latin typeface="Times New Roman" panose="02020603050405020304" pitchFamily="18" charset="0"/>
                <a:cs typeface="Times New Roman" panose="02020603050405020304" pitchFamily="18" charset="0"/>
              </a:rPr>
              <a:t> may need to be architected as its own layer of a SOA architecture in order to be trusted</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A </a:t>
            </a:r>
            <a:r>
              <a:rPr lang="en-US" dirty="0" err="1">
                <a:solidFill>
                  <a:srgbClr val="002060"/>
                </a:solidFill>
                <a:latin typeface="Times New Roman" panose="02020603050405020304" pitchFamily="18" charset="0"/>
                <a:cs typeface="Times New Roman" panose="02020603050405020304" pitchFamily="18" charset="0"/>
              </a:rPr>
              <a:t>CaaS</a:t>
            </a:r>
            <a:r>
              <a:rPr lang="en-US" dirty="0">
                <a:solidFill>
                  <a:srgbClr val="002060"/>
                </a:solidFill>
                <a:latin typeface="Times New Roman" panose="02020603050405020304" pitchFamily="18" charset="0"/>
                <a:cs typeface="Times New Roman" panose="02020603050405020304" pitchFamily="18" charset="0"/>
              </a:rPr>
              <a:t> would need to be able to manage cloud relationships, understand security policies and </a:t>
            </a:r>
            <a:r>
              <a:rPr lang="en-US" dirty="0" smtClean="0">
                <a:solidFill>
                  <a:srgbClr val="002060"/>
                </a:solidFill>
                <a:latin typeface="Times New Roman" panose="02020603050405020304" pitchFamily="18" charset="0"/>
                <a:cs typeface="Times New Roman" panose="02020603050405020304" pitchFamily="18" charset="0"/>
              </a:rPr>
              <a:t>procedures</a:t>
            </a:r>
            <a:r>
              <a:rPr lang="en-US" dirty="0">
                <a:solidFill>
                  <a:srgbClr val="002060"/>
                </a:solidFill>
                <a:latin typeface="Times New Roman" panose="02020603050405020304" pitchFamily="18" charset="0"/>
                <a:cs typeface="Times New Roman" panose="02020603050405020304" pitchFamily="18" charset="0"/>
              </a:rPr>
              <a:t>, know how to handle information and administer privacy, be aware of geography, </a:t>
            </a:r>
            <a:r>
              <a:rPr lang="en-US" dirty="0" smtClean="0">
                <a:solidFill>
                  <a:srgbClr val="002060"/>
                </a:solidFill>
                <a:latin typeface="Times New Roman" panose="02020603050405020304" pitchFamily="18" charset="0"/>
                <a:cs typeface="Times New Roman" panose="02020603050405020304" pitchFamily="18" charset="0"/>
              </a:rPr>
              <a:t>provide an </a:t>
            </a:r>
            <a:r>
              <a:rPr lang="en-US" dirty="0">
                <a:solidFill>
                  <a:srgbClr val="002060"/>
                </a:solidFill>
                <a:latin typeface="Times New Roman" panose="02020603050405020304" pitchFamily="18" charset="0"/>
                <a:cs typeface="Times New Roman" panose="02020603050405020304" pitchFamily="18" charset="0"/>
              </a:rPr>
              <a:t>incidence response, archive, and allow for the system to be queried, all to a level that can </a:t>
            </a:r>
            <a:r>
              <a:rPr lang="en-US" dirty="0" smtClean="0">
                <a:solidFill>
                  <a:srgbClr val="002060"/>
                </a:solidFill>
                <a:latin typeface="Times New Roman" panose="02020603050405020304" pitchFamily="18" charset="0"/>
                <a:cs typeface="Times New Roman" panose="02020603050405020304" pitchFamily="18" charset="0"/>
              </a:rPr>
              <a:t>be captured </a:t>
            </a:r>
            <a:r>
              <a:rPr lang="en-US" dirty="0">
                <a:solidFill>
                  <a:srgbClr val="002060"/>
                </a:solidFill>
                <a:latin typeface="Times New Roman" panose="02020603050405020304" pitchFamily="18" charset="0"/>
                <a:cs typeface="Times New Roman" panose="02020603050405020304" pitchFamily="18" charset="0"/>
              </a:rPr>
              <a:t>in a Service Level Agreement.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err="1" smtClean="0">
                <a:solidFill>
                  <a:srgbClr val="002060"/>
                </a:solidFill>
                <a:latin typeface="Times New Roman" panose="02020603050405020304" pitchFamily="18" charset="0"/>
                <a:cs typeface="Times New Roman" panose="02020603050405020304" pitchFamily="18" charset="0"/>
              </a:rPr>
              <a:t>CaaS</a:t>
            </a:r>
            <a:r>
              <a:rPr lang="en-US" dirty="0" smtClean="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has the potential to be a </a:t>
            </a:r>
            <a:r>
              <a:rPr lang="en-US" dirty="0" smtClean="0">
                <a:solidFill>
                  <a:srgbClr val="002060"/>
                </a:solidFill>
                <a:latin typeface="Times New Roman" panose="02020603050405020304" pitchFamily="18" charset="0"/>
                <a:cs typeface="Times New Roman" panose="02020603050405020304" pitchFamily="18" charset="0"/>
              </a:rPr>
              <a:t>great value-added </a:t>
            </a:r>
            <a:r>
              <a:rPr lang="en-US" dirty="0">
                <a:solidFill>
                  <a:srgbClr val="002060"/>
                </a:solidFill>
                <a:latin typeface="Times New Roman" panose="02020603050405020304" pitchFamily="18" charset="0"/>
                <a:cs typeface="Times New Roman" panose="02020603050405020304" pitchFamily="18" charset="0"/>
              </a:rPr>
              <a:t>service</a:t>
            </a:r>
            <a:endParaRPr lang="en-IN" dirty="0" smtClean="0">
              <a:solidFill>
                <a:srgbClr val="002060"/>
              </a:solidFill>
              <a:latin typeface="Times New Roman" panose="02020603050405020304" pitchFamily="18" charset="0"/>
              <a:cs typeface="Times New Roman" panose="02020603050405020304" pitchFamily="18" charset="0"/>
            </a:endParaRPr>
          </a:p>
          <a:p>
            <a:endParaRPr lang="en-US" dirty="0"/>
          </a:p>
          <a:p>
            <a:endParaRPr lang="en-IN" dirty="0"/>
          </a:p>
        </p:txBody>
      </p:sp>
    </p:spTree>
    <p:extLst>
      <p:ext uri="{BB962C8B-B14F-4D97-AF65-F5344CB8AC3E}">
        <p14:creationId xmlns:p14="http://schemas.microsoft.com/office/powerpoint/2010/main" val="2583778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1200329"/>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Compliance </a:t>
            </a:r>
            <a:r>
              <a:rPr lang="en-US" sz="2400" b="1" dirty="0">
                <a:solidFill>
                  <a:srgbClr val="002060"/>
                </a:solidFill>
                <a:latin typeface="Times New Roman" panose="02020603050405020304" pitchFamily="18" charset="0"/>
                <a:cs typeface="Times New Roman" panose="02020603050405020304" pitchFamily="18" charset="0"/>
              </a:rPr>
              <a:t>as a Service (</a:t>
            </a:r>
            <a:r>
              <a:rPr lang="en-US" sz="2400" b="1" dirty="0" err="1">
                <a:solidFill>
                  <a:srgbClr val="002060"/>
                </a:solidFill>
                <a:latin typeface="Times New Roman" panose="02020603050405020304" pitchFamily="18" charset="0"/>
                <a:cs typeface="Times New Roman" panose="02020603050405020304" pitchFamily="18" charset="0"/>
              </a:rPr>
              <a:t>CaaS</a:t>
            </a:r>
            <a:r>
              <a:rPr lang="en-US" sz="2400" b="1" dirty="0">
                <a:solidFill>
                  <a:srgbClr val="002060"/>
                </a:solidFill>
                <a:latin typeface="Times New Roman" panose="02020603050405020304" pitchFamily="18" charset="0"/>
                <a:cs typeface="Times New Roman" panose="02020603050405020304" pitchFamily="18" charset="0"/>
              </a:rPr>
              <a:t>)</a:t>
            </a:r>
            <a:endParaRPr lang="en-IN" sz="2400" b="1" dirty="0">
              <a:solidFill>
                <a:srgbClr val="002060"/>
              </a:solidFill>
              <a:latin typeface="Times New Roman" panose="02020603050405020304" pitchFamily="18" charset="0"/>
              <a:cs typeface="Times New Roman" panose="02020603050405020304" pitchFamily="18" charset="0"/>
            </a:endParaRPr>
          </a:p>
          <a:p>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307777"/>
          </a:xfrm>
          <a:prstGeom prst="rect">
            <a:avLst/>
          </a:prstGeom>
        </p:spPr>
        <p:txBody>
          <a:bodyPr wrap="square">
            <a:spAutoFit/>
          </a:bodyPr>
          <a:lstStyle/>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87084" y="928915"/>
            <a:ext cx="8984916"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55575" y="928913"/>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87083" y="928912"/>
            <a:ext cx="8904515" cy="523220"/>
          </a:xfrm>
          <a:prstGeom prst="rect">
            <a:avLst/>
          </a:prstGeom>
        </p:spPr>
        <p:txBody>
          <a:bodyPr wrap="square">
            <a:spAutoFit/>
          </a:bodyPr>
          <a:lstStyle/>
          <a:p>
            <a:pPr algn="just"/>
            <a:endParaRPr lang="en-US" dirty="0" smtClean="0">
              <a:solidFill>
                <a:srgbClr val="C0000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19600" y="928911"/>
            <a:ext cx="8771998" cy="307777"/>
          </a:xfrm>
          <a:prstGeom prst="rect">
            <a:avLst/>
          </a:prstGeom>
        </p:spPr>
        <p:txBody>
          <a:bodyPr wrap="square">
            <a:spAutoFit/>
          </a:bodyPr>
          <a:lstStyle/>
          <a:p>
            <a:pPr marL="285750" indent="-285750" algn="just">
              <a:buFont typeface="Arial" panose="020B0604020202020204" pitchFamily="34" charset="0"/>
              <a:buChar char="•"/>
            </a:pPr>
            <a:endParaRPr lang="en-IN"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55574" y="928908"/>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7082" y="986400"/>
            <a:ext cx="8968541" cy="292388"/>
          </a:xfrm>
          <a:prstGeom prst="rect">
            <a:avLst/>
          </a:prstGeom>
        </p:spPr>
        <p:txBody>
          <a:bodyPr wrap="square">
            <a:spAutoFit/>
          </a:bodyPr>
          <a:lstStyle/>
          <a:p>
            <a:pPr marL="285750" indent="-285750" algn="just">
              <a:buFont typeface="Arial" panose="020B0604020202020204" pitchFamily="34" charset="0"/>
              <a:buChar char="•"/>
            </a:pPr>
            <a:endParaRPr lang="en-IN" sz="1300"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219599" y="928908"/>
            <a:ext cx="8836024" cy="3831818"/>
          </a:xfrm>
          <a:prstGeom prst="rect">
            <a:avLst/>
          </a:prstGeom>
        </p:spPr>
        <p:txBody>
          <a:bodyPr wrap="square">
            <a:spAutoFit/>
          </a:bodyPr>
          <a:lstStyle/>
          <a:p>
            <a:pPr marL="285750" indent="-285750" algn="just">
              <a:buFont typeface="Arial" panose="020B0604020202020204" pitchFamily="34" charset="0"/>
              <a:buChar char="•"/>
            </a:pPr>
            <a:r>
              <a:rPr lang="en-US" sz="1350" dirty="0">
                <a:solidFill>
                  <a:srgbClr val="C00000"/>
                </a:solidFill>
                <a:latin typeface="Times New Roman" panose="02020603050405020304" pitchFamily="18" charset="0"/>
                <a:cs typeface="Times New Roman" panose="02020603050405020304" pitchFamily="18" charset="0"/>
              </a:rPr>
              <a:t>In order to implement </a:t>
            </a:r>
            <a:r>
              <a:rPr lang="en-US" sz="1350" dirty="0" err="1">
                <a:solidFill>
                  <a:srgbClr val="C00000"/>
                </a:solidFill>
                <a:latin typeface="Times New Roman" panose="02020603050405020304" pitchFamily="18" charset="0"/>
                <a:cs typeface="Times New Roman" panose="02020603050405020304" pitchFamily="18" charset="0"/>
              </a:rPr>
              <a:t>CaaS</a:t>
            </a:r>
            <a:r>
              <a:rPr lang="en-US" sz="1350" dirty="0">
                <a:solidFill>
                  <a:srgbClr val="C00000"/>
                </a:solidFill>
                <a:latin typeface="Times New Roman" panose="02020603050405020304" pitchFamily="18" charset="0"/>
                <a:cs typeface="Times New Roman" panose="02020603050405020304" pitchFamily="18" charset="0"/>
              </a:rPr>
              <a:t>, some companies are organizing what might be referred to as “</a:t>
            </a:r>
            <a:r>
              <a:rPr lang="en-US" sz="1350" dirty="0" smtClean="0">
                <a:solidFill>
                  <a:srgbClr val="C00000"/>
                </a:solidFill>
                <a:latin typeface="Times New Roman" panose="02020603050405020304" pitchFamily="18" charset="0"/>
                <a:cs typeface="Times New Roman" panose="02020603050405020304" pitchFamily="18" charset="0"/>
              </a:rPr>
              <a:t>vertical clouds</a:t>
            </a:r>
            <a:r>
              <a:rPr lang="en-US" sz="1350" dirty="0">
                <a:solidFill>
                  <a:srgbClr val="C00000"/>
                </a:solidFill>
                <a:latin typeface="Times New Roman" panose="02020603050405020304" pitchFamily="18" charset="0"/>
                <a:cs typeface="Times New Roman" panose="02020603050405020304" pitchFamily="18" charset="0"/>
              </a:rPr>
              <a:t>,” clouds that specialize in a vertical market</a:t>
            </a:r>
            <a:r>
              <a:rPr lang="en-US" sz="1350" dirty="0" smtClean="0">
                <a:solidFill>
                  <a:srgbClr val="C00000"/>
                </a:solidFill>
                <a:latin typeface="Times New Roman" panose="02020603050405020304" pitchFamily="18" charset="0"/>
                <a:cs typeface="Times New Roman" panose="02020603050405020304" pitchFamily="18" charset="0"/>
              </a:rPr>
              <a:t>.</a:t>
            </a:r>
          </a:p>
          <a:p>
            <a:pPr algn="just"/>
            <a:r>
              <a:rPr lang="en-US" sz="1350" b="1" dirty="0" smtClean="0">
                <a:solidFill>
                  <a:srgbClr val="C00000"/>
                </a:solidFill>
                <a:latin typeface="Times New Roman" panose="02020603050405020304" pitchFamily="18" charset="0"/>
                <a:cs typeface="Times New Roman" panose="02020603050405020304" pitchFamily="18" charset="0"/>
              </a:rPr>
              <a:t>Examples </a:t>
            </a:r>
            <a:r>
              <a:rPr lang="en-US" sz="1350" b="1" dirty="0">
                <a:solidFill>
                  <a:srgbClr val="C00000"/>
                </a:solidFill>
                <a:latin typeface="Times New Roman" panose="02020603050405020304" pitchFamily="18" charset="0"/>
                <a:cs typeface="Times New Roman" panose="02020603050405020304" pitchFamily="18" charset="0"/>
              </a:rPr>
              <a:t>of vertical clouds that advertise </a:t>
            </a:r>
            <a:r>
              <a:rPr lang="en-US" sz="1350" b="1" dirty="0" err="1" smtClean="0">
                <a:solidFill>
                  <a:srgbClr val="C00000"/>
                </a:solidFill>
                <a:latin typeface="Times New Roman" panose="02020603050405020304" pitchFamily="18" charset="0"/>
                <a:cs typeface="Times New Roman" panose="02020603050405020304" pitchFamily="18" charset="0"/>
              </a:rPr>
              <a:t>CaaS</a:t>
            </a:r>
            <a:r>
              <a:rPr lang="en-US" sz="1350" b="1" dirty="0" smtClean="0">
                <a:solidFill>
                  <a:srgbClr val="C00000"/>
                </a:solidFill>
                <a:latin typeface="Times New Roman" panose="02020603050405020304" pitchFamily="18" charset="0"/>
                <a:cs typeface="Times New Roman" panose="02020603050405020304" pitchFamily="18" charset="0"/>
              </a:rPr>
              <a:t> </a:t>
            </a:r>
            <a:r>
              <a:rPr lang="en-US" sz="1350" dirty="0" smtClean="0">
                <a:solidFill>
                  <a:srgbClr val="C00000"/>
                </a:solidFill>
                <a:latin typeface="Times New Roman" panose="02020603050405020304" pitchFamily="18" charset="0"/>
                <a:cs typeface="Times New Roman" panose="02020603050405020304" pitchFamily="18" charset="0"/>
              </a:rPr>
              <a:t>capabilities </a:t>
            </a:r>
            <a:r>
              <a:rPr lang="en-US" sz="1350" dirty="0">
                <a:solidFill>
                  <a:srgbClr val="C00000"/>
                </a:solidFill>
                <a:latin typeface="Times New Roman" panose="02020603050405020304" pitchFamily="18" charset="0"/>
                <a:cs typeface="Times New Roman" panose="02020603050405020304" pitchFamily="18" charset="0"/>
              </a:rPr>
              <a:t>include the following:</a:t>
            </a:r>
          </a:p>
          <a:p>
            <a:pPr marL="285750" indent="-285750" algn="just">
              <a:buFont typeface="Arial" panose="020B0604020202020204" pitchFamily="34" charset="0"/>
              <a:buChar char="•"/>
            </a:pPr>
            <a:r>
              <a:rPr lang="en-US" sz="1350" b="1" dirty="0" err="1" smtClean="0">
                <a:solidFill>
                  <a:srgbClr val="C00000"/>
                </a:solidFill>
                <a:latin typeface="Times New Roman" panose="02020603050405020304" pitchFamily="18" charset="0"/>
                <a:cs typeface="Times New Roman" panose="02020603050405020304" pitchFamily="18" charset="0"/>
              </a:rPr>
              <a:t>athenahealth</a:t>
            </a:r>
            <a:r>
              <a:rPr lang="en-US" sz="1350" dirty="0" smtClean="0">
                <a:solidFill>
                  <a:srgbClr val="C00000"/>
                </a:solidFill>
                <a:latin typeface="Times New Roman" panose="02020603050405020304" pitchFamily="18" charset="0"/>
                <a:cs typeface="Times New Roman" panose="02020603050405020304" pitchFamily="18" charset="0"/>
              </a:rPr>
              <a:t> </a:t>
            </a:r>
            <a:r>
              <a:rPr lang="en-US" sz="1350" dirty="0">
                <a:solidFill>
                  <a:srgbClr val="C00000"/>
                </a:solidFill>
                <a:latin typeface="Times New Roman" panose="02020603050405020304" pitchFamily="18" charset="0"/>
                <a:cs typeface="Times New Roman" panose="02020603050405020304" pitchFamily="18" charset="0"/>
              </a:rPr>
              <a:t>(http://www.athenahealth.com/) for the medical industry</a:t>
            </a:r>
          </a:p>
          <a:p>
            <a:pPr marL="285750" indent="-285750" algn="just">
              <a:buFont typeface="Arial" panose="020B0604020202020204" pitchFamily="34" charset="0"/>
              <a:buChar char="•"/>
            </a:pPr>
            <a:r>
              <a:rPr lang="en-US" sz="1350" b="1" dirty="0" err="1" smtClean="0">
                <a:solidFill>
                  <a:srgbClr val="C00000"/>
                </a:solidFill>
                <a:latin typeface="Times New Roman" panose="02020603050405020304" pitchFamily="18" charset="0"/>
                <a:cs typeface="Times New Roman" panose="02020603050405020304" pitchFamily="18" charset="0"/>
              </a:rPr>
              <a:t>bankserv</a:t>
            </a:r>
            <a:r>
              <a:rPr lang="en-US" sz="1350" dirty="0" smtClean="0">
                <a:solidFill>
                  <a:srgbClr val="C00000"/>
                </a:solidFill>
                <a:latin typeface="Times New Roman" panose="02020603050405020304" pitchFamily="18" charset="0"/>
                <a:cs typeface="Times New Roman" panose="02020603050405020304" pitchFamily="18" charset="0"/>
              </a:rPr>
              <a:t> </a:t>
            </a:r>
            <a:r>
              <a:rPr lang="en-US" sz="1350" dirty="0">
                <a:solidFill>
                  <a:srgbClr val="C00000"/>
                </a:solidFill>
                <a:latin typeface="Times New Roman" panose="02020603050405020304" pitchFamily="18" charset="0"/>
                <a:cs typeface="Times New Roman" panose="02020603050405020304" pitchFamily="18" charset="0"/>
              </a:rPr>
              <a:t>(http://www.bankserv.com/) for the banking industry</a:t>
            </a:r>
          </a:p>
          <a:p>
            <a:pPr marL="285750" indent="-285750" algn="just">
              <a:buFont typeface="Arial" panose="020B0604020202020204" pitchFamily="34" charset="0"/>
              <a:buChar char="•"/>
            </a:pPr>
            <a:r>
              <a:rPr lang="en-US" sz="1350" b="1" dirty="0" err="1" smtClean="0">
                <a:solidFill>
                  <a:srgbClr val="C00000"/>
                </a:solidFill>
                <a:latin typeface="Times New Roman" panose="02020603050405020304" pitchFamily="18" charset="0"/>
                <a:cs typeface="Times New Roman" panose="02020603050405020304" pitchFamily="18" charset="0"/>
              </a:rPr>
              <a:t>ClearPoint</a:t>
            </a:r>
            <a:r>
              <a:rPr lang="en-US" sz="1350" dirty="0" smtClean="0">
                <a:solidFill>
                  <a:srgbClr val="C00000"/>
                </a:solidFill>
                <a:latin typeface="Times New Roman" panose="02020603050405020304" pitchFamily="18" charset="0"/>
                <a:cs typeface="Times New Roman" panose="02020603050405020304" pitchFamily="18" charset="0"/>
              </a:rPr>
              <a:t> </a:t>
            </a:r>
            <a:r>
              <a:rPr lang="en-US" sz="1350" dirty="0">
                <a:solidFill>
                  <a:srgbClr val="C00000"/>
                </a:solidFill>
                <a:latin typeface="Times New Roman" panose="02020603050405020304" pitchFamily="18" charset="0"/>
                <a:cs typeface="Times New Roman" panose="02020603050405020304" pitchFamily="18" charset="0"/>
              </a:rPr>
              <a:t>PCI Compliance-as-a-Service for merchant transactions under the </a:t>
            </a:r>
            <a:r>
              <a:rPr lang="en-US" sz="1350" dirty="0" smtClean="0">
                <a:solidFill>
                  <a:srgbClr val="C00000"/>
                </a:solidFill>
                <a:latin typeface="Times New Roman" panose="02020603050405020304" pitchFamily="18" charset="0"/>
                <a:cs typeface="Times New Roman" panose="02020603050405020304" pitchFamily="18" charset="0"/>
              </a:rPr>
              <a:t>Payment Card </a:t>
            </a:r>
            <a:r>
              <a:rPr lang="en-US" sz="1350" dirty="0">
                <a:solidFill>
                  <a:srgbClr val="C00000"/>
                </a:solidFill>
                <a:latin typeface="Times New Roman" panose="02020603050405020304" pitchFamily="18" charset="0"/>
                <a:cs typeface="Times New Roman" panose="02020603050405020304" pitchFamily="18" charset="0"/>
              </a:rPr>
              <a:t>Industry Data Security Standard</a:t>
            </a:r>
          </a:p>
          <a:p>
            <a:pPr marL="285750" indent="-285750" algn="just">
              <a:buFont typeface="Arial" panose="020B0604020202020204" pitchFamily="34" charset="0"/>
              <a:buChar char="•"/>
            </a:pPr>
            <a:r>
              <a:rPr lang="en-US" sz="1350" b="1" dirty="0" err="1" smtClean="0">
                <a:solidFill>
                  <a:srgbClr val="C00000"/>
                </a:solidFill>
                <a:latin typeface="Times New Roman" panose="02020603050405020304" pitchFamily="18" charset="0"/>
                <a:cs typeface="Times New Roman" panose="02020603050405020304" pitchFamily="18" charset="0"/>
              </a:rPr>
              <a:t>FedCloud</a:t>
            </a:r>
            <a:r>
              <a:rPr lang="en-US" sz="1350" b="1" dirty="0" smtClean="0">
                <a:solidFill>
                  <a:srgbClr val="C00000"/>
                </a:solidFill>
                <a:latin typeface="Times New Roman" panose="02020603050405020304" pitchFamily="18" charset="0"/>
                <a:cs typeface="Times New Roman" panose="02020603050405020304" pitchFamily="18" charset="0"/>
              </a:rPr>
              <a:t> </a:t>
            </a:r>
            <a:r>
              <a:rPr lang="en-US" sz="1350" dirty="0">
                <a:solidFill>
                  <a:srgbClr val="C00000"/>
                </a:solidFill>
                <a:latin typeface="Times New Roman" panose="02020603050405020304" pitchFamily="18" charset="0"/>
                <a:cs typeface="Times New Roman" panose="02020603050405020304" pitchFamily="18" charset="0"/>
              </a:rPr>
              <a:t>(http://www.fedcloud.com/) for government</a:t>
            </a:r>
          </a:p>
          <a:p>
            <a:pPr marL="285750" indent="-285750" algn="just">
              <a:buFont typeface="Arial" panose="020B0604020202020204" pitchFamily="34" charset="0"/>
              <a:buChar char="•"/>
            </a:pPr>
            <a:r>
              <a:rPr lang="en-US" sz="1350" b="1" dirty="0" err="1" smtClean="0">
                <a:solidFill>
                  <a:srgbClr val="C00000"/>
                </a:solidFill>
                <a:latin typeface="Times New Roman" panose="02020603050405020304" pitchFamily="18" charset="0"/>
                <a:cs typeface="Times New Roman" panose="02020603050405020304" pitchFamily="18" charset="0"/>
              </a:rPr>
              <a:t>Rackserve</a:t>
            </a:r>
            <a:r>
              <a:rPr lang="en-US" sz="1350" dirty="0" smtClean="0">
                <a:solidFill>
                  <a:srgbClr val="C00000"/>
                </a:solidFill>
                <a:latin typeface="Times New Roman" panose="02020603050405020304" pitchFamily="18" charset="0"/>
                <a:cs typeface="Times New Roman" panose="02020603050405020304" pitchFamily="18" charset="0"/>
              </a:rPr>
              <a:t> </a:t>
            </a:r>
            <a:r>
              <a:rPr lang="en-US" sz="1350" dirty="0">
                <a:solidFill>
                  <a:srgbClr val="C00000"/>
                </a:solidFill>
                <a:latin typeface="Times New Roman" panose="02020603050405020304" pitchFamily="18" charset="0"/>
                <a:cs typeface="Times New Roman" panose="02020603050405020304" pitchFamily="18" charset="0"/>
              </a:rPr>
              <a:t>PCI Compliant Cloud (http://www.rackspace.com/; another </a:t>
            </a:r>
            <a:r>
              <a:rPr lang="en-US" sz="1350" dirty="0" smtClean="0">
                <a:solidFill>
                  <a:srgbClr val="C00000"/>
                </a:solidFill>
                <a:latin typeface="Times New Roman" panose="02020603050405020304" pitchFamily="18" charset="0"/>
                <a:cs typeface="Times New Roman" panose="02020603050405020304" pitchFamily="18" charset="0"/>
              </a:rPr>
              <a:t>PCI </a:t>
            </a:r>
            <a:r>
              <a:rPr lang="en-US" sz="1350" dirty="0" err="1" smtClean="0">
                <a:solidFill>
                  <a:srgbClr val="C00000"/>
                </a:solidFill>
                <a:latin typeface="Times New Roman" panose="02020603050405020304" pitchFamily="18" charset="0"/>
                <a:cs typeface="Times New Roman" panose="02020603050405020304" pitchFamily="18" charset="0"/>
              </a:rPr>
              <a:t>CaaS</a:t>
            </a:r>
            <a:r>
              <a:rPr lang="en-US" sz="1350" dirty="0" smtClean="0">
                <a:solidFill>
                  <a:srgbClr val="C00000"/>
                </a:solidFill>
                <a:latin typeface="Times New Roman" panose="02020603050405020304" pitchFamily="18" charset="0"/>
                <a:cs typeface="Times New Roman" panose="02020603050405020304" pitchFamily="18" charset="0"/>
              </a:rPr>
              <a:t> </a:t>
            </a:r>
            <a:r>
              <a:rPr lang="en-US" sz="1350" dirty="0">
                <a:solidFill>
                  <a:srgbClr val="C00000"/>
                </a:solidFill>
                <a:latin typeface="Times New Roman" panose="02020603050405020304" pitchFamily="18" charset="0"/>
                <a:cs typeface="Times New Roman" panose="02020603050405020304" pitchFamily="18" charset="0"/>
              </a:rPr>
              <a:t>service</a:t>
            </a:r>
            <a:r>
              <a:rPr lang="en-US" sz="1350"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sz="1350"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50" dirty="0" err="1" smtClean="0">
                <a:solidFill>
                  <a:srgbClr val="002060"/>
                </a:solidFill>
                <a:latin typeface="Times New Roman" panose="02020603050405020304" pitchFamily="18" charset="0"/>
                <a:cs typeface="Times New Roman" panose="02020603050405020304" pitchFamily="18" charset="0"/>
              </a:rPr>
              <a:t>CaaS</a:t>
            </a:r>
            <a:r>
              <a:rPr lang="en-US" sz="1350" dirty="0" smtClean="0">
                <a:solidFill>
                  <a:srgbClr val="002060"/>
                </a:solidFill>
                <a:latin typeface="Times New Roman" panose="02020603050405020304" pitchFamily="18" charset="0"/>
                <a:cs typeface="Times New Roman" panose="02020603050405020304" pitchFamily="18" charset="0"/>
              </a:rPr>
              <a:t> </a:t>
            </a:r>
            <a:r>
              <a:rPr lang="en-US" sz="1350" dirty="0">
                <a:solidFill>
                  <a:srgbClr val="002060"/>
                </a:solidFill>
                <a:latin typeface="Times New Roman" panose="02020603050405020304" pitchFamily="18" charset="0"/>
                <a:cs typeface="Times New Roman" panose="02020603050405020304" pitchFamily="18" charset="0"/>
              </a:rPr>
              <a:t>system built inside a private cloud where the data is under </a:t>
            </a:r>
            <a:r>
              <a:rPr lang="en-US" sz="1350" dirty="0" smtClean="0">
                <a:solidFill>
                  <a:srgbClr val="002060"/>
                </a:solidFill>
                <a:latin typeface="Times New Roman" panose="02020603050405020304" pitchFamily="18" charset="0"/>
                <a:cs typeface="Times New Roman" panose="02020603050405020304" pitchFamily="18" charset="0"/>
              </a:rPr>
              <a:t>the control </a:t>
            </a:r>
            <a:r>
              <a:rPr lang="en-US" sz="1350" dirty="0">
                <a:solidFill>
                  <a:srgbClr val="002060"/>
                </a:solidFill>
                <a:latin typeface="Times New Roman" panose="02020603050405020304" pitchFamily="18" charset="0"/>
                <a:cs typeface="Times New Roman" panose="02020603050405020304" pitchFamily="18" charset="0"/>
              </a:rPr>
              <a:t>of a single entity, thus ensuring that the data is under that entity’s secure control and </a:t>
            </a:r>
            <a:r>
              <a:rPr lang="en-US" sz="1350" dirty="0" smtClean="0">
                <a:solidFill>
                  <a:srgbClr val="002060"/>
                </a:solidFill>
                <a:latin typeface="Times New Roman" panose="02020603050405020304" pitchFamily="18" charset="0"/>
                <a:cs typeface="Times New Roman" panose="02020603050405020304" pitchFamily="18" charset="0"/>
              </a:rPr>
              <a:t>that transactions </a:t>
            </a:r>
            <a:r>
              <a:rPr lang="en-US" sz="1350" dirty="0">
                <a:solidFill>
                  <a:srgbClr val="002060"/>
                </a:solidFill>
                <a:latin typeface="Times New Roman" panose="02020603050405020304" pitchFamily="18" charset="0"/>
                <a:cs typeface="Times New Roman" panose="02020603050405020304" pitchFamily="18" charset="0"/>
              </a:rPr>
              <a:t>can be </a:t>
            </a:r>
            <a:r>
              <a:rPr lang="en-US" sz="1350" dirty="0" smtClean="0">
                <a:solidFill>
                  <a:srgbClr val="002060"/>
                </a:solidFill>
                <a:latin typeface="Times New Roman" panose="02020603050405020304" pitchFamily="18" charset="0"/>
                <a:cs typeface="Times New Roman" panose="02020603050405020304" pitchFamily="18" charset="0"/>
              </a:rPr>
              <a:t>audited. Indeed</a:t>
            </a:r>
            <a:r>
              <a:rPr lang="en-US" sz="1350" dirty="0">
                <a:solidFill>
                  <a:srgbClr val="002060"/>
                </a:solidFill>
                <a:latin typeface="Times New Roman" panose="02020603050405020304" pitchFamily="18" charset="0"/>
                <a:cs typeface="Times New Roman" panose="02020603050405020304" pitchFamily="18" charset="0"/>
              </a:rPr>
              <a:t>, most of the cloud computing compliance systems to date </a:t>
            </a:r>
            <a:r>
              <a:rPr lang="en-US" sz="1350" dirty="0" smtClean="0">
                <a:solidFill>
                  <a:srgbClr val="002060"/>
                </a:solidFill>
                <a:latin typeface="Times New Roman" panose="02020603050405020304" pitchFamily="18" charset="0"/>
                <a:cs typeface="Times New Roman" panose="02020603050405020304" pitchFamily="18" charset="0"/>
              </a:rPr>
              <a:t>have been </a:t>
            </a:r>
            <a:r>
              <a:rPr lang="en-US" sz="1350" dirty="0">
                <a:solidFill>
                  <a:srgbClr val="002060"/>
                </a:solidFill>
                <a:latin typeface="Times New Roman" panose="02020603050405020304" pitchFamily="18" charset="0"/>
                <a:cs typeface="Times New Roman" panose="02020603050405020304" pitchFamily="18" charset="0"/>
              </a:rPr>
              <a:t>built using private clouds</a:t>
            </a:r>
            <a:r>
              <a:rPr lang="en-US" sz="1350"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1350" dirty="0" err="1" smtClean="0">
                <a:solidFill>
                  <a:srgbClr val="002060"/>
                </a:solidFill>
                <a:latin typeface="Times New Roman" panose="02020603050405020304" pitchFamily="18" charset="0"/>
                <a:cs typeface="Times New Roman" panose="02020603050405020304" pitchFamily="18" charset="0"/>
              </a:rPr>
              <a:t>CaaS</a:t>
            </a:r>
            <a:r>
              <a:rPr lang="en-US" sz="1350" dirty="0" smtClean="0">
                <a:solidFill>
                  <a:srgbClr val="002060"/>
                </a:solidFill>
                <a:latin typeface="Times New Roman" panose="02020603050405020304" pitchFamily="18" charset="0"/>
                <a:cs typeface="Times New Roman" panose="02020603050405020304" pitchFamily="18" charset="0"/>
              </a:rPr>
              <a:t> </a:t>
            </a:r>
            <a:r>
              <a:rPr lang="en-US" sz="1350" dirty="0">
                <a:solidFill>
                  <a:srgbClr val="002060"/>
                </a:solidFill>
                <a:latin typeface="Times New Roman" panose="02020603050405020304" pitchFamily="18" charset="0"/>
                <a:cs typeface="Times New Roman" panose="02020603050405020304" pitchFamily="18" charset="0"/>
              </a:rPr>
              <a:t>could be an incredibly valuable service. A well-implemented </a:t>
            </a:r>
            <a:r>
              <a:rPr lang="en-US" sz="1350" dirty="0" err="1">
                <a:solidFill>
                  <a:srgbClr val="002060"/>
                </a:solidFill>
                <a:latin typeface="Times New Roman" panose="02020603050405020304" pitchFamily="18" charset="0"/>
                <a:cs typeface="Times New Roman" panose="02020603050405020304" pitchFamily="18" charset="0"/>
              </a:rPr>
              <a:t>CaaS</a:t>
            </a:r>
            <a:r>
              <a:rPr lang="en-US" sz="1350" dirty="0">
                <a:solidFill>
                  <a:srgbClr val="002060"/>
                </a:solidFill>
                <a:latin typeface="Times New Roman" panose="02020603050405020304" pitchFamily="18" charset="0"/>
                <a:cs typeface="Times New Roman" panose="02020603050405020304" pitchFamily="18" charset="0"/>
              </a:rPr>
              <a:t> </a:t>
            </a:r>
            <a:r>
              <a:rPr lang="en-US" sz="1350" dirty="0" smtClean="0">
                <a:solidFill>
                  <a:srgbClr val="002060"/>
                </a:solidFill>
                <a:latin typeface="Times New Roman" panose="02020603050405020304" pitchFamily="18" charset="0"/>
                <a:cs typeface="Times New Roman" panose="02020603050405020304" pitchFamily="18" charset="0"/>
              </a:rPr>
              <a:t>service </a:t>
            </a:r>
            <a:r>
              <a:rPr lang="en-US" sz="1350" dirty="0">
                <a:solidFill>
                  <a:srgbClr val="002060"/>
                </a:solidFill>
                <a:latin typeface="Times New Roman" panose="02020603050405020304" pitchFamily="18" charset="0"/>
                <a:cs typeface="Times New Roman" panose="02020603050405020304" pitchFamily="18" charset="0"/>
              </a:rPr>
              <a:t>could measure the risks involved in servicing compliance and ensure or indemnify </a:t>
            </a:r>
            <a:r>
              <a:rPr lang="en-US" sz="1350" dirty="0" smtClean="0">
                <a:solidFill>
                  <a:srgbClr val="002060"/>
                </a:solidFill>
                <a:latin typeface="Times New Roman" panose="02020603050405020304" pitchFamily="18" charset="0"/>
                <a:cs typeface="Times New Roman" panose="02020603050405020304" pitchFamily="18" charset="0"/>
              </a:rPr>
              <a:t>customers against </a:t>
            </a:r>
            <a:r>
              <a:rPr lang="en-US" sz="1350" dirty="0">
                <a:solidFill>
                  <a:srgbClr val="002060"/>
                </a:solidFill>
                <a:latin typeface="Times New Roman" panose="02020603050405020304" pitchFamily="18" charset="0"/>
                <a:cs typeface="Times New Roman" panose="02020603050405020304" pitchFamily="18" charset="0"/>
              </a:rPr>
              <a:t>that risk. </a:t>
            </a:r>
            <a:endParaRPr lang="en-US" sz="1350"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50" dirty="0" err="1" smtClean="0">
                <a:solidFill>
                  <a:srgbClr val="002060"/>
                </a:solidFill>
                <a:latin typeface="Times New Roman" panose="02020603050405020304" pitchFamily="18" charset="0"/>
                <a:cs typeface="Times New Roman" panose="02020603050405020304" pitchFamily="18" charset="0"/>
              </a:rPr>
              <a:t>CaaS</a:t>
            </a:r>
            <a:r>
              <a:rPr lang="en-US" sz="1350" dirty="0" smtClean="0">
                <a:solidFill>
                  <a:srgbClr val="002060"/>
                </a:solidFill>
                <a:latin typeface="Times New Roman" panose="02020603050405020304" pitchFamily="18" charset="0"/>
                <a:cs typeface="Times New Roman" panose="02020603050405020304" pitchFamily="18" charset="0"/>
              </a:rPr>
              <a:t> </a:t>
            </a:r>
            <a:r>
              <a:rPr lang="en-US" sz="1350" dirty="0">
                <a:solidFill>
                  <a:srgbClr val="002060"/>
                </a:solidFill>
                <a:latin typeface="Times New Roman" panose="02020603050405020304" pitchFamily="18" charset="0"/>
                <a:cs typeface="Times New Roman" panose="02020603050405020304" pitchFamily="18" charset="0"/>
              </a:rPr>
              <a:t>could be brought to bear as a mechanism to guarantee that an e-mail </a:t>
            </a:r>
            <a:r>
              <a:rPr lang="en-US" sz="1350" dirty="0" smtClean="0">
                <a:solidFill>
                  <a:srgbClr val="002060"/>
                </a:solidFill>
                <a:latin typeface="Times New Roman" panose="02020603050405020304" pitchFamily="18" charset="0"/>
                <a:cs typeface="Times New Roman" panose="02020603050405020304" pitchFamily="18" charset="0"/>
              </a:rPr>
              <a:t>conformed </a:t>
            </a:r>
            <a:r>
              <a:rPr lang="en-US" sz="1350" dirty="0">
                <a:solidFill>
                  <a:srgbClr val="002060"/>
                </a:solidFill>
                <a:latin typeface="Times New Roman" panose="02020603050405020304" pitchFamily="18" charset="0"/>
                <a:cs typeface="Times New Roman" panose="02020603050405020304" pitchFamily="18" charset="0"/>
              </a:rPr>
              <a:t>to certain standards, something that could be a new electronic service of a network </a:t>
            </a:r>
            <a:r>
              <a:rPr lang="en-US" sz="1350" dirty="0" smtClean="0">
                <a:solidFill>
                  <a:srgbClr val="002060"/>
                </a:solidFill>
                <a:latin typeface="Times New Roman" panose="02020603050405020304" pitchFamily="18" charset="0"/>
                <a:cs typeface="Times New Roman" panose="02020603050405020304" pitchFamily="18" charset="0"/>
              </a:rPr>
              <a:t>of national </a:t>
            </a:r>
            <a:r>
              <a:rPr lang="en-US" sz="1350" dirty="0">
                <a:solidFill>
                  <a:srgbClr val="002060"/>
                </a:solidFill>
                <a:latin typeface="Times New Roman" panose="02020603050405020304" pitchFamily="18" charset="0"/>
                <a:cs typeface="Times New Roman" panose="02020603050405020304" pitchFamily="18" charset="0"/>
              </a:rPr>
              <a:t>postal </a:t>
            </a:r>
            <a:r>
              <a:rPr lang="en-US" sz="1350" dirty="0" smtClean="0">
                <a:solidFill>
                  <a:srgbClr val="002060"/>
                </a:solidFill>
                <a:latin typeface="Times New Roman" panose="02020603050405020304" pitchFamily="18" charset="0"/>
                <a:cs typeface="Times New Roman" panose="02020603050405020304" pitchFamily="18" charset="0"/>
              </a:rPr>
              <a:t>system and </a:t>
            </a:r>
            <a:r>
              <a:rPr lang="en-US" sz="1350" dirty="0">
                <a:solidFill>
                  <a:srgbClr val="002060"/>
                </a:solidFill>
                <a:latin typeface="Times New Roman" panose="02020603050405020304" pitchFamily="18" charset="0"/>
                <a:cs typeface="Times New Roman" panose="02020603050405020304" pitchFamily="18" charset="0"/>
              </a:rPr>
              <a:t>something that could help bring an end to the </a:t>
            </a:r>
            <a:r>
              <a:rPr lang="en-US" sz="1350" dirty="0" smtClean="0">
                <a:solidFill>
                  <a:srgbClr val="002060"/>
                </a:solidFill>
                <a:latin typeface="Times New Roman" panose="02020603050405020304" pitchFamily="18" charset="0"/>
                <a:cs typeface="Times New Roman" panose="02020603050405020304" pitchFamily="18" charset="0"/>
              </a:rPr>
              <a:t>threat </a:t>
            </a:r>
            <a:r>
              <a:rPr lang="en-US" sz="1350" dirty="0">
                <a:solidFill>
                  <a:srgbClr val="002060"/>
                </a:solidFill>
                <a:latin typeface="Times New Roman" panose="02020603050405020304" pitchFamily="18" charset="0"/>
                <a:cs typeface="Times New Roman" panose="02020603050405020304" pitchFamily="18" charset="0"/>
              </a:rPr>
              <a:t>of spam.</a:t>
            </a:r>
            <a:endParaRPr lang="en-IN" sz="135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19321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TotalTime>
  <Words>3971</Words>
  <Application>Microsoft Office PowerPoint</Application>
  <PresentationFormat>On-screen Show (16:9)</PresentationFormat>
  <Paragraphs>290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GS</dc:creator>
  <cp:lastModifiedBy>Microsoft account</cp:lastModifiedBy>
  <cp:revision>282</cp:revision>
  <dcterms:modified xsi:type="dcterms:W3CDTF">2024-11-19T04:23:47Z</dcterms:modified>
</cp:coreProperties>
</file>
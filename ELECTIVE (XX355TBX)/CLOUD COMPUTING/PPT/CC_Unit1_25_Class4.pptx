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8" r:id="rId1"/>
  </p:sldMasterIdLst>
  <p:notesMasterIdLst>
    <p:notesMasterId r:id="rId22"/>
  </p:notesMasterIdLst>
  <p:handoutMasterIdLst>
    <p:handoutMasterId r:id="rId23"/>
  </p:handoutMasterIdLst>
  <p:sldIdLst>
    <p:sldId id="307" r:id="rId2"/>
    <p:sldId id="311" r:id="rId3"/>
    <p:sldId id="308" r:id="rId4"/>
    <p:sldId id="309" r:id="rId5"/>
    <p:sldId id="310" r:id="rId6"/>
    <p:sldId id="312" r:id="rId7"/>
    <p:sldId id="316" r:id="rId8"/>
    <p:sldId id="313" r:id="rId9"/>
    <p:sldId id="317" r:id="rId10"/>
    <p:sldId id="318" r:id="rId11"/>
    <p:sldId id="314" r:id="rId12"/>
    <p:sldId id="319" r:id="rId13"/>
    <p:sldId id="315" r:id="rId14"/>
    <p:sldId id="320" r:id="rId15"/>
    <p:sldId id="321" r:id="rId16"/>
    <p:sldId id="322" r:id="rId17"/>
    <p:sldId id="323" r:id="rId18"/>
    <p:sldId id="324" r:id="rId19"/>
    <p:sldId id="325" r:id="rId20"/>
    <p:sldId id="326" r:id="rId2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59" autoAdjust="0"/>
    <p:restoredTop sz="84239" autoAdjust="0"/>
  </p:normalViewPr>
  <p:slideViewPr>
    <p:cSldViewPr snapToGrid="0">
      <p:cViewPr varScale="1">
        <p:scale>
          <a:sx n="106" d="100"/>
          <a:sy n="106" d="100"/>
        </p:scale>
        <p:origin x="1037" y="77"/>
      </p:cViewPr>
      <p:guideLst>
        <p:guide orient="horz" pos="1620"/>
        <p:guide pos="2880"/>
      </p:guideLst>
    </p:cSldViewPr>
  </p:slideViewPr>
  <p:notesTextViewPr>
    <p:cViewPr>
      <p:scale>
        <a:sx n="1" d="1"/>
        <a:sy n="1" d="1"/>
      </p:scale>
      <p:origin x="0" y="0"/>
    </p:cViewPr>
  </p:notesTextViewPr>
  <p:notesViewPr>
    <p:cSldViewPr snapToGrid="0">
      <p:cViewPr varScale="1">
        <p:scale>
          <a:sx n="75" d="100"/>
          <a:sy n="75" d="100"/>
        </p:scale>
        <p:origin x="3066" y="2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7190C68C-FA64-8808-59DE-D20750CB28D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xmlns="" id="{3432E8D8-7C75-199D-4858-76BD8D21FA9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FFA7656-CE36-42D4-983C-4D4DD8F88F38}" type="datetimeFigureOut">
              <a:rPr lang="en-IN" smtClean="0"/>
              <a:t>15-11-2024</a:t>
            </a:fld>
            <a:endParaRPr lang="en-IN"/>
          </a:p>
        </p:txBody>
      </p:sp>
      <p:sp>
        <p:nvSpPr>
          <p:cNvPr id="4" name="Footer Placeholder 3">
            <a:extLst>
              <a:ext uri="{FF2B5EF4-FFF2-40B4-BE49-F238E27FC236}">
                <a16:creationId xmlns:a16="http://schemas.microsoft.com/office/drawing/2014/main" xmlns="" id="{1556F7F8-ABCC-1CF9-9524-CB2DCB43F7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xmlns="" id="{EA8C5AE9-6173-1EE2-0EB9-92FBC6A5208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7CBDB4-C371-461E-B20D-3E2505CBC0CB}" type="slidenum">
              <a:rPr lang="en-IN" smtClean="0"/>
              <a:t>‹#›</a:t>
            </a:fld>
            <a:endParaRPr lang="en-IN"/>
          </a:p>
        </p:txBody>
      </p:sp>
    </p:spTree>
    <p:extLst>
      <p:ext uri="{BB962C8B-B14F-4D97-AF65-F5344CB8AC3E}">
        <p14:creationId xmlns:p14="http://schemas.microsoft.com/office/powerpoint/2010/main" val="32893467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89601116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068185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228419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734349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94324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172776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377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756603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678756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820046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653737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803747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826606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022691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380266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269192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814622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479899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874415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498513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793105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253250" y="222097"/>
            <a:ext cx="8520600" cy="572700"/>
          </a:xfrm>
          <a:prstGeom prst="rect">
            <a:avLst/>
          </a:prstGeom>
        </p:spPr>
        <p:txBody>
          <a:bodyPr spcFirstLastPara="1" wrap="square" lIns="91425" tIns="91425" rIns="91425" bIns="91425" anchor="t" anchorCtr="0">
            <a:norm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sp>
        <p:nvSpPr>
          <p:cNvPr id="17" name="Google Shape;17;p3"/>
          <p:cNvSpPr txBox="1">
            <a:spLocks noGrp="1"/>
          </p:cNvSpPr>
          <p:nvPr>
            <p:ph type="body" idx="1"/>
          </p:nvPr>
        </p:nvSpPr>
        <p:spPr>
          <a:xfrm>
            <a:off x="253250" y="1857500"/>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dirty="0"/>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pic>
        <p:nvPicPr>
          <p:cNvPr id="19" name="Google Shape;19;p3"/>
          <p:cNvPicPr preferRelativeResize="0"/>
          <p:nvPr/>
        </p:nvPicPr>
        <p:blipFill>
          <a:blip r:embed="rId2">
            <a:alphaModFix/>
          </a:blip>
          <a:stretch>
            <a:fillRect/>
          </a:stretch>
        </p:blipFill>
        <p:spPr>
          <a:xfrm>
            <a:off x="6983600" y="415175"/>
            <a:ext cx="1974051" cy="300175"/>
          </a:xfrm>
          <a:prstGeom prst="rect">
            <a:avLst/>
          </a:prstGeom>
          <a:noFill/>
          <a:ln>
            <a:noFill/>
          </a:ln>
        </p:spPr>
      </p:pic>
      <p:grpSp>
        <p:nvGrpSpPr>
          <p:cNvPr id="8" name="Group 7">
            <a:extLst>
              <a:ext uri="{FF2B5EF4-FFF2-40B4-BE49-F238E27FC236}">
                <a16:creationId xmlns:a16="http://schemas.microsoft.com/office/drawing/2014/main" xmlns="" id="{1A191C25-1A3C-0ABA-1BDF-1963DBAC3409}"/>
              </a:ext>
            </a:extLst>
          </p:cNvPr>
          <p:cNvGrpSpPr/>
          <p:nvPr userDrawn="1"/>
        </p:nvGrpSpPr>
        <p:grpSpPr>
          <a:xfrm>
            <a:off x="0" y="0"/>
            <a:ext cx="9144000" cy="5143500"/>
            <a:chOff x="0" y="0"/>
            <a:chExt cx="9144000" cy="5143500"/>
          </a:xfrm>
        </p:grpSpPr>
        <p:sp>
          <p:nvSpPr>
            <p:cNvPr id="7" name="Rectangle 6">
              <a:extLst>
                <a:ext uri="{FF2B5EF4-FFF2-40B4-BE49-F238E27FC236}">
                  <a16:creationId xmlns:a16="http://schemas.microsoft.com/office/drawing/2014/main" xmlns="" id="{C8D4B067-D304-59F5-C1BC-25D90471A9F8}"/>
                </a:ext>
              </a:extLst>
            </p:cNvPr>
            <p:cNvSpPr/>
            <p:nvPr userDrawn="1"/>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3" name="Straight Connector 2">
              <a:extLst>
                <a:ext uri="{FF2B5EF4-FFF2-40B4-BE49-F238E27FC236}">
                  <a16:creationId xmlns:a16="http://schemas.microsoft.com/office/drawing/2014/main" xmlns="" id="{88F6D0E5-7268-8606-D4CC-27D4078965D9}"/>
                </a:ext>
              </a:extLst>
            </p:cNvPr>
            <p:cNvCxnSpPr>
              <a:cxnSpLocks/>
            </p:cNvCxnSpPr>
            <p:nvPr userDrawn="1"/>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spTree>
  </p:cSld>
  <p:clrMapOvr>
    <a:masterClrMapping/>
  </p:clrMapOvr>
  <p:extLst>
    <p:ext uri="{DCECCB84-F9BA-43D5-87BE-67443E8EF086}">
      <p15:sldGuideLst xmlns:p15="http://schemas.microsoft.com/office/powerpoint/2012/main">
        <p15:guide id="1" orient="horz" pos="413">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471238" y="219909"/>
            <a:ext cx="8520600" cy="572700"/>
          </a:xfrm>
          <a:prstGeom prst="rect">
            <a:avLst/>
          </a:prstGeom>
        </p:spPr>
        <p:txBody>
          <a:bodyPr spcFirstLastPara="1" wrap="square" lIns="91425" tIns="91425" rIns="91425" bIns="91425" anchor="t" anchorCtr="0">
            <a:norm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sp>
        <p:nvSpPr>
          <p:cNvPr id="22" name="Google Shape;22;p4"/>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4"/>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pic>
        <p:nvPicPr>
          <p:cNvPr id="2" name="Google Shape;19;p3">
            <a:extLst>
              <a:ext uri="{FF2B5EF4-FFF2-40B4-BE49-F238E27FC236}">
                <a16:creationId xmlns:a16="http://schemas.microsoft.com/office/drawing/2014/main" xmlns="" id="{62A04933-B448-B54B-368F-D9864F99C3A4}"/>
              </a:ext>
            </a:extLst>
          </p:cNvPr>
          <p:cNvPicPr preferRelativeResize="0"/>
          <p:nvPr userDrawn="1"/>
        </p:nvPicPr>
        <p:blipFill>
          <a:blip r:embed="rId2">
            <a:alphaModFix/>
          </a:blip>
          <a:stretch>
            <a:fillRect/>
          </a:stretch>
        </p:blipFill>
        <p:spPr>
          <a:xfrm>
            <a:off x="6983600" y="415175"/>
            <a:ext cx="1974051" cy="300175"/>
          </a:xfrm>
          <a:prstGeom prst="rect">
            <a:avLst/>
          </a:prstGeom>
          <a:noFill/>
          <a:ln>
            <a:noFill/>
          </a:ln>
        </p:spPr>
      </p:pic>
      <p:grpSp>
        <p:nvGrpSpPr>
          <p:cNvPr id="3" name="Group 2">
            <a:extLst>
              <a:ext uri="{FF2B5EF4-FFF2-40B4-BE49-F238E27FC236}">
                <a16:creationId xmlns:a16="http://schemas.microsoft.com/office/drawing/2014/main" xmlns="" id="{2A9F246C-D9AB-75C5-258E-893E4432839C}"/>
              </a:ext>
            </a:extLst>
          </p:cNvPr>
          <p:cNvGrpSpPr/>
          <p:nvPr userDrawn="1"/>
        </p:nvGrpSpPr>
        <p:grpSpPr>
          <a:xfrm>
            <a:off x="0" y="0"/>
            <a:ext cx="9144000" cy="5143500"/>
            <a:chOff x="0" y="0"/>
            <a:chExt cx="9144000" cy="5143500"/>
          </a:xfrm>
        </p:grpSpPr>
        <p:sp>
          <p:nvSpPr>
            <p:cNvPr id="4" name="Rectangle 3">
              <a:extLst>
                <a:ext uri="{FF2B5EF4-FFF2-40B4-BE49-F238E27FC236}">
                  <a16:creationId xmlns:a16="http://schemas.microsoft.com/office/drawing/2014/main" xmlns="" id="{8D5432EC-B246-6FD2-286E-8AEAD1C2DE16}"/>
                </a:ext>
              </a:extLst>
            </p:cNvPr>
            <p:cNvSpPr/>
            <p:nvPr userDrawn="1"/>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xmlns="" id="{4A779A5B-3A79-3A99-AE59-E12991F27693}"/>
                </a:ext>
              </a:extLst>
            </p:cNvPr>
            <p:cNvCxnSpPr>
              <a:cxnSpLocks/>
            </p:cNvCxnSpPr>
            <p:nvPr userDrawn="1"/>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91725" y="776500"/>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pic>
        <p:nvPicPr>
          <p:cNvPr id="2" name="Google Shape;19;p3">
            <a:extLst>
              <a:ext uri="{FF2B5EF4-FFF2-40B4-BE49-F238E27FC236}">
                <a16:creationId xmlns:a16="http://schemas.microsoft.com/office/drawing/2014/main" xmlns="" id="{F4586A1D-9758-264A-C18A-C7281B9C77C6}"/>
              </a:ext>
            </a:extLst>
          </p:cNvPr>
          <p:cNvPicPr preferRelativeResize="0"/>
          <p:nvPr userDrawn="1"/>
        </p:nvPicPr>
        <p:blipFill>
          <a:blip r:embed="rId2">
            <a:alphaModFix/>
          </a:blip>
          <a:stretch>
            <a:fillRect/>
          </a:stretch>
        </p:blipFill>
        <p:spPr>
          <a:xfrm>
            <a:off x="6983600" y="415175"/>
            <a:ext cx="1974051" cy="300175"/>
          </a:xfrm>
          <a:prstGeom prst="rect">
            <a:avLst/>
          </a:prstGeom>
          <a:noFill/>
          <a:ln>
            <a:noFill/>
          </a:ln>
        </p:spPr>
      </p:pic>
      <p:grpSp>
        <p:nvGrpSpPr>
          <p:cNvPr id="3" name="Group 2">
            <a:extLst>
              <a:ext uri="{FF2B5EF4-FFF2-40B4-BE49-F238E27FC236}">
                <a16:creationId xmlns:a16="http://schemas.microsoft.com/office/drawing/2014/main" xmlns="" id="{C6F9681E-7DB4-ECC6-58A3-5C8DA42E0C32}"/>
              </a:ext>
            </a:extLst>
          </p:cNvPr>
          <p:cNvGrpSpPr/>
          <p:nvPr userDrawn="1"/>
        </p:nvGrpSpPr>
        <p:grpSpPr>
          <a:xfrm>
            <a:off x="0" y="0"/>
            <a:ext cx="9144000" cy="5143500"/>
            <a:chOff x="0" y="0"/>
            <a:chExt cx="9144000" cy="5143500"/>
          </a:xfrm>
        </p:grpSpPr>
        <p:sp>
          <p:nvSpPr>
            <p:cNvPr id="4" name="Rectangle 3">
              <a:extLst>
                <a:ext uri="{FF2B5EF4-FFF2-40B4-BE49-F238E27FC236}">
                  <a16:creationId xmlns:a16="http://schemas.microsoft.com/office/drawing/2014/main" xmlns="" id="{830C0281-BB4E-BC14-1020-F038B28DD426}"/>
                </a:ext>
              </a:extLst>
            </p:cNvPr>
            <p:cNvSpPr/>
            <p:nvPr userDrawn="1"/>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xmlns="" id="{30FD36F3-82E4-9820-7B3C-EEEDB9BF4D4E}"/>
                </a:ext>
              </a:extLst>
            </p:cNvPr>
            <p:cNvCxnSpPr>
              <a:cxnSpLocks/>
            </p:cNvCxnSpPr>
            <p:nvPr userDrawn="1"/>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6"/>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pic>
        <p:nvPicPr>
          <p:cNvPr id="2" name="Google Shape;19;p3">
            <a:extLst>
              <a:ext uri="{FF2B5EF4-FFF2-40B4-BE49-F238E27FC236}">
                <a16:creationId xmlns:a16="http://schemas.microsoft.com/office/drawing/2014/main" xmlns="" id="{63E1900F-C300-4F53-0B26-090E6E9EE205}"/>
              </a:ext>
            </a:extLst>
          </p:cNvPr>
          <p:cNvPicPr preferRelativeResize="0"/>
          <p:nvPr userDrawn="1"/>
        </p:nvPicPr>
        <p:blipFill>
          <a:blip r:embed="rId2">
            <a:alphaModFix/>
          </a:blip>
          <a:stretch>
            <a:fillRect/>
          </a:stretch>
        </p:blipFill>
        <p:spPr>
          <a:xfrm>
            <a:off x="6983600" y="415175"/>
            <a:ext cx="1974051" cy="300175"/>
          </a:xfrm>
          <a:prstGeom prst="rect">
            <a:avLst/>
          </a:prstGeom>
          <a:noFill/>
          <a:ln>
            <a:noFill/>
          </a:ln>
        </p:spPr>
      </p:pic>
      <p:grpSp>
        <p:nvGrpSpPr>
          <p:cNvPr id="3" name="Group 2">
            <a:extLst>
              <a:ext uri="{FF2B5EF4-FFF2-40B4-BE49-F238E27FC236}">
                <a16:creationId xmlns:a16="http://schemas.microsoft.com/office/drawing/2014/main" xmlns="" id="{620A2E88-C0C5-F3E1-BFDE-CCAFCC8CAECD}"/>
              </a:ext>
            </a:extLst>
          </p:cNvPr>
          <p:cNvGrpSpPr/>
          <p:nvPr userDrawn="1"/>
        </p:nvGrpSpPr>
        <p:grpSpPr>
          <a:xfrm>
            <a:off x="0" y="0"/>
            <a:ext cx="9144000" cy="5143500"/>
            <a:chOff x="0" y="0"/>
            <a:chExt cx="9144000" cy="5143500"/>
          </a:xfrm>
        </p:grpSpPr>
        <p:sp>
          <p:nvSpPr>
            <p:cNvPr id="4" name="Rectangle 3">
              <a:extLst>
                <a:ext uri="{FF2B5EF4-FFF2-40B4-BE49-F238E27FC236}">
                  <a16:creationId xmlns:a16="http://schemas.microsoft.com/office/drawing/2014/main" xmlns="" id="{78143065-A6F6-FC7E-E618-2984DF46D117}"/>
                </a:ext>
              </a:extLst>
            </p:cNvPr>
            <p:cNvSpPr/>
            <p:nvPr userDrawn="1"/>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xmlns="" id="{1603F88D-723E-D5A2-5042-938B1131CB19}"/>
                </a:ext>
              </a:extLst>
            </p:cNvPr>
            <p:cNvCxnSpPr>
              <a:cxnSpLocks/>
            </p:cNvCxnSpPr>
            <p:nvPr userDrawn="1"/>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pic>
        <p:nvPicPr>
          <p:cNvPr id="2" name="Google Shape;19;p3">
            <a:extLst>
              <a:ext uri="{FF2B5EF4-FFF2-40B4-BE49-F238E27FC236}">
                <a16:creationId xmlns:a16="http://schemas.microsoft.com/office/drawing/2014/main" xmlns="" id="{4C6107CA-D479-DBD9-442B-86DAA3339DF7}"/>
              </a:ext>
            </a:extLst>
          </p:cNvPr>
          <p:cNvPicPr preferRelativeResize="0"/>
          <p:nvPr userDrawn="1"/>
        </p:nvPicPr>
        <p:blipFill>
          <a:blip r:embed="rId2">
            <a:alphaModFix/>
          </a:blip>
          <a:stretch>
            <a:fillRect/>
          </a:stretch>
        </p:blipFill>
        <p:spPr>
          <a:xfrm>
            <a:off x="6983600" y="415175"/>
            <a:ext cx="1974051" cy="300175"/>
          </a:xfrm>
          <a:prstGeom prst="rect">
            <a:avLst/>
          </a:prstGeom>
          <a:noFill/>
          <a:ln>
            <a:noFill/>
          </a:ln>
        </p:spPr>
      </p:pic>
      <p:grpSp>
        <p:nvGrpSpPr>
          <p:cNvPr id="3" name="Group 2">
            <a:extLst>
              <a:ext uri="{FF2B5EF4-FFF2-40B4-BE49-F238E27FC236}">
                <a16:creationId xmlns:a16="http://schemas.microsoft.com/office/drawing/2014/main" xmlns="" id="{DF8C45B5-43CE-0687-BBDC-28955F0D65E0}"/>
              </a:ext>
            </a:extLst>
          </p:cNvPr>
          <p:cNvGrpSpPr/>
          <p:nvPr userDrawn="1"/>
        </p:nvGrpSpPr>
        <p:grpSpPr>
          <a:xfrm>
            <a:off x="0" y="0"/>
            <a:ext cx="9144000" cy="5143500"/>
            <a:chOff x="0" y="0"/>
            <a:chExt cx="9144000" cy="5143500"/>
          </a:xfrm>
        </p:grpSpPr>
        <p:sp>
          <p:nvSpPr>
            <p:cNvPr id="4" name="Rectangle 3">
              <a:extLst>
                <a:ext uri="{FF2B5EF4-FFF2-40B4-BE49-F238E27FC236}">
                  <a16:creationId xmlns:a16="http://schemas.microsoft.com/office/drawing/2014/main" xmlns="" id="{5DF10958-A5EA-E472-8211-7F522F2CB3A3}"/>
                </a:ext>
              </a:extLst>
            </p:cNvPr>
            <p:cNvSpPr/>
            <p:nvPr userDrawn="1"/>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xmlns="" id="{9E3FEB3E-4F61-44F2-9AAE-1A3F0BC4987E}"/>
                </a:ext>
              </a:extLst>
            </p:cNvPr>
            <p:cNvCxnSpPr>
              <a:cxnSpLocks/>
            </p:cNvCxnSpPr>
            <p:nvPr userDrawn="1"/>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8"/>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8"/>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8"/>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8"/>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pic>
        <p:nvPicPr>
          <p:cNvPr id="2" name="Google Shape;19;p3">
            <a:extLst>
              <a:ext uri="{FF2B5EF4-FFF2-40B4-BE49-F238E27FC236}">
                <a16:creationId xmlns:a16="http://schemas.microsoft.com/office/drawing/2014/main" xmlns="" id="{4B80D59B-9DFE-4595-F8A3-0013247AD4D0}"/>
              </a:ext>
            </a:extLst>
          </p:cNvPr>
          <p:cNvPicPr preferRelativeResize="0"/>
          <p:nvPr userDrawn="1"/>
        </p:nvPicPr>
        <p:blipFill>
          <a:blip r:embed="rId2">
            <a:alphaModFix/>
          </a:blip>
          <a:stretch>
            <a:fillRect/>
          </a:stretch>
        </p:blipFill>
        <p:spPr>
          <a:xfrm>
            <a:off x="6983600" y="415175"/>
            <a:ext cx="1974051" cy="300175"/>
          </a:xfrm>
          <a:prstGeom prst="rect">
            <a:avLst/>
          </a:prstGeom>
          <a:noFill/>
          <a:ln>
            <a:noFill/>
          </a:ln>
        </p:spPr>
      </p:pic>
      <p:grpSp>
        <p:nvGrpSpPr>
          <p:cNvPr id="3" name="Group 2">
            <a:extLst>
              <a:ext uri="{FF2B5EF4-FFF2-40B4-BE49-F238E27FC236}">
                <a16:creationId xmlns:a16="http://schemas.microsoft.com/office/drawing/2014/main" xmlns="" id="{EE62799D-B28B-3CB1-D50D-DD86F6B6AF93}"/>
              </a:ext>
            </a:extLst>
          </p:cNvPr>
          <p:cNvGrpSpPr/>
          <p:nvPr userDrawn="1"/>
        </p:nvGrpSpPr>
        <p:grpSpPr>
          <a:xfrm>
            <a:off x="0" y="0"/>
            <a:ext cx="9144000" cy="5143500"/>
            <a:chOff x="0" y="0"/>
            <a:chExt cx="9144000" cy="5143500"/>
          </a:xfrm>
        </p:grpSpPr>
        <p:sp>
          <p:nvSpPr>
            <p:cNvPr id="4" name="Rectangle 3">
              <a:extLst>
                <a:ext uri="{FF2B5EF4-FFF2-40B4-BE49-F238E27FC236}">
                  <a16:creationId xmlns:a16="http://schemas.microsoft.com/office/drawing/2014/main" xmlns="" id="{7463A03A-9863-B929-6FD2-F2BEBAA76FAB}"/>
                </a:ext>
              </a:extLst>
            </p:cNvPr>
            <p:cNvSpPr/>
            <p:nvPr userDrawn="1"/>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xmlns="" id="{EE93E7E5-1903-8F06-EB29-347874908DDD}"/>
                </a:ext>
              </a:extLst>
            </p:cNvPr>
            <p:cNvCxnSpPr>
              <a:cxnSpLocks/>
            </p:cNvCxnSpPr>
            <p:nvPr userDrawn="1"/>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9"/>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pic>
        <p:nvPicPr>
          <p:cNvPr id="2" name="Google Shape;19;p3">
            <a:extLst>
              <a:ext uri="{FF2B5EF4-FFF2-40B4-BE49-F238E27FC236}">
                <a16:creationId xmlns:a16="http://schemas.microsoft.com/office/drawing/2014/main" xmlns="" id="{29DD75D0-7AAD-DBAE-B237-73B7EEE84BA0}"/>
              </a:ext>
            </a:extLst>
          </p:cNvPr>
          <p:cNvPicPr preferRelativeResize="0"/>
          <p:nvPr userDrawn="1"/>
        </p:nvPicPr>
        <p:blipFill>
          <a:blip r:embed="rId2">
            <a:alphaModFix/>
          </a:blip>
          <a:stretch>
            <a:fillRect/>
          </a:stretch>
        </p:blipFill>
        <p:spPr>
          <a:xfrm>
            <a:off x="6983600" y="415175"/>
            <a:ext cx="1974051" cy="300175"/>
          </a:xfrm>
          <a:prstGeom prst="rect">
            <a:avLst/>
          </a:prstGeom>
          <a:noFill/>
          <a:ln>
            <a:noFill/>
          </a:ln>
        </p:spPr>
      </p:pic>
      <p:grpSp>
        <p:nvGrpSpPr>
          <p:cNvPr id="3" name="Group 2">
            <a:extLst>
              <a:ext uri="{FF2B5EF4-FFF2-40B4-BE49-F238E27FC236}">
                <a16:creationId xmlns:a16="http://schemas.microsoft.com/office/drawing/2014/main" xmlns="" id="{61EBF5A7-032C-2FEC-A530-5DDAED5DFD38}"/>
              </a:ext>
            </a:extLst>
          </p:cNvPr>
          <p:cNvGrpSpPr/>
          <p:nvPr userDrawn="1"/>
        </p:nvGrpSpPr>
        <p:grpSpPr>
          <a:xfrm>
            <a:off x="0" y="0"/>
            <a:ext cx="9144000" cy="5143500"/>
            <a:chOff x="0" y="0"/>
            <a:chExt cx="9144000" cy="5143500"/>
          </a:xfrm>
        </p:grpSpPr>
        <p:sp>
          <p:nvSpPr>
            <p:cNvPr id="4" name="Rectangle 3">
              <a:extLst>
                <a:ext uri="{FF2B5EF4-FFF2-40B4-BE49-F238E27FC236}">
                  <a16:creationId xmlns:a16="http://schemas.microsoft.com/office/drawing/2014/main" xmlns="" id="{5D710205-E448-248A-F1A8-714D3E07A8E6}"/>
                </a:ext>
              </a:extLst>
            </p:cNvPr>
            <p:cNvSpPr/>
            <p:nvPr userDrawn="1"/>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xmlns="" id="{C3ED8E06-7678-1E49-4DD3-8274B819AD4B}"/>
                </a:ext>
              </a:extLst>
            </p:cNvPr>
            <p:cNvCxnSpPr>
              <a:cxnSpLocks/>
            </p:cNvCxnSpPr>
            <p:nvPr userDrawn="1"/>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0"/>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0"/>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pic>
        <p:nvPicPr>
          <p:cNvPr id="2" name="Google Shape;19;p3">
            <a:extLst>
              <a:ext uri="{FF2B5EF4-FFF2-40B4-BE49-F238E27FC236}">
                <a16:creationId xmlns:a16="http://schemas.microsoft.com/office/drawing/2014/main" xmlns="" id="{8C6D8B5F-E71F-89BC-8E87-3A30BD1A4CC9}"/>
              </a:ext>
            </a:extLst>
          </p:cNvPr>
          <p:cNvPicPr preferRelativeResize="0"/>
          <p:nvPr userDrawn="1"/>
        </p:nvPicPr>
        <p:blipFill>
          <a:blip r:embed="rId2">
            <a:alphaModFix/>
          </a:blip>
          <a:stretch>
            <a:fillRect/>
          </a:stretch>
        </p:blipFill>
        <p:spPr>
          <a:xfrm>
            <a:off x="6983600" y="415175"/>
            <a:ext cx="1974051" cy="300175"/>
          </a:xfrm>
          <a:prstGeom prst="rect">
            <a:avLst/>
          </a:prstGeom>
          <a:noFill/>
          <a:ln>
            <a:noFill/>
          </a:ln>
        </p:spPr>
      </p:pic>
      <p:grpSp>
        <p:nvGrpSpPr>
          <p:cNvPr id="3" name="Group 2">
            <a:extLst>
              <a:ext uri="{FF2B5EF4-FFF2-40B4-BE49-F238E27FC236}">
                <a16:creationId xmlns:a16="http://schemas.microsoft.com/office/drawing/2014/main" xmlns="" id="{C1D23F59-17D7-E341-3EEF-E0BB0BF998D9}"/>
              </a:ext>
            </a:extLst>
          </p:cNvPr>
          <p:cNvGrpSpPr/>
          <p:nvPr userDrawn="1"/>
        </p:nvGrpSpPr>
        <p:grpSpPr>
          <a:xfrm>
            <a:off x="0" y="0"/>
            <a:ext cx="9144000" cy="5143500"/>
            <a:chOff x="0" y="0"/>
            <a:chExt cx="9144000" cy="5143500"/>
          </a:xfrm>
        </p:grpSpPr>
        <p:sp>
          <p:nvSpPr>
            <p:cNvPr id="4" name="Rectangle 3">
              <a:extLst>
                <a:ext uri="{FF2B5EF4-FFF2-40B4-BE49-F238E27FC236}">
                  <a16:creationId xmlns:a16="http://schemas.microsoft.com/office/drawing/2014/main" xmlns="" id="{B515A719-DA34-2E01-979A-46397BB11384}"/>
                </a:ext>
              </a:extLst>
            </p:cNvPr>
            <p:cNvSpPr/>
            <p:nvPr userDrawn="1"/>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xmlns="" id="{22B0660F-D9C4-5DA1-78EE-8553930B3A5E}"/>
                </a:ext>
              </a:extLst>
            </p:cNvPr>
            <p:cNvCxnSpPr>
              <a:cxnSpLocks/>
            </p:cNvCxnSpPr>
            <p:nvPr userDrawn="1"/>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pic>
        <p:nvPicPr>
          <p:cNvPr id="2" name="Google Shape;19;p3">
            <a:extLst>
              <a:ext uri="{FF2B5EF4-FFF2-40B4-BE49-F238E27FC236}">
                <a16:creationId xmlns:a16="http://schemas.microsoft.com/office/drawing/2014/main" xmlns="" id="{FC28A863-5B0F-9BCA-A385-49253AD43076}"/>
              </a:ext>
            </a:extLst>
          </p:cNvPr>
          <p:cNvPicPr preferRelativeResize="0"/>
          <p:nvPr userDrawn="1"/>
        </p:nvPicPr>
        <p:blipFill>
          <a:blip r:embed="rId2">
            <a:alphaModFix/>
          </a:blip>
          <a:stretch>
            <a:fillRect/>
          </a:stretch>
        </p:blipFill>
        <p:spPr>
          <a:xfrm>
            <a:off x="6983600" y="415175"/>
            <a:ext cx="1974051" cy="300175"/>
          </a:xfrm>
          <a:prstGeom prst="rect">
            <a:avLst/>
          </a:prstGeom>
          <a:noFill/>
          <a:ln>
            <a:noFill/>
          </a:ln>
        </p:spPr>
      </p:pic>
      <p:grpSp>
        <p:nvGrpSpPr>
          <p:cNvPr id="3" name="Group 2">
            <a:extLst>
              <a:ext uri="{FF2B5EF4-FFF2-40B4-BE49-F238E27FC236}">
                <a16:creationId xmlns:a16="http://schemas.microsoft.com/office/drawing/2014/main" xmlns="" id="{D7D09F3A-36FC-0746-667D-6B93C1215C86}"/>
              </a:ext>
            </a:extLst>
          </p:cNvPr>
          <p:cNvGrpSpPr/>
          <p:nvPr userDrawn="1"/>
        </p:nvGrpSpPr>
        <p:grpSpPr>
          <a:xfrm>
            <a:off x="0" y="0"/>
            <a:ext cx="9144000" cy="5143500"/>
            <a:chOff x="0" y="0"/>
            <a:chExt cx="9144000" cy="5143500"/>
          </a:xfrm>
        </p:grpSpPr>
        <p:sp>
          <p:nvSpPr>
            <p:cNvPr id="4" name="Rectangle 3">
              <a:extLst>
                <a:ext uri="{FF2B5EF4-FFF2-40B4-BE49-F238E27FC236}">
                  <a16:creationId xmlns:a16="http://schemas.microsoft.com/office/drawing/2014/main" xmlns="" id="{778F927E-55A4-6336-27F0-54CC04169F90}"/>
                </a:ext>
              </a:extLst>
            </p:cNvPr>
            <p:cNvSpPr/>
            <p:nvPr userDrawn="1"/>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xmlns="" id="{5E7FB4EA-C9D5-7BAD-842D-836A077342B2}"/>
                </a:ext>
              </a:extLst>
            </p:cNvPr>
            <p:cNvCxnSpPr>
              <a:cxnSpLocks/>
            </p:cNvCxnSpPr>
            <p:nvPr userDrawn="1"/>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1">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37051" y="168324"/>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506800"/>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dirty="0"/>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pic>
        <p:nvPicPr>
          <p:cNvPr id="9" name="Google Shape;9;p1"/>
          <p:cNvPicPr preferRelativeResize="0"/>
          <p:nvPr/>
        </p:nvPicPr>
        <p:blipFill>
          <a:blip r:embed="rId12">
            <a:alphaModFix/>
          </a:blip>
          <a:stretch>
            <a:fillRect/>
          </a:stretch>
        </p:blipFill>
        <p:spPr>
          <a:xfrm>
            <a:off x="216000" y="216000"/>
            <a:ext cx="1507681" cy="647999"/>
          </a:xfrm>
          <a:prstGeom prst="rect">
            <a:avLst/>
          </a:prstGeom>
          <a:noFill/>
          <a:ln>
            <a:noFill/>
          </a:ln>
        </p:spPr>
      </p:pic>
      <p:sp>
        <p:nvSpPr>
          <p:cNvPr id="5" name="Rectangle 4">
            <a:extLst>
              <a:ext uri="{FF2B5EF4-FFF2-40B4-BE49-F238E27FC236}">
                <a16:creationId xmlns:a16="http://schemas.microsoft.com/office/drawing/2014/main" xmlns="" id="{6E59EC21-A6EB-AA16-2565-465E8F414E64}"/>
              </a:ext>
            </a:extLst>
          </p:cNvPr>
          <p:cNvSpPr/>
          <p:nvPr userDrawn="1"/>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Platform as a Service (PaaS)</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7" y="928916"/>
            <a:ext cx="8904512" cy="4401205"/>
          </a:xfrm>
          <a:prstGeom prst="rect">
            <a:avLst/>
          </a:prstGeom>
        </p:spPr>
        <p:txBody>
          <a:bodyPr wrap="square">
            <a:spAutoFit/>
          </a:bodyPr>
          <a:lstStyle/>
          <a:p>
            <a:pPr marL="285750" indent="-285750" algn="just">
              <a:buFont typeface="Arial" panose="020B0604020202020204" pitchFamily="34" charset="0"/>
              <a:buChar char="•"/>
            </a:pPr>
            <a:r>
              <a:rPr lang="en-US" b="1" dirty="0">
                <a:solidFill>
                  <a:srgbClr val="C00000"/>
                </a:solidFill>
                <a:latin typeface="Times New Roman" panose="02020603050405020304" pitchFamily="18" charset="0"/>
                <a:cs typeface="Times New Roman" panose="02020603050405020304" pitchFamily="18" charset="0"/>
              </a:rPr>
              <a:t>PaaS" stands for "Platform as a Service," </a:t>
            </a:r>
            <a:r>
              <a:rPr lang="en-US" dirty="0">
                <a:solidFill>
                  <a:srgbClr val="C00000"/>
                </a:solidFill>
                <a:latin typeface="Times New Roman" panose="02020603050405020304" pitchFamily="18" charset="0"/>
                <a:cs typeface="Times New Roman" panose="02020603050405020304" pitchFamily="18" charset="0"/>
              </a:rPr>
              <a:t>which is a cloud computing model where a </a:t>
            </a:r>
            <a:r>
              <a:rPr lang="en-US" b="1" dirty="0">
                <a:solidFill>
                  <a:srgbClr val="C00000"/>
                </a:solidFill>
                <a:latin typeface="Times New Roman" panose="02020603050405020304" pitchFamily="18" charset="0"/>
                <a:cs typeface="Times New Roman" panose="02020603050405020304" pitchFamily="18" charset="0"/>
              </a:rPr>
              <a:t>third-party provider delivers a complete platform for developing, deploying, and managing applications</a:t>
            </a:r>
            <a:r>
              <a:rPr lang="en-US" dirty="0">
                <a:solidFill>
                  <a:srgbClr val="C00000"/>
                </a:solidFill>
                <a:latin typeface="Times New Roman" panose="02020603050405020304" pitchFamily="18" charset="0"/>
                <a:cs typeface="Times New Roman" panose="02020603050405020304" pitchFamily="18" charset="0"/>
              </a:rPr>
              <a:t>, allowing users to focus on building their applications without managing the </a:t>
            </a:r>
            <a:r>
              <a:rPr lang="en-US" b="1" dirty="0">
                <a:solidFill>
                  <a:srgbClr val="C00000"/>
                </a:solidFill>
                <a:latin typeface="Times New Roman" panose="02020603050405020304" pitchFamily="18" charset="0"/>
                <a:cs typeface="Times New Roman" panose="02020603050405020304" pitchFamily="18" charset="0"/>
              </a:rPr>
              <a:t>underlying infrastructure like servers, operating systems, and databases</a:t>
            </a:r>
            <a:r>
              <a:rPr lang="en-US" dirty="0">
                <a:solidFill>
                  <a:srgbClr val="C00000"/>
                </a:solidFill>
                <a:latin typeface="Times New Roman" panose="02020603050405020304" pitchFamily="18" charset="0"/>
                <a:cs typeface="Times New Roman" panose="02020603050405020304" pitchFamily="18" charset="0"/>
              </a:rPr>
              <a:t>; essentially, it provides a ready-to-use environment for application development in the cloud</a:t>
            </a:r>
            <a:r>
              <a:rPr lang="en-US"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b="1" dirty="0" smtClean="0">
                <a:solidFill>
                  <a:srgbClr val="C00000"/>
                </a:solidFill>
                <a:latin typeface="Times New Roman" panose="02020603050405020304" pitchFamily="18" charset="0"/>
                <a:cs typeface="Times New Roman" panose="02020603050405020304" pitchFamily="18" charset="0"/>
              </a:rPr>
              <a:t>Platform </a:t>
            </a:r>
            <a:r>
              <a:rPr lang="en-US" b="1" dirty="0">
                <a:solidFill>
                  <a:srgbClr val="C00000"/>
                </a:solidFill>
                <a:latin typeface="Times New Roman" panose="02020603050405020304" pitchFamily="18" charset="0"/>
                <a:cs typeface="Times New Roman" panose="02020603050405020304" pitchFamily="18" charset="0"/>
              </a:rPr>
              <a:t>as a service (PaaS)</a:t>
            </a:r>
            <a:r>
              <a:rPr lang="en-US" dirty="0">
                <a:solidFill>
                  <a:srgbClr val="C00000"/>
                </a:solidFill>
                <a:latin typeface="Times New Roman" panose="02020603050405020304" pitchFamily="18" charset="0"/>
                <a:cs typeface="Times New Roman" panose="02020603050405020304" pitchFamily="18" charset="0"/>
              </a:rPr>
              <a:t> is a complete development and deployment environment in the cloud, with resources that enable you to deliver everything from simple cloud-based apps to sophisticated, cloud-enabled enterprise applications.</a:t>
            </a:r>
          </a:p>
          <a:p>
            <a:pPr marL="285750" indent="-285750" algn="just">
              <a:buFont typeface="Arial" panose="020B0604020202020204" pitchFamily="34" charset="0"/>
              <a:buChar char="•"/>
            </a:pPr>
            <a:endParaRPr lang="en-US"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The </a:t>
            </a:r>
            <a:r>
              <a:rPr lang="en-US" dirty="0">
                <a:solidFill>
                  <a:srgbClr val="002060"/>
                </a:solidFill>
                <a:latin typeface="Times New Roman" panose="02020603050405020304" pitchFamily="18" charset="0"/>
                <a:cs typeface="Times New Roman" panose="02020603050405020304" pitchFamily="18" charset="0"/>
              </a:rPr>
              <a:t>Platform as a Service model </a:t>
            </a:r>
            <a:r>
              <a:rPr lang="en-US" b="1" dirty="0">
                <a:solidFill>
                  <a:srgbClr val="002060"/>
                </a:solidFill>
                <a:latin typeface="Times New Roman" panose="02020603050405020304" pitchFamily="18" charset="0"/>
                <a:cs typeface="Times New Roman" panose="02020603050405020304" pitchFamily="18" charset="0"/>
              </a:rPr>
              <a:t>describes a software environment </a:t>
            </a:r>
            <a:r>
              <a:rPr lang="en-US" dirty="0">
                <a:solidFill>
                  <a:srgbClr val="002060"/>
                </a:solidFill>
                <a:latin typeface="Times New Roman" panose="02020603050405020304" pitchFamily="18" charset="0"/>
                <a:cs typeface="Times New Roman" panose="02020603050405020304" pitchFamily="18" charset="0"/>
              </a:rPr>
              <a:t>in which a developer can </a:t>
            </a:r>
            <a:r>
              <a:rPr lang="en-US" dirty="0" smtClean="0">
                <a:solidFill>
                  <a:srgbClr val="002060"/>
                </a:solidFill>
                <a:latin typeface="Times New Roman" panose="02020603050405020304" pitchFamily="18" charset="0"/>
                <a:cs typeface="Times New Roman" panose="02020603050405020304" pitchFamily="18" charset="0"/>
              </a:rPr>
              <a:t>create customized </a:t>
            </a:r>
            <a:r>
              <a:rPr lang="en-US" dirty="0">
                <a:solidFill>
                  <a:srgbClr val="002060"/>
                </a:solidFill>
                <a:latin typeface="Times New Roman" panose="02020603050405020304" pitchFamily="18" charset="0"/>
                <a:cs typeface="Times New Roman" panose="02020603050405020304" pitchFamily="18" charset="0"/>
              </a:rPr>
              <a:t>solutions within the context of the development tools that the platform provides.</a:t>
            </a:r>
          </a:p>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Platforms </a:t>
            </a:r>
            <a:r>
              <a:rPr lang="en-US" dirty="0">
                <a:solidFill>
                  <a:srgbClr val="002060"/>
                </a:solidFill>
                <a:latin typeface="Times New Roman" panose="02020603050405020304" pitchFamily="18" charset="0"/>
                <a:cs typeface="Times New Roman" panose="02020603050405020304" pitchFamily="18" charset="0"/>
              </a:rPr>
              <a:t>can be based on </a:t>
            </a:r>
            <a:r>
              <a:rPr lang="en-US" b="1" dirty="0">
                <a:solidFill>
                  <a:srgbClr val="002060"/>
                </a:solidFill>
                <a:latin typeface="Times New Roman" panose="02020603050405020304" pitchFamily="18" charset="0"/>
                <a:cs typeface="Times New Roman" panose="02020603050405020304" pitchFamily="18" charset="0"/>
              </a:rPr>
              <a:t>specific types of development languages</a:t>
            </a:r>
            <a:r>
              <a:rPr lang="en-US" dirty="0">
                <a:solidFill>
                  <a:srgbClr val="002060"/>
                </a:solidFill>
                <a:latin typeface="Times New Roman" panose="02020603050405020304" pitchFamily="18" charset="0"/>
                <a:cs typeface="Times New Roman" panose="02020603050405020304" pitchFamily="18" charset="0"/>
              </a:rPr>
              <a:t>, application frameworks, </a:t>
            </a:r>
            <a:r>
              <a:rPr lang="en-US" dirty="0" smtClean="0">
                <a:solidFill>
                  <a:srgbClr val="002060"/>
                </a:solidFill>
                <a:latin typeface="Times New Roman" panose="02020603050405020304" pitchFamily="18" charset="0"/>
                <a:cs typeface="Times New Roman" panose="02020603050405020304" pitchFamily="18" charset="0"/>
              </a:rPr>
              <a:t>or other </a:t>
            </a:r>
            <a:r>
              <a:rPr lang="en-US" dirty="0">
                <a:solidFill>
                  <a:srgbClr val="002060"/>
                </a:solidFill>
                <a:latin typeface="Times New Roman" panose="02020603050405020304" pitchFamily="18" charset="0"/>
                <a:cs typeface="Times New Roman" panose="02020603050405020304" pitchFamily="18" charset="0"/>
              </a:rPr>
              <a:t>constructs. A PaaS offering provides the tools and development environment to deploy </a:t>
            </a:r>
            <a:r>
              <a:rPr lang="en-US" dirty="0" smtClean="0">
                <a:solidFill>
                  <a:srgbClr val="002060"/>
                </a:solidFill>
                <a:latin typeface="Times New Roman" panose="02020603050405020304" pitchFamily="18" charset="0"/>
                <a:cs typeface="Times New Roman" panose="02020603050405020304" pitchFamily="18" charset="0"/>
              </a:rPr>
              <a:t>applications </a:t>
            </a:r>
            <a:r>
              <a:rPr lang="en-US" dirty="0">
                <a:solidFill>
                  <a:srgbClr val="002060"/>
                </a:solidFill>
                <a:latin typeface="Times New Roman" panose="02020603050405020304" pitchFamily="18" charset="0"/>
                <a:cs typeface="Times New Roman" panose="02020603050405020304" pitchFamily="18" charset="0"/>
              </a:rPr>
              <a:t>on another vendor’s application</a:t>
            </a:r>
            <a:r>
              <a:rPr lang="en-US" dirty="0" smtClean="0">
                <a:solidFill>
                  <a:srgbClr val="00206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US"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b="1" dirty="0" smtClean="0">
                <a:solidFill>
                  <a:srgbClr val="002060"/>
                </a:solidFill>
                <a:latin typeface="Times New Roman" panose="02020603050405020304" pitchFamily="18" charset="0"/>
                <a:cs typeface="Times New Roman" panose="02020603050405020304" pitchFamily="18" charset="0"/>
              </a:rPr>
              <a:t>PaaS </a:t>
            </a:r>
            <a:r>
              <a:rPr lang="en-US" b="1" dirty="0">
                <a:solidFill>
                  <a:srgbClr val="002060"/>
                </a:solidFill>
                <a:latin typeface="Times New Roman" panose="02020603050405020304" pitchFamily="18" charset="0"/>
                <a:cs typeface="Times New Roman" panose="02020603050405020304" pitchFamily="18" charset="0"/>
              </a:rPr>
              <a:t>tool is a fully integrated development </a:t>
            </a:r>
            <a:r>
              <a:rPr lang="en-US" b="1" dirty="0" smtClean="0">
                <a:solidFill>
                  <a:srgbClr val="002060"/>
                </a:solidFill>
                <a:latin typeface="Times New Roman" panose="02020603050405020304" pitchFamily="18" charset="0"/>
                <a:cs typeface="Times New Roman" panose="02020603050405020304" pitchFamily="18" charset="0"/>
              </a:rPr>
              <a:t>environment</a:t>
            </a:r>
            <a:r>
              <a:rPr lang="en-US" dirty="0">
                <a:solidFill>
                  <a:srgbClr val="002060"/>
                </a:solidFill>
                <a:latin typeface="Times New Roman" panose="02020603050405020304" pitchFamily="18" charset="0"/>
                <a:cs typeface="Times New Roman" panose="02020603050405020304" pitchFamily="18" charset="0"/>
              </a:rPr>
              <a:t>; that is, all the tools and services are part of the PaaS service</a:t>
            </a:r>
            <a:r>
              <a:rPr lang="en-US" dirty="0" smtClean="0">
                <a:solidFill>
                  <a:srgbClr val="002060"/>
                </a:solidFill>
                <a:latin typeface="Times New Roman" panose="02020603050405020304" pitchFamily="18" charset="0"/>
                <a:cs typeface="Times New Roman" panose="02020603050405020304" pitchFamily="18" charset="0"/>
              </a:rPr>
              <a:t>. </a:t>
            </a:r>
            <a:r>
              <a:rPr lang="en-US" dirty="0">
                <a:solidFill>
                  <a:srgbClr val="002060"/>
                </a:solidFill>
                <a:latin typeface="Times New Roman" panose="02020603050405020304" pitchFamily="18" charset="0"/>
                <a:cs typeface="Times New Roman" panose="02020603050405020304" pitchFamily="18" charset="0"/>
              </a:rPr>
              <a:t>To be useful as a </a:t>
            </a:r>
            <a:r>
              <a:rPr lang="en-US" dirty="0" smtClean="0">
                <a:solidFill>
                  <a:srgbClr val="002060"/>
                </a:solidFill>
                <a:latin typeface="Times New Roman" panose="02020603050405020304" pitchFamily="18" charset="0"/>
                <a:cs typeface="Times New Roman" panose="02020603050405020304" pitchFamily="18" charset="0"/>
              </a:rPr>
              <a:t>cloud computing </a:t>
            </a:r>
            <a:r>
              <a:rPr lang="en-US" dirty="0">
                <a:solidFill>
                  <a:srgbClr val="002060"/>
                </a:solidFill>
                <a:latin typeface="Times New Roman" panose="02020603050405020304" pitchFamily="18" charset="0"/>
                <a:cs typeface="Times New Roman" panose="02020603050405020304" pitchFamily="18" charset="0"/>
              </a:rPr>
              <a:t>offering, PaaS systems must offer a way to create user interfaces, and thus support </a:t>
            </a:r>
            <a:r>
              <a:rPr lang="en-US" dirty="0" smtClean="0">
                <a:solidFill>
                  <a:srgbClr val="002060"/>
                </a:solidFill>
                <a:latin typeface="Times New Roman" panose="02020603050405020304" pitchFamily="18" charset="0"/>
                <a:cs typeface="Times New Roman" panose="02020603050405020304" pitchFamily="18" charset="0"/>
              </a:rPr>
              <a:t>standards </a:t>
            </a:r>
            <a:r>
              <a:rPr lang="en-US" dirty="0">
                <a:solidFill>
                  <a:srgbClr val="002060"/>
                </a:solidFill>
                <a:latin typeface="Times New Roman" panose="02020603050405020304" pitchFamily="18" charset="0"/>
                <a:cs typeface="Times New Roman" panose="02020603050405020304" pitchFamily="18" charset="0"/>
              </a:rPr>
              <a:t>such as </a:t>
            </a:r>
            <a:r>
              <a:rPr lang="en-US" dirty="0" smtClean="0">
                <a:solidFill>
                  <a:srgbClr val="002060"/>
                </a:solidFill>
                <a:latin typeface="Times New Roman" panose="02020603050405020304" pitchFamily="18" charset="0"/>
                <a:cs typeface="Times New Roman" panose="02020603050405020304" pitchFamily="18" charset="0"/>
              </a:rPr>
              <a:t>HTML, </a:t>
            </a:r>
            <a:r>
              <a:rPr lang="en-US" dirty="0">
                <a:solidFill>
                  <a:srgbClr val="002060"/>
                </a:solidFill>
                <a:latin typeface="Times New Roman" panose="02020603050405020304" pitchFamily="18" charset="0"/>
                <a:cs typeface="Times New Roman" panose="02020603050405020304" pitchFamily="18" charset="0"/>
              </a:rPr>
              <a:t>JavaScript, or other rich media technologies.</a:t>
            </a:r>
          </a:p>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38554"/>
          </a:xfrm>
          <a:prstGeom prst="rect">
            <a:avLst/>
          </a:prstGeom>
        </p:spPr>
        <p:txBody>
          <a:bodyPr wrap="square">
            <a:spAutoFit/>
          </a:bodyPr>
          <a:lstStyle/>
          <a:p>
            <a:pPr marL="285750" lvl="1" indent="-285750" algn="just">
              <a:buFont typeface="Arial" panose="020B0604020202020204" pitchFamily="34" charset="0"/>
              <a:buChar char="•"/>
              <a:defRPr/>
            </a:pPr>
            <a:endParaRPr lang="en-US" altLang="en-US" sz="1600" dirty="0">
              <a:solidFill>
                <a:srgbClr val="00206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p:cNvSpPr/>
          <p:nvPr/>
        </p:nvSpPr>
        <p:spPr>
          <a:xfrm>
            <a:off x="87085" y="1037230"/>
            <a:ext cx="890451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64678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Platform as a Service (PaaS)</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07777"/>
          </a:xfrm>
          <a:prstGeom prst="rect">
            <a:avLst/>
          </a:prstGeom>
        </p:spPr>
        <p:txBody>
          <a:bodyPr wrap="square">
            <a:spAutoFit/>
          </a:bodyPr>
          <a:lstStyle/>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p:cNvSpPr/>
          <p:nvPr/>
        </p:nvSpPr>
        <p:spPr>
          <a:xfrm>
            <a:off x="87085" y="1037230"/>
            <a:ext cx="890451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155575" y="928914"/>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stretch>
            <a:fillRect/>
          </a:stretch>
        </p:blipFill>
        <p:spPr>
          <a:xfrm>
            <a:off x="460375" y="1037231"/>
            <a:ext cx="8302625" cy="3635570"/>
          </a:xfrm>
          <a:prstGeom prst="rect">
            <a:avLst/>
          </a:prstGeom>
        </p:spPr>
      </p:pic>
    </p:spTree>
    <p:extLst>
      <p:ext uri="{BB962C8B-B14F-4D97-AF65-F5344CB8AC3E}">
        <p14:creationId xmlns:p14="http://schemas.microsoft.com/office/powerpoint/2010/main" val="35430955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Platform as a Service (PaaS)</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38554"/>
          </a:xfrm>
          <a:prstGeom prst="rect">
            <a:avLst/>
          </a:prstGeom>
        </p:spPr>
        <p:txBody>
          <a:bodyPr wrap="square">
            <a:spAutoFit/>
          </a:bodyPr>
          <a:lstStyle/>
          <a:p>
            <a:pPr marL="285750" lvl="1" indent="-285750" algn="just">
              <a:buFont typeface="Arial" panose="020B0604020202020204" pitchFamily="34" charset="0"/>
              <a:buChar char="•"/>
              <a:defRPr/>
            </a:pPr>
            <a:endParaRPr lang="en-US" altLang="en-US" sz="1600" dirty="0">
              <a:solidFill>
                <a:srgbClr val="00206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p:cNvSpPr/>
          <p:nvPr/>
        </p:nvSpPr>
        <p:spPr>
          <a:xfrm>
            <a:off x="87085" y="1037230"/>
            <a:ext cx="8904514" cy="3754874"/>
          </a:xfrm>
          <a:prstGeom prst="rect">
            <a:avLst/>
          </a:prstGeom>
        </p:spPr>
        <p:txBody>
          <a:bodyPr wrap="square">
            <a:spAutoFit/>
          </a:bodyPr>
          <a:lstStyle/>
          <a:p>
            <a:pPr marL="285750" indent="-285750" algn="just">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In </a:t>
            </a:r>
            <a:r>
              <a:rPr lang="en-US" dirty="0">
                <a:solidFill>
                  <a:srgbClr val="002060"/>
                </a:solidFill>
                <a:latin typeface="Times New Roman" panose="02020603050405020304" pitchFamily="18" charset="0"/>
                <a:cs typeface="Times New Roman" panose="02020603050405020304" pitchFamily="18" charset="0"/>
              </a:rPr>
              <a:t>a PaaS model, customers may interact with </a:t>
            </a:r>
            <a:r>
              <a:rPr lang="en-US" b="1" dirty="0">
                <a:solidFill>
                  <a:srgbClr val="002060"/>
                </a:solidFill>
                <a:latin typeface="Times New Roman" panose="02020603050405020304" pitchFamily="18" charset="0"/>
                <a:cs typeface="Times New Roman" panose="02020603050405020304" pitchFamily="18" charset="0"/>
              </a:rPr>
              <a:t>the software to enter and retrieve data, perform actions, get results,</a:t>
            </a:r>
            <a:r>
              <a:rPr lang="en-US" dirty="0">
                <a:solidFill>
                  <a:srgbClr val="002060"/>
                </a:solidFill>
                <a:latin typeface="Times New Roman" panose="02020603050405020304" pitchFamily="18" charset="0"/>
                <a:cs typeface="Times New Roman" panose="02020603050405020304" pitchFamily="18" charset="0"/>
              </a:rPr>
              <a:t> and to the degree that the vendor allows it, customize the platform involved.</a:t>
            </a:r>
          </a:p>
          <a:p>
            <a:pPr marL="285750" indent="-285750" algn="just">
              <a:buFont typeface="Arial" panose="020B0604020202020204" pitchFamily="34" charset="0"/>
              <a:buChar char="•"/>
            </a:pPr>
            <a:endParaRPr lang="en-US"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solidFill>
                  <a:srgbClr val="002060"/>
                </a:solidFill>
                <a:latin typeface="Times New Roman" panose="02020603050405020304" pitchFamily="18" charset="0"/>
                <a:cs typeface="Times New Roman" panose="02020603050405020304" pitchFamily="18" charset="0"/>
              </a:rPr>
              <a:t>The customer takes no responsibility for maintaining the hardware, the software, or the development of the applications and is responsible only for his interaction with the platform. </a:t>
            </a:r>
          </a:p>
          <a:p>
            <a:pPr marL="285750" indent="-285750" algn="just">
              <a:buFont typeface="Arial" panose="020B0604020202020204" pitchFamily="34" charset="0"/>
              <a:buChar char="•"/>
            </a:pPr>
            <a:endParaRPr lang="en-US"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solidFill>
                  <a:srgbClr val="002060"/>
                </a:solidFill>
                <a:latin typeface="Times New Roman" panose="02020603050405020304" pitchFamily="18" charset="0"/>
                <a:cs typeface="Times New Roman" panose="02020603050405020304" pitchFamily="18" charset="0"/>
              </a:rPr>
              <a:t>The vendor is responsible for all the operational aspects of the service, for maintenance, and for managing the product(s) lifecycle.</a:t>
            </a:r>
            <a:endParaRPr lang="en-IN"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smtClean="0"/>
          </a:p>
          <a:p>
            <a:pPr marL="285750" indent="-285750" algn="just">
              <a:buFont typeface="Arial" panose="020B0604020202020204" pitchFamily="34" charset="0"/>
              <a:buChar char="•"/>
            </a:pPr>
            <a:r>
              <a:rPr lang="en-IN" dirty="0">
                <a:solidFill>
                  <a:srgbClr val="C00000"/>
                </a:solidFill>
                <a:latin typeface="Times New Roman" panose="02020603050405020304" pitchFamily="18" charset="0"/>
                <a:cs typeface="Times New Roman" panose="02020603050405020304" pitchFamily="18" charset="0"/>
              </a:rPr>
              <a:t>The one example that is most quoted as a </a:t>
            </a:r>
            <a:r>
              <a:rPr lang="en-IN" b="1" dirty="0">
                <a:solidFill>
                  <a:srgbClr val="C00000"/>
                </a:solidFill>
                <a:latin typeface="Times New Roman" panose="02020603050405020304" pitchFamily="18" charset="0"/>
                <a:cs typeface="Times New Roman" panose="02020603050405020304" pitchFamily="18" charset="0"/>
              </a:rPr>
              <a:t>PaaS offering is Google’s App Engine platform</a:t>
            </a:r>
            <a:r>
              <a:rPr lang="en-IN" dirty="0">
                <a:solidFill>
                  <a:srgbClr val="C00000"/>
                </a:solidFill>
                <a:latin typeface="Times New Roman" panose="02020603050405020304" pitchFamily="18" charset="0"/>
                <a:cs typeface="Times New Roman" panose="02020603050405020304" pitchFamily="18" charset="0"/>
              </a:rPr>
              <a:t>. Developers program against the App Engine using Google’s published APIs. </a:t>
            </a:r>
          </a:p>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solidFill>
                  <a:srgbClr val="C00000"/>
                </a:solidFill>
                <a:latin typeface="Times New Roman" panose="02020603050405020304" pitchFamily="18" charset="0"/>
                <a:cs typeface="Times New Roman" panose="02020603050405020304" pitchFamily="18" charset="0"/>
              </a:rPr>
              <a:t>The tools for working within the development framework, as well as the structure of the file system and data stores, are defined by Google.</a:t>
            </a:r>
          </a:p>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solidFill>
                  <a:srgbClr val="C00000"/>
                </a:solidFill>
                <a:latin typeface="Times New Roman" panose="02020603050405020304" pitchFamily="18" charset="0"/>
                <a:cs typeface="Times New Roman" panose="02020603050405020304" pitchFamily="18" charset="0"/>
              </a:rPr>
              <a:t>Another example of a PaaS offering is </a:t>
            </a:r>
            <a:r>
              <a:rPr lang="en-US" b="1" dirty="0">
                <a:solidFill>
                  <a:srgbClr val="C00000"/>
                </a:solidFill>
                <a:latin typeface="Times New Roman" panose="02020603050405020304" pitchFamily="18" charset="0"/>
                <a:cs typeface="Times New Roman" panose="02020603050405020304" pitchFamily="18" charset="0"/>
              </a:rPr>
              <a:t>Force.com, </a:t>
            </a:r>
            <a:r>
              <a:rPr lang="en-US" b="1" dirty="0" err="1">
                <a:solidFill>
                  <a:srgbClr val="C00000"/>
                </a:solidFill>
                <a:latin typeface="Times New Roman" panose="02020603050405020304" pitchFamily="18" charset="0"/>
                <a:cs typeface="Times New Roman" panose="02020603050405020304" pitchFamily="18" charset="0"/>
              </a:rPr>
              <a:t>Salesforce.com’s</a:t>
            </a:r>
            <a:r>
              <a:rPr lang="en-US" dirty="0">
                <a:solidFill>
                  <a:srgbClr val="C00000"/>
                </a:solidFill>
                <a:latin typeface="Times New Roman" panose="02020603050405020304" pitchFamily="18" charset="0"/>
                <a:cs typeface="Times New Roman" panose="02020603050405020304" pitchFamily="18" charset="0"/>
              </a:rPr>
              <a:t> developer platform for its SaaS offerings.</a:t>
            </a:r>
          </a:p>
          <a:p>
            <a:pPr marL="285750" indent="-285750" algn="just">
              <a:buFont typeface="Arial" panose="020B0604020202020204" pitchFamily="34" charset="0"/>
              <a:buChar char="•"/>
            </a:pPr>
            <a:endParaRPr lang="en-US" dirty="0"/>
          </a:p>
        </p:txBody>
      </p:sp>
    </p:spTree>
    <p:extLst>
      <p:ext uri="{BB962C8B-B14F-4D97-AF65-F5344CB8AC3E}">
        <p14:creationId xmlns:p14="http://schemas.microsoft.com/office/powerpoint/2010/main" val="1143432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Platform as a Service (PaaS)</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338554"/>
          </a:xfrm>
          <a:prstGeom prst="rect">
            <a:avLst/>
          </a:prstGeom>
        </p:spPr>
        <p:txBody>
          <a:bodyPr wrap="square">
            <a:spAutoFit/>
          </a:bodyPr>
          <a:lstStyle/>
          <a:p>
            <a:pPr marL="285750" lvl="1" indent="-285750" algn="just">
              <a:buFont typeface="Arial" panose="020B0604020202020204" pitchFamily="34" charset="0"/>
              <a:buChar char="•"/>
              <a:defRPr/>
            </a:pPr>
            <a:endParaRPr lang="en-US" altLang="en-US" sz="1600" dirty="0">
              <a:solidFill>
                <a:srgbClr val="00206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p:cNvSpPr/>
          <p:nvPr/>
        </p:nvSpPr>
        <p:spPr>
          <a:xfrm>
            <a:off x="87085" y="1037230"/>
            <a:ext cx="890451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155575" y="928914"/>
            <a:ext cx="8836024" cy="3754874"/>
          </a:xfrm>
          <a:prstGeom prst="rect">
            <a:avLst/>
          </a:prstGeom>
        </p:spPr>
        <p:txBody>
          <a:bodyPr wrap="square">
            <a:spAutoFit/>
          </a:bodyPr>
          <a:lstStyle/>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solidFill>
                  <a:srgbClr val="002060"/>
                </a:solidFill>
                <a:latin typeface="Times New Roman" panose="02020603050405020304" pitchFamily="18" charset="0"/>
                <a:cs typeface="Times New Roman" panose="02020603050405020304" pitchFamily="18" charset="0"/>
              </a:rPr>
              <a:t>Force.com is an example of an add-on development environment. A developer might write an application in a programming language like Python using the Google API.</a:t>
            </a:r>
          </a:p>
          <a:p>
            <a:pPr marL="285750" indent="-285750" algn="just">
              <a:buFont typeface="Arial" panose="020B0604020202020204" pitchFamily="34" charset="0"/>
              <a:buChar char="•"/>
            </a:pPr>
            <a:endParaRPr lang="en-US"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solidFill>
                  <a:srgbClr val="002060"/>
                </a:solidFill>
                <a:latin typeface="Times New Roman" panose="02020603050405020304" pitchFamily="18" charset="0"/>
                <a:cs typeface="Times New Roman" panose="02020603050405020304" pitchFamily="18" charset="0"/>
              </a:rPr>
              <a:t>The vendor of the PaaS solution is in most cases the developer, who is offering a complete solution to the customer. </a:t>
            </a:r>
          </a:p>
          <a:p>
            <a:pPr marL="285750" indent="-285750" algn="just">
              <a:buFont typeface="Arial" panose="020B0604020202020204" pitchFamily="34" charset="0"/>
              <a:buChar char="•"/>
            </a:pPr>
            <a:endParaRPr lang="en-US"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solidFill>
                  <a:srgbClr val="002060"/>
                </a:solidFill>
                <a:latin typeface="Times New Roman" panose="02020603050405020304" pitchFamily="18" charset="0"/>
                <a:cs typeface="Times New Roman" panose="02020603050405020304" pitchFamily="18" charset="0"/>
              </a:rPr>
              <a:t>Google itself also serves as a PaaS vendor within this system, because it offers many of its Web service applications to customers as part of this service model</a:t>
            </a:r>
            <a:r>
              <a:rPr lang="en-US" dirty="0" smtClean="0">
                <a:solidFill>
                  <a:srgbClr val="002060"/>
                </a:solidFill>
                <a:latin typeface="Times New Roman" panose="02020603050405020304" pitchFamily="18" charset="0"/>
                <a:cs typeface="Times New Roman" panose="02020603050405020304" pitchFamily="18" charset="0"/>
              </a:rPr>
              <a:t>.</a:t>
            </a:r>
          </a:p>
          <a:p>
            <a:pPr algn="just"/>
            <a:endParaRPr lang="en-US"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solidFill>
                  <a:srgbClr val="C00000"/>
                </a:solidFill>
                <a:latin typeface="Times New Roman" panose="02020603050405020304" pitchFamily="18" charset="0"/>
                <a:cs typeface="Times New Roman" panose="02020603050405020304" pitchFamily="18" charset="0"/>
              </a:rPr>
              <a:t>You can think of </a:t>
            </a:r>
            <a:r>
              <a:rPr lang="en-US" b="1" dirty="0">
                <a:solidFill>
                  <a:srgbClr val="C00000"/>
                </a:solidFill>
                <a:latin typeface="Times New Roman" panose="02020603050405020304" pitchFamily="18" charset="0"/>
                <a:cs typeface="Times New Roman" panose="02020603050405020304" pitchFamily="18" charset="0"/>
              </a:rPr>
              <a:t>Google Maps, Google Earth, Gmail, and the myriad </a:t>
            </a:r>
            <a:r>
              <a:rPr lang="en-US" dirty="0">
                <a:solidFill>
                  <a:srgbClr val="C00000"/>
                </a:solidFill>
                <a:latin typeface="Times New Roman" panose="02020603050405020304" pitchFamily="18" charset="0"/>
                <a:cs typeface="Times New Roman" panose="02020603050405020304" pitchFamily="18" charset="0"/>
              </a:rPr>
              <a:t>of other PaaS offerings as conforming to the PaaS service model, although these applications themselves are offered to customers. </a:t>
            </a: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solidFill>
                  <a:srgbClr val="C00000"/>
                </a:solidFill>
                <a:latin typeface="Times New Roman" panose="02020603050405020304" pitchFamily="18" charset="0"/>
                <a:cs typeface="Times New Roman" panose="02020603050405020304" pitchFamily="18" charset="0"/>
              </a:rPr>
              <a:t>The difficulty with PaaS is that it </a:t>
            </a:r>
            <a:r>
              <a:rPr lang="en-US" b="1" dirty="0">
                <a:solidFill>
                  <a:srgbClr val="C00000"/>
                </a:solidFill>
                <a:latin typeface="Times New Roman" panose="02020603050405020304" pitchFamily="18" charset="0"/>
                <a:cs typeface="Times New Roman" panose="02020603050405020304" pitchFamily="18" charset="0"/>
              </a:rPr>
              <a:t>locks the developer</a:t>
            </a:r>
            <a:r>
              <a:rPr lang="en-US" dirty="0">
                <a:solidFill>
                  <a:srgbClr val="C00000"/>
                </a:solidFill>
                <a:latin typeface="Times New Roman" panose="02020603050405020304" pitchFamily="18" charset="0"/>
                <a:cs typeface="Times New Roman" panose="02020603050405020304" pitchFamily="18" charset="0"/>
              </a:rPr>
              <a:t> (and the customer) into a solution that is dependent upon the platform vendor. </a:t>
            </a: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solidFill>
                  <a:srgbClr val="C00000"/>
                </a:solidFill>
                <a:latin typeface="Times New Roman" panose="02020603050405020304" pitchFamily="18" charset="0"/>
                <a:cs typeface="Times New Roman" panose="02020603050405020304" pitchFamily="18" charset="0"/>
              </a:rPr>
              <a:t>An application written in </a:t>
            </a:r>
            <a:r>
              <a:rPr lang="en-US" b="1" dirty="0">
                <a:solidFill>
                  <a:srgbClr val="C00000"/>
                </a:solidFill>
                <a:latin typeface="Times New Roman" panose="02020603050405020304" pitchFamily="18" charset="0"/>
                <a:cs typeface="Times New Roman" panose="02020603050405020304" pitchFamily="18" charset="0"/>
              </a:rPr>
              <a:t>Python against Google’s API using the Google App </a:t>
            </a:r>
            <a:r>
              <a:rPr lang="en-US" dirty="0">
                <a:solidFill>
                  <a:srgbClr val="C00000"/>
                </a:solidFill>
                <a:latin typeface="Times New Roman" panose="02020603050405020304" pitchFamily="18" charset="0"/>
                <a:cs typeface="Times New Roman" panose="02020603050405020304" pitchFamily="18" charset="0"/>
              </a:rPr>
              <a:t>Engine is likely to work only in that environment. There is considerable vendor lock-in associated with a PaaS solution</a:t>
            </a:r>
            <a:r>
              <a:rPr lang="en-US" dirty="0" smtClean="0">
                <a:solidFill>
                  <a:srgbClr val="C00000"/>
                </a:solidFill>
                <a:latin typeface="Times New Roman" panose="02020603050405020304" pitchFamily="18" charset="0"/>
                <a:cs typeface="Times New Roman" panose="02020603050405020304" pitchFamily="18" charset="0"/>
              </a:rPr>
              <a:t>.</a:t>
            </a:r>
            <a:endParaRPr lang="en-US"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3534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Platform as a Service (PaaS)-Benefits</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523220"/>
          </a:xfrm>
          <a:prstGeom prst="rect">
            <a:avLst/>
          </a:prstGeom>
        </p:spPr>
        <p:txBody>
          <a:bodyPr wrap="square">
            <a:spAutoFit/>
          </a:bodyPr>
          <a:lstStyle/>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p:cNvSpPr/>
          <p:nvPr/>
        </p:nvSpPr>
        <p:spPr>
          <a:xfrm>
            <a:off x="87085" y="1037230"/>
            <a:ext cx="890451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155575" y="928914"/>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3" name="Rectangle 2"/>
          <p:cNvSpPr/>
          <p:nvPr/>
        </p:nvSpPr>
        <p:spPr>
          <a:xfrm>
            <a:off x="155573" y="928913"/>
            <a:ext cx="8836025" cy="3970318"/>
          </a:xfrm>
          <a:prstGeom prst="rect">
            <a:avLst/>
          </a:prstGeom>
        </p:spPr>
        <p:txBody>
          <a:bodyPr wrap="square">
            <a:spAutoFit/>
          </a:bodyPr>
          <a:lstStyle/>
          <a:p>
            <a:pPr marL="285750" indent="-285750" algn="just">
              <a:buFont typeface="Arial" panose="020B0604020202020204" pitchFamily="34" charset="0"/>
              <a:buChar char="•"/>
              <a:tabLst>
                <a:tab pos="1252538" algn="l"/>
              </a:tabLst>
            </a:pPr>
            <a:r>
              <a:rPr lang="en-US" b="1" dirty="0">
                <a:solidFill>
                  <a:srgbClr val="C00000"/>
                </a:solidFill>
                <a:latin typeface="Times New Roman" panose="02020603050405020304" pitchFamily="18" charset="0"/>
                <a:cs typeface="Times New Roman" panose="02020603050405020304" pitchFamily="18" charset="0"/>
              </a:rPr>
              <a:t>Reduce coding time</a:t>
            </a:r>
            <a:r>
              <a:rPr lang="en-US" dirty="0">
                <a:solidFill>
                  <a:srgbClr val="C00000"/>
                </a:solidFill>
                <a:latin typeface="Times New Roman" panose="02020603050405020304" pitchFamily="18" charset="0"/>
                <a:cs typeface="Times New Roman" panose="02020603050405020304" pitchFamily="18" charset="0"/>
              </a:rPr>
              <a:t>: With PaaS development tools, teams can reduce the amount of time spent coding new applications with built-in pre-coded components like workflow, security, search, etc.  </a:t>
            </a:r>
            <a:endParaRPr lang="en-US"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tabLst>
                <a:tab pos="1252538" algn="l"/>
              </a:tabLst>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tabLst>
                <a:tab pos="1252538" algn="l"/>
              </a:tabLst>
            </a:pPr>
            <a:r>
              <a:rPr lang="en-US" b="1" dirty="0">
                <a:solidFill>
                  <a:srgbClr val="C00000"/>
                </a:solidFill>
                <a:latin typeface="Times New Roman" panose="02020603050405020304" pitchFamily="18" charset="0"/>
                <a:cs typeface="Times New Roman" panose="02020603050405020304" pitchFamily="18" charset="0"/>
              </a:rPr>
              <a:t>Increased development capabilities: </a:t>
            </a:r>
            <a:r>
              <a:rPr lang="en-US" dirty="0">
                <a:solidFill>
                  <a:srgbClr val="C00000"/>
                </a:solidFill>
                <a:latin typeface="Times New Roman" panose="02020603050405020304" pitchFamily="18" charset="0"/>
                <a:cs typeface="Times New Roman" panose="02020603050405020304" pitchFamily="18" charset="0"/>
              </a:rPr>
              <a:t>PaaS offerings provide development teams with sophisticated tools and added capabilities, without having to bring on new team members to get the job done</a:t>
            </a:r>
            <a:r>
              <a:rPr lang="en-US"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tabLst>
                <a:tab pos="1252538" algn="l"/>
              </a:tabLst>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tabLst>
                <a:tab pos="1252538" algn="l"/>
              </a:tabLst>
            </a:pPr>
            <a:r>
              <a:rPr lang="en-US" b="1" dirty="0">
                <a:solidFill>
                  <a:srgbClr val="C00000"/>
                </a:solidFill>
                <a:latin typeface="Times New Roman" panose="02020603050405020304" pitchFamily="18" charset="0"/>
                <a:cs typeface="Times New Roman" panose="02020603050405020304" pitchFamily="18" charset="0"/>
              </a:rPr>
              <a:t>Support dispersed or remote teams: </a:t>
            </a:r>
            <a:r>
              <a:rPr lang="en-US" dirty="0">
                <a:solidFill>
                  <a:srgbClr val="C00000"/>
                </a:solidFill>
                <a:latin typeface="Times New Roman" panose="02020603050405020304" pitchFamily="18" charset="0"/>
                <a:cs typeface="Times New Roman" panose="02020603050405020304" pitchFamily="18" charset="0"/>
              </a:rPr>
              <a:t>Cloud-native computing environments allow </a:t>
            </a:r>
            <a:r>
              <a:rPr lang="en-US" b="1" dirty="0">
                <a:solidFill>
                  <a:srgbClr val="C00000"/>
                </a:solidFill>
                <a:latin typeface="Times New Roman" panose="02020603050405020304" pitchFamily="18" charset="0"/>
                <a:cs typeface="Times New Roman" panose="02020603050405020304" pitchFamily="18" charset="0"/>
              </a:rPr>
              <a:t>remote teams to </a:t>
            </a:r>
            <a:r>
              <a:rPr lang="en-US" b="1" dirty="0" smtClean="0">
                <a:solidFill>
                  <a:srgbClr val="C00000"/>
                </a:solidFill>
                <a:latin typeface="Times New Roman" panose="02020603050405020304" pitchFamily="18" charset="0"/>
                <a:cs typeface="Times New Roman" panose="02020603050405020304" pitchFamily="18" charset="0"/>
              </a:rPr>
              <a:t>collaborate</a:t>
            </a:r>
            <a:r>
              <a:rPr lang="en-US" dirty="0" smtClean="0">
                <a:solidFill>
                  <a:srgbClr val="C00000"/>
                </a:solidFill>
                <a:latin typeface="Times New Roman" panose="02020603050405020304" pitchFamily="18" charset="0"/>
                <a:cs typeface="Times New Roman" panose="02020603050405020304" pitchFamily="18" charset="0"/>
              </a:rPr>
              <a:t> and </a:t>
            </a:r>
            <a:r>
              <a:rPr lang="en-US" dirty="0">
                <a:solidFill>
                  <a:srgbClr val="C00000"/>
                </a:solidFill>
                <a:latin typeface="Times New Roman" panose="02020603050405020304" pitchFamily="18" charset="0"/>
                <a:cs typeface="Times New Roman" panose="02020603050405020304" pitchFamily="18" charset="0"/>
              </a:rPr>
              <a:t>communicate in real-time from different locations</a:t>
            </a:r>
            <a:r>
              <a:rPr lang="en-US"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tabLst>
                <a:tab pos="1252538" algn="l"/>
              </a:tabLst>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tabLst>
                <a:tab pos="1252538" algn="l"/>
              </a:tabLst>
            </a:pPr>
            <a:r>
              <a:rPr lang="en-US" b="1" dirty="0">
                <a:solidFill>
                  <a:srgbClr val="C00000"/>
                </a:solidFill>
                <a:latin typeface="Times New Roman" panose="02020603050405020304" pitchFamily="18" charset="0"/>
                <a:cs typeface="Times New Roman" panose="02020603050405020304" pitchFamily="18" charset="0"/>
              </a:rPr>
              <a:t>Ability to develop for multiple platforms: </a:t>
            </a:r>
            <a:r>
              <a:rPr lang="en-US" dirty="0">
                <a:solidFill>
                  <a:srgbClr val="C00000"/>
                </a:solidFill>
                <a:latin typeface="Times New Roman" panose="02020603050405020304" pitchFamily="18" charset="0"/>
                <a:cs typeface="Times New Roman" panose="02020603050405020304" pitchFamily="18" charset="0"/>
              </a:rPr>
              <a:t>Certain PaaS service providers provide development options for different platforms like computers, mobile, and web browsers</a:t>
            </a:r>
            <a:r>
              <a:rPr lang="en-US"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tabLst>
                <a:tab pos="1252538" algn="l"/>
              </a:tabLst>
            </a:pPr>
            <a:endParaRPr lang="en-US"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tabLst>
                <a:tab pos="1252538" algn="l"/>
              </a:tabLst>
            </a:pPr>
            <a:r>
              <a:rPr lang="en-US" b="1" dirty="0">
                <a:solidFill>
                  <a:srgbClr val="002060"/>
                </a:solidFill>
                <a:latin typeface="Times New Roman" panose="02020603050405020304" pitchFamily="18" charset="0"/>
                <a:cs typeface="Times New Roman" panose="02020603050405020304" pitchFamily="18" charset="0"/>
              </a:rPr>
              <a:t>Web application lifecycle support: </a:t>
            </a:r>
            <a:r>
              <a:rPr lang="en-US" dirty="0">
                <a:solidFill>
                  <a:srgbClr val="002060"/>
                </a:solidFill>
                <a:latin typeface="Times New Roman" panose="02020603050405020304" pitchFamily="18" charset="0"/>
                <a:cs typeface="Times New Roman" panose="02020603050405020304" pitchFamily="18" charset="0"/>
              </a:rPr>
              <a:t>With PaaS solutions, development teams have access to all the tools they need to effectively build, test within a virtual machine, deploy, and update apps within an integrated environment. </a:t>
            </a:r>
            <a:endParaRPr lang="en-US"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tabLst>
                <a:tab pos="1252538" algn="l"/>
              </a:tabLst>
            </a:pPr>
            <a:endParaRPr lang="en-US"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tabLst>
                <a:tab pos="1252538" algn="l"/>
              </a:tabLst>
            </a:pPr>
            <a:r>
              <a:rPr lang="en-US" b="1" dirty="0">
                <a:solidFill>
                  <a:srgbClr val="002060"/>
                </a:solidFill>
                <a:latin typeface="Times New Roman" panose="02020603050405020304" pitchFamily="18" charset="0"/>
                <a:cs typeface="Times New Roman" panose="02020603050405020304" pitchFamily="18" charset="0"/>
              </a:rPr>
              <a:t>Cost-effective development: </a:t>
            </a:r>
            <a:r>
              <a:rPr lang="en-US" dirty="0">
                <a:solidFill>
                  <a:srgbClr val="002060"/>
                </a:solidFill>
                <a:latin typeface="Times New Roman" panose="02020603050405020304" pitchFamily="18" charset="0"/>
                <a:cs typeface="Times New Roman" panose="02020603050405020304" pitchFamily="18" charset="0"/>
              </a:rPr>
              <a:t>Without having to start from scratch, application development teams that use PaaS can focus on building apps that provide an exceptional user experience. This results in cost savings when it comes to equipment</a:t>
            </a:r>
            <a:r>
              <a:rPr lang="en-US" b="1" dirty="0">
                <a:solidFill>
                  <a:srgbClr val="002060"/>
                </a:solidFill>
                <a:latin typeface="Times New Roman" panose="02020603050405020304" pitchFamily="18" charset="0"/>
                <a:cs typeface="Times New Roman" panose="02020603050405020304" pitchFamily="18" charset="0"/>
              </a:rPr>
              <a:t> </a:t>
            </a:r>
            <a:r>
              <a:rPr lang="en-US" dirty="0">
                <a:solidFill>
                  <a:srgbClr val="002060"/>
                </a:solidFill>
                <a:latin typeface="Times New Roman" panose="02020603050405020304" pitchFamily="18" charset="0"/>
                <a:cs typeface="Times New Roman" panose="02020603050405020304" pitchFamily="18" charset="0"/>
              </a:rPr>
              <a:t>and worker productivity</a:t>
            </a:r>
            <a:r>
              <a:rPr lang="en-US" dirty="0" smtClean="0">
                <a:solidFill>
                  <a:srgbClr val="00206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69962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Platform as a Service (PaaS)-Benefits</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2677656"/>
          </a:xfrm>
          <a:prstGeom prst="rect">
            <a:avLst/>
          </a:prstGeom>
        </p:spPr>
        <p:txBody>
          <a:bodyPr wrap="square">
            <a:spAutoFit/>
          </a:bodyPr>
          <a:lstStyle/>
          <a:p>
            <a:pPr marL="285750" indent="-285750" algn="just">
              <a:buFont typeface="Arial" panose="020B0604020202020204" pitchFamily="34" charset="0"/>
              <a:buChar char="•"/>
            </a:pPr>
            <a:r>
              <a:rPr lang="en-US" dirty="0">
                <a:solidFill>
                  <a:srgbClr val="C00000"/>
                </a:solidFill>
                <a:latin typeface="Times New Roman" panose="02020603050405020304" pitchFamily="18" charset="0"/>
                <a:cs typeface="Times New Roman" panose="02020603050405020304" pitchFamily="18" charset="0"/>
              </a:rPr>
              <a:t>PaaS is leading the way for a </a:t>
            </a:r>
            <a:r>
              <a:rPr lang="en-US" b="1" dirty="0">
                <a:solidFill>
                  <a:srgbClr val="C00000"/>
                </a:solidFill>
                <a:latin typeface="Times New Roman" panose="02020603050405020304" pitchFamily="18" charset="0"/>
                <a:cs typeface="Times New Roman" panose="02020603050405020304" pitchFamily="18" charset="0"/>
              </a:rPr>
              <a:t>new era in business innovation</a:t>
            </a:r>
            <a:r>
              <a:rPr lang="en-US" dirty="0">
                <a:solidFill>
                  <a:srgbClr val="C00000"/>
                </a:solidFill>
                <a:latin typeface="Times New Roman" panose="02020603050405020304" pitchFamily="18" charset="0"/>
                <a:cs typeface="Times New Roman" panose="02020603050405020304" pitchFamily="18" charset="0"/>
              </a:rPr>
              <a:t>. Cloud computing is the only way forward for businesses looking to grow in an era of digital transformation. </a:t>
            </a:r>
            <a:endParaRPr lang="en-US"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solidFill>
                  <a:srgbClr val="C00000"/>
                </a:solidFill>
                <a:latin typeface="Times New Roman" panose="02020603050405020304" pitchFamily="18" charset="0"/>
                <a:cs typeface="Times New Roman" panose="02020603050405020304" pitchFamily="18" charset="0"/>
              </a:rPr>
              <a:t>Companies </a:t>
            </a:r>
            <a:r>
              <a:rPr lang="en-US" dirty="0">
                <a:solidFill>
                  <a:srgbClr val="C00000"/>
                </a:solidFill>
                <a:latin typeface="Times New Roman" panose="02020603050405020304" pitchFamily="18" charset="0"/>
                <a:cs typeface="Times New Roman" panose="02020603050405020304" pitchFamily="18" charset="0"/>
              </a:rPr>
              <a:t>big and small should consider transitioning to </a:t>
            </a:r>
            <a:r>
              <a:rPr lang="en-US" b="1" dirty="0">
                <a:solidFill>
                  <a:srgbClr val="C00000"/>
                </a:solidFill>
                <a:latin typeface="Times New Roman" panose="02020603050405020304" pitchFamily="18" charset="0"/>
                <a:cs typeface="Times New Roman" panose="02020603050405020304" pitchFamily="18" charset="0"/>
              </a:rPr>
              <a:t>cloud-based systems for increased flexibility, productivity, and business continuity. </a:t>
            </a:r>
            <a:endParaRPr lang="en-US" b="1"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solidFill>
                  <a:srgbClr val="C00000"/>
                </a:solidFill>
                <a:latin typeface="Times New Roman" panose="02020603050405020304" pitchFamily="18" charset="0"/>
                <a:cs typeface="Times New Roman" panose="02020603050405020304" pitchFamily="18" charset="0"/>
              </a:rPr>
              <a:t>It offers a cost-effective solution to the </a:t>
            </a:r>
            <a:r>
              <a:rPr lang="en-US" b="1" dirty="0">
                <a:solidFill>
                  <a:srgbClr val="C00000"/>
                </a:solidFill>
                <a:latin typeface="Times New Roman" panose="02020603050405020304" pitchFamily="18" charset="0"/>
                <a:cs typeface="Times New Roman" panose="02020603050405020304" pitchFamily="18" charset="0"/>
              </a:rPr>
              <a:t>development challenges </a:t>
            </a:r>
            <a:r>
              <a:rPr lang="en-US" dirty="0">
                <a:solidFill>
                  <a:srgbClr val="C00000"/>
                </a:solidFill>
                <a:latin typeface="Times New Roman" panose="02020603050405020304" pitchFamily="18" charset="0"/>
                <a:cs typeface="Times New Roman" panose="02020603050405020304" pitchFamily="18" charset="0"/>
              </a:rPr>
              <a:t>posed by complex infrastructures, allowing businesses to focus their workforce while benefiting from secure data storage, sophisticated tools, and streamlined operations</a:t>
            </a:r>
            <a:r>
              <a:rPr lang="en-US"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p:cNvSpPr/>
          <p:nvPr/>
        </p:nvSpPr>
        <p:spPr>
          <a:xfrm>
            <a:off x="87085" y="1037230"/>
            <a:ext cx="890451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155575" y="928914"/>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6332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Platform as a Service (PaaS)-Examples</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738664"/>
          </a:xfrm>
          <a:prstGeom prst="rect">
            <a:avLst/>
          </a:prstGeom>
        </p:spPr>
        <p:txBody>
          <a:bodyPr wrap="square">
            <a:spAutoFit/>
          </a:bodyPr>
          <a:lstStyle/>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p:cNvSpPr/>
          <p:nvPr/>
        </p:nvSpPr>
        <p:spPr>
          <a:xfrm>
            <a:off x="87085" y="1037230"/>
            <a:ext cx="890451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155575" y="928914"/>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3"/>
          <a:stretch>
            <a:fillRect/>
          </a:stretch>
        </p:blipFill>
        <p:spPr>
          <a:xfrm>
            <a:off x="1280593" y="1334608"/>
            <a:ext cx="7071407" cy="3143792"/>
          </a:xfrm>
          <a:prstGeom prst="rect">
            <a:avLst/>
          </a:prstGeom>
        </p:spPr>
      </p:pic>
    </p:spTree>
    <p:extLst>
      <p:ext uri="{BB962C8B-B14F-4D97-AF65-F5344CB8AC3E}">
        <p14:creationId xmlns:p14="http://schemas.microsoft.com/office/powerpoint/2010/main" val="3417677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Software as a Service (SaaS)</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738664"/>
          </a:xfrm>
          <a:prstGeom prst="rect">
            <a:avLst/>
          </a:prstGeom>
        </p:spPr>
        <p:txBody>
          <a:bodyPr wrap="square">
            <a:spAutoFit/>
          </a:bodyPr>
          <a:lstStyle/>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p:cNvSpPr/>
          <p:nvPr/>
        </p:nvSpPr>
        <p:spPr>
          <a:xfrm>
            <a:off x="87085" y="1037230"/>
            <a:ext cx="890451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155575" y="928914"/>
            <a:ext cx="8836024" cy="1815882"/>
          </a:xfrm>
          <a:prstGeom prst="rect">
            <a:avLst/>
          </a:prstGeom>
        </p:spPr>
        <p:txBody>
          <a:bodyPr wrap="square">
            <a:spAutoFit/>
          </a:bodyPr>
          <a:lstStyle/>
          <a:p>
            <a:pPr marL="285750" indent="-285750" algn="just">
              <a:buFont typeface="Arial" panose="020B0604020202020204" pitchFamily="34" charset="0"/>
              <a:buChar char="•"/>
            </a:pPr>
            <a:r>
              <a:rPr lang="en-US" b="1" dirty="0" smtClean="0">
                <a:solidFill>
                  <a:srgbClr val="C00000"/>
                </a:solidFill>
                <a:latin typeface="Times New Roman" panose="02020603050405020304" pitchFamily="18" charset="0"/>
                <a:cs typeface="Times New Roman" panose="02020603050405020304" pitchFamily="18" charset="0"/>
              </a:rPr>
              <a:t>Software </a:t>
            </a:r>
            <a:r>
              <a:rPr lang="en-US" b="1" dirty="0">
                <a:solidFill>
                  <a:srgbClr val="C00000"/>
                </a:solidFill>
                <a:latin typeface="Times New Roman" panose="02020603050405020304" pitchFamily="18" charset="0"/>
                <a:cs typeface="Times New Roman" panose="02020603050405020304" pitchFamily="18" charset="0"/>
              </a:rPr>
              <a:t>as a </a:t>
            </a:r>
            <a:r>
              <a:rPr lang="en-US" b="1" dirty="0" smtClean="0">
                <a:solidFill>
                  <a:srgbClr val="C00000"/>
                </a:solidFill>
                <a:latin typeface="Times New Roman" panose="02020603050405020304" pitchFamily="18" charset="0"/>
                <a:cs typeface="Times New Roman" panose="02020603050405020304" pitchFamily="18" charset="0"/>
              </a:rPr>
              <a:t>Service</a:t>
            </a:r>
            <a:r>
              <a:rPr lang="en-US" dirty="0" smtClean="0">
                <a:solidFill>
                  <a:srgbClr val="C00000"/>
                </a:solidFill>
                <a:latin typeface="Times New Roman" panose="02020603050405020304" pitchFamily="18" charset="0"/>
                <a:cs typeface="Times New Roman" panose="02020603050405020304" pitchFamily="18" charset="0"/>
              </a:rPr>
              <a:t>(SaaS) </a:t>
            </a:r>
            <a:r>
              <a:rPr lang="en-US" dirty="0">
                <a:solidFill>
                  <a:srgbClr val="C00000"/>
                </a:solidFill>
                <a:latin typeface="Times New Roman" panose="02020603050405020304" pitchFamily="18" charset="0"/>
                <a:cs typeface="Times New Roman" panose="02020603050405020304" pitchFamily="18" charset="0"/>
              </a:rPr>
              <a:t>is a </a:t>
            </a:r>
            <a:r>
              <a:rPr lang="en-US" b="1" dirty="0">
                <a:solidFill>
                  <a:srgbClr val="C00000"/>
                </a:solidFill>
                <a:latin typeface="Times New Roman" panose="02020603050405020304" pitchFamily="18" charset="0"/>
                <a:cs typeface="Times New Roman" panose="02020603050405020304" pitchFamily="18" charset="0"/>
              </a:rPr>
              <a:t>cloud-based model for delivering software applications </a:t>
            </a:r>
            <a:r>
              <a:rPr lang="en-US" dirty="0">
                <a:solidFill>
                  <a:srgbClr val="C00000"/>
                </a:solidFill>
                <a:latin typeface="Times New Roman" panose="02020603050405020304" pitchFamily="18" charset="0"/>
                <a:cs typeface="Times New Roman" panose="02020603050405020304" pitchFamily="18" charset="0"/>
              </a:rPr>
              <a:t>to users over the internet. SaaS is a popular and </a:t>
            </a:r>
            <a:r>
              <a:rPr lang="en-US" b="1" dirty="0" smtClean="0">
                <a:solidFill>
                  <a:srgbClr val="C00000"/>
                </a:solidFill>
                <a:latin typeface="Times New Roman" panose="02020603050405020304" pitchFamily="18" charset="0"/>
                <a:cs typeface="Times New Roman" panose="02020603050405020304" pitchFamily="18" charset="0"/>
              </a:rPr>
              <a:t>commonly </a:t>
            </a:r>
            <a:r>
              <a:rPr lang="en-US" b="1" dirty="0">
                <a:solidFill>
                  <a:srgbClr val="C00000"/>
                </a:solidFill>
                <a:latin typeface="Times New Roman" panose="02020603050405020304" pitchFamily="18" charset="0"/>
                <a:cs typeface="Times New Roman" panose="02020603050405020304" pitchFamily="18" charset="0"/>
              </a:rPr>
              <a:t>used cloud computing model. </a:t>
            </a:r>
            <a:endParaRPr lang="en-US" b="1"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b="1"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Software </a:t>
            </a:r>
            <a:r>
              <a:rPr lang="en-US" dirty="0">
                <a:solidFill>
                  <a:srgbClr val="002060"/>
                </a:solidFill>
                <a:latin typeface="Times New Roman" panose="02020603050405020304" pitchFamily="18" charset="0"/>
                <a:cs typeface="Times New Roman" panose="02020603050405020304" pitchFamily="18" charset="0"/>
              </a:rPr>
              <a:t>as a service (SaaS) allows users to connect to and use cloud-based apps over the Internet</a:t>
            </a:r>
            <a:r>
              <a:rPr lang="en-US" b="1" dirty="0">
                <a:solidFill>
                  <a:srgbClr val="002060"/>
                </a:solidFill>
                <a:latin typeface="Times New Roman" panose="02020603050405020304" pitchFamily="18" charset="0"/>
                <a:cs typeface="Times New Roman" panose="02020603050405020304" pitchFamily="18" charset="0"/>
              </a:rPr>
              <a:t>. Common examples are email, calendaring, and office tools (such as Microsoft Office 365). </a:t>
            </a:r>
            <a:r>
              <a:rPr lang="en-US" dirty="0">
                <a:solidFill>
                  <a:srgbClr val="002060"/>
                </a:solidFill>
                <a:latin typeface="Times New Roman" panose="02020603050405020304" pitchFamily="18" charset="0"/>
                <a:cs typeface="Times New Roman" panose="02020603050405020304" pitchFamily="18" charset="0"/>
              </a:rPr>
              <a:t>SaaS provides a complete software solution that you purchase on a pay-as-you-go basis from a cloud service provider</a:t>
            </a:r>
            <a:r>
              <a:rPr lang="en-US" dirty="0" smtClean="0">
                <a:solidFill>
                  <a:srgbClr val="00206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pic>
        <p:nvPicPr>
          <p:cNvPr id="4098" name="Picture 2" descr="What is Software as a Service (SaaS)? Definition, Exampl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5911" y="2436154"/>
            <a:ext cx="6735118" cy="2522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9484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Software as a Service (SaaS)</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738664"/>
          </a:xfrm>
          <a:prstGeom prst="rect">
            <a:avLst/>
          </a:prstGeom>
        </p:spPr>
        <p:txBody>
          <a:bodyPr wrap="square">
            <a:spAutoFit/>
          </a:bodyPr>
          <a:lstStyle/>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p:cNvSpPr/>
          <p:nvPr/>
        </p:nvSpPr>
        <p:spPr>
          <a:xfrm>
            <a:off x="87085" y="1037230"/>
            <a:ext cx="890451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155575" y="928914"/>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3" name="Rectangle 2"/>
          <p:cNvSpPr/>
          <p:nvPr/>
        </p:nvSpPr>
        <p:spPr>
          <a:xfrm>
            <a:off x="155573" y="928913"/>
            <a:ext cx="8836025" cy="3754874"/>
          </a:xfrm>
          <a:prstGeom prst="rect">
            <a:avLst/>
          </a:prstGeom>
        </p:spPr>
        <p:txBody>
          <a:bodyPr wrap="square">
            <a:spAutoFit/>
          </a:bodyPr>
          <a:lstStyle/>
          <a:p>
            <a:pPr marL="285750" indent="-285750" algn="just">
              <a:buFont typeface="Arial" panose="020B0604020202020204" pitchFamily="34" charset="0"/>
              <a:buChar char="•"/>
              <a:tabLst>
                <a:tab pos="1346200" algn="l"/>
              </a:tabLst>
            </a:pPr>
            <a:r>
              <a:rPr lang="en-US" dirty="0">
                <a:solidFill>
                  <a:srgbClr val="C00000"/>
                </a:solidFill>
                <a:latin typeface="Times New Roman" panose="02020603050405020304" pitchFamily="18" charset="0"/>
                <a:cs typeface="Times New Roman" panose="02020603050405020304" pitchFamily="18" charset="0"/>
              </a:rPr>
              <a:t>The most complete cloud computing service model is one in which the computing hardware </a:t>
            </a:r>
            <a:r>
              <a:rPr lang="en-US" dirty="0" smtClean="0">
                <a:solidFill>
                  <a:srgbClr val="C00000"/>
                </a:solidFill>
                <a:latin typeface="Times New Roman" panose="02020603050405020304" pitchFamily="18" charset="0"/>
                <a:cs typeface="Times New Roman" panose="02020603050405020304" pitchFamily="18" charset="0"/>
              </a:rPr>
              <a:t>and software</a:t>
            </a:r>
            <a:r>
              <a:rPr lang="en-US" dirty="0">
                <a:solidFill>
                  <a:srgbClr val="C00000"/>
                </a:solidFill>
                <a:latin typeface="Times New Roman" panose="02020603050405020304" pitchFamily="18" charset="0"/>
                <a:cs typeface="Times New Roman" panose="02020603050405020304" pitchFamily="18" charset="0"/>
              </a:rPr>
              <a:t>, as well as the solution itself, are provided by a vendor as a complete service offering</a:t>
            </a:r>
            <a:r>
              <a:rPr lang="en-US"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tabLst>
                <a:tab pos="1346200" algn="l"/>
              </a:tabLst>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tabLst>
                <a:tab pos="1346200" algn="l"/>
              </a:tabLst>
            </a:pPr>
            <a:r>
              <a:rPr lang="en-US" dirty="0" smtClean="0">
                <a:solidFill>
                  <a:srgbClr val="C00000"/>
                </a:solidFill>
                <a:latin typeface="Times New Roman" panose="02020603050405020304" pitchFamily="18" charset="0"/>
                <a:cs typeface="Times New Roman" panose="02020603050405020304" pitchFamily="18" charset="0"/>
              </a:rPr>
              <a:t> </a:t>
            </a:r>
            <a:r>
              <a:rPr lang="en-US" dirty="0">
                <a:solidFill>
                  <a:srgbClr val="C00000"/>
                </a:solidFill>
                <a:latin typeface="Times New Roman" panose="02020603050405020304" pitchFamily="18" charset="0"/>
                <a:cs typeface="Times New Roman" panose="02020603050405020304" pitchFamily="18" charset="0"/>
              </a:rPr>
              <a:t>SaaS provides the complete </a:t>
            </a:r>
            <a:r>
              <a:rPr lang="en-US" dirty="0" smtClean="0">
                <a:solidFill>
                  <a:srgbClr val="C00000"/>
                </a:solidFill>
                <a:latin typeface="Times New Roman" panose="02020603050405020304" pitchFamily="18" charset="0"/>
                <a:cs typeface="Times New Roman" panose="02020603050405020304" pitchFamily="18" charset="0"/>
              </a:rPr>
              <a:t>infrastructure, software</a:t>
            </a:r>
            <a:r>
              <a:rPr lang="en-US" dirty="0">
                <a:solidFill>
                  <a:srgbClr val="C00000"/>
                </a:solidFill>
                <a:latin typeface="Times New Roman" panose="02020603050405020304" pitchFamily="18" charset="0"/>
                <a:cs typeface="Times New Roman" panose="02020603050405020304" pitchFamily="18" charset="0"/>
              </a:rPr>
              <a:t>, and solution stack as the service </a:t>
            </a:r>
            <a:r>
              <a:rPr lang="en-US" dirty="0" smtClean="0">
                <a:solidFill>
                  <a:srgbClr val="C00000"/>
                </a:solidFill>
                <a:latin typeface="Times New Roman" panose="02020603050405020304" pitchFamily="18" charset="0"/>
                <a:cs typeface="Times New Roman" panose="02020603050405020304" pitchFamily="18" charset="0"/>
              </a:rPr>
              <a:t>offering</a:t>
            </a:r>
          </a:p>
          <a:p>
            <a:pPr marL="285750" indent="-285750" algn="just">
              <a:buFont typeface="Arial" panose="020B0604020202020204" pitchFamily="34" charset="0"/>
              <a:buChar char="•"/>
              <a:tabLst>
                <a:tab pos="1346200" algn="l"/>
              </a:tabLst>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tabLst>
                <a:tab pos="1346200" algn="l"/>
              </a:tabLst>
            </a:pPr>
            <a:r>
              <a:rPr lang="en-US" dirty="0" smtClean="0">
                <a:solidFill>
                  <a:srgbClr val="C00000"/>
                </a:solidFill>
                <a:latin typeface="Times New Roman" panose="02020603050405020304" pitchFamily="18" charset="0"/>
                <a:cs typeface="Times New Roman" panose="02020603050405020304" pitchFamily="18" charset="0"/>
              </a:rPr>
              <a:t>Software </a:t>
            </a:r>
            <a:r>
              <a:rPr lang="en-US" dirty="0">
                <a:solidFill>
                  <a:srgbClr val="C00000"/>
                </a:solidFill>
                <a:latin typeface="Times New Roman" panose="02020603050405020304" pitchFamily="18" charset="0"/>
                <a:cs typeface="Times New Roman" panose="02020603050405020304" pitchFamily="18" charset="0"/>
              </a:rPr>
              <a:t>as a Service (SaaS) may be succinctly described as software that is deployed on a </a:t>
            </a:r>
            <a:r>
              <a:rPr lang="en-US" dirty="0" smtClean="0">
                <a:solidFill>
                  <a:srgbClr val="C00000"/>
                </a:solidFill>
                <a:latin typeface="Times New Roman" panose="02020603050405020304" pitchFamily="18" charset="0"/>
                <a:cs typeface="Times New Roman" panose="02020603050405020304" pitchFamily="18" charset="0"/>
              </a:rPr>
              <a:t>hosted service </a:t>
            </a:r>
            <a:r>
              <a:rPr lang="en-US" dirty="0">
                <a:solidFill>
                  <a:srgbClr val="C00000"/>
                </a:solidFill>
                <a:latin typeface="Times New Roman" panose="02020603050405020304" pitchFamily="18" charset="0"/>
                <a:cs typeface="Times New Roman" panose="02020603050405020304" pitchFamily="18" charset="0"/>
              </a:rPr>
              <a:t>and can be accessed globally over the Internet, most often in a browser. </a:t>
            </a:r>
          </a:p>
          <a:p>
            <a:pPr marL="285750" indent="-285750" algn="just">
              <a:buFont typeface="Arial" panose="020B0604020202020204" pitchFamily="34" charset="0"/>
              <a:buChar char="•"/>
              <a:tabLst>
                <a:tab pos="1346200" algn="l"/>
              </a:tabLst>
            </a:pPr>
            <a:endParaRPr lang="en-US"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tabLst>
                <a:tab pos="1346200" algn="l"/>
              </a:tabLst>
            </a:pPr>
            <a:r>
              <a:rPr lang="en-US" dirty="0" smtClean="0">
                <a:solidFill>
                  <a:srgbClr val="002060"/>
                </a:solidFill>
                <a:latin typeface="Times New Roman" panose="02020603050405020304" pitchFamily="18" charset="0"/>
                <a:cs typeface="Times New Roman" panose="02020603050405020304" pitchFamily="18" charset="0"/>
              </a:rPr>
              <a:t>Exception of </a:t>
            </a:r>
            <a:r>
              <a:rPr lang="en-US" dirty="0">
                <a:solidFill>
                  <a:srgbClr val="002060"/>
                </a:solidFill>
                <a:latin typeface="Times New Roman" panose="02020603050405020304" pitchFamily="18" charset="0"/>
                <a:cs typeface="Times New Roman" panose="02020603050405020304" pitchFamily="18" charset="0"/>
              </a:rPr>
              <a:t>the user interaction with the software, all other aspects of the service are abstracted away.</a:t>
            </a:r>
          </a:p>
          <a:p>
            <a:pPr marL="285750" indent="-285750" algn="just">
              <a:buFont typeface="Arial" panose="020B0604020202020204" pitchFamily="34" charset="0"/>
              <a:buChar char="•"/>
              <a:tabLst>
                <a:tab pos="1346200" algn="l"/>
              </a:tabLst>
            </a:pPr>
            <a:endParaRPr lang="en-US"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tabLst>
                <a:tab pos="1346200" algn="l"/>
              </a:tabLst>
            </a:pPr>
            <a:r>
              <a:rPr lang="en-US" dirty="0" smtClean="0">
                <a:solidFill>
                  <a:srgbClr val="002060"/>
                </a:solidFill>
                <a:latin typeface="Times New Roman" panose="02020603050405020304" pitchFamily="18" charset="0"/>
                <a:cs typeface="Times New Roman" panose="02020603050405020304" pitchFamily="18" charset="0"/>
              </a:rPr>
              <a:t>Every </a:t>
            </a:r>
            <a:r>
              <a:rPr lang="en-US" dirty="0">
                <a:solidFill>
                  <a:srgbClr val="002060"/>
                </a:solidFill>
                <a:latin typeface="Times New Roman" panose="02020603050405020304" pitchFamily="18" charset="0"/>
                <a:cs typeface="Times New Roman" panose="02020603050405020304" pitchFamily="18" charset="0"/>
              </a:rPr>
              <a:t>computer user is familiar with SaaS systems, which are either replacements or substitutes </a:t>
            </a:r>
            <a:r>
              <a:rPr lang="en-US" dirty="0" smtClean="0">
                <a:solidFill>
                  <a:srgbClr val="002060"/>
                </a:solidFill>
                <a:latin typeface="Times New Roman" panose="02020603050405020304" pitchFamily="18" charset="0"/>
                <a:cs typeface="Times New Roman" panose="02020603050405020304" pitchFamily="18" charset="0"/>
              </a:rPr>
              <a:t>for locally </a:t>
            </a:r>
            <a:r>
              <a:rPr lang="en-US" dirty="0">
                <a:solidFill>
                  <a:srgbClr val="002060"/>
                </a:solidFill>
                <a:latin typeface="Times New Roman" panose="02020603050405020304" pitchFamily="18" charset="0"/>
                <a:cs typeface="Times New Roman" panose="02020603050405020304" pitchFamily="18" charset="0"/>
              </a:rPr>
              <a:t>installed software. Examples of SaaS software for end-users are </a:t>
            </a:r>
            <a:r>
              <a:rPr lang="en-US" b="1" dirty="0">
                <a:solidFill>
                  <a:srgbClr val="002060"/>
                </a:solidFill>
                <a:latin typeface="Times New Roman" panose="02020603050405020304" pitchFamily="18" charset="0"/>
                <a:cs typeface="Times New Roman" panose="02020603050405020304" pitchFamily="18" charset="0"/>
              </a:rPr>
              <a:t>Google Gmail and </a:t>
            </a:r>
            <a:r>
              <a:rPr lang="en-US" b="1" dirty="0" smtClean="0">
                <a:solidFill>
                  <a:srgbClr val="002060"/>
                </a:solidFill>
                <a:latin typeface="Times New Roman" panose="02020603050405020304" pitchFamily="18" charset="0"/>
                <a:cs typeface="Times New Roman" panose="02020603050405020304" pitchFamily="18" charset="0"/>
              </a:rPr>
              <a:t>Calendar, QuickBooks </a:t>
            </a:r>
            <a:r>
              <a:rPr lang="en-US" b="1" dirty="0">
                <a:solidFill>
                  <a:srgbClr val="002060"/>
                </a:solidFill>
                <a:latin typeface="Times New Roman" panose="02020603050405020304" pitchFamily="18" charset="0"/>
                <a:cs typeface="Times New Roman" panose="02020603050405020304" pitchFamily="18" charset="0"/>
              </a:rPr>
              <a:t>online, </a:t>
            </a:r>
            <a:r>
              <a:rPr lang="en-US" b="1" dirty="0" err="1">
                <a:solidFill>
                  <a:srgbClr val="002060"/>
                </a:solidFill>
                <a:latin typeface="Times New Roman" panose="02020603050405020304" pitchFamily="18" charset="0"/>
                <a:cs typeface="Times New Roman" panose="02020603050405020304" pitchFamily="18" charset="0"/>
              </a:rPr>
              <a:t>Zoho</a:t>
            </a:r>
            <a:r>
              <a:rPr lang="en-US" b="1" dirty="0">
                <a:solidFill>
                  <a:srgbClr val="002060"/>
                </a:solidFill>
                <a:latin typeface="Times New Roman" panose="02020603050405020304" pitchFamily="18" charset="0"/>
                <a:cs typeface="Times New Roman" panose="02020603050405020304" pitchFamily="18" charset="0"/>
              </a:rPr>
              <a:t> Office Suite,</a:t>
            </a:r>
            <a:r>
              <a:rPr lang="en-US" dirty="0">
                <a:solidFill>
                  <a:srgbClr val="002060"/>
                </a:solidFill>
                <a:latin typeface="Times New Roman" panose="02020603050405020304" pitchFamily="18" charset="0"/>
                <a:cs typeface="Times New Roman" panose="02020603050405020304" pitchFamily="18" charset="0"/>
              </a:rPr>
              <a:t> and others that are equally well known. </a:t>
            </a:r>
            <a:endParaRPr lang="en-US"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tabLst>
                <a:tab pos="1346200" algn="l"/>
              </a:tabLst>
            </a:pPr>
            <a:endParaRPr lang="en-US"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tabLst>
                <a:tab pos="1346200" algn="l"/>
              </a:tabLst>
            </a:pPr>
            <a:r>
              <a:rPr lang="en-US" dirty="0" smtClean="0">
                <a:solidFill>
                  <a:srgbClr val="002060"/>
                </a:solidFill>
                <a:latin typeface="Times New Roman" panose="02020603050405020304" pitchFamily="18" charset="0"/>
                <a:cs typeface="Times New Roman" panose="02020603050405020304" pitchFamily="18" charset="0"/>
              </a:rPr>
              <a:t>SaaS applications come </a:t>
            </a:r>
            <a:r>
              <a:rPr lang="en-US" dirty="0">
                <a:solidFill>
                  <a:srgbClr val="002060"/>
                </a:solidFill>
                <a:latin typeface="Times New Roman" panose="02020603050405020304" pitchFamily="18" charset="0"/>
                <a:cs typeface="Times New Roman" panose="02020603050405020304" pitchFamily="18" charset="0"/>
              </a:rPr>
              <a:t>in all shapes and sizes, and include custom software such as billing and invoicing </a:t>
            </a:r>
            <a:r>
              <a:rPr lang="en-US" dirty="0" smtClean="0">
                <a:solidFill>
                  <a:srgbClr val="002060"/>
                </a:solidFill>
                <a:latin typeface="Times New Roman" panose="02020603050405020304" pitchFamily="18" charset="0"/>
                <a:cs typeface="Times New Roman" panose="02020603050405020304" pitchFamily="18" charset="0"/>
              </a:rPr>
              <a:t>systems, </a:t>
            </a:r>
            <a:r>
              <a:rPr lang="en-US" b="1" dirty="0" smtClean="0">
                <a:solidFill>
                  <a:srgbClr val="002060"/>
                </a:solidFill>
                <a:latin typeface="Times New Roman" panose="02020603050405020304" pitchFamily="18" charset="0"/>
                <a:cs typeface="Times New Roman" panose="02020603050405020304" pitchFamily="18" charset="0"/>
              </a:rPr>
              <a:t>Customer </a:t>
            </a:r>
            <a:r>
              <a:rPr lang="en-US" b="1" dirty="0">
                <a:solidFill>
                  <a:srgbClr val="002060"/>
                </a:solidFill>
                <a:latin typeface="Times New Roman" panose="02020603050405020304" pitchFamily="18" charset="0"/>
                <a:cs typeface="Times New Roman" panose="02020603050405020304" pitchFamily="18" charset="0"/>
              </a:rPr>
              <a:t>Relationship Management (CRM) applications, Help Desk applications, </a:t>
            </a:r>
            <a:r>
              <a:rPr lang="en-US" b="1" dirty="0" smtClean="0">
                <a:solidFill>
                  <a:srgbClr val="002060"/>
                </a:solidFill>
                <a:latin typeface="Times New Roman" panose="02020603050405020304" pitchFamily="18" charset="0"/>
                <a:cs typeface="Times New Roman" panose="02020603050405020304" pitchFamily="18" charset="0"/>
              </a:rPr>
              <a:t>Human Resource </a:t>
            </a:r>
            <a:r>
              <a:rPr lang="en-US" b="1" dirty="0">
                <a:solidFill>
                  <a:srgbClr val="002060"/>
                </a:solidFill>
                <a:latin typeface="Times New Roman" panose="02020603050405020304" pitchFamily="18" charset="0"/>
                <a:cs typeface="Times New Roman" panose="02020603050405020304" pitchFamily="18" charset="0"/>
              </a:rPr>
              <a:t>(HR) solutions,</a:t>
            </a:r>
            <a:r>
              <a:rPr lang="en-US" dirty="0">
                <a:solidFill>
                  <a:srgbClr val="002060"/>
                </a:solidFill>
                <a:latin typeface="Times New Roman" panose="02020603050405020304" pitchFamily="18" charset="0"/>
                <a:cs typeface="Times New Roman" panose="02020603050405020304" pitchFamily="18" charset="0"/>
              </a:rPr>
              <a:t> as well as myriad online versions of familiar applications.</a:t>
            </a:r>
          </a:p>
        </p:txBody>
      </p:sp>
    </p:spTree>
    <p:extLst>
      <p:ext uri="{BB962C8B-B14F-4D97-AF65-F5344CB8AC3E}">
        <p14:creationId xmlns:p14="http://schemas.microsoft.com/office/powerpoint/2010/main" val="1954151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Software as a Service (SaaS)</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738664"/>
          </a:xfrm>
          <a:prstGeom prst="rect">
            <a:avLst/>
          </a:prstGeom>
        </p:spPr>
        <p:txBody>
          <a:bodyPr wrap="square">
            <a:spAutoFit/>
          </a:bodyPr>
          <a:lstStyle/>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p:cNvSpPr/>
          <p:nvPr/>
        </p:nvSpPr>
        <p:spPr>
          <a:xfrm>
            <a:off x="87085" y="1037230"/>
            <a:ext cx="890451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155575" y="928914"/>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3" name="Rectangle 2"/>
          <p:cNvSpPr/>
          <p:nvPr/>
        </p:nvSpPr>
        <p:spPr>
          <a:xfrm>
            <a:off x="155573" y="928913"/>
            <a:ext cx="8836025" cy="2893100"/>
          </a:xfrm>
          <a:prstGeom prst="rect">
            <a:avLst/>
          </a:prstGeom>
        </p:spPr>
        <p:txBody>
          <a:bodyPr wrap="square">
            <a:spAutoFit/>
          </a:bodyPr>
          <a:lstStyle/>
          <a:p>
            <a:pPr marL="285750" indent="-285750" algn="just">
              <a:buFont typeface="Arial" panose="020B0604020202020204" pitchFamily="34" charset="0"/>
              <a:buChar char="•"/>
              <a:tabLst>
                <a:tab pos="1346200" algn="l"/>
              </a:tabLst>
            </a:pPr>
            <a:r>
              <a:rPr lang="en-US" dirty="0">
                <a:solidFill>
                  <a:srgbClr val="C00000"/>
                </a:solidFill>
                <a:latin typeface="Times New Roman" panose="02020603050405020304" pitchFamily="18" charset="0"/>
                <a:cs typeface="Times New Roman" panose="02020603050405020304" pitchFamily="18" charset="0"/>
              </a:rPr>
              <a:t>Many people believe </a:t>
            </a:r>
            <a:r>
              <a:rPr lang="en-US" b="1" dirty="0">
                <a:solidFill>
                  <a:srgbClr val="C00000"/>
                </a:solidFill>
                <a:latin typeface="Times New Roman" panose="02020603050405020304" pitchFamily="18" charset="0"/>
                <a:cs typeface="Times New Roman" panose="02020603050405020304" pitchFamily="18" charset="0"/>
              </a:rPr>
              <a:t>that SaaS software is not customizable</a:t>
            </a:r>
            <a:r>
              <a:rPr lang="en-US" dirty="0">
                <a:solidFill>
                  <a:srgbClr val="C00000"/>
                </a:solidFill>
                <a:latin typeface="Times New Roman" panose="02020603050405020304" pitchFamily="18" charset="0"/>
                <a:cs typeface="Times New Roman" panose="02020603050405020304" pitchFamily="18" charset="0"/>
              </a:rPr>
              <a:t>, and in many SaaS applications this </a:t>
            </a:r>
            <a:r>
              <a:rPr lang="en-US" dirty="0" smtClean="0">
                <a:solidFill>
                  <a:srgbClr val="C00000"/>
                </a:solidFill>
                <a:latin typeface="Times New Roman" panose="02020603050405020304" pitchFamily="18" charset="0"/>
                <a:cs typeface="Times New Roman" panose="02020603050405020304" pitchFamily="18" charset="0"/>
              </a:rPr>
              <a:t>is indeed </a:t>
            </a:r>
            <a:r>
              <a:rPr lang="en-US" dirty="0">
                <a:solidFill>
                  <a:srgbClr val="C00000"/>
                </a:solidFill>
                <a:latin typeface="Times New Roman" panose="02020603050405020304" pitchFamily="18" charset="0"/>
                <a:cs typeface="Times New Roman" panose="02020603050405020304" pitchFamily="18" charset="0"/>
              </a:rPr>
              <a:t>the case. </a:t>
            </a:r>
            <a:endParaRPr lang="en-US"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tabLst>
                <a:tab pos="1346200" algn="l"/>
              </a:tabLst>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tabLst>
                <a:tab pos="1346200" algn="l"/>
              </a:tabLst>
            </a:pPr>
            <a:r>
              <a:rPr lang="en-US" dirty="0" smtClean="0">
                <a:solidFill>
                  <a:srgbClr val="C00000"/>
                </a:solidFill>
                <a:latin typeface="Times New Roman" panose="02020603050405020304" pitchFamily="18" charset="0"/>
                <a:cs typeface="Times New Roman" panose="02020603050405020304" pitchFamily="18" charset="0"/>
              </a:rPr>
              <a:t>For </a:t>
            </a:r>
            <a:r>
              <a:rPr lang="en-US" dirty="0">
                <a:solidFill>
                  <a:srgbClr val="C00000"/>
                </a:solidFill>
                <a:latin typeface="Times New Roman" panose="02020603050405020304" pitchFamily="18" charset="0"/>
                <a:cs typeface="Times New Roman" panose="02020603050405020304" pitchFamily="18" charset="0"/>
              </a:rPr>
              <a:t>user-centric applications such as an office suite, that is mostly true; </a:t>
            </a:r>
            <a:r>
              <a:rPr lang="en-US" dirty="0" smtClean="0">
                <a:solidFill>
                  <a:srgbClr val="C00000"/>
                </a:solidFill>
                <a:latin typeface="Times New Roman" panose="02020603050405020304" pitchFamily="18" charset="0"/>
                <a:cs typeface="Times New Roman" panose="02020603050405020304" pitchFamily="18" charset="0"/>
              </a:rPr>
              <a:t>those suites </a:t>
            </a:r>
            <a:r>
              <a:rPr lang="en-US" dirty="0">
                <a:solidFill>
                  <a:srgbClr val="C00000"/>
                </a:solidFill>
                <a:latin typeface="Times New Roman" panose="02020603050405020304" pitchFamily="18" charset="0"/>
                <a:cs typeface="Times New Roman" panose="02020603050405020304" pitchFamily="18" charset="0"/>
              </a:rPr>
              <a:t>allow you to set only options or preferences</a:t>
            </a:r>
            <a:r>
              <a:rPr lang="en-US"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tabLst>
                <a:tab pos="1346200" algn="l"/>
              </a:tabLst>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tabLst>
                <a:tab pos="1346200" algn="l"/>
              </a:tabLst>
            </a:pPr>
            <a:r>
              <a:rPr lang="en-US" dirty="0" smtClean="0">
                <a:solidFill>
                  <a:srgbClr val="C00000"/>
                </a:solidFill>
                <a:latin typeface="Times New Roman" panose="02020603050405020304" pitchFamily="18" charset="0"/>
                <a:cs typeface="Times New Roman" panose="02020603050405020304" pitchFamily="18" charset="0"/>
              </a:rPr>
              <a:t> </a:t>
            </a:r>
            <a:r>
              <a:rPr lang="en-US" dirty="0">
                <a:solidFill>
                  <a:srgbClr val="C00000"/>
                </a:solidFill>
                <a:latin typeface="Times New Roman" panose="02020603050405020304" pitchFamily="18" charset="0"/>
                <a:cs typeface="Times New Roman" panose="02020603050405020304" pitchFamily="18" charset="0"/>
              </a:rPr>
              <a:t>However, many other SaaS solutions </a:t>
            </a:r>
            <a:r>
              <a:rPr lang="en-US" dirty="0" smtClean="0">
                <a:solidFill>
                  <a:srgbClr val="C00000"/>
                </a:solidFill>
                <a:latin typeface="Times New Roman" panose="02020603050405020304" pitchFamily="18" charset="0"/>
                <a:cs typeface="Times New Roman" panose="02020603050405020304" pitchFamily="18" charset="0"/>
              </a:rPr>
              <a:t>expose </a:t>
            </a:r>
            <a:r>
              <a:rPr lang="en-US" b="1" dirty="0" smtClean="0">
                <a:solidFill>
                  <a:srgbClr val="C00000"/>
                </a:solidFill>
                <a:latin typeface="Times New Roman" panose="02020603050405020304" pitchFamily="18" charset="0"/>
                <a:cs typeface="Times New Roman" panose="02020603050405020304" pitchFamily="18" charset="0"/>
              </a:rPr>
              <a:t>Application </a:t>
            </a:r>
            <a:r>
              <a:rPr lang="en-US" b="1" dirty="0">
                <a:solidFill>
                  <a:srgbClr val="C00000"/>
                </a:solidFill>
                <a:latin typeface="Times New Roman" panose="02020603050405020304" pitchFamily="18" charset="0"/>
                <a:cs typeface="Times New Roman" panose="02020603050405020304" pitchFamily="18" charset="0"/>
              </a:rPr>
              <a:t>Programming Interfaces (API) </a:t>
            </a:r>
            <a:r>
              <a:rPr lang="en-US" dirty="0">
                <a:solidFill>
                  <a:srgbClr val="C00000"/>
                </a:solidFill>
                <a:latin typeface="Times New Roman" panose="02020603050405020304" pitchFamily="18" charset="0"/>
                <a:cs typeface="Times New Roman" panose="02020603050405020304" pitchFamily="18" charset="0"/>
              </a:rPr>
              <a:t>to developers to allow them to create custom </a:t>
            </a:r>
            <a:r>
              <a:rPr lang="en-US" dirty="0" smtClean="0">
                <a:solidFill>
                  <a:srgbClr val="C00000"/>
                </a:solidFill>
                <a:latin typeface="Times New Roman" panose="02020603050405020304" pitchFamily="18" charset="0"/>
                <a:cs typeface="Times New Roman" panose="02020603050405020304" pitchFamily="18" charset="0"/>
              </a:rPr>
              <a:t>composite applications</a:t>
            </a:r>
            <a:r>
              <a:rPr lang="en-US" dirty="0">
                <a:solidFill>
                  <a:srgbClr val="C00000"/>
                </a:solidFill>
                <a:latin typeface="Times New Roman" panose="02020603050405020304" pitchFamily="18" charset="0"/>
                <a:cs typeface="Times New Roman" panose="02020603050405020304" pitchFamily="18" charset="0"/>
              </a:rPr>
              <a:t>. </a:t>
            </a:r>
            <a:endParaRPr lang="en-US"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tabLst>
                <a:tab pos="1346200" algn="l"/>
              </a:tabLst>
            </a:pPr>
            <a:endParaRPr lang="en-US"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tabLst>
                <a:tab pos="1346200" algn="l"/>
              </a:tabLst>
            </a:pPr>
            <a:r>
              <a:rPr lang="en-US" dirty="0" smtClean="0">
                <a:solidFill>
                  <a:srgbClr val="002060"/>
                </a:solidFill>
                <a:latin typeface="Times New Roman" panose="02020603050405020304" pitchFamily="18" charset="0"/>
                <a:cs typeface="Times New Roman" panose="02020603050405020304" pitchFamily="18" charset="0"/>
              </a:rPr>
              <a:t>These </a:t>
            </a:r>
            <a:r>
              <a:rPr lang="en-US" dirty="0">
                <a:solidFill>
                  <a:srgbClr val="002060"/>
                </a:solidFill>
                <a:latin typeface="Times New Roman" panose="02020603050405020304" pitchFamily="18" charset="0"/>
                <a:cs typeface="Times New Roman" panose="02020603050405020304" pitchFamily="18" charset="0"/>
              </a:rPr>
              <a:t>APIs may alter the security model used, the data schema, workflow </a:t>
            </a:r>
            <a:r>
              <a:rPr lang="en-US" dirty="0" smtClean="0">
                <a:solidFill>
                  <a:srgbClr val="002060"/>
                </a:solidFill>
                <a:latin typeface="Times New Roman" panose="02020603050405020304" pitchFamily="18" charset="0"/>
                <a:cs typeface="Times New Roman" panose="02020603050405020304" pitchFamily="18" charset="0"/>
              </a:rPr>
              <a:t>characteristics</a:t>
            </a:r>
            <a:r>
              <a:rPr lang="en-US" dirty="0">
                <a:solidFill>
                  <a:srgbClr val="002060"/>
                </a:solidFill>
                <a:latin typeface="Times New Roman" panose="02020603050405020304" pitchFamily="18" charset="0"/>
                <a:cs typeface="Times New Roman" panose="02020603050405020304" pitchFamily="18" charset="0"/>
              </a:rPr>
              <a:t>, and other fundamental features of the service’s expression as experienced by the user</a:t>
            </a:r>
            <a:r>
              <a:rPr lang="en-US" dirty="0" smtClean="0">
                <a:solidFill>
                  <a:srgbClr val="00206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tabLst>
                <a:tab pos="1346200" algn="l"/>
              </a:tabLst>
            </a:pPr>
            <a:endParaRPr lang="en-US"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tabLst>
                <a:tab pos="1346200" algn="l"/>
              </a:tabLst>
            </a:pPr>
            <a:r>
              <a:rPr lang="en-US" dirty="0">
                <a:solidFill>
                  <a:srgbClr val="002060"/>
                </a:solidFill>
                <a:latin typeface="Times New Roman" panose="02020603050405020304" pitchFamily="18" charset="0"/>
                <a:cs typeface="Times New Roman" panose="02020603050405020304" pitchFamily="18" charset="0"/>
              </a:rPr>
              <a:t>Examples of an SaaS </a:t>
            </a:r>
            <a:r>
              <a:rPr lang="en-US" dirty="0" smtClean="0">
                <a:solidFill>
                  <a:srgbClr val="002060"/>
                </a:solidFill>
                <a:latin typeface="Times New Roman" panose="02020603050405020304" pitchFamily="18" charset="0"/>
                <a:cs typeface="Times New Roman" panose="02020603050405020304" pitchFamily="18" charset="0"/>
              </a:rPr>
              <a:t>platform with </a:t>
            </a:r>
            <a:r>
              <a:rPr lang="en-US" dirty="0">
                <a:solidFill>
                  <a:srgbClr val="002060"/>
                </a:solidFill>
                <a:latin typeface="Times New Roman" panose="02020603050405020304" pitchFamily="18" charset="0"/>
                <a:cs typeface="Times New Roman" panose="02020603050405020304" pitchFamily="18" charset="0"/>
              </a:rPr>
              <a:t>an </a:t>
            </a:r>
            <a:r>
              <a:rPr lang="en-US" b="1" dirty="0">
                <a:solidFill>
                  <a:srgbClr val="002060"/>
                </a:solidFill>
                <a:latin typeface="Times New Roman" panose="02020603050405020304" pitchFamily="18" charset="0"/>
                <a:cs typeface="Times New Roman" panose="02020603050405020304" pitchFamily="18" charset="0"/>
              </a:rPr>
              <a:t>exposed API are Salesforce.com and Quicken.com</a:t>
            </a:r>
            <a:r>
              <a:rPr lang="en-US" dirty="0">
                <a:solidFill>
                  <a:srgbClr val="002060"/>
                </a:solidFill>
                <a:latin typeface="Times New Roman" panose="02020603050405020304" pitchFamily="18" charset="0"/>
                <a:cs typeface="Times New Roman" panose="02020603050405020304" pitchFamily="18" charset="0"/>
              </a:rPr>
              <a:t>. So </a:t>
            </a:r>
            <a:r>
              <a:rPr lang="en-US" dirty="0" smtClean="0">
                <a:solidFill>
                  <a:srgbClr val="002060"/>
                </a:solidFill>
                <a:latin typeface="Times New Roman" panose="02020603050405020304" pitchFamily="18" charset="0"/>
                <a:cs typeface="Times New Roman" panose="02020603050405020304" pitchFamily="18" charset="0"/>
              </a:rPr>
              <a:t>SaaS does </a:t>
            </a:r>
            <a:r>
              <a:rPr lang="en-US" dirty="0">
                <a:solidFill>
                  <a:srgbClr val="002060"/>
                </a:solidFill>
                <a:latin typeface="Times New Roman" panose="02020603050405020304" pitchFamily="18" charset="0"/>
                <a:cs typeface="Times New Roman" panose="02020603050405020304" pitchFamily="18" charset="0"/>
              </a:rPr>
              <a:t>not necessarily mean that the software is static or monolithic.</a:t>
            </a:r>
          </a:p>
        </p:txBody>
      </p:sp>
    </p:spTree>
    <p:extLst>
      <p:ext uri="{BB962C8B-B14F-4D97-AF65-F5344CB8AC3E}">
        <p14:creationId xmlns:p14="http://schemas.microsoft.com/office/powerpoint/2010/main" val="33555068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Software as a Service (SaaS)</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738664"/>
          </a:xfrm>
          <a:prstGeom prst="rect">
            <a:avLst/>
          </a:prstGeom>
        </p:spPr>
        <p:txBody>
          <a:bodyPr wrap="square">
            <a:spAutoFit/>
          </a:bodyPr>
          <a:lstStyle/>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p:cNvSpPr/>
          <p:nvPr/>
        </p:nvSpPr>
        <p:spPr>
          <a:xfrm>
            <a:off x="87085" y="1037230"/>
            <a:ext cx="890451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155575" y="928914"/>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pic>
        <p:nvPicPr>
          <p:cNvPr id="6146" name="Picture 2" descr="https://www.servissoft.net/wp-content/uploads/2018/03/This-is-Why-SaaS-is-Getting-Popular-with-Businesses-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200" y="1191119"/>
            <a:ext cx="8251801" cy="35320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3897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a:t>
            </a:r>
            <a:r>
              <a:rPr lang="en-US" sz="2400" b="1" dirty="0" smtClean="0">
                <a:solidFill>
                  <a:srgbClr val="002060"/>
                </a:solidFill>
                <a:latin typeface="Times New Roman" panose="02020603050405020304" pitchFamily="18" charset="0"/>
                <a:cs typeface="Times New Roman" panose="02020603050405020304" pitchFamily="18" charset="0"/>
              </a:rPr>
              <a:t>Software as a Service (SaaS</a:t>
            </a:r>
            <a:r>
              <a:rPr lang="en-US" sz="2400" b="1" dirty="0" smtClean="0">
                <a:solidFill>
                  <a:srgbClr val="002060"/>
                </a:solidFill>
                <a:latin typeface="Times New Roman" panose="02020603050405020304" pitchFamily="18" charset="0"/>
                <a:cs typeface="Times New Roman" panose="02020603050405020304" pitchFamily="18" charset="0"/>
              </a:rPr>
              <a:t>)-Characteristics</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738664"/>
          </a:xfrm>
          <a:prstGeom prst="rect">
            <a:avLst/>
          </a:prstGeom>
        </p:spPr>
        <p:txBody>
          <a:bodyPr wrap="square">
            <a:spAutoFit/>
          </a:bodyPr>
          <a:lstStyle/>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p:cNvSpPr/>
          <p:nvPr/>
        </p:nvSpPr>
        <p:spPr>
          <a:xfrm>
            <a:off x="87085" y="1037230"/>
            <a:ext cx="890451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155575" y="928914"/>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4" y="893028"/>
            <a:ext cx="8992116" cy="3970318"/>
          </a:xfrm>
          <a:prstGeom prst="rect">
            <a:avLst/>
          </a:prstGeom>
        </p:spPr>
        <p:txBody>
          <a:bodyPr wrap="square">
            <a:spAutoFit/>
          </a:bodyPr>
          <a:lstStyle/>
          <a:p>
            <a:pPr marL="285750" indent="-285750" algn="just">
              <a:lnSpc>
                <a:spcPct val="150000"/>
              </a:lnSpc>
              <a:buFont typeface="Arial" panose="020B0604020202020204" pitchFamily="34" charset="0"/>
              <a:buChar char="•"/>
              <a:tabLst>
                <a:tab pos="1346200" algn="l"/>
              </a:tabLst>
            </a:pPr>
            <a:r>
              <a:rPr lang="en-US" dirty="0" smtClean="0">
                <a:solidFill>
                  <a:srgbClr val="C00000"/>
                </a:solidFill>
                <a:latin typeface="Times New Roman" panose="02020603050405020304" pitchFamily="18" charset="0"/>
                <a:cs typeface="Times New Roman" panose="02020603050405020304" pitchFamily="18" charset="0"/>
              </a:rPr>
              <a:t>The </a:t>
            </a:r>
            <a:r>
              <a:rPr lang="en-US" b="1" dirty="0">
                <a:solidFill>
                  <a:srgbClr val="C00000"/>
                </a:solidFill>
                <a:latin typeface="Times New Roman" panose="02020603050405020304" pitchFamily="18" charset="0"/>
                <a:cs typeface="Times New Roman" panose="02020603050405020304" pitchFamily="18" charset="0"/>
              </a:rPr>
              <a:t>software is available </a:t>
            </a:r>
            <a:r>
              <a:rPr lang="en-US" dirty="0">
                <a:solidFill>
                  <a:srgbClr val="C00000"/>
                </a:solidFill>
                <a:latin typeface="Times New Roman" panose="02020603050405020304" pitchFamily="18" charset="0"/>
                <a:cs typeface="Times New Roman" panose="02020603050405020304" pitchFamily="18" charset="0"/>
              </a:rPr>
              <a:t>over the Internet globally through a browser on demand.</a:t>
            </a:r>
          </a:p>
          <a:p>
            <a:pPr marL="285750" indent="-285750" algn="just">
              <a:lnSpc>
                <a:spcPct val="150000"/>
              </a:lnSpc>
              <a:buFont typeface="Arial" panose="020B0604020202020204" pitchFamily="34" charset="0"/>
              <a:buChar char="•"/>
              <a:tabLst>
                <a:tab pos="1346200" algn="l"/>
              </a:tabLst>
            </a:pPr>
            <a:r>
              <a:rPr lang="en-US" dirty="0" smtClean="0">
                <a:solidFill>
                  <a:srgbClr val="C00000"/>
                </a:solidFill>
                <a:latin typeface="Times New Roman" panose="02020603050405020304" pitchFamily="18" charset="0"/>
                <a:cs typeface="Times New Roman" panose="02020603050405020304" pitchFamily="18" charset="0"/>
              </a:rPr>
              <a:t>The </a:t>
            </a:r>
            <a:r>
              <a:rPr lang="en-US" dirty="0">
                <a:solidFill>
                  <a:srgbClr val="C00000"/>
                </a:solidFill>
                <a:latin typeface="Times New Roman" panose="02020603050405020304" pitchFamily="18" charset="0"/>
                <a:cs typeface="Times New Roman" panose="02020603050405020304" pitchFamily="18" charset="0"/>
              </a:rPr>
              <a:t>typical license is </a:t>
            </a:r>
            <a:r>
              <a:rPr lang="en-US" b="1" dirty="0">
                <a:solidFill>
                  <a:srgbClr val="C00000"/>
                </a:solidFill>
                <a:latin typeface="Times New Roman" panose="02020603050405020304" pitchFamily="18" charset="0"/>
                <a:cs typeface="Times New Roman" panose="02020603050405020304" pitchFamily="18" charset="0"/>
              </a:rPr>
              <a:t>subscription-based or usage-based </a:t>
            </a:r>
            <a:r>
              <a:rPr lang="en-US" dirty="0">
                <a:solidFill>
                  <a:srgbClr val="C00000"/>
                </a:solidFill>
                <a:latin typeface="Times New Roman" panose="02020603050405020304" pitchFamily="18" charset="0"/>
                <a:cs typeface="Times New Roman" panose="02020603050405020304" pitchFamily="18" charset="0"/>
              </a:rPr>
              <a:t>and is billed on a recurring basis.</a:t>
            </a:r>
          </a:p>
          <a:p>
            <a:pPr marL="285750" indent="-285750" algn="just">
              <a:lnSpc>
                <a:spcPct val="150000"/>
              </a:lnSpc>
              <a:buFont typeface="Arial" panose="020B0604020202020204" pitchFamily="34" charset="0"/>
              <a:buChar char="•"/>
              <a:tabLst>
                <a:tab pos="1346200" algn="l"/>
              </a:tabLst>
            </a:pPr>
            <a:r>
              <a:rPr lang="en-US" dirty="0" smtClean="0">
                <a:solidFill>
                  <a:srgbClr val="C00000"/>
                </a:solidFill>
                <a:latin typeface="Times New Roman" panose="02020603050405020304" pitchFamily="18" charset="0"/>
                <a:cs typeface="Times New Roman" panose="02020603050405020304" pitchFamily="18" charset="0"/>
              </a:rPr>
              <a:t>The </a:t>
            </a:r>
            <a:r>
              <a:rPr lang="en-US" dirty="0">
                <a:solidFill>
                  <a:srgbClr val="C00000"/>
                </a:solidFill>
                <a:latin typeface="Times New Roman" panose="02020603050405020304" pitchFamily="18" charset="0"/>
                <a:cs typeface="Times New Roman" panose="02020603050405020304" pitchFamily="18" charset="0"/>
              </a:rPr>
              <a:t>software and the </a:t>
            </a:r>
            <a:r>
              <a:rPr lang="en-US" b="1" dirty="0">
                <a:solidFill>
                  <a:srgbClr val="C00000"/>
                </a:solidFill>
                <a:latin typeface="Times New Roman" panose="02020603050405020304" pitchFamily="18" charset="0"/>
                <a:cs typeface="Times New Roman" panose="02020603050405020304" pitchFamily="18" charset="0"/>
              </a:rPr>
              <a:t>service are monitored and maintained by the vendor</a:t>
            </a:r>
            <a:r>
              <a:rPr lang="en-US" dirty="0">
                <a:solidFill>
                  <a:srgbClr val="C00000"/>
                </a:solidFill>
                <a:latin typeface="Times New Roman" panose="02020603050405020304" pitchFamily="18" charset="0"/>
                <a:cs typeface="Times New Roman" panose="02020603050405020304" pitchFamily="18" charset="0"/>
              </a:rPr>
              <a:t>, regardless </a:t>
            </a:r>
            <a:r>
              <a:rPr lang="en-US" dirty="0" smtClean="0">
                <a:solidFill>
                  <a:srgbClr val="C00000"/>
                </a:solidFill>
                <a:latin typeface="Times New Roman" panose="02020603050405020304" pitchFamily="18" charset="0"/>
                <a:cs typeface="Times New Roman" panose="02020603050405020304" pitchFamily="18" charset="0"/>
              </a:rPr>
              <a:t>of where </a:t>
            </a:r>
            <a:r>
              <a:rPr lang="en-US" dirty="0">
                <a:solidFill>
                  <a:srgbClr val="C00000"/>
                </a:solidFill>
                <a:latin typeface="Times New Roman" panose="02020603050405020304" pitchFamily="18" charset="0"/>
                <a:cs typeface="Times New Roman" panose="02020603050405020304" pitchFamily="18" charset="0"/>
              </a:rPr>
              <a:t>all the different software components are running.</a:t>
            </a:r>
          </a:p>
          <a:p>
            <a:pPr marL="285750" indent="-285750" algn="just">
              <a:lnSpc>
                <a:spcPct val="150000"/>
              </a:lnSpc>
              <a:buFont typeface="Arial" panose="020B0604020202020204" pitchFamily="34" charset="0"/>
              <a:buChar char="•"/>
              <a:tabLst>
                <a:tab pos="1346200" algn="l"/>
              </a:tabLst>
            </a:pPr>
            <a:r>
              <a:rPr lang="en-US" dirty="0">
                <a:solidFill>
                  <a:srgbClr val="C00000"/>
                </a:solidFill>
                <a:latin typeface="Times New Roman" panose="02020603050405020304" pitchFamily="18" charset="0"/>
                <a:cs typeface="Times New Roman" panose="02020603050405020304" pitchFamily="18" charset="0"/>
              </a:rPr>
              <a:t>There may be executable client-side code, but the user isn’t responsible for </a:t>
            </a:r>
            <a:r>
              <a:rPr lang="en-US" dirty="0" smtClean="0">
                <a:solidFill>
                  <a:srgbClr val="C00000"/>
                </a:solidFill>
                <a:latin typeface="Times New Roman" panose="02020603050405020304" pitchFamily="18" charset="0"/>
                <a:cs typeface="Times New Roman" panose="02020603050405020304" pitchFamily="18" charset="0"/>
              </a:rPr>
              <a:t>maintain in that </a:t>
            </a:r>
            <a:r>
              <a:rPr lang="en-US" dirty="0">
                <a:solidFill>
                  <a:srgbClr val="C00000"/>
                </a:solidFill>
                <a:latin typeface="Times New Roman" panose="02020603050405020304" pitchFamily="18" charset="0"/>
                <a:cs typeface="Times New Roman" panose="02020603050405020304" pitchFamily="18" charset="0"/>
              </a:rPr>
              <a:t>code or its interaction with the service.</a:t>
            </a:r>
          </a:p>
          <a:p>
            <a:pPr marL="285750" indent="-285750" algn="just">
              <a:lnSpc>
                <a:spcPct val="150000"/>
              </a:lnSpc>
              <a:buFont typeface="Arial" panose="020B0604020202020204" pitchFamily="34" charset="0"/>
              <a:buChar char="•"/>
              <a:tabLst>
                <a:tab pos="1346200" algn="l"/>
              </a:tabLst>
            </a:pPr>
            <a:r>
              <a:rPr lang="en-US" b="1" dirty="0" smtClean="0">
                <a:solidFill>
                  <a:srgbClr val="C00000"/>
                </a:solidFill>
                <a:latin typeface="Times New Roman" panose="02020603050405020304" pitchFamily="18" charset="0"/>
                <a:cs typeface="Times New Roman" panose="02020603050405020304" pitchFamily="18" charset="0"/>
              </a:rPr>
              <a:t>Reduced </a:t>
            </a:r>
            <a:r>
              <a:rPr lang="en-US" b="1" dirty="0">
                <a:solidFill>
                  <a:srgbClr val="C00000"/>
                </a:solidFill>
                <a:latin typeface="Times New Roman" panose="02020603050405020304" pitchFamily="18" charset="0"/>
                <a:cs typeface="Times New Roman" panose="02020603050405020304" pitchFamily="18" charset="0"/>
              </a:rPr>
              <a:t>distribution and maintenance costs and minimal end-user </a:t>
            </a:r>
            <a:r>
              <a:rPr lang="en-US" dirty="0">
                <a:solidFill>
                  <a:srgbClr val="C00000"/>
                </a:solidFill>
                <a:latin typeface="Times New Roman" panose="02020603050405020304" pitchFamily="18" charset="0"/>
                <a:cs typeface="Times New Roman" panose="02020603050405020304" pitchFamily="18" charset="0"/>
              </a:rPr>
              <a:t>system costs </a:t>
            </a:r>
            <a:r>
              <a:rPr lang="en-US" dirty="0" smtClean="0">
                <a:solidFill>
                  <a:srgbClr val="C00000"/>
                </a:solidFill>
                <a:latin typeface="Times New Roman" panose="02020603050405020304" pitchFamily="18" charset="0"/>
                <a:cs typeface="Times New Roman" panose="02020603050405020304" pitchFamily="18" charset="0"/>
              </a:rPr>
              <a:t>generally make </a:t>
            </a:r>
            <a:r>
              <a:rPr lang="en-US" dirty="0">
                <a:solidFill>
                  <a:srgbClr val="C00000"/>
                </a:solidFill>
                <a:latin typeface="Times New Roman" panose="02020603050405020304" pitchFamily="18" charset="0"/>
                <a:cs typeface="Times New Roman" panose="02020603050405020304" pitchFamily="18" charset="0"/>
              </a:rPr>
              <a:t>SaaS applications cheaper to use than their shrink-wrapped versions.</a:t>
            </a:r>
          </a:p>
          <a:p>
            <a:pPr marL="285750" indent="-285750" algn="just">
              <a:buFont typeface="Arial" panose="020B0604020202020204" pitchFamily="34" charset="0"/>
              <a:buChar char="•"/>
              <a:tabLst>
                <a:tab pos="1346200" algn="l"/>
              </a:tabLst>
            </a:pPr>
            <a:r>
              <a:rPr lang="en-US" dirty="0" smtClean="0">
                <a:solidFill>
                  <a:srgbClr val="002060"/>
                </a:solidFill>
                <a:latin typeface="Times New Roman" panose="02020603050405020304" pitchFamily="18" charset="0"/>
                <a:cs typeface="Times New Roman" panose="02020603050405020304" pitchFamily="18" charset="0"/>
              </a:rPr>
              <a:t>Applications </a:t>
            </a:r>
            <a:r>
              <a:rPr lang="en-US" dirty="0">
                <a:solidFill>
                  <a:srgbClr val="002060"/>
                </a:solidFill>
                <a:latin typeface="Times New Roman" panose="02020603050405020304" pitchFamily="18" charset="0"/>
                <a:cs typeface="Times New Roman" panose="02020603050405020304" pitchFamily="18" charset="0"/>
              </a:rPr>
              <a:t>feature automated upgrades, updates, and patch management </a:t>
            </a:r>
            <a:r>
              <a:rPr lang="en-US" dirty="0" smtClean="0">
                <a:solidFill>
                  <a:srgbClr val="002060"/>
                </a:solidFill>
                <a:latin typeface="Times New Roman" panose="02020603050405020304" pitchFamily="18" charset="0"/>
                <a:cs typeface="Times New Roman" panose="02020603050405020304" pitchFamily="18" charset="0"/>
              </a:rPr>
              <a:t>and much </a:t>
            </a:r>
            <a:r>
              <a:rPr lang="en-US" dirty="0">
                <a:solidFill>
                  <a:srgbClr val="002060"/>
                </a:solidFill>
                <a:latin typeface="Times New Roman" panose="02020603050405020304" pitchFamily="18" charset="0"/>
                <a:cs typeface="Times New Roman" panose="02020603050405020304" pitchFamily="18" charset="0"/>
              </a:rPr>
              <a:t>faster rollout of changes.</a:t>
            </a:r>
          </a:p>
          <a:p>
            <a:pPr marL="285750" indent="-285750" algn="just">
              <a:buFont typeface="Arial" panose="020B0604020202020204" pitchFamily="34" charset="0"/>
              <a:buChar char="•"/>
              <a:tabLst>
                <a:tab pos="1346200" algn="l"/>
              </a:tabLst>
            </a:pPr>
            <a:r>
              <a:rPr lang="en-US" dirty="0" smtClean="0">
                <a:solidFill>
                  <a:srgbClr val="002060"/>
                </a:solidFill>
                <a:latin typeface="Times New Roman" panose="02020603050405020304" pitchFamily="18" charset="0"/>
                <a:cs typeface="Times New Roman" panose="02020603050405020304" pitchFamily="18" charset="0"/>
              </a:rPr>
              <a:t>SaaS </a:t>
            </a:r>
            <a:r>
              <a:rPr lang="en-US" dirty="0">
                <a:solidFill>
                  <a:srgbClr val="002060"/>
                </a:solidFill>
                <a:latin typeface="Times New Roman" panose="02020603050405020304" pitchFamily="18" charset="0"/>
                <a:cs typeface="Times New Roman" panose="02020603050405020304" pitchFamily="18" charset="0"/>
              </a:rPr>
              <a:t>applications often have a </a:t>
            </a:r>
            <a:r>
              <a:rPr lang="en-US" b="1" dirty="0">
                <a:solidFill>
                  <a:srgbClr val="002060"/>
                </a:solidFill>
                <a:latin typeface="Times New Roman" panose="02020603050405020304" pitchFamily="18" charset="0"/>
                <a:cs typeface="Times New Roman" panose="02020603050405020304" pitchFamily="18" charset="0"/>
              </a:rPr>
              <a:t>much lower barrier to entry </a:t>
            </a:r>
            <a:r>
              <a:rPr lang="en-US" dirty="0">
                <a:solidFill>
                  <a:srgbClr val="002060"/>
                </a:solidFill>
                <a:latin typeface="Times New Roman" panose="02020603050405020304" pitchFamily="18" charset="0"/>
                <a:cs typeface="Times New Roman" panose="02020603050405020304" pitchFamily="18" charset="0"/>
              </a:rPr>
              <a:t>than their locally </a:t>
            </a:r>
            <a:r>
              <a:rPr lang="en-US" dirty="0" smtClean="0">
                <a:solidFill>
                  <a:srgbClr val="002060"/>
                </a:solidFill>
                <a:latin typeface="Times New Roman" panose="02020603050405020304" pitchFamily="18" charset="0"/>
                <a:cs typeface="Times New Roman" panose="02020603050405020304" pitchFamily="18" charset="0"/>
              </a:rPr>
              <a:t>installed competitors</a:t>
            </a:r>
            <a:r>
              <a:rPr lang="en-US" dirty="0">
                <a:solidFill>
                  <a:srgbClr val="002060"/>
                </a:solidFill>
                <a:latin typeface="Times New Roman" panose="02020603050405020304" pitchFamily="18" charset="0"/>
                <a:cs typeface="Times New Roman" panose="02020603050405020304" pitchFamily="18" charset="0"/>
              </a:rPr>
              <a:t>, a known recurring cost, and they scale on demand (a property of </a:t>
            </a:r>
            <a:r>
              <a:rPr lang="en-US" dirty="0" smtClean="0">
                <a:solidFill>
                  <a:srgbClr val="002060"/>
                </a:solidFill>
                <a:latin typeface="Times New Roman" panose="02020603050405020304" pitchFamily="18" charset="0"/>
                <a:cs typeface="Times New Roman" panose="02020603050405020304" pitchFamily="18" charset="0"/>
              </a:rPr>
              <a:t>cloud computing </a:t>
            </a:r>
            <a:r>
              <a:rPr lang="en-US" dirty="0">
                <a:solidFill>
                  <a:srgbClr val="002060"/>
                </a:solidFill>
                <a:latin typeface="Times New Roman" panose="02020603050405020304" pitchFamily="18" charset="0"/>
                <a:cs typeface="Times New Roman" panose="02020603050405020304" pitchFamily="18" charset="0"/>
              </a:rPr>
              <a:t>in general).</a:t>
            </a:r>
          </a:p>
          <a:p>
            <a:pPr marL="285750" indent="-285750" algn="just">
              <a:buFont typeface="Arial" panose="020B0604020202020204" pitchFamily="34" charset="0"/>
              <a:buChar char="•"/>
              <a:tabLst>
                <a:tab pos="1346200" algn="l"/>
              </a:tabLst>
            </a:pPr>
            <a:r>
              <a:rPr lang="en-US" dirty="0" smtClean="0">
                <a:solidFill>
                  <a:srgbClr val="002060"/>
                </a:solidFill>
                <a:latin typeface="Times New Roman" panose="02020603050405020304" pitchFamily="18" charset="0"/>
                <a:cs typeface="Times New Roman" panose="02020603050405020304" pitchFamily="18" charset="0"/>
              </a:rPr>
              <a:t>All </a:t>
            </a:r>
            <a:r>
              <a:rPr lang="en-US" dirty="0">
                <a:solidFill>
                  <a:srgbClr val="002060"/>
                </a:solidFill>
                <a:latin typeface="Times New Roman" panose="02020603050405020304" pitchFamily="18" charset="0"/>
                <a:cs typeface="Times New Roman" panose="02020603050405020304" pitchFamily="18" charset="0"/>
              </a:rPr>
              <a:t>users have the </a:t>
            </a:r>
            <a:r>
              <a:rPr lang="en-US" b="1" dirty="0">
                <a:solidFill>
                  <a:srgbClr val="002060"/>
                </a:solidFill>
                <a:latin typeface="Times New Roman" panose="02020603050405020304" pitchFamily="18" charset="0"/>
                <a:cs typeface="Times New Roman" panose="02020603050405020304" pitchFamily="18" charset="0"/>
              </a:rPr>
              <a:t>same version of the software </a:t>
            </a:r>
            <a:r>
              <a:rPr lang="en-US" dirty="0">
                <a:solidFill>
                  <a:srgbClr val="002060"/>
                </a:solidFill>
                <a:latin typeface="Times New Roman" panose="02020603050405020304" pitchFamily="18" charset="0"/>
                <a:cs typeface="Times New Roman" panose="02020603050405020304" pitchFamily="18" charset="0"/>
              </a:rPr>
              <a:t>so each user’s software is compatible </a:t>
            </a:r>
            <a:r>
              <a:rPr lang="en-US" dirty="0" smtClean="0">
                <a:solidFill>
                  <a:srgbClr val="002060"/>
                </a:solidFill>
                <a:latin typeface="Times New Roman" panose="02020603050405020304" pitchFamily="18" charset="0"/>
                <a:cs typeface="Times New Roman" panose="02020603050405020304" pitchFamily="18" charset="0"/>
              </a:rPr>
              <a:t>with another’s</a:t>
            </a:r>
            <a:r>
              <a:rPr lang="en-US" dirty="0">
                <a:solidFill>
                  <a:srgbClr val="00206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tabLst>
                <a:tab pos="1346200" algn="l"/>
              </a:tabLst>
            </a:pPr>
            <a:r>
              <a:rPr lang="en-US" dirty="0" smtClean="0">
                <a:solidFill>
                  <a:srgbClr val="002060"/>
                </a:solidFill>
                <a:latin typeface="Times New Roman" panose="02020603050405020304" pitchFamily="18" charset="0"/>
                <a:cs typeface="Times New Roman" panose="02020603050405020304" pitchFamily="18" charset="0"/>
              </a:rPr>
              <a:t>SaaS </a:t>
            </a:r>
            <a:r>
              <a:rPr lang="en-US" dirty="0">
                <a:solidFill>
                  <a:srgbClr val="002060"/>
                </a:solidFill>
                <a:latin typeface="Times New Roman" panose="02020603050405020304" pitchFamily="18" charset="0"/>
                <a:cs typeface="Times New Roman" panose="02020603050405020304" pitchFamily="18" charset="0"/>
              </a:rPr>
              <a:t>supports multiple users and provides a </a:t>
            </a:r>
            <a:r>
              <a:rPr lang="en-US" b="1" dirty="0">
                <a:solidFill>
                  <a:srgbClr val="002060"/>
                </a:solidFill>
                <a:latin typeface="Times New Roman" panose="02020603050405020304" pitchFamily="18" charset="0"/>
                <a:cs typeface="Times New Roman" panose="02020603050405020304" pitchFamily="18" charset="0"/>
              </a:rPr>
              <a:t>shared data model through a </a:t>
            </a:r>
            <a:r>
              <a:rPr lang="en-US" b="1" dirty="0" smtClean="0">
                <a:solidFill>
                  <a:srgbClr val="002060"/>
                </a:solidFill>
                <a:latin typeface="Times New Roman" panose="02020603050405020304" pitchFamily="18" charset="0"/>
                <a:cs typeface="Times New Roman" panose="02020603050405020304" pitchFamily="18" charset="0"/>
              </a:rPr>
              <a:t>single-instance, multi-tenancy </a:t>
            </a:r>
            <a:r>
              <a:rPr lang="en-US" b="1" dirty="0">
                <a:solidFill>
                  <a:srgbClr val="002060"/>
                </a:solidFill>
                <a:latin typeface="Times New Roman" panose="02020603050405020304" pitchFamily="18" charset="0"/>
                <a:cs typeface="Times New Roman" panose="02020603050405020304" pitchFamily="18" charset="0"/>
              </a:rPr>
              <a:t>model.</a:t>
            </a:r>
          </a:p>
          <a:p>
            <a:pPr marL="285750" indent="-285750" algn="just">
              <a:buFont typeface="Arial" panose="020B0604020202020204" pitchFamily="34" charset="0"/>
              <a:buChar char="•"/>
              <a:tabLst>
                <a:tab pos="1346200" algn="l"/>
              </a:tabLst>
            </a:pPr>
            <a:r>
              <a:rPr lang="en-US" dirty="0">
                <a:solidFill>
                  <a:srgbClr val="002060"/>
                </a:solidFill>
                <a:latin typeface="Times New Roman" panose="02020603050405020304" pitchFamily="18" charset="0"/>
                <a:cs typeface="Times New Roman" panose="02020603050405020304" pitchFamily="18" charset="0"/>
              </a:rPr>
              <a:t>The alternative of software virtualization of individual instances also exists, but </a:t>
            </a:r>
            <a:r>
              <a:rPr lang="en-US" dirty="0" smtClean="0">
                <a:solidFill>
                  <a:srgbClr val="002060"/>
                </a:solidFill>
                <a:latin typeface="Times New Roman" panose="02020603050405020304" pitchFamily="18" charset="0"/>
                <a:cs typeface="Times New Roman" panose="02020603050405020304" pitchFamily="18" charset="0"/>
              </a:rPr>
              <a:t>is less </a:t>
            </a:r>
            <a:r>
              <a:rPr lang="en-US" dirty="0">
                <a:solidFill>
                  <a:srgbClr val="002060"/>
                </a:solidFill>
                <a:latin typeface="Times New Roman" panose="02020603050405020304" pitchFamily="18" charset="0"/>
                <a:cs typeface="Times New Roman" panose="02020603050405020304" pitchFamily="18" charset="0"/>
              </a:rPr>
              <a:t>common.</a:t>
            </a:r>
          </a:p>
        </p:txBody>
      </p:sp>
    </p:spTree>
    <p:extLst>
      <p:ext uri="{BB962C8B-B14F-4D97-AF65-F5344CB8AC3E}">
        <p14:creationId xmlns:p14="http://schemas.microsoft.com/office/powerpoint/2010/main" val="27509321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Software as a Service (SaaS)-Benefits</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738664"/>
          </a:xfrm>
          <a:prstGeom prst="rect">
            <a:avLst/>
          </a:prstGeom>
        </p:spPr>
        <p:txBody>
          <a:bodyPr wrap="square">
            <a:spAutoFit/>
          </a:bodyPr>
          <a:lstStyle/>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p:cNvSpPr/>
          <p:nvPr/>
        </p:nvSpPr>
        <p:spPr>
          <a:xfrm>
            <a:off x="87085" y="1037230"/>
            <a:ext cx="890451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155575" y="928914"/>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3" name="Rectangle 2"/>
          <p:cNvSpPr/>
          <p:nvPr/>
        </p:nvSpPr>
        <p:spPr>
          <a:xfrm>
            <a:off x="155573" y="928913"/>
            <a:ext cx="8836025" cy="4185761"/>
          </a:xfrm>
          <a:prstGeom prst="rect">
            <a:avLst/>
          </a:prstGeom>
        </p:spPr>
        <p:txBody>
          <a:bodyPr wrap="square">
            <a:spAutoFit/>
          </a:bodyPr>
          <a:lstStyle/>
          <a:p>
            <a:pPr marL="285750" indent="-285750" algn="just">
              <a:buFont typeface="Arial" panose="020B0604020202020204" pitchFamily="34" charset="0"/>
              <a:buChar char="•"/>
              <a:tabLst>
                <a:tab pos="1346200" algn="l"/>
              </a:tabLst>
            </a:pPr>
            <a:r>
              <a:rPr lang="en-US" dirty="0">
                <a:solidFill>
                  <a:srgbClr val="C00000"/>
                </a:solidFill>
                <a:latin typeface="Times New Roman" panose="02020603050405020304" pitchFamily="18" charset="0"/>
                <a:cs typeface="Times New Roman" panose="02020603050405020304" pitchFamily="18" charset="0"/>
              </a:rPr>
              <a:t>The software update is not required</a:t>
            </a:r>
            <a:r>
              <a:rPr lang="en-US"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tabLst>
                <a:tab pos="1346200" algn="l"/>
              </a:tabLst>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tabLst>
                <a:tab pos="1346200" algn="l"/>
              </a:tabLst>
            </a:pPr>
            <a:r>
              <a:rPr lang="en-US" dirty="0">
                <a:solidFill>
                  <a:srgbClr val="C00000"/>
                </a:solidFill>
                <a:latin typeface="Times New Roman" panose="02020603050405020304" pitchFamily="18" charset="0"/>
                <a:cs typeface="Times New Roman" panose="02020603050405020304" pitchFamily="18" charset="0"/>
              </a:rPr>
              <a:t>It does not create expenses like licensing and purchasing the software</a:t>
            </a:r>
            <a:r>
              <a:rPr lang="en-US"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tabLst>
                <a:tab pos="1346200" algn="l"/>
              </a:tabLst>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tabLst>
                <a:tab pos="1346200" algn="l"/>
              </a:tabLst>
            </a:pPr>
            <a:r>
              <a:rPr lang="en-US" dirty="0">
                <a:solidFill>
                  <a:srgbClr val="C00000"/>
                </a:solidFill>
                <a:latin typeface="Times New Roman" panose="02020603050405020304" pitchFamily="18" charset="0"/>
                <a:cs typeface="Times New Roman" panose="02020603050405020304" pitchFamily="18" charset="0"/>
              </a:rPr>
              <a:t>Server cost is avoided</a:t>
            </a:r>
            <a:r>
              <a:rPr lang="en-US"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tabLst>
                <a:tab pos="1346200" algn="l"/>
              </a:tabLst>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tabLst>
                <a:tab pos="1346200" algn="l"/>
              </a:tabLst>
            </a:pPr>
            <a:r>
              <a:rPr lang="en-US" dirty="0">
                <a:solidFill>
                  <a:srgbClr val="C00000"/>
                </a:solidFill>
                <a:latin typeface="Times New Roman" panose="02020603050405020304" pitchFamily="18" charset="0"/>
                <a:cs typeface="Times New Roman" panose="02020603050405020304" pitchFamily="18" charset="0"/>
              </a:rPr>
              <a:t>You pay as much as you use the software with no need of purchasing it</a:t>
            </a:r>
            <a:r>
              <a:rPr lang="en-US"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tabLst>
                <a:tab pos="1346200" algn="l"/>
              </a:tabLst>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tabLst>
                <a:tab pos="1346200" algn="l"/>
              </a:tabLst>
            </a:pPr>
            <a:r>
              <a:rPr lang="en-US" dirty="0">
                <a:solidFill>
                  <a:srgbClr val="C00000"/>
                </a:solidFill>
                <a:latin typeface="Times New Roman" panose="02020603050405020304" pitchFamily="18" charset="0"/>
                <a:cs typeface="Times New Roman" panose="02020603050405020304" pitchFamily="18" charset="0"/>
              </a:rPr>
              <a:t>Since </a:t>
            </a:r>
            <a:r>
              <a:rPr lang="en-US" b="1" dirty="0">
                <a:solidFill>
                  <a:srgbClr val="C00000"/>
                </a:solidFill>
                <a:latin typeface="Times New Roman" panose="02020603050405020304" pitchFamily="18" charset="0"/>
                <a:cs typeface="Times New Roman" panose="02020603050405020304" pitchFamily="18" charset="0"/>
              </a:rPr>
              <a:t>SaaS</a:t>
            </a:r>
            <a:r>
              <a:rPr lang="en-US" dirty="0">
                <a:solidFill>
                  <a:srgbClr val="C00000"/>
                </a:solidFill>
                <a:latin typeface="Times New Roman" panose="02020603050405020304" pitchFamily="18" charset="0"/>
                <a:cs typeface="Times New Roman" panose="02020603050405020304" pitchFamily="18" charset="0"/>
              </a:rPr>
              <a:t> is web-based, you are able to access your data anywhere at any time</a:t>
            </a:r>
            <a:r>
              <a:rPr lang="en-US"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tabLst>
                <a:tab pos="1346200" algn="l"/>
              </a:tabLst>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tabLst>
                <a:tab pos="1346200" algn="l"/>
              </a:tabLst>
            </a:pPr>
            <a:r>
              <a:rPr lang="en-US" dirty="0">
                <a:solidFill>
                  <a:srgbClr val="002060"/>
                </a:solidFill>
                <a:latin typeface="Times New Roman" panose="02020603050405020304" pitchFamily="18" charset="0"/>
                <a:cs typeface="Times New Roman" panose="02020603050405020304" pitchFamily="18" charset="0"/>
              </a:rPr>
              <a:t>Needs such as technical maintenance and IT staff disappear</a:t>
            </a:r>
            <a:r>
              <a:rPr lang="en-US" dirty="0" smtClean="0">
                <a:solidFill>
                  <a:srgbClr val="00206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tabLst>
                <a:tab pos="1346200" algn="l"/>
              </a:tabLst>
            </a:pPr>
            <a:endParaRPr lang="en-US"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tabLst>
                <a:tab pos="1346200" algn="l"/>
              </a:tabLst>
            </a:pPr>
            <a:r>
              <a:rPr lang="en-US" dirty="0">
                <a:solidFill>
                  <a:srgbClr val="002060"/>
                </a:solidFill>
                <a:latin typeface="Times New Roman" panose="02020603050405020304" pitchFamily="18" charset="0"/>
                <a:cs typeface="Times New Roman" panose="02020603050405020304" pitchFamily="18" charset="0"/>
              </a:rPr>
              <a:t>You do not need to allocate a budget for security</a:t>
            </a:r>
            <a:r>
              <a:rPr lang="en-US" dirty="0" smtClean="0">
                <a:solidFill>
                  <a:srgbClr val="00206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tabLst>
                <a:tab pos="1346200" algn="l"/>
              </a:tabLst>
            </a:pPr>
            <a:endParaRPr lang="en-US"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tabLst>
                <a:tab pos="1346200" algn="l"/>
              </a:tabLst>
            </a:pPr>
            <a:r>
              <a:rPr lang="en-US" dirty="0" smtClean="0">
                <a:solidFill>
                  <a:srgbClr val="002060"/>
                </a:solidFill>
                <a:latin typeface="Times New Roman" panose="02020603050405020304" pitchFamily="18" charset="0"/>
                <a:cs typeface="Times New Roman" panose="02020603050405020304" pitchFamily="18" charset="0"/>
              </a:rPr>
              <a:t>Physical </a:t>
            </a:r>
            <a:r>
              <a:rPr lang="en-US" dirty="0">
                <a:solidFill>
                  <a:srgbClr val="002060"/>
                </a:solidFill>
                <a:latin typeface="Times New Roman" panose="02020603050405020304" pitchFamily="18" charset="0"/>
                <a:cs typeface="Times New Roman" panose="02020603050405020304" pitchFamily="18" charset="0"/>
              </a:rPr>
              <a:t>servers are backed up at regular intervals as a precaution against any malfunction. </a:t>
            </a:r>
            <a:endParaRPr lang="en-US"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tabLst>
                <a:tab pos="1346200" algn="l"/>
              </a:tabLst>
            </a:pPr>
            <a:endParaRPr lang="en-US"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tabLst>
                <a:tab pos="1346200" algn="l"/>
              </a:tabLst>
            </a:pPr>
            <a:r>
              <a:rPr lang="en-US" dirty="0" smtClean="0">
                <a:solidFill>
                  <a:srgbClr val="002060"/>
                </a:solidFill>
                <a:latin typeface="Times New Roman" panose="02020603050405020304" pitchFamily="18" charset="0"/>
                <a:cs typeface="Times New Roman" panose="02020603050405020304" pitchFamily="18" charset="0"/>
              </a:rPr>
              <a:t>The </a:t>
            </a:r>
            <a:r>
              <a:rPr lang="en-US" dirty="0">
                <a:solidFill>
                  <a:srgbClr val="002060"/>
                </a:solidFill>
                <a:latin typeface="Times New Roman" panose="02020603050405020304" pitchFamily="18" charset="0"/>
                <a:cs typeface="Times New Roman" panose="02020603050405020304" pitchFamily="18" charset="0"/>
              </a:rPr>
              <a:t>cloud server service is configured in the </a:t>
            </a:r>
            <a:r>
              <a:rPr lang="en-US" b="1" dirty="0">
                <a:solidFill>
                  <a:srgbClr val="002060"/>
                </a:solidFill>
                <a:latin typeface="Times New Roman" panose="02020603050405020304" pitchFamily="18" charset="0"/>
                <a:cs typeface="Times New Roman" panose="02020603050405020304" pitchFamily="18" charset="0"/>
              </a:rPr>
              <a:t>Cluster infrastructure </a:t>
            </a:r>
            <a:r>
              <a:rPr lang="en-US" dirty="0">
                <a:solidFill>
                  <a:srgbClr val="002060"/>
                </a:solidFill>
                <a:latin typeface="Times New Roman" panose="02020603050405020304" pitchFamily="18" charset="0"/>
                <a:cs typeface="Times New Roman" panose="02020603050405020304" pitchFamily="18" charset="0"/>
              </a:rPr>
              <a:t>where multiple computers are running as copies of each other, it continues to run on one of the other redundant servers without interruption when a problem is encountered.</a:t>
            </a:r>
          </a:p>
        </p:txBody>
      </p:sp>
    </p:spTree>
    <p:extLst>
      <p:ext uri="{BB962C8B-B14F-4D97-AF65-F5344CB8AC3E}">
        <p14:creationId xmlns:p14="http://schemas.microsoft.com/office/powerpoint/2010/main" val="3977454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smtClean="0">
                <a:solidFill>
                  <a:srgbClr val="002060"/>
                </a:solidFill>
                <a:latin typeface="Times New Roman" panose="02020603050405020304" pitchFamily="18" charset="0"/>
                <a:cs typeface="Times New Roman" panose="02020603050405020304" pitchFamily="18" charset="0"/>
              </a:rPr>
              <a:t>                        Software as a Service (SaaS)</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738664"/>
          </a:xfrm>
          <a:prstGeom prst="rect">
            <a:avLst/>
          </a:prstGeom>
        </p:spPr>
        <p:txBody>
          <a:bodyPr wrap="square">
            <a:spAutoFit/>
          </a:bodyPr>
          <a:lstStyle/>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p:cNvSpPr/>
          <p:nvPr/>
        </p:nvSpPr>
        <p:spPr>
          <a:xfrm>
            <a:off x="87085" y="1037230"/>
            <a:ext cx="890451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155575" y="928914"/>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4" y="893028"/>
            <a:ext cx="8992116" cy="376834"/>
          </a:xfrm>
          <a:prstGeom prst="rect">
            <a:avLst/>
          </a:prstGeom>
        </p:spPr>
        <p:txBody>
          <a:bodyPr wrap="square">
            <a:spAutoFit/>
          </a:bodyPr>
          <a:lstStyle/>
          <a:p>
            <a:pPr marL="285750" indent="-285750" algn="just">
              <a:lnSpc>
                <a:spcPct val="150000"/>
              </a:lnSpc>
              <a:buFont typeface="Arial" panose="020B0604020202020204" pitchFamily="34" charset="0"/>
              <a:buChar char="•"/>
              <a:tabLst>
                <a:tab pos="1346200" algn="l"/>
              </a:tabLst>
            </a:pPr>
            <a:endParaRPr lang="en-US" dirty="0">
              <a:solidFill>
                <a:srgbClr val="002060"/>
              </a:solidFill>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3"/>
          <a:stretch>
            <a:fillRect/>
          </a:stretch>
        </p:blipFill>
        <p:spPr>
          <a:xfrm>
            <a:off x="902652" y="1037230"/>
            <a:ext cx="7708548" cy="3498769"/>
          </a:xfrm>
          <a:prstGeom prst="rect">
            <a:avLst/>
          </a:prstGeom>
        </p:spPr>
      </p:pic>
    </p:spTree>
    <p:extLst>
      <p:ext uri="{BB962C8B-B14F-4D97-AF65-F5344CB8AC3E}">
        <p14:creationId xmlns:p14="http://schemas.microsoft.com/office/powerpoint/2010/main" val="22739211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a:solidFill>
                  <a:srgbClr val="002060"/>
                </a:solidFill>
                <a:latin typeface="Times New Roman" panose="02020603050405020304" pitchFamily="18" charset="0"/>
                <a:cs typeface="Times New Roman" panose="02020603050405020304" pitchFamily="18" charset="0"/>
              </a:rPr>
              <a:t>                        Open SaaS and SOA</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738664"/>
          </a:xfrm>
          <a:prstGeom prst="rect">
            <a:avLst/>
          </a:prstGeom>
        </p:spPr>
        <p:txBody>
          <a:bodyPr wrap="square">
            <a:spAutoFit/>
          </a:bodyPr>
          <a:lstStyle/>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p:cNvSpPr/>
          <p:nvPr/>
        </p:nvSpPr>
        <p:spPr>
          <a:xfrm>
            <a:off x="87085" y="1037230"/>
            <a:ext cx="890451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155575" y="928914"/>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4" y="893028"/>
            <a:ext cx="8992116" cy="376834"/>
          </a:xfrm>
          <a:prstGeom prst="rect">
            <a:avLst/>
          </a:prstGeom>
        </p:spPr>
        <p:txBody>
          <a:bodyPr wrap="square">
            <a:spAutoFit/>
          </a:bodyPr>
          <a:lstStyle/>
          <a:p>
            <a:pPr marL="285750" indent="-285750" algn="just">
              <a:lnSpc>
                <a:spcPct val="150000"/>
              </a:lnSpc>
              <a:buFont typeface="Arial" panose="020B0604020202020204" pitchFamily="34" charset="0"/>
              <a:buChar char="•"/>
              <a:tabLst>
                <a:tab pos="1346200" algn="l"/>
              </a:tabLst>
            </a:pPr>
            <a:endParaRPr lang="en-US" dirty="0">
              <a:solidFill>
                <a:srgbClr val="002060"/>
              </a:solidFill>
              <a:latin typeface="Times New Roman" panose="02020603050405020304" pitchFamily="18" charset="0"/>
              <a:cs typeface="Times New Roman" panose="02020603050405020304" pitchFamily="18" charset="0"/>
            </a:endParaRPr>
          </a:p>
        </p:txBody>
      </p:sp>
      <p:sp>
        <p:nvSpPr>
          <p:cNvPr id="9" name="Rectangle 8"/>
          <p:cNvSpPr/>
          <p:nvPr/>
        </p:nvSpPr>
        <p:spPr>
          <a:xfrm>
            <a:off x="155573" y="893027"/>
            <a:ext cx="8836025" cy="2893100"/>
          </a:xfrm>
          <a:prstGeom prst="rect">
            <a:avLst/>
          </a:prstGeom>
        </p:spPr>
        <p:txBody>
          <a:bodyPr wrap="square">
            <a:spAutoFit/>
          </a:bodyPr>
          <a:lstStyle/>
          <a:p>
            <a:pPr marL="285750" indent="-285750" algn="just">
              <a:buFont typeface="Arial" panose="020B0604020202020204" pitchFamily="34" charset="0"/>
              <a:buChar char="•"/>
            </a:pPr>
            <a:r>
              <a:rPr lang="en-IN" dirty="0">
                <a:solidFill>
                  <a:srgbClr val="C00000"/>
                </a:solidFill>
                <a:latin typeface="Times New Roman" panose="02020603050405020304" pitchFamily="18" charset="0"/>
                <a:cs typeface="Times New Roman" panose="02020603050405020304" pitchFamily="18" charset="0"/>
              </a:rPr>
              <a:t>A considerable amount of SaaS software is based on open source software. When open source </a:t>
            </a:r>
            <a:r>
              <a:rPr lang="en-IN" dirty="0" smtClean="0">
                <a:solidFill>
                  <a:srgbClr val="C00000"/>
                </a:solidFill>
                <a:latin typeface="Times New Roman" panose="02020603050405020304" pitchFamily="18" charset="0"/>
                <a:cs typeface="Times New Roman" panose="02020603050405020304" pitchFamily="18" charset="0"/>
              </a:rPr>
              <a:t>software </a:t>
            </a:r>
            <a:r>
              <a:rPr lang="en-IN" dirty="0">
                <a:solidFill>
                  <a:srgbClr val="C00000"/>
                </a:solidFill>
                <a:latin typeface="Times New Roman" panose="02020603050405020304" pitchFamily="18" charset="0"/>
                <a:cs typeface="Times New Roman" panose="02020603050405020304" pitchFamily="18" charset="0"/>
              </a:rPr>
              <a:t>is used in a SaaS, you may hear it referred to as Open SaaS. </a:t>
            </a:r>
            <a:endParaRPr lang="en-IN"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smtClean="0">
                <a:solidFill>
                  <a:srgbClr val="C00000"/>
                </a:solidFill>
                <a:latin typeface="Times New Roman" panose="02020603050405020304" pitchFamily="18" charset="0"/>
                <a:cs typeface="Times New Roman" panose="02020603050405020304" pitchFamily="18" charset="0"/>
              </a:rPr>
              <a:t>The </a:t>
            </a:r>
            <a:r>
              <a:rPr lang="en-IN" dirty="0">
                <a:solidFill>
                  <a:srgbClr val="C00000"/>
                </a:solidFill>
                <a:latin typeface="Times New Roman" panose="02020603050405020304" pitchFamily="18" charset="0"/>
                <a:cs typeface="Times New Roman" panose="02020603050405020304" pitchFamily="18" charset="0"/>
              </a:rPr>
              <a:t>advantages of using </a:t>
            </a:r>
            <a:r>
              <a:rPr lang="en-IN" dirty="0" smtClean="0">
                <a:solidFill>
                  <a:srgbClr val="C00000"/>
                </a:solidFill>
                <a:latin typeface="Times New Roman" panose="02020603050405020304" pitchFamily="18" charset="0"/>
                <a:cs typeface="Times New Roman" panose="02020603050405020304" pitchFamily="18" charset="0"/>
              </a:rPr>
              <a:t>open source </a:t>
            </a:r>
            <a:r>
              <a:rPr lang="en-IN" dirty="0">
                <a:solidFill>
                  <a:srgbClr val="C00000"/>
                </a:solidFill>
                <a:latin typeface="Times New Roman" panose="02020603050405020304" pitchFamily="18" charset="0"/>
                <a:cs typeface="Times New Roman" panose="02020603050405020304" pitchFamily="18" charset="0"/>
              </a:rPr>
              <a:t>software are that systems are much cheaper to deploy because you don’t have to </a:t>
            </a:r>
            <a:r>
              <a:rPr lang="en-IN" dirty="0" smtClean="0">
                <a:solidFill>
                  <a:srgbClr val="C00000"/>
                </a:solidFill>
                <a:latin typeface="Times New Roman" panose="02020603050405020304" pitchFamily="18" charset="0"/>
                <a:cs typeface="Times New Roman" panose="02020603050405020304" pitchFamily="18" charset="0"/>
              </a:rPr>
              <a:t>purchase the </a:t>
            </a:r>
            <a:r>
              <a:rPr lang="en-IN" dirty="0">
                <a:solidFill>
                  <a:srgbClr val="C00000"/>
                </a:solidFill>
                <a:latin typeface="Times New Roman" panose="02020603050405020304" pitchFamily="18" charset="0"/>
                <a:cs typeface="Times New Roman" panose="02020603050405020304" pitchFamily="18" charset="0"/>
              </a:rPr>
              <a:t>operating system or software, there is less vendor lock-in, and applications are more portable</a:t>
            </a:r>
            <a:r>
              <a:rPr lang="en-IN"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solidFill>
                  <a:srgbClr val="002060"/>
                </a:solidFill>
                <a:latin typeface="Times New Roman" panose="02020603050405020304" pitchFamily="18" charset="0"/>
                <a:cs typeface="Times New Roman" panose="02020603050405020304" pitchFamily="18" charset="0"/>
              </a:rPr>
              <a:t>The popularity of open source software, from </a:t>
            </a:r>
            <a:r>
              <a:rPr lang="en-IN" b="1" dirty="0">
                <a:solidFill>
                  <a:srgbClr val="002060"/>
                </a:solidFill>
                <a:latin typeface="Times New Roman" panose="02020603050405020304" pitchFamily="18" charset="0"/>
                <a:cs typeface="Times New Roman" panose="02020603050405020304" pitchFamily="18" charset="0"/>
              </a:rPr>
              <a:t>Linux to APACHE, MySQL, and </a:t>
            </a:r>
            <a:r>
              <a:rPr lang="en-IN" b="1" dirty="0" smtClean="0">
                <a:solidFill>
                  <a:srgbClr val="002060"/>
                </a:solidFill>
                <a:latin typeface="Times New Roman" panose="02020603050405020304" pitchFamily="18" charset="0"/>
                <a:cs typeface="Times New Roman" panose="02020603050405020304" pitchFamily="18" charset="0"/>
              </a:rPr>
              <a:t>PERL </a:t>
            </a:r>
            <a:r>
              <a:rPr lang="en-IN" b="1" dirty="0">
                <a:solidFill>
                  <a:srgbClr val="002060"/>
                </a:solidFill>
                <a:latin typeface="Times New Roman" panose="02020603050405020304" pitchFamily="18" charset="0"/>
                <a:cs typeface="Times New Roman" panose="02020603050405020304" pitchFamily="18" charset="0"/>
              </a:rPr>
              <a:t>(the </a:t>
            </a:r>
            <a:r>
              <a:rPr lang="en-IN" b="1" dirty="0" smtClean="0">
                <a:solidFill>
                  <a:srgbClr val="002060"/>
                </a:solidFill>
                <a:latin typeface="Times New Roman" panose="02020603050405020304" pitchFamily="18" charset="0"/>
                <a:cs typeface="Times New Roman" panose="02020603050405020304" pitchFamily="18" charset="0"/>
              </a:rPr>
              <a:t>LAMP platform</a:t>
            </a:r>
            <a:r>
              <a:rPr lang="en-IN" b="1" dirty="0">
                <a:solidFill>
                  <a:srgbClr val="002060"/>
                </a:solidFill>
                <a:latin typeface="Times New Roman" panose="02020603050405020304" pitchFamily="18" charset="0"/>
                <a:cs typeface="Times New Roman" panose="02020603050405020304" pitchFamily="18" charset="0"/>
              </a:rPr>
              <a:t>) on the Internet,</a:t>
            </a:r>
            <a:r>
              <a:rPr lang="en-IN" dirty="0">
                <a:solidFill>
                  <a:srgbClr val="002060"/>
                </a:solidFill>
                <a:latin typeface="Times New Roman" panose="02020603050405020304" pitchFamily="18" charset="0"/>
                <a:cs typeface="Times New Roman" panose="02020603050405020304" pitchFamily="18" charset="0"/>
              </a:rPr>
              <a:t> and the number of people who are trained in open source software </a:t>
            </a:r>
            <a:r>
              <a:rPr lang="en-IN" dirty="0" smtClean="0">
                <a:solidFill>
                  <a:srgbClr val="002060"/>
                </a:solidFill>
                <a:latin typeface="Times New Roman" panose="02020603050405020304" pitchFamily="18" charset="0"/>
                <a:cs typeface="Times New Roman" panose="02020603050405020304" pitchFamily="18" charset="0"/>
              </a:rPr>
              <a:t>make Open </a:t>
            </a:r>
            <a:r>
              <a:rPr lang="en-IN" dirty="0">
                <a:solidFill>
                  <a:srgbClr val="002060"/>
                </a:solidFill>
                <a:latin typeface="Times New Roman" panose="02020603050405020304" pitchFamily="18" charset="0"/>
                <a:cs typeface="Times New Roman" panose="02020603050405020304" pitchFamily="18" charset="0"/>
              </a:rPr>
              <a:t>SaaS an attractive proposition. </a:t>
            </a:r>
            <a:endParaRPr lang="en-IN"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smtClean="0">
                <a:solidFill>
                  <a:srgbClr val="002060"/>
                </a:solidFill>
                <a:latin typeface="Times New Roman" panose="02020603050405020304" pitchFamily="18" charset="0"/>
                <a:cs typeface="Times New Roman" panose="02020603050405020304" pitchFamily="18" charset="0"/>
              </a:rPr>
              <a:t>The </a:t>
            </a:r>
            <a:r>
              <a:rPr lang="en-IN" dirty="0">
                <a:solidFill>
                  <a:srgbClr val="002060"/>
                </a:solidFill>
                <a:latin typeface="Times New Roman" panose="02020603050405020304" pitchFamily="18" charset="0"/>
                <a:cs typeface="Times New Roman" panose="02020603050405020304" pitchFamily="18" charset="0"/>
              </a:rPr>
              <a:t>impact of </a:t>
            </a:r>
            <a:r>
              <a:rPr lang="en-IN" b="1" dirty="0">
                <a:solidFill>
                  <a:srgbClr val="002060"/>
                </a:solidFill>
                <a:latin typeface="Times New Roman" panose="02020603050405020304" pitchFamily="18" charset="0"/>
                <a:cs typeface="Times New Roman" panose="02020603050405020304" pitchFamily="18" charset="0"/>
              </a:rPr>
              <a:t>Open SaaS will likely translate </a:t>
            </a:r>
            <a:r>
              <a:rPr lang="en-IN" dirty="0">
                <a:solidFill>
                  <a:srgbClr val="002060"/>
                </a:solidFill>
                <a:latin typeface="Times New Roman" panose="02020603050405020304" pitchFamily="18" charset="0"/>
                <a:cs typeface="Times New Roman" panose="02020603050405020304" pitchFamily="18" charset="0"/>
              </a:rPr>
              <a:t>into better </a:t>
            </a:r>
            <a:r>
              <a:rPr lang="en-IN" dirty="0" smtClean="0">
                <a:solidFill>
                  <a:srgbClr val="002060"/>
                </a:solidFill>
                <a:latin typeface="Times New Roman" panose="02020603050405020304" pitchFamily="18" charset="0"/>
                <a:cs typeface="Times New Roman" panose="02020603050405020304" pitchFamily="18" charset="0"/>
              </a:rPr>
              <a:t>profitability </a:t>
            </a:r>
            <a:r>
              <a:rPr lang="en-IN" dirty="0">
                <a:solidFill>
                  <a:srgbClr val="002060"/>
                </a:solidFill>
                <a:latin typeface="Times New Roman" panose="02020603050405020304" pitchFamily="18" charset="0"/>
                <a:cs typeface="Times New Roman" panose="02020603050405020304" pitchFamily="18" charset="0"/>
              </a:rPr>
              <a:t>for the companies that deploy open source software in the cloud, resulting in lower </a:t>
            </a:r>
            <a:r>
              <a:rPr lang="en-IN" dirty="0" smtClean="0">
                <a:solidFill>
                  <a:srgbClr val="002060"/>
                </a:solidFill>
                <a:latin typeface="Times New Roman" panose="02020603050405020304" pitchFamily="18" charset="0"/>
                <a:cs typeface="Times New Roman" panose="02020603050405020304" pitchFamily="18" charset="0"/>
              </a:rPr>
              <a:t>development </a:t>
            </a:r>
            <a:r>
              <a:rPr lang="en-IN" dirty="0">
                <a:solidFill>
                  <a:srgbClr val="002060"/>
                </a:solidFill>
                <a:latin typeface="Times New Roman" panose="02020603050405020304" pitchFamily="18" charset="0"/>
                <a:cs typeface="Times New Roman" panose="02020603050405020304" pitchFamily="18" charset="0"/>
              </a:rPr>
              <a:t>costs and more robust solutions</a:t>
            </a:r>
            <a:r>
              <a:rPr lang="en-IN" dirty="0" smtClean="0">
                <a:solidFill>
                  <a:srgbClr val="002060"/>
                </a:solidFill>
                <a:latin typeface="Times New Roman" panose="02020603050405020304" pitchFamily="18" charset="0"/>
                <a:cs typeface="Times New Roman" panose="02020603050405020304" pitchFamily="18" charset="0"/>
              </a:rPr>
              <a:t>.</a:t>
            </a:r>
          </a:p>
          <a:p>
            <a:endParaRPr lang="en-IN" dirty="0">
              <a:solidFill>
                <a:srgbClr val="002060"/>
              </a:solidFill>
            </a:endParaRPr>
          </a:p>
        </p:txBody>
      </p:sp>
    </p:spTree>
    <p:extLst>
      <p:ext uri="{BB962C8B-B14F-4D97-AF65-F5344CB8AC3E}">
        <p14:creationId xmlns:p14="http://schemas.microsoft.com/office/powerpoint/2010/main" val="2754831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a:solidFill>
                  <a:srgbClr val="002060"/>
                </a:solidFill>
                <a:latin typeface="Times New Roman" panose="02020603050405020304" pitchFamily="18" charset="0"/>
                <a:cs typeface="Times New Roman" panose="02020603050405020304" pitchFamily="18" charset="0"/>
              </a:rPr>
              <a:t>                        Open SaaS and SOA</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738664"/>
          </a:xfrm>
          <a:prstGeom prst="rect">
            <a:avLst/>
          </a:prstGeom>
        </p:spPr>
        <p:txBody>
          <a:bodyPr wrap="square">
            <a:spAutoFit/>
          </a:bodyPr>
          <a:lstStyle/>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p:cNvSpPr/>
          <p:nvPr/>
        </p:nvSpPr>
        <p:spPr>
          <a:xfrm>
            <a:off x="87085" y="1037230"/>
            <a:ext cx="890451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155575" y="928914"/>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4" y="893028"/>
            <a:ext cx="8992116" cy="376834"/>
          </a:xfrm>
          <a:prstGeom prst="rect">
            <a:avLst/>
          </a:prstGeom>
        </p:spPr>
        <p:txBody>
          <a:bodyPr wrap="square">
            <a:spAutoFit/>
          </a:bodyPr>
          <a:lstStyle/>
          <a:p>
            <a:pPr marL="285750" indent="-285750" algn="just">
              <a:lnSpc>
                <a:spcPct val="150000"/>
              </a:lnSpc>
              <a:buFont typeface="Arial" panose="020B0604020202020204" pitchFamily="34" charset="0"/>
              <a:buChar char="•"/>
              <a:tabLst>
                <a:tab pos="1346200" algn="l"/>
              </a:tabLst>
            </a:pPr>
            <a:endParaRPr lang="en-US" dirty="0">
              <a:solidFill>
                <a:srgbClr val="002060"/>
              </a:solidFill>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3"/>
          <a:stretch>
            <a:fillRect/>
          </a:stretch>
        </p:blipFill>
        <p:spPr>
          <a:xfrm>
            <a:off x="525600" y="1130400"/>
            <a:ext cx="8344800" cy="3729599"/>
          </a:xfrm>
          <a:prstGeom prst="rect">
            <a:avLst/>
          </a:prstGeom>
        </p:spPr>
      </p:pic>
    </p:spTree>
    <p:extLst>
      <p:ext uri="{BB962C8B-B14F-4D97-AF65-F5344CB8AC3E}">
        <p14:creationId xmlns:p14="http://schemas.microsoft.com/office/powerpoint/2010/main" val="40502112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a:solidFill>
                  <a:srgbClr val="002060"/>
                </a:solidFill>
                <a:latin typeface="Times New Roman" panose="02020603050405020304" pitchFamily="18" charset="0"/>
                <a:cs typeface="Times New Roman" panose="02020603050405020304" pitchFamily="18" charset="0"/>
              </a:rPr>
              <a:t>                        Open SaaS and SOA</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738664"/>
          </a:xfrm>
          <a:prstGeom prst="rect">
            <a:avLst/>
          </a:prstGeom>
        </p:spPr>
        <p:txBody>
          <a:bodyPr wrap="square">
            <a:spAutoFit/>
          </a:bodyPr>
          <a:lstStyle/>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p:cNvSpPr/>
          <p:nvPr/>
        </p:nvSpPr>
        <p:spPr>
          <a:xfrm>
            <a:off x="87085" y="1037230"/>
            <a:ext cx="890451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155575" y="928914"/>
            <a:ext cx="8836024" cy="3754874"/>
          </a:xfrm>
          <a:prstGeom prst="rect">
            <a:avLst/>
          </a:prstGeom>
        </p:spPr>
        <p:txBody>
          <a:bodyPr wrap="square">
            <a:spAutoFit/>
          </a:bodyPr>
          <a:lstStyle/>
          <a:p>
            <a:pPr marL="285750" indent="-285750" algn="just">
              <a:buFont typeface="Arial" panose="020B0604020202020204" pitchFamily="34" charset="0"/>
              <a:buChar char="•"/>
            </a:pPr>
            <a:r>
              <a:rPr lang="en-US" dirty="0">
                <a:solidFill>
                  <a:srgbClr val="C00000"/>
                </a:solidFill>
                <a:latin typeface="Times New Roman" panose="02020603050405020304" pitchFamily="18" charset="0"/>
                <a:cs typeface="Times New Roman" panose="02020603050405020304" pitchFamily="18" charset="0"/>
              </a:rPr>
              <a:t>The componentized nature of SaaS solutions enables many of these solutions to support a </a:t>
            </a:r>
            <a:r>
              <a:rPr lang="en-US" dirty="0" smtClean="0">
                <a:solidFill>
                  <a:srgbClr val="C00000"/>
                </a:solidFill>
                <a:latin typeface="Times New Roman" panose="02020603050405020304" pitchFamily="18" charset="0"/>
                <a:cs typeface="Times New Roman" panose="02020603050405020304" pitchFamily="18" charset="0"/>
              </a:rPr>
              <a:t>feature called </a:t>
            </a:r>
            <a:r>
              <a:rPr lang="en-US" dirty="0">
                <a:solidFill>
                  <a:srgbClr val="C00000"/>
                </a:solidFill>
                <a:latin typeface="Times New Roman" panose="02020603050405020304" pitchFamily="18" charset="0"/>
                <a:cs typeface="Times New Roman" panose="02020603050405020304" pitchFamily="18" charset="0"/>
              </a:rPr>
              <a:t>mashups</a:t>
            </a:r>
            <a:r>
              <a:rPr lang="en-US"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solidFill>
                  <a:srgbClr val="C00000"/>
                </a:solidFill>
                <a:latin typeface="Times New Roman" panose="02020603050405020304" pitchFamily="18" charset="0"/>
                <a:cs typeface="Times New Roman" panose="02020603050405020304" pitchFamily="18" charset="0"/>
              </a:rPr>
              <a:t> </a:t>
            </a:r>
            <a:r>
              <a:rPr lang="en-US" dirty="0">
                <a:solidFill>
                  <a:srgbClr val="C00000"/>
                </a:solidFill>
                <a:latin typeface="Times New Roman" panose="02020603050405020304" pitchFamily="18" charset="0"/>
                <a:cs typeface="Times New Roman" panose="02020603050405020304" pitchFamily="18" charset="0"/>
              </a:rPr>
              <a:t>A mashup is an application that can display a Web page that shows data and </a:t>
            </a:r>
            <a:r>
              <a:rPr lang="en-US" dirty="0" smtClean="0">
                <a:solidFill>
                  <a:srgbClr val="C00000"/>
                </a:solidFill>
                <a:latin typeface="Times New Roman" panose="02020603050405020304" pitchFamily="18" charset="0"/>
                <a:cs typeface="Times New Roman" panose="02020603050405020304" pitchFamily="18" charset="0"/>
              </a:rPr>
              <a:t>supports </a:t>
            </a:r>
            <a:r>
              <a:rPr lang="en-US" dirty="0">
                <a:solidFill>
                  <a:srgbClr val="C00000"/>
                </a:solidFill>
                <a:latin typeface="Times New Roman" panose="02020603050405020304" pitchFamily="18" charset="0"/>
                <a:cs typeface="Times New Roman" panose="02020603050405020304" pitchFamily="18" charset="0"/>
              </a:rPr>
              <a:t>features from two or more sources. </a:t>
            </a:r>
            <a:endParaRPr lang="en-US"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solidFill>
                  <a:srgbClr val="C00000"/>
                </a:solidFill>
                <a:latin typeface="Times New Roman" panose="02020603050405020304" pitchFamily="18" charset="0"/>
                <a:cs typeface="Times New Roman" panose="02020603050405020304" pitchFamily="18" charset="0"/>
              </a:rPr>
              <a:t>Annotating </a:t>
            </a:r>
            <a:r>
              <a:rPr lang="en-US" dirty="0">
                <a:solidFill>
                  <a:srgbClr val="C00000"/>
                </a:solidFill>
                <a:latin typeface="Times New Roman" panose="02020603050405020304" pitchFamily="18" charset="0"/>
                <a:cs typeface="Times New Roman" panose="02020603050405020304" pitchFamily="18" charset="0"/>
              </a:rPr>
              <a:t>a map such as Google maps is an example </a:t>
            </a:r>
            <a:r>
              <a:rPr lang="en-US" dirty="0" smtClean="0">
                <a:solidFill>
                  <a:srgbClr val="C00000"/>
                </a:solidFill>
                <a:latin typeface="Times New Roman" panose="02020603050405020304" pitchFamily="18" charset="0"/>
                <a:cs typeface="Times New Roman" panose="02020603050405020304" pitchFamily="18" charset="0"/>
              </a:rPr>
              <a:t>of a </a:t>
            </a:r>
            <a:r>
              <a:rPr lang="en-US" dirty="0">
                <a:solidFill>
                  <a:srgbClr val="C00000"/>
                </a:solidFill>
                <a:latin typeface="Times New Roman" panose="02020603050405020304" pitchFamily="18" charset="0"/>
                <a:cs typeface="Times New Roman" panose="02020603050405020304" pitchFamily="18" charset="0"/>
              </a:rPr>
              <a:t>mashup. Mashups are considered one of the premier examples of Web 2.0, and that is </a:t>
            </a:r>
            <a:r>
              <a:rPr lang="en-US" dirty="0" smtClean="0">
                <a:solidFill>
                  <a:srgbClr val="C00000"/>
                </a:solidFill>
                <a:latin typeface="Times New Roman" panose="02020603050405020304" pitchFamily="18" charset="0"/>
                <a:cs typeface="Times New Roman" panose="02020603050405020304" pitchFamily="18" charset="0"/>
              </a:rPr>
              <a:t>technology’s </a:t>
            </a:r>
            <a:r>
              <a:rPr lang="en-US" dirty="0">
                <a:solidFill>
                  <a:srgbClr val="C00000"/>
                </a:solidFill>
                <a:latin typeface="Times New Roman" panose="02020603050405020304" pitchFamily="18" charset="0"/>
                <a:cs typeface="Times New Roman" panose="02020603050405020304" pitchFamily="18" charset="0"/>
              </a:rPr>
              <a:t>ability to support social network systems.</a:t>
            </a:r>
          </a:p>
          <a:p>
            <a:pPr marL="285750" indent="-285750" algn="just">
              <a:buFont typeface="Arial" panose="020B0604020202020204" pitchFamily="34" charset="0"/>
              <a:buChar char="•"/>
            </a:pPr>
            <a:endParaRPr lang="en-US"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A </a:t>
            </a:r>
            <a:r>
              <a:rPr lang="en-US" dirty="0">
                <a:solidFill>
                  <a:srgbClr val="002060"/>
                </a:solidFill>
                <a:latin typeface="Times New Roman" panose="02020603050405020304" pitchFamily="18" charset="0"/>
                <a:cs typeface="Times New Roman" panose="02020603050405020304" pitchFamily="18" charset="0"/>
              </a:rPr>
              <a:t>mashup requires three separate </a:t>
            </a:r>
            <a:r>
              <a:rPr lang="en-US" dirty="0" smtClean="0">
                <a:solidFill>
                  <a:srgbClr val="002060"/>
                </a:solidFill>
                <a:latin typeface="Times New Roman" panose="02020603050405020304" pitchFamily="18" charset="0"/>
                <a:cs typeface="Times New Roman" panose="02020603050405020304" pitchFamily="18" charset="0"/>
              </a:rPr>
              <a:t>components: An </a:t>
            </a:r>
            <a:r>
              <a:rPr lang="en-US" dirty="0">
                <a:solidFill>
                  <a:srgbClr val="002060"/>
                </a:solidFill>
                <a:latin typeface="Times New Roman" panose="02020603050405020304" pitchFamily="18" charset="0"/>
                <a:cs typeface="Times New Roman" panose="02020603050405020304" pitchFamily="18" charset="0"/>
              </a:rPr>
              <a:t>interactive user interface, which is usually created with </a:t>
            </a:r>
            <a:r>
              <a:rPr lang="en-US" b="1" dirty="0">
                <a:solidFill>
                  <a:srgbClr val="002060"/>
                </a:solidFill>
                <a:latin typeface="Times New Roman" panose="02020603050405020304" pitchFamily="18" charset="0"/>
                <a:cs typeface="Times New Roman" panose="02020603050405020304" pitchFamily="18" charset="0"/>
              </a:rPr>
              <a:t>HTML/XHTML, </a:t>
            </a:r>
            <a:r>
              <a:rPr lang="en-US" b="1" dirty="0" smtClean="0">
                <a:solidFill>
                  <a:srgbClr val="002060"/>
                </a:solidFill>
                <a:latin typeface="Times New Roman" panose="02020603050405020304" pitchFamily="18" charset="0"/>
                <a:cs typeface="Times New Roman" panose="02020603050405020304" pitchFamily="18" charset="0"/>
              </a:rPr>
              <a:t>Ajax, JavaScript</a:t>
            </a:r>
            <a:r>
              <a:rPr lang="en-US" b="1" dirty="0">
                <a:solidFill>
                  <a:srgbClr val="002060"/>
                </a:solidFill>
                <a:latin typeface="Times New Roman" panose="02020603050405020304" pitchFamily="18" charset="0"/>
                <a:cs typeface="Times New Roman" panose="02020603050405020304" pitchFamily="18" charset="0"/>
              </a:rPr>
              <a:t>, or CSS.</a:t>
            </a:r>
          </a:p>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Web </a:t>
            </a:r>
            <a:r>
              <a:rPr lang="en-US" dirty="0">
                <a:solidFill>
                  <a:srgbClr val="002060"/>
                </a:solidFill>
                <a:latin typeface="Times New Roman" panose="02020603050405020304" pitchFamily="18" charset="0"/>
                <a:cs typeface="Times New Roman" panose="02020603050405020304" pitchFamily="18" charset="0"/>
              </a:rPr>
              <a:t>services that can be accessed using an API, and whose data can be bound </a:t>
            </a:r>
            <a:r>
              <a:rPr lang="en-US" dirty="0" smtClean="0">
                <a:solidFill>
                  <a:srgbClr val="002060"/>
                </a:solidFill>
                <a:latin typeface="Times New Roman" panose="02020603050405020304" pitchFamily="18" charset="0"/>
                <a:cs typeface="Times New Roman" panose="02020603050405020304" pitchFamily="18" charset="0"/>
              </a:rPr>
              <a:t>and transported </a:t>
            </a:r>
            <a:r>
              <a:rPr lang="en-US" dirty="0">
                <a:solidFill>
                  <a:srgbClr val="002060"/>
                </a:solidFill>
                <a:latin typeface="Times New Roman" panose="02020603050405020304" pitchFamily="18" charset="0"/>
                <a:cs typeface="Times New Roman" panose="02020603050405020304" pitchFamily="18" charset="0"/>
              </a:rPr>
              <a:t>by Web service protocols such as SOAP, REST, XML/HTTP, XML/RPC, </a:t>
            </a:r>
            <a:r>
              <a:rPr lang="en-US" dirty="0" smtClean="0">
                <a:solidFill>
                  <a:srgbClr val="002060"/>
                </a:solidFill>
                <a:latin typeface="Times New Roman" panose="02020603050405020304" pitchFamily="18" charset="0"/>
                <a:cs typeface="Times New Roman" panose="02020603050405020304" pitchFamily="18" charset="0"/>
              </a:rPr>
              <a:t>and JSON/RPC</a:t>
            </a:r>
            <a:r>
              <a:rPr lang="en-US" dirty="0">
                <a:solidFill>
                  <a:srgbClr val="00206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US"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Data </a:t>
            </a:r>
            <a:r>
              <a:rPr lang="en-US" dirty="0">
                <a:solidFill>
                  <a:srgbClr val="002060"/>
                </a:solidFill>
                <a:latin typeface="Times New Roman" panose="02020603050405020304" pitchFamily="18" charset="0"/>
                <a:cs typeface="Times New Roman" panose="02020603050405020304" pitchFamily="18" charset="0"/>
              </a:rPr>
              <a:t>transfer in the form of XML, KML </a:t>
            </a:r>
            <a:r>
              <a:rPr lang="en-US" b="1" dirty="0">
                <a:solidFill>
                  <a:srgbClr val="002060"/>
                </a:solidFill>
                <a:latin typeface="Times New Roman" panose="02020603050405020304" pitchFamily="18" charset="0"/>
                <a:cs typeface="Times New Roman" panose="02020603050405020304" pitchFamily="18" charset="0"/>
              </a:rPr>
              <a:t>(Keyhole Markup Language), </a:t>
            </a:r>
            <a:r>
              <a:rPr lang="en-US" dirty="0">
                <a:solidFill>
                  <a:srgbClr val="002060"/>
                </a:solidFill>
                <a:latin typeface="Times New Roman" panose="02020603050405020304" pitchFamily="18" charset="0"/>
                <a:cs typeface="Times New Roman" panose="02020603050405020304" pitchFamily="18" charset="0"/>
              </a:rPr>
              <a:t>JSON </a:t>
            </a:r>
            <a:r>
              <a:rPr lang="en-US" b="1" dirty="0">
                <a:solidFill>
                  <a:srgbClr val="002060"/>
                </a:solidFill>
                <a:latin typeface="Times New Roman" panose="02020603050405020304" pitchFamily="18" charset="0"/>
                <a:cs typeface="Times New Roman" panose="02020603050405020304" pitchFamily="18" charset="0"/>
              </a:rPr>
              <a:t>(</a:t>
            </a:r>
            <a:r>
              <a:rPr lang="en-US" b="1" dirty="0" smtClean="0">
                <a:solidFill>
                  <a:srgbClr val="002060"/>
                </a:solidFill>
                <a:latin typeface="Times New Roman" panose="02020603050405020304" pitchFamily="18" charset="0"/>
                <a:cs typeface="Times New Roman" panose="02020603050405020304" pitchFamily="18" charset="0"/>
              </a:rPr>
              <a:t>JavaScript Object </a:t>
            </a:r>
            <a:r>
              <a:rPr lang="en-US" b="1" dirty="0">
                <a:solidFill>
                  <a:srgbClr val="002060"/>
                </a:solidFill>
                <a:latin typeface="Times New Roman" panose="02020603050405020304" pitchFamily="18" charset="0"/>
                <a:cs typeface="Times New Roman" panose="02020603050405020304" pitchFamily="18" charset="0"/>
              </a:rPr>
              <a:t>Notation)</a:t>
            </a:r>
            <a:r>
              <a:rPr lang="en-US" dirty="0">
                <a:solidFill>
                  <a:srgbClr val="002060"/>
                </a:solidFill>
                <a:latin typeface="Times New Roman" panose="02020603050405020304" pitchFamily="18" charset="0"/>
                <a:cs typeface="Times New Roman" panose="02020603050405020304" pitchFamily="18" charset="0"/>
              </a:rPr>
              <a:t>, or the like</a:t>
            </a:r>
            <a:r>
              <a:rPr lang="en-US" dirty="0" smtClean="0">
                <a:solidFill>
                  <a:srgbClr val="00206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4" y="893028"/>
            <a:ext cx="8992116" cy="376834"/>
          </a:xfrm>
          <a:prstGeom prst="rect">
            <a:avLst/>
          </a:prstGeom>
        </p:spPr>
        <p:txBody>
          <a:bodyPr wrap="square">
            <a:spAutoFit/>
          </a:bodyPr>
          <a:lstStyle/>
          <a:p>
            <a:pPr marL="285750" indent="-285750" algn="just">
              <a:lnSpc>
                <a:spcPct val="150000"/>
              </a:lnSpc>
              <a:buFont typeface="Arial" panose="020B0604020202020204" pitchFamily="34" charset="0"/>
              <a:buChar char="•"/>
              <a:tabLst>
                <a:tab pos="1346200" algn="l"/>
              </a:tabLst>
            </a:pPr>
            <a:endParaRPr lang="en-US"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98152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a:solidFill>
                  <a:srgbClr val="002060"/>
                </a:solidFill>
                <a:latin typeface="Times New Roman" panose="02020603050405020304" pitchFamily="18" charset="0"/>
                <a:cs typeface="Times New Roman" panose="02020603050405020304" pitchFamily="18" charset="0"/>
              </a:rPr>
              <a:t>                        Open SaaS and SOA</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738664"/>
          </a:xfrm>
          <a:prstGeom prst="rect">
            <a:avLst/>
          </a:prstGeom>
        </p:spPr>
        <p:txBody>
          <a:bodyPr wrap="square">
            <a:spAutoFit/>
          </a:bodyPr>
          <a:lstStyle/>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p:cNvSpPr/>
          <p:nvPr/>
        </p:nvSpPr>
        <p:spPr>
          <a:xfrm>
            <a:off x="87085" y="1037230"/>
            <a:ext cx="890451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C000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155575" y="928914"/>
            <a:ext cx="8836024" cy="2893100"/>
          </a:xfrm>
          <a:prstGeom prst="rect">
            <a:avLst/>
          </a:prstGeom>
        </p:spPr>
        <p:txBody>
          <a:bodyPr wrap="square">
            <a:spAutoFit/>
          </a:bodyPr>
          <a:lstStyle/>
          <a:p>
            <a:pPr marL="285750" indent="-285750" algn="just">
              <a:buFont typeface="Arial" panose="020B0604020202020204" pitchFamily="34" charset="0"/>
              <a:buChar char="•"/>
            </a:pPr>
            <a:r>
              <a:rPr lang="en-US" dirty="0">
                <a:solidFill>
                  <a:srgbClr val="C00000"/>
                </a:solidFill>
                <a:latin typeface="Times New Roman" panose="02020603050405020304" pitchFamily="18" charset="0"/>
                <a:cs typeface="Times New Roman" panose="02020603050405020304" pitchFamily="18" charset="0"/>
              </a:rPr>
              <a:t>Mashups are an incredibly useful hybrid Web application, one that SaaS is a great enabler for. </a:t>
            </a:r>
            <a:r>
              <a:rPr lang="en-US" dirty="0" smtClean="0">
                <a:solidFill>
                  <a:srgbClr val="C00000"/>
                </a:solidFill>
                <a:latin typeface="Times New Roman" panose="02020603050405020304" pitchFamily="18" charset="0"/>
                <a:cs typeface="Times New Roman" panose="02020603050405020304" pitchFamily="18" charset="0"/>
              </a:rPr>
              <a:t>The </a:t>
            </a:r>
            <a:r>
              <a:rPr lang="en-US" b="1" dirty="0" smtClean="0">
                <a:solidFill>
                  <a:srgbClr val="C00000"/>
                </a:solidFill>
                <a:latin typeface="Times New Roman" panose="02020603050405020304" pitchFamily="18" charset="0"/>
                <a:cs typeface="Times New Roman" panose="02020603050405020304" pitchFamily="18" charset="0"/>
              </a:rPr>
              <a:t>Open </a:t>
            </a:r>
            <a:r>
              <a:rPr lang="en-US" b="1" dirty="0">
                <a:solidFill>
                  <a:srgbClr val="C00000"/>
                </a:solidFill>
                <a:latin typeface="Times New Roman" panose="02020603050405020304" pitchFamily="18" charset="0"/>
                <a:cs typeface="Times New Roman" panose="02020603050405020304" pitchFamily="18" charset="0"/>
              </a:rPr>
              <a:t>Mashup Alliance</a:t>
            </a:r>
            <a:r>
              <a:rPr lang="en-US" dirty="0">
                <a:solidFill>
                  <a:srgbClr val="C00000"/>
                </a:solidFill>
                <a:latin typeface="Times New Roman" panose="02020603050405020304" pitchFamily="18" charset="0"/>
                <a:cs typeface="Times New Roman" panose="02020603050405020304" pitchFamily="18" charset="0"/>
              </a:rPr>
              <a:t> (OMA; see http://www.openmashup.org/) is a non-profit </a:t>
            </a:r>
            <a:r>
              <a:rPr lang="en-US" dirty="0" smtClean="0">
                <a:solidFill>
                  <a:srgbClr val="C00000"/>
                </a:solidFill>
                <a:latin typeface="Times New Roman" panose="02020603050405020304" pitchFamily="18" charset="0"/>
                <a:cs typeface="Times New Roman" panose="02020603050405020304" pitchFamily="18" charset="0"/>
              </a:rPr>
              <a:t>industry group </a:t>
            </a:r>
            <a:r>
              <a:rPr lang="en-US" dirty="0">
                <a:solidFill>
                  <a:srgbClr val="C00000"/>
                </a:solidFill>
                <a:latin typeface="Times New Roman" panose="02020603050405020304" pitchFamily="18" charset="0"/>
                <a:cs typeface="Times New Roman" panose="02020603050405020304" pitchFamily="18" charset="0"/>
              </a:rPr>
              <a:t>dedicated to supporting technologies that implement enterprise mashups. </a:t>
            </a:r>
            <a:endParaRPr lang="en-US"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solidFill>
                  <a:srgbClr val="C00000"/>
                </a:solidFill>
                <a:latin typeface="Times New Roman" panose="02020603050405020304" pitchFamily="18" charset="0"/>
                <a:cs typeface="Times New Roman" panose="02020603050405020304" pitchFamily="18" charset="0"/>
              </a:rPr>
              <a:t>This </a:t>
            </a:r>
            <a:r>
              <a:rPr lang="en-US" dirty="0">
                <a:solidFill>
                  <a:srgbClr val="C00000"/>
                </a:solidFill>
                <a:latin typeface="Times New Roman" panose="02020603050405020304" pitchFamily="18" charset="0"/>
                <a:cs typeface="Times New Roman" panose="02020603050405020304" pitchFamily="18" charset="0"/>
              </a:rPr>
              <a:t>group </a:t>
            </a:r>
            <a:r>
              <a:rPr lang="en-US" dirty="0" smtClean="0">
                <a:solidFill>
                  <a:srgbClr val="C00000"/>
                </a:solidFill>
                <a:latin typeface="Times New Roman" panose="02020603050405020304" pitchFamily="18" charset="0"/>
                <a:cs typeface="Times New Roman" panose="02020603050405020304" pitchFamily="18" charset="0"/>
              </a:rPr>
              <a:t>supports </a:t>
            </a:r>
            <a:r>
              <a:rPr lang="en-US" dirty="0">
                <a:solidFill>
                  <a:srgbClr val="C00000"/>
                </a:solidFill>
                <a:latin typeface="Times New Roman" panose="02020603050405020304" pitchFamily="18" charset="0"/>
                <a:cs typeface="Times New Roman" panose="02020603050405020304" pitchFamily="18" charset="0"/>
              </a:rPr>
              <a:t>the developing standard, the </a:t>
            </a:r>
            <a:r>
              <a:rPr lang="en-US" b="1" dirty="0">
                <a:solidFill>
                  <a:srgbClr val="C00000"/>
                </a:solidFill>
                <a:latin typeface="Times New Roman" panose="02020603050405020304" pitchFamily="18" charset="0"/>
                <a:cs typeface="Times New Roman" panose="02020603050405020304" pitchFamily="18" charset="0"/>
              </a:rPr>
              <a:t>Enterprise Mashup Markup Language (EMML), </a:t>
            </a:r>
            <a:r>
              <a:rPr lang="en-US" dirty="0">
                <a:solidFill>
                  <a:srgbClr val="C00000"/>
                </a:solidFill>
                <a:latin typeface="Times New Roman" panose="02020603050405020304" pitchFamily="18" charset="0"/>
                <a:cs typeface="Times New Roman" panose="02020603050405020304" pitchFamily="18" charset="0"/>
              </a:rPr>
              <a:t>which is </a:t>
            </a:r>
            <a:r>
              <a:rPr lang="en-US" dirty="0" smtClean="0">
                <a:solidFill>
                  <a:srgbClr val="C00000"/>
                </a:solidFill>
                <a:latin typeface="Times New Roman" panose="02020603050405020304" pitchFamily="18" charset="0"/>
                <a:cs typeface="Times New Roman" panose="02020603050405020304" pitchFamily="18" charset="0"/>
              </a:rPr>
              <a:t>a </a:t>
            </a:r>
            <a:r>
              <a:rPr lang="en-US" b="1" dirty="0" smtClean="0">
                <a:solidFill>
                  <a:srgbClr val="C00000"/>
                </a:solidFill>
                <a:latin typeface="Times New Roman" panose="02020603050405020304" pitchFamily="18" charset="0"/>
                <a:cs typeface="Times New Roman" panose="02020603050405020304" pitchFamily="18" charset="0"/>
              </a:rPr>
              <a:t>Domain </a:t>
            </a:r>
            <a:r>
              <a:rPr lang="en-US" b="1" dirty="0">
                <a:solidFill>
                  <a:srgbClr val="C00000"/>
                </a:solidFill>
                <a:latin typeface="Times New Roman" panose="02020603050405020304" pitchFamily="18" charset="0"/>
                <a:cs typeface="Times New Roman" panose="02020603050405020304" pitchFamily="18" charset="0"/>
              </a:rPr>
              <a:t>Specific Language (DSL). </a:t>
            </a:r>
            <a:r>
              <a:rPr lang="en-US" dirty="0">
                <a:solidFill>
                  <a:srgbClr val="C00000"/>
                </a:solidFill>
                <a:latin typeface="Times New Roman" panose="02020603050405020304" pitchFamily="18" charset="0"/>
                <a:cs typeface="Times New Roman" panose="02020603050405020304" pitchFamily="18" charset="0"/>
              </a:rPr>
              <a:t>This group predicts that the use of mashups will grow by a </a:t>
            </a:r>
            <a:r>
              <a:rPr lang="en-US" dirty="0" smtClean="0">
                <a:solidFill>
                  <a:srgbClr val="C00000"/>
                </a:solidFill>
                <a:latin typeface="Times New Roman" panose="02020603050405020304" pitchFamily="18" charset="0"/>
                <a:cs typeface="Times New Roman" panose="02020603050405020304" pitchFamily="18" charset="0"/>
              </a:rPr>
              <a:t>factor </a:t>
            </a:r>
            <a:r>
              <a:rPr lang="en-US" dirty="0">
                <a:solidFill>
                  <a:srgbClr val="C00000"/>
                </a:solidFill>
                <a:latin typeface="Times New Roman" panose="02020603050405020304" pitchFamily="18" charset="0"/>
                <a:cs typeface="Times New Roman" panose="02020603050405020304" pitchFamily="18" charset="0"/>
              </a:rPr>
              <a:t>of 10 within just a few years.</a:t>
            </a:r>
          </a:p>
          <a:p>
            <a:pPr marL="285750" indent="-285750" algn="just">
              <a:buFont typeface="Arial" panose="020B0604020202020204" pitchFamily="34" charset="0"/>
              <a:buChar char="•"/>
            </a:pPr>
            <a:endParaRPr lang="en-US"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Gartner </a:t>
            </a:r>
            <a:r>
              <a:rPr lang="en-US" dirty="0">
                <a:solidFill>
                  <a:srgbClr val="002060"/>
                </a:solidFill>
                <a:latin typeface="Times New Roman" panose="02020603050405020304" pitchFamily="18" charset="0"/>
                <a:cs typeface="Times New Roman" panose="02020603050405020304" pitchFamily="18" charset="0"/>
              </a:rPr>
              <a:t>Group predicts that approximately 25 percent of all software sold by 2011 will use </a:t>
            </a:r>
            <a:r>
              <a:rPr lang="en-US" dirty="0" smtClean="0">
                <a:solidFill>
                  <a:srgbClr val="002060"/>
                </a:solidFill>
                <a:latin typeface="Times New Roman" panose="02020603050405020304" pitchFamily="18" charset="0"/>
                <a:cs typeface="Times New Roman" panose="02020603050405020304" pitchFamily="18" charset="0"/>
              </a:rPr>
              <a:t>the SAAS </a:t>
            </a:r>
            <a:r>
              <a:rPr lang="en-US" dirty="0">
                <a:solidFill>
                  <a:srgbClr val="002060"/>
                </a:solidFill>
                <a:latin typeface="Times New Roman" panose="02020603050405020304" pitchFamily="18" charset="0"/>
                <a:cs typeface="Times New Roman" panose="02020603050405020304" pitchFamily="18" charset="0"/>
              </a:rPr>
              <a:t>model, offered either by vendors or an intermediary party, sometimes referred to as an </a:t>
            </a:r>
            <a:r>
              <a:rPr lang="en-US" dirty="0" smtClean="0">
                <a:solidFill>
                  <a:srgbClr val="002060"/>
                </a:solidFill>
                <a:latin typeface="Times New Roman" panose="02020603050405020304" pitchFamily="18" charset="0"/>
                <a:cs typeface="Times New Roman" panose="02020603050405020304" pitchFamily="18" charset="0"/>
              </a:rPr>
              <a:t>aggregator.</a:t>
            </a:r>
          </a:p>
          <a:p>
            <a:pPr marL="285750" indent="-285750" algn="just">
              <a:buFont typeface="Arial" panose="020B0604020202020204" pitchFamily="34" charset="0"/>
              <a:buChar char="•"/>
            </a:pPr>
            <a:endParaRPr lang="en-US"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An </a:t>
            </a:r>
            <a:r>
              <a:rPr lang="en-US" dirty="0">
                <a:solidFill>
                  <a:srgbClr val="002060"/>
                </a:solidFill>
                <a:latin typeface="Times New Roman" panose="02020603050405020304" pitchFamily="18" charset="0"/>
                <a:cs typeface="Times New Roman" panose="02020603050405020304" pitchFamily="18" charset="0"/>
              </a:rPr>
              <a:t>aggregator bundles SaaS applications from different vendors and presents them as part </a:t>
            </a:r>
            <a:r>
              <a:rPr lang="en-US" dirty="0" smtClean="0">
                <a:solidFill>
                  <a:srgbClr val="002060"/>
                </a:solidFill>
                <a:latin typeface="Times New Roman" panose="02020603050405020304" pitchFamily="18" charset="0"/>
                <a:cs typeface="Times New Roman" panose="02020603050405020304" pitchFamily="18" charset="0"/>
              </a:rPr>
              <a:t>of a </a:t>
            </a:r>
            <a:r>
              <a:rPr lang="en-US" dirty="0">
                <a:solidFill>
                  <a:srgbClr val="002060"/>
                </a:solidFill>
                <a:latin typeface="Times New Roman" panose="02020603050405020304" pitchFamily="18" charset="0"/>
                <a:cs typeface="Times New Roman" panose="02020603050405020304" pitchFamily="18" charset="0"/>
              </a:rPr>
              <a:t>unified platform or solution.</a:t>
            </a:r>
            <a:endParaRPr lang="en-IN"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4" y="893028"/>
            <a:ext cx="8992116" cy="376834"/>
          </a:xfrm>
          <a:prstGeom prst="rect">
            <a:avLst/>
          </a:prstGeom>
        </p:spPr>
        <p:txBody>
          <a:bodyPr wrap="square">
            <a:spAutoFit/>
          </a:bodyPr>
          <a:lstStyle/>
          <a:p>
            <a:pPr marL="285750" indent="-285750" algn="just">
              <a:lnSpc>
                <a:spcPct val="150000"/>
              </a:lnSpc>
              <a:buFont typeface="Arial" panose="020B0604020202020204" pitchFamily="34" charset="0"/>
              <a:buChar char="•"/>
              <a:tabLst>
                <a:tab pos="1346200" algn="l"/>
              </a:tabLst>
            </a:pPr>
            <a:endParaRPr lang="en-US"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97164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smtClean="0">
                <a:solidFill>
                  <a:srgbClr val="002060"/>
                </a:solidFill>
                <a:latin typeface="Times New Roman" panose="02020603050405020304" pitchFamily="18" charset="0"/>
                <a:cs typeface="Times New Roman" panose="02020603050405020304" pitchFamily="18" charset="0"/>
              </a:rPr>
              <a:t> </a:t>
            </a:r>
            <a:r>
              <a:rPr lang="en-US" sz="2400" b="1" dirty="0">
                <a:solidFill>
                  <a:srgbClr val="002060"/>
                </a:solidFill>
                <a:latin typeface="Times New Roman" panose="02020603050405020304" pitchFamily="18" charset="0"/>
                <a:cs typeface="Times New Roman" panose="02020603050405020304" pitchFamily="18" charset="0"/>
              </a:rPr>
              <a:t>Salesforce.com and CRM SaaS</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738664"/>
          </a:xfrm>
          <a:prstGeom prst="rect">
            <a:avLst/>
          </a:prstGeom>
        </p:spPr>
        <p:txBody>
          <a:bodyPr wrap="square">
            <a:spAutoFit/>
          </a:bodyPr>
          <a:lstStyle/>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p:cNvSpPr/>
          <p:nvPr/>
        </p:nvSpPr>
        <p:spPr>
          <a:xfrm>
            <a:off x="87085" y="1037230"/>
            <a:ext cx="8904514" cy="3539430"/>
          </a:xfrm>
          <a:prstGeom prst="rect">
            <a:avLst/>
          </a:prstGeom>
        </p:spPr>
        <p:txBody>
          <a:bodyPr wrap="square">
            <a:spAutoFit/>
          </a:bodyPr>
          <a:lstStyle/>
          <a:p>
            <a:pPr marL="285750" indent="-285750" algn="just">
              <a:buFont typeface="Arial" panose="020B0604020202020204" pitchFamily="34" charset="0"/>
              <a:buChar char="•"/>
            </a:pPr>
            <a:r>
              <a:rPr lang="en-US" dirty="0">
                <a:solidFill>
                  <a:srgbClr val="C00000"/>
                </a:solidFill>
                <a:latin typeface="Times New Roman" panose="02020603050405020304" pitchFamily="18" charset="0"/>
                <a:cs typeface="Times New Roman" panose="02020603050405020304" pitchFamily="18" charset="0"/>
              </a:rPr>
              <a:t>T</a:t>
            </a:r>
            <a:r>
              <a:rPr lang="en-US" dirty="0" smtClean="0">
                <a:solidFill>
                  <a:srgbClr val="C00000"/>
                </a:solidFill>
                <a:latin typeface="Times New Roman" panose="02020603050405020304" pitchFamily="18" charset="0"/>
                <a:cs typeface="Times New Roman" panose="02020603050405020304" pitchFamily="18" charset="0"/>
              </a:rPr>
              <a:t>he </a:t>
            </a:r>
            <a:r>
              <a:rPr lang="en-US" dirty="0">
                <a:solidFill>
                  <a:srgbClr val="C00000"/>
                </a:solidFill>
                <a:latin typeface="Times New Roman" panose="02020603050405020304" pitchFamily="18" charset="0"/>
                <a:cs typeface="Times New Roman" panose="02020603050405020304" pitchFamily="18" charset="0"/>
              </a:rPr>
              <a:t>best-known example of </a:t>
            </a:r>
            <a:r>
              <a:rPr lang="en-US" b="1" dirty="0">
                <a:solidFill>
                  <a:srgbClr val="C00000"/>
                </a:solidFill>
                <a:latin typeface="Times New Roman" panose="02020603050405020304" pitchFamily="18" charset="0"/>
                <a:cs typeface="Times New Roman" panose="02020603050405020304" pitchFamily="18" charset="0"/>
              </a:rPr>
              <a:t>Software as a Service (SaaS) is the Customer </a:t>
            </a:r>
            <a:r>
              <a:rPr lang="en-US" b="1" dirty="0" smtClean="0">
                <a:solidFill>
                  <a:srgbClr val="C00000"/>
                </a:solidFill>
                <a:latin typeface="Times New Roman" panose="02020603050405020304" pitchFamily="18" charset="0"/>
                <a:cs typeface="Times New Roman" panose="02020603050405020304" pitchFamily="18" charset="0"/>
              </a:rPr>
              <a:t>Relationship Management </a:t>
            </a:r>
            <a:r>
              <a:rPr lang="en-US" dirty="0">
                <a:solidFill>
                  <a:srgbClr val="C00000"/>
                </a:solidFill>
                <a:latin typeface="Times New Roman" panose="02020603050405020304" pitchFamily="18" charset="0"/>
                <a:cs typeface="Times New Roman" panose="02020603050405020304" pitchFamily="18" charset="0"/>
              </a:rPr>
              <a:t>software offered by </a:t>
            </a:r>
            <a:r>
              <a:rPr lang="en-US" b="1" dirty="0">
                <a:solidFill>
                  <a:srgbClr val="C00000"/>
                </a:solidFill>
                <a:latin typeface="Times New Roman" panose="02020603050405020304" pitchFamily="18" charset="0"/>
                <a:cs typeface="Times New Roman" panose="02020603050405020304" pitchFamily="18" charset="0"/>
              </a:rPr>
              <a:t>Salesforce.com</a:t>
            </a:r>
            <a:r>
              <a:rPr lang="en-US" dirty="0">
                <a:solidFill>
                  <a:srgbClr val="C00000"/>
                </a:solidFill>
                <a:latin typeface="Times New Roman" panose="02020603050405020304" pitchFamily="18" charset="0"/>
                <a:cs typeface="Times New Roman" panose="02020603050405020304" pitchFamily="18" charset="0"/>
              </a:rPr>
              <a:t> whose solution offers sales, service, support, </a:t>
            </a:r>
            <a:r>
              <a:rPr lang="en-US" dirty="0" smtClean="0">
                <a:solidFill>
                  <a:srgbClr val="C00000"/>
                </a:solidFill>
                <a:latin typeface="Times New Roman" panose="02020603050405020304" pitchFamily="18" charset="0"/>
                <a:cs typeface="Times New Roman" panose="02020603050405020304" pitchFamily="18" charset="0"/>
              </a:rPr>
              <a:t>marketing</a:t>
            </a:r>
            <a:r>
              <a:rPr lang="en-US" dirty="0">
                <a:solidFill>
                  <a:srgbClr val="C00000"/>
                </a:solidFill>
                <a:latin typeface="Times New Roman" panose="02020603050405020304" pitchFamily="18" charset="0"/>
                <a:cs typeface="Times New Roman" panose="02020603050405020304" pitchFamily="18" charset="0"/>
              </a:rPr>
              <a:t>, content, analytical analysis, and even collaboration through a platform called Chatter</a:t>
            </a:r>
            <a:r>
              <a:rPr lang="en-US"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solidFill>
                  <a:srgbClr val="C00000"/>
                </a:solidFill>
                <a:latin typeface="Times New Roman" panose="02020603050405020304" pitchFamily="18" charset="0"/>
                <a:cs typeface="Times New Roman" panose="02020603050405020304" pitchFamily="18" charset="0"/>
              </a:rPr>
              <a:t>Salesforce.com was founded in 1999 by a group of Oracle executives and early adopters of many </a:t>
            </a:r>
            <a:r>
              <a:rPr lang="en-US" dirty="0" smtClean="0">
                <a:solidFill>
                  <a:srgbClr val="C00000"/>
                </a:solidFill>
                <a:latin typeface="Times New Roman" panose="02020603050405020304" pitchFamily="18" charset="0"/>
                <a:cs typeface="Times New Roman" panose="02020603050405020304" pitchFamily="18" charset="0"/>
              </a:rPr>
              <a:t>of the </a:t>
            </a:r>
            <a:r>
              <a:rPr lang="en-US" dirty="0">
                <a:solidFill>
                  <a:srgbClr val="C00000"/>
                </a:solidFill>
                <a:latin typeface="Times New Roman" panose="02020603050405020304" pitchFamily="18" charset="0"/>
                <a:cs typeface="Times New Roman" panose="02020603050405020304" pitchFamily="18" charset="0"/>
              </a:rPr>
              <a:t>technologies that are becoming cloud computing staples</a:t>
            </a:r>
            <a:r>
              <a:rPr lang="en-US" dirty="0" smtClean="0">
                <a:solidFill>
                  <a:srgbClr val="C00000"/>
                </a:solidFill>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solidFill>
                  <a:srgbClr val="002060"/>
                </a:solidFill>
                <a:latin typeface="Times New Roman" panose="02020603050405020304" pitchFamily="18" charset="0"/>
                <a:cs typeface="Times New Roman" panose="02020603050405020304" pitchFamily="18" charset="0"/>
              </a:rPr>
              <a:t>Salesforce.com extended its SaaS offering to allow developers to create add-on applications, </a:t>
            </a:r>
            <a:r>
              <a:rPr lang="en-US" dirty="0" smtClean="0">
                <a:solidFill>
                  <a:srgbClr val="002060"/>
                </a:solidFill>
                <a:latin typeface="Times New Roman" panose="02020603050405020304" pitchFamily="18" charset="0"/>
                <a:cs typeface="Times New Roman" panose="02020603050405020304" pitchFamily="18" charset="0"/>
              </a:rPr>
              <a:t>essentially </a:t>
            </a:r>
            <a:r>
              <a:rPr lang="en-US" dirty="0">
                <a:solidFill>
                  <a:srgbClr val="002060"/>
                </a:solidFill>
                <a:latin typeface="Times New Roman" panose="02020603050405020304" pitchFamily="18" charset="0"/>
                <a:cs typeface="Times New Roman" panose="02020603050405020304" pitchFamily="18" charset="0"/>
              </a:rPr>
              <a:t>turning the SaaS service into a Platform as a Service (PaaS) offering called the Force.com</a:t>
            </a:r>
          </a:p>
          <a:p>
            <a:pPr marL="285750" indent="-285750" algn="just">
              <a:buFont typeface="Arial" panose="020B0604020202020204" pitchFamily="34" charset="0"/>
              <a:buChar char="•"/>
            </a:pPr>
            <a:endParaRPr lang="en-US"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Platform</a:t>
            </a:r>
            <a:r>
              <a:rPr lang="en-US" dirty="0">
                <a:solidFill>
                  <a:srgbClr val="002060"/>
                </a:solidFill>
                <a:latin typeface="Times New Roman" panose="02020603050405020304" pitchFamily="18" charset="0"/>
                <a:cs typeface="Times New Roman" panose="02020603050405020304" pitchFamily="18" charset="0"/>
              </a:rPr>
              <a:t>. Applications built on Force.com are in the form of the Java variant called Apex using </a:t>
            </a:r>
            <a:r>
              <a:rPr lang="en-US" dirty="0" smtClean="0">
                <a:solidFill>
                  <a:srgbClr val="002060"/>
                </a:solidFill>
                <a:latin typeface="Times New Roman" panose="02020603050405020304" pitchFamily="18" charset="0"/>
                <a:cs typeface="Times New Roman" panose="02020603050405020304" pitchFamily="18" charset="0"/>
              </a:rPr>
              <a:t>an XML </a:t>
            </a:r>
            <a:r>
              <a:rPr lang="en-US" dirty="0">
                <a:solidFill>
                  <a:srgbClr val="002060"/>
                </a:solidFill>
                <a:latin typeface="Times New Roman" panose="02020603050405020304" pitchFamily="18" charset="0"/>
                <a:cs typeface="Times New Roman" panose="02020603050405020304" pitchFamily="18" charset="0"/>
              </a:rPr>
              <a:t>syntax for creating user interfaces in </a:t>
            </a:r>
            <a:r>
              <a:rPr lang="en-US" b="1" dirty="0">
                <a:solidFill>
                  <a:srgbClr val="002060"/>
                </a:solidFill>
                <a:latin typeface="Times New Roman" panose="02020603050405020304" pitchFamily="18" charset="0"/>
                <a:cs typeface="Times New Roman" panose="02020603050405020304" pitchFamily="18" charset="0"/>
              </a:rPr>
              <a:t>HTML, Ajax, and Flex. </a:t>
            </a:r>
            <a:endParaRPr lang="en-US" b="1"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b="1"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solidFill>
                  <a:srgbClr val="002060"/>
                </a:solidFill>
                <a:latin typeface="Times New Roman" panose="02020603050405020304" pitchFamily="18" charset="0"/>
                <a:cs typeface="Times New Roman" panose="02020603050405020304" pitchFamily="18" charset="0"/>
              </a:rPr>
              <a:t>Nearly </a:t>
            </a:r>
            <a:r>
              <a:rPr lang="en-US" dirty="0">
                <a:solidFill>
                  <a:srgbClr val="002060"/>
                </a:solidFill>
                <a:latin typeface="Times New Roman" panose="02020603050405020304" pitchFamily="18" charset="0"/>
                <a:cs typeface="Times New Roman" panose="02020603050405020304" pitchFamily="18" charset="0"/>
              </a:rPr>
              <a:t>a thousand applications </a:t>
            </a:r>
            <a:r>
              <a:rPr lang="en-US" dirty="0" smtClean="0">
                <a:solidFill>
                  <a:srgbClr val="002060"/>
                </a:solidFill>
                <a:latin typeface="Times New Roman" panose="02020603050405020304" pitchFamily="18" charset="0"/>
                <a:cs typeface="Times New Roman" panose="02020603050405020304" pitchFamily="18" charset="0"/>
              </a:rPr>
              <a:t>now exist </a:t>
            </a:r>
            <a:r>
              <a:rPr lang="en-US" dirty="0">
                <a:solidFill>
                  <a:srgbClr val="002060"/>
                </a:solidFill>
                <a:latin typeface="Times New Roman" panose="02020603050405020304" pitchFamily="18" charset="0"/>
                <a:cs typeface="Times New Roman" panose="02020603050405020304" pitchFamily="18" charset="0"/>
              </a:rPr>
              <a:t>for this platform from hundreds of vendors.</a:t>
            </a:r>
            <a:endParaRPr lang="en-US" dirty="0" smtClean="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00206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5" name="Rectangle 4"/>
          <p:cNvSpPr/>
          <p:nvPr/>
        </p:nvSpPr>
        <p:spPr>
          <a:xfrm>
            <a:off x="155575" y="928914"/>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4" y="893028"/>
            <a:ext cx="8992116" cy="376834"/>
          </a:xfrm>
          <a:prstGeom prst="rect">
            <a:avLst/>
          </a:prstGeom>
        </p:spPr>
        <p:txBody>
          <a:bodyPr wrap="square">
            <a:spAutoFit/>
          </a:bodyPr>
          <a:lstStyle/>
          <a:p>
            <a:pPr marL="285750" indent="-285750" algn="just">
              <a:lnSpc>
                <a:spcPct val="150000"/>
              </a:lnSpc>
              <a:buFont typeface="Arial" panose="020B0604020202020204" pitchFamily="34" charset="0"/>
              <a:buChar char="•"/>
              <a:tabLst>
                <a:tab pos="1346200" algn="l"/>
              </a:tabLst>
            </a:pPr>
            <a:endParaRPr lang="en-US"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96146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043940" y="1"/>
            <a:ext cx="7719060" cy="830997"/>
          </a:xfrm>
          <a:prstGeom prst="rect">
            <a:avLst/>
          </a:prstGeom>
          <a:noFill/>
        </p:spPr>
        <p:txBody>
          <a:bodyPr wrap="square" rtlCol="0">
            <a:spAutoFit/>
          </a:bodyPr>
          <a:lstStyle/>
          <a:p>
            <a:r>
              <a:rPr lang="en-US" sz="2400" b="1" dirty="0" smtClean="0">
                <a:solidFill>
                  <a:srgbClr val="002060"/>
                </a:solidFill>
                <a:latin typeface="Times New Roman" panose="02020603050405020304" pitchFamily="18" charset="0"/>
                <a:cs typeface="Times New Roman" panose="02020603050405020304" pitchFamily="18" charset="0"/>
              </a:rPr>
              <a:t>      </a:t>
            </a:r>
          </a:p>
          <a:p>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smtClean="0">
                <a:solidFill>
                  <a:srgbClr val="002060"/>
                </a:solidFill>
                <a:latin typeface="Times New Roman" panose="02020603050405020304" pitchFamily="18" charset="0"/>
                <a:cs typeface="Times New Roman" panose="02020603050405020304" pitchFamily="18" charset="0"/>
              </a:rPr>
              <a:t> </a:t>
            </a:r>
            <a:r>
              <a:rPr lang="en-US" sz="2400" b="1" dirty="0">
                <a:solidFill>
                  <a:srgbClr val="002060"/>
                </a:solidFill>
                <a:latin typeface="Times New Roman" panose="02020603050405020304" pitchFamily="18" charset="0"/>
                <a:cs typeface="Times New Roman" panose="02020603050405020304" pitchFamily="18" charset="0"/>
              </a:rPr>
              <a:t>Salesforce.com and CRM SaaS</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4" name="Rectangle 3"/>
          <p:cNvSpPr/>
          <p:nvPr/>
        </p:nvSpPr>
        <p:spPr>
          <a:xfrm>
            <a:off x="87086" y="928914"/>
            <a:ext cx="8904513" cy="738664"/>
          </a:xfrm>
          <a:prstGeom prst="rect">
            <a:avLst/>
          </a:prstGeom>
        </p:spPr>
        <p:txBody>
          <a:bodyPr wrap="square">
            <a:spAutoFit/>
          </a:bodyPr>
          <a:lstStyle/>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solidFill>
                <a:srgbClr val="C00000"/>
              </a:solidFill>
              <a:latin typeface="Times New Roman" panose="02020603050405020304" pitchFamily="18" charset="0"/>
              <a:cs typeface="Times New Roman" panose="02020603050405020304" pitchFamily="18" charset="0"/>
            </a:endParaRPr>
          </a:p>
        </p:txBody>
      </p:sp>
      <p:sp>
        <p:nvSpPr>
          <p:cNvPr id="6" name="AutoShape 4" descr="Virtualization Cloud Mode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4"/>
          <p:cNvSpPr/>
          <p:nvPr/>
        </p:nvSpPr>
        <p:spPr>
          <a:xfrm>
            <a:off x="155575" y="928914"/>
            <a:ext cx="8836024" cy="307777"/>
          </a:xfrm>
          <a:prstGeom prst="rect">
            <a:avLst/>
          </a:prstGeom>
        </p:spPr>
        <p:txBody>
          <a:bodyPr wrap="square">
            <a:spAutoFit/>
          </a:bodyPr>
          <a:lstStyle/>
          <a:p>
            <a:pPr marL="285750" indent="-285750" algn="just">
              <a:buFont typeface="Arial" panose="020B0604020202020204" pitchFamily="34" charset="0"/>
              <a:buChar char="•"/>
            </a:pPr>
            <a:endParaRPr lang="en-IN"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87084" y="893028"/>
            <a:ext cx="8992116" cy="376834"/>
          </a:xfrm>
          <a:prstGeom prst="rect">
            <a:avLst/>
          </a:prstGeom>
        </p:spPr>
        <p:txBody>
          <a:bodyPr wrap="square">
            <a:spAutoFit/>
          </a:bodyPr>
          <a:lstStyle/>
          <a:p>
            <a:pPr marL="285750" indent="-285750" algn="just">
              <a:lnSpc>
                <a:spcPct val="150000"/>
              </a:lnSpc>
              <a:buFont typeface="Arial" panose="020B0604020202020204" pitchFamily="34" charset="0"/>
              <a:buChar char="•"/>
              <a:tabLst>
                <a:tab pos="1346200" algn="l"/>
              </a:tabLst>
            </a:pPr>
            <a:endParaRPr lang="en-US" dirty="0">
              <a:solidFill>
                <a:srgbClr val="002060"/>
              </a:solidFill>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3"/>
          <a:stretch>
            <a:fillRect/>
          </a:stretch>
        </p:blipFill>
        <p:spPr>
          <a:xfrm>
            <a:off x="388800" y="1081445"/>
            <a:ext cx="8517600" cy="3875358"/>
          </a:xfrm>
          <a:prstGeom prst="rect">
            <a:avLst/>
          </a:prstGeom>
        </p:spPr>
      </p:pic>
    </p:spTree>
    <p:extLst>
      <p:ext uri="{BB962C8B-B14F-4D97-AF65-F5344CB8AC3E}">
        <p14:creationId xmlns:p14="http://schemas.microsoft.com/office/powerpoint/2010/main" val="285247585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1330</TotalTime>
  <Words>1803</Words>
  <Application>Microsoft Office PowerPoint</Application>
  <PresentationFormat>On-screen Show (16:9)</PresentationFormat>
  <Paragraphs>187</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Times New Roman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Nagaraja GS</dc:creator>
  <cp:lastModifiedBy>Microsoft account</cp:lastModifiedBy>
  <cp:revision>262</cp:revision>
  <dcterms:modified xsi:type="dcterms:W3CDTF">2024-11-15T07:41:37Z</dcterms:modified>
</cp:coreProperties>
</file>
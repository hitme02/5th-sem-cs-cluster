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8"/>
  </p:notesMasterIdLst>
  <p:handoutMasterIdLst>
    <p:handoutMasterId r:id="rId19"/>
  </p:handoutMasterIdLst>
  <p:sldIdLst>
    <p:sldId id="296" r:id="rId2"/>
    <p:sldId id="292" r:id="rId3"/>
    <p:sldId id="293" r:id="rId4"/>
    <p:sldId id="295" r:id="rId5"/>
    <p:sldId id="294" r:id="rId6"/>
    <p:sldId id="297" r:id="rId7"/>
    <p:sldId id="299" r:id="rId8"/>
    <p:sldId id="298" r:id="rId9"/>
    <p:sldId id="300" r:id="rId10"/>
    <p:sldId id="301" r:id="rId11"/>
    <p:sldId id="303" r:id="rId12"/>
    <p:sldId id="302" r:id="rId13"/>
    <p:sldId id="304" r:id="rId14"/>
    <p:sldId id="305" r:id="rId15"/>
    <p:sldId id="306" r:id="rId16"/>
    <p:sldId id="307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84239" autoAdjust="0"/>
  </p:normalViewPr>
  <p:slideViewPr>
    <p:cSldViewPr snapToGrid="0">
      <p:cViewPr varScale="1">
        <p:scale>
          <a:sx n="106" d="100"/>
          <a:sy n="106" d="100"/>
        </p:scale>
        <p:origin x="109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066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7190C68C-FA64-8808-59DE-D20750CB28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432E8D8-7C75-199D-4858-76BD8D21FA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A7656-CE36-42D4-983C-4D4DD8F88F38}" type="datetimeFigureOut">
              <a:rPr lang="en-IN" smtClean="0"/>
              <a:t>21-11-2024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556F7F8-ABCC-1CF9-9524-CB2DCB43F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A8C5AE9-6173-1EE2-0EB9-92FBC6A520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CBDB4-C371-461E-B20D-3E2505CBC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3467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60111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08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4167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8713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047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921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8281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3642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729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4496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408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102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2021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9945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3294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6768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6818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53250" y="22209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1A191C25-1A3C-0ABA-1BDF-1963DBAC3409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" name="Rectangle 6">
              <a:extLst>
                <a:ext uri="{FF2B5EF4-FFF2-40B4-BE49-F238E27FC236}">
                  <a16:creationId xmlns="" xmlns:a16="http://schemas.microsoft.com/office/drawing/2014/main" id="{C8D4B067-D304-59F5-C1BC-25D90471A9F8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="" xmlns:a16="http://schemas.microsoft.com/office/drawing/2014/main" id="{88F6D0E5-7268-8606-D4CC-27D4078965D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238" y="2199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62A04933-B448-B54B-368F-D9864F99C3A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2A9F246C-D9AB-75C5-258E-893E4432839C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8D5432EC-B246-6FD2-286E-8AEAD1C2DE1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4A779A5B-3A79-3A99-AE59-E12991F276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F4586A1D-9758-264A-C18A-C7281B9C77C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C6F9681E-7DB4-ECC6-58A3-5C8DA42E0C32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830C0281-BB4E-BC14-1020-F038B28DD42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30FD36F3-82E4-9820-7B3C-EEEDB9BF4D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63E1900F-C300-4F53-0B26-090E6E9EE205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620A2E88-C0C5-F3E1-BFDE-CCAFCC8CAECD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78143065-A6F6-FC7E-E618-2984DF46D117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1603F88D-723E-D5A2-5042-938B1131CB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4C6107CA-D479-DBD9-442B-86DAA3339DF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DF8C45B5-43CE-0687-BBDC-28955F0D65E0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5DF10958-A5EA-E472-8211-7F522F2CB3A3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9E3FEB3E-4F61-44F2-9AAE-1A3F0BC498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4B80D59B-9DFE-4595-F8A3-0013247AD4D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E62799D-B28B-3CB1-D50D-DD86F6B6AF93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7463A03A-9863-B929-6FD2-F2BEBAA76FAB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EE93E7E5-1903-8F06-EB29-347874908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29DD75D0-7AAD-DBAE-B237-73B7EEE84BA0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61EBF5A7-032C-2FEC-A530-5DDAED5DFD38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5D710205-E448-248A-F1A8-714D3E07A8E6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C3ED8E06-7678-1E49-4DD3-8274B819AD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8C6D8B5F-E71F-89BC-8E87-3A30BD1A4CC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C1D23F59-17D7-E341-3EEF-E0BB0BF998D9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B515A719-DA34-2E01-979A-46397BB11384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22B0660F-D9C4-5DA1-78EE-8553930B3A5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19;p3">
            <a:extLst>
              <a:ext uri="{FF2B5EF4-FFF2-40B4-BE49-F238E27FC236}">
                <a16:creationId xmlns="" xmlns:a16="http://schemas.microsoft.com/office/drawing/2014/main" id="{FC28A863-5B0F-9BCA-A385-49253AD4307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D7D09F3A-36FC-0746-667D-6B93C1215C86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Rectangle 3">
              <a:extLst>
                <a:ext uri="{FF2B5EF4-FFF2-40B4-BE49-F238E27FC236}">
                  <a16:creationId xmlns="" xmlns:a16="http://schemas.microsoft.com/office/drawing/2014/main" id="{778F927E-55A4-6336-27F0-54CC04169F90}"/>
                </a:ext>
              </a:extLst>
            </p:cNvPr>
            <p:cNvSpPr/>
            <p:nvPr userDrawn="1"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="" xmlns:a16="http://schemas.microsoft.com/office/drawing/2014/main" id="{5E7FB4EA-C9D5-7BAD-842D-836A077342B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874641"/>
              <a:ext cx="9144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7051" y="1683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6E59EC21-A6EB-AA16-2565-465E8F414E64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ct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0532" y="1"/>
            <a:ext cx="590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ssessing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Role of Open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086" y="928916"/>
            <a:ext cx="89654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 determine the format, storage, and exchange of data and enable different organizations and systems to communicate seamlessly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Standards" are standards made available to the general public and are developed (or approved) and maintained via a collaborative and consensus driven process. "Open Standards" facilitate interoperability and data exchange among different products or services and are intended for widespread adoption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standards allow others to make compatible products, so they're not locked into just one company's software or hardware. They promote compatibility, interoperability, and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innovation.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 can help with interoperability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is often a requirement for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Interoperability can be viewed in two dimensions: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Between two different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Within the components of a single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86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0532" y="1"/>
            <a:ext cx="590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ssessing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Role of Open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computing’s promise of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completely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changes the manner in which services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applications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deployed. Without standards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industry creates proprietary systems with vendor lock-in, sometimes referred to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“stovepipe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clouds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want to be locked into any single system, there is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strong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push to create standards-based clouds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industry is working with these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standards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of resources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Service-oriented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Web-application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open-source software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services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Autonomic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computing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standards help to enable different business models that cloud computing vendors can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most notably Software as a Service (SaaS), Web 2.0 applications, and utility computing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businesses require open standards so that data is both portable and universally accessible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15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0532" y="1"/>
            <a:ext cx="590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ssessing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Role of Open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1016000"/>
            <a:ext cx="883602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race to create the first generation of open cloud platform technologies that will compete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proprietary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offered by companies such as Microsoft (Azure Platform) and VMware</a:t>
            </a:r>
          </a:p>
          <a:p>
            <a:pPr algn="just"/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(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vSphere) is already underway.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Rackspace.com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one of the large IaaS cloud service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providers, announced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July 2010 that it is initiating an open-source project called OpenStack that will </a:t>
            </a:r>
            <a:r>
              <a:rPr lang="en-US" sz="16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 with 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code used to run its Cloud Files and Cloud Servers technologies. </a:t>
            </a:r>
            <a:endParaRPr lang="en-US" sz="16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NASA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also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donated some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Nebula Cloud Platform technology that it developed. The software developed will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released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Apache 2.0 license. Founding members of this project include AMD,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Citrix, Dell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Intel, NTT Data, and several other cloud service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openStack.org’s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(http</a:t>
            </a: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://www.openstack.org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16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0532" y="1"/>
            <a:ext cx="590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ssessing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Role of Open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5575" y="928913"/>
            <a:ext cx="883602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Eucalyptus (http://open.eucalyptus.com/) is a Linux-based software platform for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cloud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IaaS systems based on computer clusters. </a:t>
            </a: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has an interface that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connect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Amazon’s compute and storage cloud systems (EC2 and S3), and it maintains a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cloud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sandbox for developers to work in. Eucalyptus works with a number of technologies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system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virtualization, including VMware, Xen, and KVM. Eucalyptus is an acronym taken from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expression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“Elastic Utility Computing Architecture for Linking Your Programs to Useful Systems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major Linux vendors support this project, which is based on the original work of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 </a:t>
            </a:r>
            <a:r>
              <a:rPr lang="en-IN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Wolski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University of California at Santa Barbara. </a:t>
            </a: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Eucalyptus Systems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formed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2009 to support the commercialization of the Eucalyptus Cloud Computing Platform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OpenStack and Eucalyptus are by no means unique; several other projects are underway to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open-source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platforms. There also are numerous research projects in the area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IEEE Technical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Committee on Services Computing (http://tab.computer.org/tcsc/)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sponsors a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conference in this area called CLOUD and has some working groups and publications in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area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196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0532" y="1"/>
            <a:ext cx="590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ssessing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Role of Open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first two deliverables of the project are a distributed object store based on </a:t>
            </a:r>
            <a:r>
              <a:rPr lang="en-IN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Rackspace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Cloud Files and a scalable machine provisioning technology based on NASA Nebula and </a:t>
            </a:r>
            <a:r>
              <a:rPr lang="en-IN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Rackspace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Cloud Servers.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OpenStack Compute software will automatically create large groups of virtual private servers on industry-standard systems.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OpenStack Storage is the software that will create redundant object-based storage using clusters of commodity servers and storage systems.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630" y="2681785"/>
            <a:ext cx="6939885" cy="228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50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4" y="1037230"/>
            <a:ext cx="882069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four layers that form a cloud computing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ecosystem.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forms the basis for Software as a Service (SaaS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layer forms the basis for Platform as a Service (PaaS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model.</a:t>
            </a: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(IaaS) creates what may be determined to be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utility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model, something that you can tap into and draw from as you need it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significant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limits on the scalability of your deployment. </a:t>
            </a: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 only for what you need when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need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it. IaaS may be seen to be an incredibly disruptive technology, one that can help turn a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a large business nearly overnight. </a:t>
            </a: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most exciting prospect; one that is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fuelling a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IaaS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start-ups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one of the most difficult recessions of recent memory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764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4" y="1037230"/>
            <a:ext cx="89045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920" y="1267468"/>
            <a:ext cx="3957099" cy="32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4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4" y="1037230"/>
            <a:ext cx="890451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(IaaS)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cloud computing service model in which hardware is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virtualized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cloud. In this particular model, the service vendor owns the equipment: servers,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network infrastructure, and so forth.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 creates virtual hardware on which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services. Essentially, an IaaS vendor has created a hardware utility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where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provisions virtual resources as required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developer interacts with the IaaS model to create virtual private servers, virtual private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storage, virtual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networks, and so on, and then populates these virtual systems with the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it needs to complete its solution. 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IaaS, the virtualized resources are mapped to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systems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When the client interacts with an IaaS service and requests resources from the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systems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those requests are redirected to the real servers that do the actual work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06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5" y="928914"/>
            <a:ext cx="8904514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unit of virtualized client in an IaaS deployment is called 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workload.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 simulates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ability of a certain type of real or physical server to do an amount of work.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measured by the number of Transactions Per Minute (TPM) or a similar metric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 a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type of system.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 has certain other attributes such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Disk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measured in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Second IOPS, the amount of RAM consumed under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in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MB, network throughput and latency, and so forth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hosted application environment, a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client’s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runs on a dedicated server inside a server rack or perhaps as a standalone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in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room full of servers.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computing, a provisioned server called an instance is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reserved by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customer, and the necessary amount of computing resources needed to achieve that type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physical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is allocated to the client’s needs.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how three virtual private server instances are partitioned in an IaaS stack.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three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workloads require three different sizes of computers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small, medium, and large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client would reserve a machine equivalent required to run each of these workloads. The IaaS infrastructure runs these server instances in the data center that the service offers, drawing from a pool of virtualized machines, RAID storage, and network interface capacity.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46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4" y="1037230"/>
            <a:ext cx="890451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would reserve a machine equivalent required to run each of these workloads. The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infrastructure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these server instances in the data center that the service offers, drawing from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pool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virtualized machines,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 array of inexpensive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disks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 array of independent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disks (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RAID)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network interface capacity.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layers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expressions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physical systems that are partitioned as logical units. 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Unit </a:t>
            </a:r>
            <a:r>
              <a:rPr lang="en-IN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LUNs)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cloud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interconnect layer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the virtual application software layer are logical constructs.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logical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containers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cloud interconnect layer is a virtual network layer that is assigned IP addresses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network pool, and the virtual application software layer contains software that runs on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instance(s)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have been partitioned from physical assets on the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IaaS’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private cloud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an architectural standpoint, the client in an IaaS infrastructure is assigned its own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network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Amazon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Elastic Computer Cloud (EC2),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behaves as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each server is its own separate network—unless you create your own Virtual Private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(an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 add-on feature), which provides a workaround to this problem. </a:t>
            </a: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scale your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 deployment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you are adding additional networks to your infrastructure, which makes it easy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logically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an EC2 deployment, but imposes additional network overhead because traffic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be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routed between logical networks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3015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4" y="1037230"/>
            <a:ext cx="890451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1037231"/>
            <a:ext cx="7970520" cy="375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87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4" y="1037230"/>
            <a:ext cx="890451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Service’s routing limits broadcast and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multicast traffic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Layer-2 (Data Link) networking is not supported. Rackspace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(http://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www.rackspacecloud.com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/)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follows the AWS IP assignment model.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IaaS infrastructures such as the one Cloudscaling.com (http://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www.cloudscaling.com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offers or a traditional VMWare cloud-assigned networks on a per-user basis, which allows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Level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networking options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prominent Level 2 protocols that you might use are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tunneling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options, because they enable VLANs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 transactional </a:t>
            </a:r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eCommerce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system, for which a typical stack contains the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components: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engine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eCommerce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has several different workloads that are operating: queries against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database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processing of business logic, and serving up clients’ Web pages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2376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084" y="1037230"/>
            <a:ext cx="890451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classic example of an IaaS service model is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Amazon.com’s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Amazon Web Services (AWS).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has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data centers in which servers run on top of a virtualization platform (Xen) and may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partitioned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logical compute units of various sizes. </a:t>
            </a:r>
            <a:endParaRPr lang="en-US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then apply system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containing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operating systems and applications or create their own system images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may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partitions, databases may be created, and a range of services such a messaging and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called upon to make distributed application work correctly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Cross-Ref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offers a classic Service Oriented Architecture (SOA) approach to IaaS. </a:t>
            </a:r>
          </a:p>
          <a:p>
            <a:pPr algn="just"/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Pods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aggregation, and silos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Workloads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certain number of users, at which point you exceed the load that the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sizing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allows. When you reach the limit of the largest virtual machine instance possible, you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make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copy or clone of the instance to support additional users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of users within a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 is called a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Pods are managed by a Cloud Control System (CCS). In AWS, the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CCS is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AWS Management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999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083" y="1037230"/>
            <a:ext cx="890451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Sizing limitations for pods need to be accounted for if you are building a large cloud-based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Pods are aggregated into pools within an IaaS region or site called an availability zone. </a:t>
            </a: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very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cloud computing networks, when systems fail, they fail on a pod-by-pod basis, and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zone-by-zone basis. </a:t>
            </a: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AWS’ IaaS infrastructure, the availability zones are organized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the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company’s data </a:t>
            </a:r>
            <a:r>
              <a:rPr lang="en-I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Northern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California, Northern Virginia, Ireland, and Singapore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failover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between zones gives IaaS private clouds a very high degree of availability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shows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pods are aggregated and virtualized in IaaS across zones.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cloud computing infrastructure isolates user clouds from each other so the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system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incapable of interoperating with other private clouds, it creates an information silo,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simply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silo. </a:t>
            </a: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often, the term silo is applied to PaaS offerings such as Force.com or </a:t>
            </a:r>
            <a:r>
              <a:rPr lang="en-IN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QuickBase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silos often are an expression of the manner in which a cloud computing infrastructure is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architected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48154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7083" y="1037230"/>
            <a:ext cx="890451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Silos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 cloud computing equivalent of compute islands: They are processing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domains that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sealed off from the outside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you create a private virtual network within an IaaS framework, the chances are high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you 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creating a </a:t>
            </a: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Silo</a:t>
            </a:r>
            <a:r>
              <a:rPr lang="en-I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Silos </a:t>
            </a:r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impose restrictions on interoperability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runs counter to the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nature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build-componentized service-oriented applications. </a:t>
            </a: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that is not always a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 thing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 silo can be its own ecosystem; it can be protected and secured in ways that an open </a:t>
            </a:r>
            <a:r>
              <a:rPr lang="en-IN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can’t be. Silos just aren’t as flexible as open systems and are subject to vendor lock-in.</a:t>
            </a:r>
          </a:p>
        </p:txBody>
      </p:sp>
    </p:spTree>
    <p:extLst>
      <p:ext uri="{BB962C8B-B14F-4D97-AF65-F5344CB8AC3E}">
        <p14:creationId xmlns:p14="http://schemas.microsoft.com/office/powerpoint/2010/main" val="3959354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3940" y="1"/>
            <a:ext cx="77190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Infrastructure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Service (IaaS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087" y="928916"/>
            <a:ext cx="89045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7086" y="928914"/>
            <a:ext cx="89045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  <a:defRPr/>
            </a:pPr>
            <a:endParaRPr lang="en-US" altLang="en-US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4" descr="Virtualization Cloud Mod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87085" y="1037230"/>
            <a:ext cx="8904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" y="1082804"/>
            <a:ext cx="8359140" cy="356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678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</TotalTime>
  <Words>2143</Words>
  <Application>Microsoft Office PowerPoint</Application>
  <PresentationFormat>On-screen Show (16:9)</PresentationFormat>
  <Paragraphs>174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 GS</dc:creator>
  <cp:lastModifiedBy>Microsoft account</cp:lastModifiedBy>
  <cp:revision>240</cp:revision>
  <dcterms:modified xsi:type="dcterms:W3CDTF">2024-11-21T05:31:37Z</dcterms:modified>
</cp:coreProperties>
</file>
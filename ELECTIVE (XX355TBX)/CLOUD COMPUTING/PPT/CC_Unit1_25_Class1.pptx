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4"/>
  </p:notesMasterIdLst>
  <p:handoutMasterIdLst>
    <p:handoutMasterId r:id="rId15"/>
  </p:handoutMasterIdLst>
  <p:sldIdLst>
    <p:sldId id="290" r:id="rId2"/>
    <p:sldId id="300" r:id="rId3"/>
    <p:sldId id="291" r:id="rId4"/>
    <p:sldId id="301" r:id="rId5"/>
    <p:sldId id="302" r:id="rId6"/>
    <p:sldId id="292" r:id="rId7"/>
    <p:sldId id="293" r:id="rId8"/>
    <p:sldId id="294" r:id="rId9"/>
    <p:sldId id="295" r:id="rId10"/>
    <p:sldId id="297" r:id="rId11"/>
    <p:sldId id="296" r:id="rId12"/>
    <p:sldId id="298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06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686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3066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7190C68C-FA64-8808-59DE-D20750CB28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432E8D8-7C75-199D-4858-76BD8D21FA9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A7656-CE36-42D4-983C-4D4DD8F88F38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556F7F8-ABCC-1CF9-9524-CB2DCB43F7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A8C5AE9-6173-1EE2-0EB9-92FBC6A520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CBDB4-C371-461E-B20D-3E2505CBC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3467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60111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3550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9281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2911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2200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6091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8351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6469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4986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9270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3943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3865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575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53250" y="22209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53250" y="1857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1A191C25-1A3C-0ABA-1BDF-1963DBAC3409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C8D4B067-D304-59F5-C1BC-25D90471A9F8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xmlns="" id="{88F6D0E5-7268-8606-D4CC-27D4078965D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238" y="21990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:a16="http://schemas.microsoft.com/office/drawing/2014/main" xmlns="" id="{62A04933-B448-B54B-368F-D9864F99C3A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2A9F246C-D9AB-75C5-258E-893E4432839C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8D5432EC-B246-6FD2-286E-8AEAD1C2DE16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4A779A5B-3A79-3A99-AE59-E12991F276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:a16="http://schemas.microsoft.com/office/drawing/2014/main" xmlns="" id="{F4586A1D-9758-264A-C18A-C7281B9C77C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C6F9681E-7DB4-ECC6-58A3-5C8DA42E0C32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830C0281-BB4E-BC14-1020-F038B28DD426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30FD36F3-82E4-9820-7B3C-EEEDB9BF4D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:a16="http://schemas.microsoft.com/office/drawing/2014/main" xmlns="" id="{63E1900F-C300-4F53-0B26-090E6E9EE205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20A2E88-C0C5-F3E1-BFDE-CCAFCC8CAECD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78143065-A6F6-FC7E-E618-2984DF46D117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1603F88D-723E-D5A2-5042-938B1131CB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:a16="http://schemas.microsoft.com/office/drawing/2014/main" xmlns="" id="{4C6107CA-D479-DBD9-442B-86DAA3339DF7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DF8C45B5-43CE-0687-BBDC-28955F0D65E0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5DF10958-A5EA-E472-8211-7F522F2CB3A3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9E3FEB3E-4F61-44F2-9AAE-1A3F0BC4987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:a16="http://schemas.microsoft.com/office/drawing/2014/main" xmlns="" id="{4B80D59B-9DFE-4595-F8A3-0013247AD4D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EE62799D-B28B-3CB1-D50D-DD86F6B6AF93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7463A03A-9863-B929-6FD2-F2BEBAA76FAB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EE93E7E5-1903-8F06-EB29-347874908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:a16="http://schemas.microsoft.com/office/drawing/2014/main" xmlns="" id="{29DD75D0-7AAD-DBAE-B237-73B7EEE84BA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1EBF5A7-032C-2FEC-A530-5DDAED5DFD38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5D710205-E448-248A-F1A8-714D3E07A8E6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C3ED8E06-7678-1E49-4DD3-8274B819AD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:a16="http://schemas.microsoft.com/office/drawing/2014/main" xmlns="" id="{8C6D8B5F-E71F-89BC-8E87-3A30BD1A4CC9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C1D23F59-17D7-E341-3EEF-E0BB0BF998D9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B515A719-DA34-2E01-979A-46397BB11384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22B0660F-D9C4-5DA1-78EE-8553930B3A5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:a16="http://schemas.microsoft.com/office/drawing/2014/main" xmlns="" id="{FC28A863-5B0F-9BCA-A385-49253AD4307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D7D09F3A-36FC-0746-667D-6B93C1215C86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778F927E-55A4-6336-27F0-54CC04169F90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5E7FB4EA-C9D5-7BAD-842D-836A077342B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37051" y="16832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06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6000" y="216000"/>
            <a:ext cx="1507681" cy="64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E59EC21-A6EB-AA16-2565-465E8F414E6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ct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Computing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model for enabling network users on </a:t>
            </a:r>
            <a:r>
              <a:rPr lang="en-US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access to share pool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configurable computing resources that can be </a:t>
            </a:r>
            <a:r>
              <a:rPr lang="en-US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rapidly provisioned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release to the clients without </a:t>
            </a:r>
            <a:r>
              <a:rPr lang="en-US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service provider interaction</a:t>
            </a:r>
            <a:r>
              <a:rPr lang="en-US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</a:t>
            </a:r>
            <a:r>
              <a:rPr lang="en-US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general term used to describe a </a:t>
            </a:r>
            <a:r>
              <a:rPr lang="en-US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class of network based computing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takes place over the 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Internet- Using different  resources such as servers, storage, databases, software and applications are provided as a service to users on-demand. Users can access these resources an a pay-as-you-utilized them.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/ group of integrated and networked hardware, software and Internet 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infrastructure-Platform. Using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Internet for communication and transport 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hardware, software and networking services to clients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platforms hide the complexity and details of the underlying infrastructure from users and applications by providing very simple graphical interface or Applications Programming Interface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40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Computing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7086" y="928915"/>
            <a:ext cx="8904512" cy="4108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On-demand self-service, Scalability, Flexibility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 network access,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pooling, Security, Collaboration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elasticity, Automation, Real-time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Measured service, Compliance and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Multi-tenancy, High performance Computing</a:t>
            </a:r>
          </a:p>
          <a:p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and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and Mobile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Education and learning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and collaboration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Gaming and virtual reality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 and threat intelligence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CRM, SCM, FM and Accounting, Health care and Medical Research</a:t>
            </a:r>
          </a:p>
        </p:txBody>
      </p:sp>
    </p:spTree>
    <p:extLst>
      <p:ext uri="{BB962C8B-B14F-4D97-AF65-F5344CB8AC3E}">
        <p14:creationId xmlns:p14="http://schemas.microsoft.com/office/powerpoint/2010/main" val="927787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Computing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1" y="1074420"/>
            <a:ext cx="874013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36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-Essentials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62299" y="1098191"/>
            <a:ext cx="582929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Abstraction: </a:t>
            </a:r>
            <a:endParaRPr lang="en-IN" sz="16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abstracts the details of system implementation from 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and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developers. </a:t>
            </a:r>
            <a:endParaRPr lang="en-IN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on physical systems that aren’t specified, data is 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in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locations that are unknown, administration of systems is outsourced to others, 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access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users is ubiquitous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virtualizes systems by pooling and sharing 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storage can be provisioned as needed from a centralized infrastructure, 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costs are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assessed on a metered basis, multi-tenancy is enabled, and resources are scalable 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agility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26" name="Picture 2" descr="https://www.researchgate.net/profile/Anilkumar-Kadam/publication/282971717/figure/fig1/AS:286101417410560@1445223301494/An-abstract-view-of-cloud-computing_W64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1098191"/>
            <a:ext cx="2724152" cy="179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85" y="3009900"/>
            <a:ext cx="3011715" cy="178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07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-Essentials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help clarify how cloud computing has changed the nature of commercial system deployment,</a:t>
            </a:r>
          </a:p>
          <a:p>
            <a:pPr algn="just"/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consider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three examples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16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built a worldwide network of datacenters to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its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engine. In doing so Google has captured a substantial portion of the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world’s advertising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revenue. </a:t>
            </a:r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has enabled Google to offer free software to users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infrastructure and has changed the market for user-facing software. </a:t>
            </a:r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Azure Platform: </a:t>
            </a:r>
            <a:endParaRPr lang="en-IN" sz="1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creating the Azure Platform. It enables .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 Framework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to run over the Internet as an alternate platform for 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developer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running on 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desktops.</a:t>
            </a:r>
          </a:p>
          <a:p>
            <a:pPr algn="just"/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Services: </a:t>
            </a:r>
            <a:endParaRPr lang="en-US" sz="1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most successful cloud-based businesses is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Web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Services, which is an Infrastructure as a Service offering that lets you rent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computers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Amazon’s own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infrastructure.</a:t>
            </a: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557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Computing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2881" y="1025434"/>
            <a:ext cx="880871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tabLst>
                <a:tab pos="1522413" algn="l"/>
                <a:tab pos="1612900" algn="l"/>
              </a:tabLst>
              <a:defRPr/>
            </a:pPr>
            <a:r>
              <a:rPr lang="en-GB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r>
              <a:rPr lang="en-GB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result of evolution and adoption of existing technologies and paradigms: </a:t>
            </a:r>
            <a:r>
              <a:rPr lang="en-GB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Autonomic </a:t>
            </a:r>
            <a:r>
              <a:rPr lang="en-GB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computing, </a:t>
            </a:r>
            <a:r>
              <a:rPr lang="en-GB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Client–Server </a:t>
            </a:r>
            <a:r>
              <a:rPr lang="en-GB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model, Grid computing, Mainframe computer, Utility computing, Peer-to-peer and Virtualization</a:t>
            </a:r>
            <a:r>
              <a:rPr lang="en-GB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tabLst>
                <a:tab pos="1522413" algn="l"/>
                <a:tab pos="1612900" algn="l"/>
              </a:tabLst>
              <a:defRPr/>
            </a:pPr>
            <a:endParaRPr lang="en-GB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tabLst>
                <a:tab pos="1522413" algn="l"/>
                <a:tab pos="1612900" algn="l"/>
              </a:tabLst>
              <a:defRPr/>
            </a:pPr>
            <a:r>
              <a:rPr lang="en-GB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</a:t>
            </a:r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Cloud Computing:</a:t>
            </a: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To allow users to take </a:t>
            </a:r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benefits</a:t>
            </a: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all of these technologies, without the need for deep knowledge about or expertise with each one of them</a:t>
            </a:r>
            <a:r>
              <a:rPr lang="en-GB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  <a:tabLst>
                <a:tab pos="1522413" algn="l"/>
                <a:tab pos="1612900" algn="l"/>
              </a:tabLst>
              <a:defRPr/>
            </a:pPr>
            <a:endParaRPr lang="en-GB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tabLst>
                <a:tab pos="1522413" algn="l"/>
                <a:tab pos="1612900" algn="l"/>
              </a:tabLst>
              <a:defRPr/>
            </a:pP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costs</a:t>
            </a: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help the users </a:t>
            </a:r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their core business </a:t>
            </a: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being </a:t>
            </a:r>
            <a:r>
              <a:rPr lang="en-GB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restricted </a:t>
            </a: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IT obstacles.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tabLst>
                <a:tab pos="1522413" algn="l"/>
              </a:tabLst>
            </a:pPr>
            <a:r>
              <a:rPr lang="en-US" altLang="en-US" sz="16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en-US" alt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: </a:t>
            </a:r>
            <a:r>
              <a:rPr lang="en-US" altLang="en-US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Saas</a:t>
            </a:r>
            <a:r>
              <a:rPr lang="en-US" alt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Paas</a:t>
            </a:r>
            <a:r>
              <a:rPr lang="en-US" alt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</a:t>
            </a:r>
            <a:r>
              <a:rPr lang="en-US" alt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Caas</a:t>
            </a:r>
            <a:r>
              <a:rPr lang="en-US" alt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Naas.     </a:t>
            </a:r>
            <a:endParaRPr lang="en-US" altLang="en-US" sz="1600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tabLst>
                <a:tab pos="1522413" algn="l"/>
              </a:tabLst>
            </a:pPr>
            <a:endParaRPr lang="en-US" altLang="en-US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tabLst>
                <a:tab pos="1522413" algn="l"/>
              </a:tabLst>
            </a:pPr>
            <a:r>
              <a:rPr lang="en-US" alt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  <a:r>
              <a:rPr lang="en-US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models: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tabLst>
                <a:tab pos="1522413" algn="l"/>
              </a:tabLst>
            </a:pPr>
            <a:r>
              <a:rPr lang="en-US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cloud         :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owned or lease 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tabLst>
                <a:tab pos="1522413" algn="l"/>
              </a:tabLst>
            </a:pPr>
            <a:r>
              <a:rPr lang="en-US" alt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          :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Sold to the public, mega-scale infrastructure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tabLst>
                <a:tab pos="1522413" algn="l"/>
              </a:tabLst>
            </a:pPr>
            <a:r>
              <a:rPr lang="en-US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cloud         :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two or more 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tabLst>
                <a:tab pos="1522413" algn="l"/>
              </a:tabLst>
            </a:pPr>
            <a:r>
              <a:rPr lang="en-US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 cloud :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infrastructure for specific community</a:t>
            </a:r>
          </a:p>
        </p:txBody>
      </p:sp>
    </p:spTree>
    <p:extLst>
      <p:ext uri="{BB962C8B-B14F-4D97-AF65-F5344CB8AC3E}">
        <p14:creationId xmlns:p14="http://schemas.microsoft.com/office/powerpoint/2010/main" val="2251847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Computing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4772" y="1105264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2881" y="1025434"/>
            <a:ext cx="880871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n-GB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SaaS: (Software as a Service)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n-GB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GB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Apps, Microsoft Office 365, </a:t>
            </a:r>
            <a:r>
              <a:rPr lang="en-GB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Google, AWS, ORACLE, SAP, Zoom</a:t>
            </a:r>
          </a:p>
          <a:p>
            <a:pPr algn="just" eaLnBrk="1" hangingPunct="1"/>
            <a:r>
              <a:rPr lang="en-GB" alt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PaaS</a:t>
            </a:r>
            <a:r>
              <a:rPr lang="en-GB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(Platform as a Service</a:t>
            </a:r>
            <a:r>
              <a:rPr lang="en-GB" alt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n-GB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GB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Engine, </a:t>
            </a:r>
            <a:r>
              <a:rPr lang="en-GB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Salesforce- </a:t>
            </a:r>
            <a:r>
              <a:rPr lang="en-GB" altLang="en-US" sz="1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en-GB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1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Openshift-RedHat</a:t>
            </a:r>
            <a:r>
              <a:rPr lang="en-GB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AWS Elastic Beanstalk, Amazon Web Services(AWS)</a:t>
            </a:r>
          </a:p>
          <a:p>
            <a:pPr algn="just" eaLnBrk="1" hangingPunct="1"/>
            <a:r>
              <a:rPr lang="en-GB" altLang="en-US" sz="16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</a:t>
            </a:r>
            <a:r>
              <a:rPr lang="en-GB" alt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:(Infrastructure as a Service</a:t>
            </a:r>
            <a:r>
              <a:rPr lang="en-GB" altLang="en-US" sz="16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n-GB" altLang="en-US" sz="1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  <a:r>
              <a:rPr lang="en-GB" altLang="en-US" sz="1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EC2</a:t>
            </a:r>
            <a:r>
              <a:rPr lang="en-GB" alt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Google computer engine, HP Cloud, </a:t>
            </a:r>
            <a:r>
              <a:rPr lang="en-GB" altLang="en-US" sz="1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Oracle </a:t>
            </a:r>
            <a:r>
              <a:rPr lang="en-GB" alt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infrastructure, </a:t>
            </a:r>
            <a:r>
              <a:rPr lang="en-GB" altLang="en-US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Rackspace</a:t>
            </a:r>
            <a:r>
              <a:rPr lang="en-GB" alt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Open Cloud, </a:t>
            </a:r>
            <a:r>
              <a:rPr lang="en-GB" altLang="en-US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</a:t>
            </a:r>
            <a:r>
              <a:rPr lang="en-GB" alt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1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Cloud, IBM Cloud, </a:t>
            </a:r>
            <a:r>
              <a:rPr lang="en-GB" altLang="en-US" sz="16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Vmware</a:t>
            </a:r>
            <a:r>
              <a:rPr lang="en-GB" altLang="en-US" sz="1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cloud an AWS, Microsoft Azure, Digital Ocean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endParaRPr lang="en-GB" altLang="en-US" sz="1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Caas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(Container as a Service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Kubernetes, Docker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Swarm, AWS Elastic Container Service(ECS), Google cloud Container, Azure Container Instances (ACI)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NaaS</a:t>
            </a:r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(Network as a Service)- SDN, NFV, Cloud Networking, WAN Optimization, Security as a service(</a:t>
            </a:r>
            <a:r>
              <a:rPr lang="en-US" sz="16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SECaaS</a:t>
            </a:r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)- Use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network services, Google, Microsoft Azure, CISCO Cloud, VM ware NSX cloud.</a:t>
            </a:r>
          </a:p>
        </p:txBody>
      </p:sp>
    </p:spTree>
    <p:extLst>
      <p:ext uri="{BB962C8B-B14F-4D97-AF65-F5344CB8AC3E}">
        <p14:creationId xmlns:p14="http://schemas.microsoft.com/office/powerpoint/2010/main" val="2529494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Computing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4772" y="1105264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5" name="Picture 2" descr="A holistic view of cloud computing options for industrial application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" y="1105264"/>
            <a:ext cx="8615681" cy="3771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462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Computing-Benefits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4772" y="1105264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4780" y="990600"/>
            <a:ext cx="8839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4738" algn="l"/>
              </a:tabLst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Friendly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4738" algn="l"/>
              </a:tabLst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Software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4738" algn="l"/>
              </a:tabLst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 Proficient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4738" algn="l"/>
              </a:tabLst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More secure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4738" algn="l"/>
              </a:tabLst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Greater Flexibility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4738" algn="l"/>
              </a:tabLst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Infinite storage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4738" algn="l"/>
              </a:tabLst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Rapid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4738" algn="l"/>
              </a:tabLst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Backup and Recovery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4738" algn="l"/>
              </a:tabLst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Document Control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74738" algn="l"/>
              </a:tabLst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Fewer maintaince issues</a:t>
            </a:r>
          </a:p>
        </p:txBody>
      </p:sp>
    </p:spTree>
    <p:extLst>
      <p:ext uri="{BB962C8B-B14F-4D97-AF65-F5344CB8AC3E}">
        <p14:creationId xmlns:p14="http://schemas.microsoft.com/office/powerpoint/2010/main" val="2839425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Computing-Limitations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4772" y="1105264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4780" y="990600"/>
            <a:ext cx="8839200" cy="373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Doesn’t work well in low speed connections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Outsourcing data storage increases potential for attacker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Supplier stability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Accessibility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Security of stored data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piracy and Copyright infringement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Requires constant Internet connections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Unreliable services due to due to inadequate ICT or Power Infrastructure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Risk of Vendor Locking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942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Computing-Features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4772" y="1105264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967740"/>
            <a:ext cx="8816340" cy="389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87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Computing-Challenges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4772" y="1105264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180000"/>
              </p:ext>
            </p:extLst>
          </p:nvPr>
        </p:nvGraphicFramePr>
        <p:xfrm>
          <a:off x="129540" y="1105264"/>
          <a:ext cx="8823960" cy="3416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671"/>
                <a:gridCol w="7515289"/>
              </a:tblGrid>
              <a:tr h="400117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Usage / Issues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82441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97%</a:t>
                      </a:r>
                      <a:endParaRPr lang="en-IN" sz="16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Many</a:t>
                      </a:r>
                      <a:r>
                        <a:rPr lang="en-US" sz="16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organizations uses  cloud services- Public, Private, Hybrid</a:t>
                      </a:r>
                      <a:endParaRPr lang="en-IN" sz="16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117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</a:t>
                      </a:r>
                      <a:endParaRPr lang="en-IN" sz="16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strategy aspects</a:t>
                      </a:r>
                      <a:endParaRPr lang="en-IN" sz="16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33311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IN" sz="16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Anticipate decrease in cloud investment</a:t>
                      </a:r>
                      <a:endParaRPr lang="en-IN" sz="16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117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53%</a:t>
                      </a:r>
                      <a:endParaRPr lang="en-IN" sz="16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Unauthorized access</a:t>
                      </a:r>
                      <a:endParaRPr lang="en-IN" sz="16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117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44%</a:t>
                      </a:r>
                      <a:endParaRPr lang="en-IN" sz="16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Hijacking of accounts</a:t>
                      </a:r>
                      <a:endParaRPr lang="en-IN" sz="16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117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49%</a:t>
                      </a:r>
                      <a:endParaRPr lang="en-IN" sz="16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Insecure Interfaces</a:t>
                      </a:r>
                      <a:r>
                        <a:rPr lang="en-US" sz="16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 APIs</a:t>
                      </a:r>
                      <a:endParaRPr lang="en-IN" sz="16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117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33%</a:t>
                      </a:r>
                      <a:endParaRPr lang="en-IN" sz="16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 Sharing of data</a:t>
                      </a:r>
                      <a:endParaRPr lang="en-IN" sz="16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01482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957</Words>
  <Application>Microsoft Office PowerPoint</Application>
  <PresentationFormat>On-screen Show (16:9)</PresentationFormat>
  <Paragraphs>127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Nagaraja GS</dc:creator>
  <cp:lastModifiedBy>Microsoft account</cp:lastModifiedBy>
  <cp:revision>191</cp:revision>
  <dcterms:modified xsi:type="dcterms:W3CDTF">2024-10-21T12:00:17Z</dcterms:modified>
</cp:coreProperties>
</file>
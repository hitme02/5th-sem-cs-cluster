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8" r:id="rId1"/>
  </p:sldMasterIdLst>
  <p:notesMasterIdLst>
    <p:notesMasterId r:id="rId23"/>
  </p:notesMasterIdLst>
  <p:handoutMasterIdLst>
    <p:handoutMasterId r:id="rId24"/>
  </p:handoutMasterIdLst>
  <p:sldIdLst>
    <p:sldId id="292" r:id="rId2"/>
    <p:sldId id="293" r:id="rId3"/>
    <p:sldId id="294" r:id="rId4"/>
    <p:sldId id="295" r:id="rId5"/>
    <p:sldId id="296" r:id="rId6"/>
    <p:sldId id="297" r:id="rId7"/>
    <p:sldId id="298" r:id="rId8"/>
    <p:sldId id="299" r:id="rId9"/>
    <p:sldId id="300" r:id="rId10"/>
    <p:sldId id="311" r:id="rId11"/>
    <p:sldId id="312" r:id="rId12"/>
    <p:sldId id="301" r:id="rId13"/>
    <p:sldId id="302" r:id="rId14"/>
    <p:sldId id="303" r:id="rId15"/>
    <p:sldId id="304" r:id="rId16"/>
    <p:sldId id="309" r:id="rId17"/>
    <p:sldId id="305" r:id="rId18"/>
    <p:sldId id="306" r:id="rId19"/>
    <p:sldId id="307" r:id="rId20"/>
    <p:sldId id="308" r:id="rId21"/>
    <p:sldId id="313" r:id="rId2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06" autoAdjust="0"/>
    <p:restoredTop sz="89022" autoAdjust="0"/>
  </p:normalViewPr>
  <p:slideViewPr>
    <p:cSldViewPr snapToGrid="0">
      <p:cViewPr varScale="1">
        <p:scale>
          <a:sx n="112" d="100"/>
          <a:sy n="112" d="100"/>
        </p:scale>
        <p:origin x="926" y="10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5" d="100"/>
          <a:sy n="75" d="100"/>
        </p:scale>
        <p:origin x="3066" y="2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="" xmlns:a16="http://schemas.microsoft.com/office/drawing/2014/main" id="{7190C68C-FA64-8808-59DE-D20750CB28D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3432E8D8-7C75-199D-4858-76BD8D21FA9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FA7656-CE36-42D4-983C-4D4DD8F88F38}" type="datetimeFigureOut">
              <a:rPr lang="en-IN" smtClean="0"/>
              <a:t>15-11-2024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1556F7F8-ABCC-1CF9-9524-CB2DCB43F73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EA8C5AE9-6173-1EE2-0EB9-92FBC6A5208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7CBDB4-C371-461E-B20D-3E2505CBC0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93467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9601116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3d66680d4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23d66680d4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441670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3d66680d4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23d66680d4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209550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3d66680d4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23d66680d4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518177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3d66680d4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23d66680d4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414314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3d66680d4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23d66680d4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90842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3d66680d4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23d66680d4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295276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3d66680d4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23d66680d4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194584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3d66680d4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23d66680d4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644026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3d66680d4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23d66680d4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048471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3d66680d4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23d66680d4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776309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3d66680d4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23d66680d4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719228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3d66680d4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23d66680d4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017552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3d66680d4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23d66680d4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424989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3d66680d4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23d66680d4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569798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3d66680d4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23d66680d4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903691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3d66680d4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23d66680d4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580398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3d66680d4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23d66680d4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787195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3d66680d4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23d66680d4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297210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3d66680d4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23d66680d4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280355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3d66680d4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23d66680d4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3550480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3d66680d4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23d66680d4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052710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253250" y="222097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7" name="Google Shape;17;p3"/>
          <p:cNvSpPr txBox="1">
            <a:spLocks noGrp="1"/>
          </p:cNvSpPr>
          <p:nvPr>
            <p:ph type="body" idx="1"/>
          </p:nvPr>
        </p:nvSpPr>
        <p:spPr>
          <a:xfrm>
            <a:off x="253250" y="18575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83600" y="415175"/>
            <a:ext cx="1974051" cy="300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" name="Group 7">
            <a:extLst>
              <a:ext uri="{FF2B5EF4-FFF2-40B4-BE49-F238E27FC236}">
                <a16:creationId xmlns="" xmlns:a16="http://schemas.microsoft.com/office/drawing/2014/main" id="{1A191C25-1A3C-0ABA-1BDF-1963DBAC3409}"/>
              </a:ext>
            </a:extLst>
          </p:cNvPr>
          <p:cNvGrpSpPr/>
          <p:nvPr userDrawn="1"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7" name="Rectangle 6">
              <a:extLst>
                <a:ext uri="{FF2B5EF4-FFF2-40B4-BE49-F238E27FC236}">
                  <a16:creationId xmlns="" xmlns:a16="http://schemas.microsoft.com/office/drawing/2014/main" id="{C8D4B067-D304-59F5-C1BC-25D90471A9F8}"/>
                </a:ext>
              </a:extLst>
            </p:cNvPr>
            <p:cNvSpPr/>
            <p:nvPr userDrawn="1"/>
          </p:nvSpPr>
          <p:spPr>
            <a:xfrm>
              <a:off x="0" y="0"/>
              <a:ext cx="9144000" cy="514350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3" name="Straight Connector 2">
              <a:extLst>
                <a:ext uri="{FF2B5EF4-FFF2-40B4-BE49-F238E27FC236}">
                  <a16:creationId xmlns="" xmlns:a16="http://schemas.microsoft.com/office/drawing/2014/main" id="{88F6D0E5-7268-8606-D4CC-27D4078965D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874641"/>
              <a:ext cx="9144000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3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471238" y="21990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" name="Google Shape;19;p3">
            <a:extLst>
              <a:ext uri="{FF2B5EF4-FFF2-40B4-BE49-F238E27FC236}">
                <a16:creationId xmlns="" xmlns:a16="http://schemas.microsoft.com/office/drawing/2014/main" id="{62A04933-B448-B54B-368F-D9864F99C3A4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83600" y="415175"/>
            <a:ext cx="1974051" cy="300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roup 2">
            <a:extLst>
              <a:ext uri="{FF2B5EF4-FFF2-40B4-BE49-F238E27FC236}">
                <a16:creationId xmlns="" xmlns:a16="http://schemas.microsoft.com/office/drawing/2014/main" id="{2A9F246C-D9AB-75C5-258E-893E4432839C}"/>
              </a:ext>
            </a:extLst>
          </p:cNvPr>
          <p:cNvGrpSpPr/>
          <p:nvPr userDrawn="1"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4" name="Rectangle 3">
              <a:extLst>
                <a:ext uri="{FF2B5EF4-FFF2-40B4-BE49-F238E27FC236}">
                  <a16:creationId xmlns="" xmlns:a16="http://schemas.microsoft.com/office/drawing/2014/main" id="{8D5432EC-B246-6FD2-286E-8AEAD1C2DE16}"/>
                </a:ext>
              </a:extLst>
            </p:cNvPr>
            <p:cNvSpPr/>
            <p:nvPr userDrawn="1"/>
          </p:nvSpPr>
          <p:spPr>
            <a:xfrm>
              <a:off x="0" y="0"/>
              <a:ext cx="9144000" cy="514350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="" xmlns:a16="http://schemas.microsoft.com/office/drawing/2014/main" id="{4A779A5B-3A79-3A99-AE59-E12991F2769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874641"/>
              <a:ext cx="9144000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91725" y="7765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" name="Google Shape;19;p3">
            <a:extLst>
              <a:ext uri="{FF2B5EF4-FFF2-40B4-BE49-F238E27FC236}">
                <a16:creationId xmlns="" xmlns:a16="http://schemas.microsoft.com/office/drawing/2014/main" id="{F4586A1D-9758-264A-C18A-C7281B9C77C6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83600" y="415175"/>
            <a:ext cx="1974051" cy="300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roup 2">
            <a:extLst>
              <a:ext uri="{FF2B5EF4-FFF2-40B4-BE49-F238E27FC236}">
                <a16:creationId xmlns="" xmlns:a16="http://schemas.microsoft.com/office/drawing/2014/main" id="{C6F9681E-7DB4-ECC6-58A3-5C8DA42E0C32}"/>
              </a:ext>
            </a:extLst>
          </p:cNvPr>
          <p:cNvGrpSpPr/>
          <p:nvPr userDrawn="1"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4" name="Rectangle 3">
              <a:extLst>
                <a:ext uri="{FF2B5EF4-FFF2-40B4-BE49-F238E27FC236}">
                  <a16:creationId xmlns="" xmlns:a16="http://schemas.microsoft.com/office/drawing/2014/main" id="{830C0281-BB4E-BC14-1020-F038B28DD426}"/>
                </a:ext>
              </a:extLst>
            </p:cNvPr>
            <p:cNvSpPr/>
            <p:nvPr userDrawn="1"/>
          </p:nvSpPr>
          <p:spPr>
            <a:xfrm>
              <a:off x="0" y="0"/>
              <a:ext cx="9144000" cy="514350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="" xmlns:a16="http://schemas.microsoft.com/office/drawing/2014/main" id="{30FD36F3-82E4-9820-7B3C-EEEDB9BF4D4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874641"/>
              <a:ext cx="9144000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" name="Google Shape;19;p3">
            <a:extLst>
              <a:ext uri="{FF2B5EF4-FFF2-40B4-BE49-F238E27FC236}">
                <a16:creationId xmlns="" xmlns:a16="http://schemas.microsoft.com/office/drawing/2014/main" id="{63E1900F-C300-4F53-0B26-090E6E9EE205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83600" y="415175"/>
            <a:ext cx="1974051" cy="300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roup 2">
            <a:extLst>
              <a:ext uri="{FF2B5EF4-FFF2-40B4-BE49-F238E27FC236}">
                <a16:creationId xmlns="" xmlns:a16="http://schemas.microsoft.com/office/drawing/2014/main" id="{620A2E88-C0C5-F3E1-BFDE-CCAFCC8CAECD}"/>
              </a:ext>
            </a:extLst>
          </p:cNvPr>
          <p:cNvGrpSpPr/>
          <p:nvPr userDrawn="1"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4" name="Rectangle 3">
              <a:extLst>
                <a:ext uri="{FF2B5EF4-FFF2-40B4-BE49-F238E27FC236}">
                  <a16:creationId xmlns="" xmlns:a16="http://schemas.microsoft.com/office/drawing/2014/main" id="{78143065-A6F6-FC7E-E618-2984DF46D117}"/>
                </a:ext>
              </a:extLst>
            </p:cNvPr>
            <p:cNvSpPr/>
            <p:nvPr userDrawn="1"/>
          </p:nvSpPr>
          <p:spPr>
            <a:xfrm>
              <a:off x="0" y="0"/>
              <a:ext cx="9144000" cy="514350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="" xmlns:a16="http://schemas.microsoft.com/office/drawing/2014/main" id="{1603F88D-723E-D5A2-5042-938B1131CB1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874641"/>
              <a:ext cx="9144000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" name="Google Shape;19;p3">
            <a:extLst>
              <a:ext uri="{FF2B5EF4-FFF2-40B4-BE49-F238E27FC236}">
                <a16:creationId xmlns="" xmlns:a16="http://schemas.microsoft.com/office/drawing/2014/main" id="{4C6107CA-D479-DBD9-442B-86DAA3339DF7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83600" y="415175"/>
            <a:ext cx="1974051" cy="300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roup 2">
            <a:extLst>
              <a:ext uri="{FF2B5EF4-FFF2-40B4-BE49-F238E27FC236}">
                <a16:creationId xmlns="" xmlns:a16="http://schemas.microsoft.com/office/drawing/2014/main" id="{DF8C45B5-43CE-0687-BBDC-28955F0D65E0}"/>
              </a:ext>
            </a:extLst>
          </p:cNvPr>
          <p:cNvGrpSpPr/>
          <p:nvPr userDrawn="1"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4" name="Rectangle 3">
              <a:extLst>
                <a:ext uri="{FF2B5EF4-FFF2-40B4-BE49-F238E27FC236}">
                  <a16:creationId xmlns="" xmlns:a16="http://schemas.microsoft.com/office/drawing/2014/main" id="{5DF10958-A5EA-E472-8211-7F522F2CB3A3}"/>
                </a:ext>
              </a:extLst>
            </p:cNvPr>
            <p:cNvSpPr/>
            <p:nvPr userDrawn="1"/>
          </p:nvSpPr>
          <p:spPr>
            <a:xfrm>
              <a:off x="0" y="0"/>
              <a:ext cx="9144000" cy="514350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="" xmlns:a16="http://schemas.microsoft.com/office/drawing/2014/main" id="{9E3FEB3E-4F61-44F2-9AAE-1A3F0BC4987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874641"/>
              <a:ext cx="9144000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" name="Google Shape;19;p3">
            <a:extLst>
              <a:ext uri="{FF2B5EF4-FFF2-40B4-BE49-F238E27FC236}">
                <a16:creationId xmlns="" xmlns:a16="http://schemas.microsoft.com/office/drawing/2014/main" id="{4B80D59B-9DFE-4595-F8A3-0013247AD4D0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83600" y="415175"/>
            <a:ext cx="1974051" cy="300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roup 2">
            <a:extLst>
              <a:ext uri="{FF2B5EF4-FFF2-40B4-BE49-F238E27FC236}">
                <a16:creationId xmlns="" xmlns:a16="http://schemas.microsoft.com/office/drawing/2014/main" id="{EE62799D-B28B-3CB1-D50D-DD86F6B6AF93}"/>
              </a:ext>
            </a:extLst>
          </p:cNvPr>
          <p:cNvGrpSpPr/>
          <p:nvPr userDrawn="1"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4" name="Rectangle 3">
              <a:extLst>
                <a:ext uri="{FF2B5EF4-FFF2-40B4-BE49-F238E27FC236}">
                  <a16:creationId xmlns="" xmlns:a16="http://schemas.microsoft.com/office/drawing/2014/main" id="{7463A03A-9863-B929-6FD2-F2BEBAA76FAB}"/>
                </a:ext>
              </a:extLst>
            </p:cNvPr>
            <p:cNvSpPr/>
            <p:nvPr userDrawn="1"/>
          </p:nvSpPr>
          <p:spPr>
            <a:xfrm>
              <a:off x="0" y="0"/>
              <a:ext cx="9144000" cy="514350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="" xmlns:a16="http://schemas.microsoft.com/office/drawing/2014/main" id="{EE93E7E5-1903-8F06-EB29-347874908DD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874641"/>
              <a:ext cx="9144000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" name="Google Shape;19;p3">
            <a:extLst>
              <a:ext uri="{FF2B5EF4-FFF2-40B4-BE49-F238E27FC236}">
                <a16:creationId xmlns="" xmlns:a16="http://schemas.microsoft.com/office/drawing/2014/main" id="{29DD75D0-7AAD-DBAE-B237-73B7EEE84BA0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83600" y="415175"/>
            <a:ext cx="1974051" cy="300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roup 2">
            <a:extLst>
              <a:ext uri="{FF2B5EF4-FFF2-40B4-BE49-F238E27FC236}">
                <a16:creationId xmlns="" xmlns:a16="http://schemas.microsoft.com/office/drawing/2014/main" id="{61EBF5A7-032C-2FEC-A530-5DDAED5DFD38}"/>
              </a:ext>
            </a:extLst>
          </p:cNvPr>
          <p:cNvGrpSpPr/>
          <p:nvPr userDrawn="1"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4" name="Rectangle 3">
              <a:extLst>
                <a:ext uri="{FF2B5EF4-FFF2-40B4-BE49-F238E27FC236}">
                  <a16:creationId xmlns="" xmlns:a16="http://schemas.microsoft.com/office/drawing/2014/main" id="{5D710205-E448-248A-F1A8-714D3E07A8E6}"/>
                </a:ext>
              </a:extLst>
            </p:cNvPr>
            <p:cNvSpPr/>
            <p:nvPr userDrawn="1"/>
          </p:nvSpPr>
          <p:spPr>
            <a:xfrm>
              <a:off x="0" y="0"/>
              <a:ext cx="9144000" cy="514350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="" xmlns:a16="http://schemas.microsoft.com/office/drawing/2014/main" id="{C3ED8E06-7678-1E49-4DD3-8274B819AD4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874641"/>
              <a:ext cx="9144000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" name="Google Shape;19;p3">
            <a:extLst>
              <a:ext uri="{FF2B5EF4-FFF2-40B4-BE49-F238E27FC236}">
                <a16:creationId xmlns="" xmlns:a16="http://schemas.microsoft.com/office/drawing/2014/main" id="{8C6D8B5F-E71F-89BC-8E87-3A30BD1A4CC9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83600" y="415175"/>
            <a:ext cx="1974051" cy="300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roup 2">
            <a:extLst>
              <a:ext uri="{FF2B5EF4-FFF2-40B4-BE49-F238E27FC236}">
                <a16:creationId xmlns="" xmlns:a16="http://schemas.microsoft.com/office/drawing/2014/main" id="{C1D23F59-17D7-E341-3EEF-E0BB0BF998D9}"/>
              </a:ext>
            </a:extLst>
          </p:cNvPr>
          <p:cNvGrpSpPr/>
          <p:nvPr userDrawn="1"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4" name="Rectangle 3">
              <a:extLst>
                <a:ext uri="{FF2B5EF4-FFF2-40B4-BE49-F238E27FC236}">
                  <a16:creationId xmlns="" xmlns:a16="http://schemas.microsoft.com/office/drawing/2014/main" id="{B515A719-DA34-2E01-979A-46397BB11384}"/>
                </a:ext>
              </a:extLst>
            </p:cNvPr>
            <p:cNvSpPr/>
            <p:nvPr userDrawn="1"/>
          </p:nvSpPr>
          <p:spPr>
            <a:xfrm>
              <a:off x="0" y="0"/>
              <a:ext cx="9144000" cy="514350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="" xmlns:a16="http://schemas.microsoft.com/office/drawing/2014/main" id="{22B0660F-D9C4-5DA1-78EE-8553930B3A5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874641"/>
              <a:ext cx="9144000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" name="Google Shape;19;p3">
            <a:extLst>
              <a:ext uri="{FF2B5EF4-FFF2-40B4-BE49-F238E27FC236}">
                <a16:creationId xmlns="" xmlns:a16="http://schemas.microsoft.com/office/drawing/2014/main" id="{FC28A863-5B0F-9BCA-A385-49253AD43076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83600" y="415175"/>
            <a:ext cx="1974051" cy="300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roup 2">
            <a:extLst>
              <a:ext uri="{FF2B5EF4-FFF2-40B4-BE49-F238E27FC236}">
                <a16:creationId xmlns="" xmlns:a16="http://schemas.microsoft.com/office/drawing/2014/main" id="{D7D09F3A-36FC-0746-667D-6B93C1215C86}"/>
              </a:ext>
            </a:extLst>
          </p:cNvPr>
          <p:cNvGrpSpPr/>
          <p:nvPr userDrawn="1"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4" name="Rectangle 3">
              <a:extLst>
                <a:ext uri="{FF2B5EF4-FFF2-40B4-BE49-F238E27FC236}">
                  <a16:creationId xmlns="" xmlns:a16="http://schemas.microsoft.com/office/drawing/2014/main" id="{778F927E-55A4-6336-27F0-54CC04169F90}"/>
                </a:ext>
              </a:extLst>
            </p:cNvPr>
            <p:cNvSpPr/>
            <p:nvPr userDrawn="1"/>
          </p:nvSpPr>
          <p:spPr>
            <a:xfrm>
              <a:off x="0" y="0"/>
              <a:ext cx="9144000" cy="514350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="" xmlns:a16="http://schemas.microsoft.com/office/drawing/2014/main" id="{5E7FB4EA-C9D5-7BAD-842D-836A077342B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874641"/>
              <a:ext cx="9144000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1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37051" y="168324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068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16000" y="216000"/>
            <a:ext cx="1507681" cy="64799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6E59EC21-A6EB-AA16-2565-465E8F414E64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ctr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pen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cribd.com/doc/17914883/US-Federal-Cloud-Computing-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55589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</a:p>
          <a:p>
            <a:pPr algn="ctr"/>
            <a:r>
              <a:rPr lang="en-I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Cloud -Types</a:t>
            </a:r>
            <a:endParaRPr lang="en-IN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7086" y="928915"/>
            <a:ext cx="89045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N" dirty="0" smtClean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7086" y="928914"/>
            <a:ext cx="8904513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 algn="just">
              <a:buFont typeface="Arial" panose="020B0604020202020204" pitchFamily="34" charset="0"/>
              <a:buChar char="•"/>
              <a:defRPr/>
            </a:pPr>
            <a:r>
              <a:rPr lang="en-US" alt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 has </a:t>
            </a:r>
            <a:r>
              <a:rPr lang="en-US" alt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distinct sets of models</a:t>
            </a:r>
            <a:r>
              <a:rPr lang="en-US" alt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16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NSIT, Cloud Cube Model</a:t>
            </a:r>
          </a:p>
          <a:p>
            <a:pPr lvl="1" algn="just">
              <a:defRPr/>
            </a:pPr>
            <a:r>
              <a:rPr lang="en-US" altLang="en-US" sz="16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Deployment </a:t>
            </a:r>
            <a:r>
              <a:rPr lang="en-US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models: </a:t>
            </a:r>
            <a:endParaRPr lang="en-US" altLang="en-US" sz="16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1" indent="-285750" algn="just">
              <a:buFont typeface="Arial" panose="020B0604020202020204" pitchFamily="34" charset="0"/>
              <a:buChar char="•"/>
              <a:defRPr/>
            </a:pPr>
            <a:r>
              <a:rPr lang="en-US" alt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US" alt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refers to the location and management of the </a:t>
            </a:r>
            <a:r>
              <a:rPr lang="en-US" alt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cloud’s infrastructure.</a:t>
            </a:r>
          </a:p>
          <a:p>
            <a:pPr lvl="1" algn="just">
              <a:defRPr/>
            </a:pPr>
            <a:r>
              <a:rPr lang="en-US" altLang="en-US" sz="16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 </a:t>
            </a:r>
            <a:r>
              <a:rPr lang="en-US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  <a:r>
              <a:rPr lang="en-US" altLang="en-US" sz="16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lvl="1" indent="-285750" algn="just">
              <a:buFont typeface="Arial" panose="020B0604020202020204" pitchFamily="34" charset="0"/>
              <a:buChar char="•"/>
              <a:defRPr/>
            </a:pPr>
            <a:r>
              <a:rPr lang="en-US" alt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consists of the particular types of services that you can access on </a:t>
            </a:r>
            <a:r>
              <a:rPr lang="en-US" alt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cloud </a:t>
            </a:r>
            <a:r>
              <a:rPr lang="en-US" alt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computing platform</a:t>
            </a:r>
            <a:r>
              <a:rPr lang="en-US" alt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 algn="just">
              <a:defRPr/>
            </a:pPr>
            <a:r>
              <a:rPr lang="en-US" altLang="en-US" sz="16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NIST </a:t>
            </a:r>
            <a:r>
              <a:rPr lang="en-US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</a:p>
          <a:p>
            <a:pPr marL="285750" lvl="1" indent="-285750" algn="just">
              <a:buFont typeface="Arial" panose="020B0604020202020204" pitchFamily="34" charset="0"/>
              <a:buChar char="•"/>
              <a:defRPr/>
            </a:pPr>
            <a:r>
              <a:rPr lang="en-US" alt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United States government is a major consumer of computer services and, therefore, one of </a:t>
            </a:r>
            <a:r>
              <a:rPr lang="en-US" alt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major </a:t>
            </a:r>
            <a:r>
              <a:rPr lang="en-US" alt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users of cloud computing networks. </a:t>
            </a:r>
            <a:endParaRPr lang="en-US" altLang="en-US" sz="1600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1" indent="-285750" algn="just">
              <a:buFont typeface="Arial" panose="020B0604020202020204" pitchFamily="34" charset="0"/>
              <a:buChar char="•"/>
              <a:defRPr/>
            </a:pPr>
            <a:r>
              <a:rPr lang="en-US" altLang="en-US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U.S. National Institute of Standards and </a:t>
            </a:r>
            <a:r>
              <a:rPr lang="en-US" altLang="en-US" sz="1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(NIST</a:t>
            </a:r>
            <a:r>
              <a:rPr lang="en-US" altLang="en-US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 a set of working definitions </a:t>
            </a:r>
            <a:r>
              <a:rPr lang="en-US" altLang="en-US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(http://</a:t>
            </a:r>
            <a:r>
              <a:rPr lang="en-US" altLang="en-US" sz="1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csrc.nist.gov/groups/SNS/cloud-computing/cloud-def-v15.doc</a:t>
            </a:r>
            <a:r>
              <a:rPr lang="en-US" altLang="en-US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that separate cloud computing into service models </a:t>
            </a:r>
            <a:r>
              <a:rPr lang="en-US" altLang="en-US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deployment </a:t>
            </a:r>
            <a:r>
              <a:rPr lang="en-US" alt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models. </a:t>
            </a:r>
            <a:endParaRPr lang="en-US" altLang="en-US" sz="16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1" indent="-285750" algn="just">
              <a:buFont typeface="Arial" panose="020B0604020202020204" pitchFamily="34" charset="0"/>
              <a:buChar char="•"/>
              <a:defRPr/>
            </a:pPr>
            <a:endParaRPr lang="en-US" altLang="en-US" sz="16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1" indent="-285750" algn="just">
              <a:buFont typeface="Arial" panose="020B0604020202020204" pitchFamily="34" charset="0"/>
              <a:buChar char="•"/>
              <a:defRPr/>
            </a:pPr>
            <a:r>
              <a:rPr lang="en-US" altLang="en-US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NIST model originally did not require a cloud to use virtualization to pool resources, nor did </a:t>
            </a:r>
            <a:r>
              <a:rPr lang="en-US" altLang="en-US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absolutely </a:t>
            </a:r>
            <a:r>
              <a:rPr lang="en-US" alt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 that a cloud support multi-tenancy in the earliest definitions of cloud computing</a:t>
            </a:r>
            <a:r>
              <a:rPr lang="en-US" altLang="en-US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lvl="1" indent="-285750" algn="just">
              <a:buFont typeface="Arial" panose="020B0604020202020204" pitchFamily="34" charset="0"/>
              <a:buChar char="•"/>
              <a:defRPr/>
            </a:pPr>
            <a:r>
              <a:rPr lang="en-US" altLang="en-US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Multi-tenancy </a:t>
            </a:r>
            <a:r>
              <a:rPr lang="en-US" alt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the sharing of resources among two or more clients. </a:t>
            </a:r>
            <a:r>
              <a:rPr lang="en-US" altLang="en-US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latest version of the </a:t>
            </a:r>
            <a:r>
              <a:rPr lang="en-US" altLang="en-US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NIST definition </a:t>
            </a:r>
            <a:r>
              <a:rPr lang="en-US" alt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does require that cloud computing networks use virtualization and support </a:t>
            </a:r>
            <a:r>
              <a:rPr lang="en-US" altLang="en-US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multi-tenancy.</a:t>
            </a:r>
            <a:endParaRPr lang="en-US" alt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55575" y="1016000"/>
            <a:ext cx="883602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16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utoShape 4" descr="Virtualization Cloud Model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6156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55589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</a:p>
          <a:p>
            <a:pPr algn="ctr"/>
            <a:r>
              <a:rPr lang="en-I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Cloud –NSIT Model</a:t>
            </a:r>
            <a:endParaRPr lang="en-IN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7086" y="928915"/>
            <a:ext cx="89045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N" dirty="0" smtClean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7086" y="928914"/>
            <a:ext cx="8904513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 algn="just">
              <a:buFont typeface="Arial" panose="020B0604020202020204" pitchFamily="34" charset="0"/>
              <a:buChar char="•"/>
              <a:defRPr/>
            </a:pPr>
            <a:r>
              <a:rPr lang="en-US" alt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NIST cloud </a:t>
            </a:r>
            <a:r>
              <a:rPr lang="en-US" alt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doesn’t </a:t>
            </a:r>
            <a:r>
              <a:rPr lang="en-US" alt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address a number of intermediary services such as transaction or service brokers, </a:t>
            </a:r>
            <a:r>
              <a:rPr lang="en-US" alt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provisioning</a:t>
            </a:r>
            <a:r>
              <a:rPr lang="en-US" alt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integration, and interoperability services that form the basis for many cloud </a:t>
            </a:r>
            <a:r>
              <a:rPr lang="en-US" alt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computing discussions.</a:t>
            </a:r>
          </a:p>
          <a:p>
            <a:pPr marL="285750" lvl="1" indent="-285750" algn="just">
              <a:buFont typeface="Arial" panose="020B0604020202020204" pitchFamily="34" charset="0"/>
              <a:buChar char="•"/>
              <a:defRPr/>
            </a:pPr>
            <a:endParaRPr lang="en-US" alt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1" indent="-285750" algn="just">
              <a:buFont typeface="Arial" panose="020B0604020202020204" pitchFamily="34" charset="0"/>
              <a:buChar char="•"/>
              <a:defRPr/>
            </a:pPr>
            <a:endParaRPr lang="en-US" alt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55575" y="1016000"/>
            <a:ext cx="883602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16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utoShape 4" descr="Virtualization Cloud Model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8233" y="1931560"/>
            <a:ext cx="6173717" cy="2869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31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55589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</a:p>
          <a:p>
            <a:pPr algn="ctr"/>
            <a:r>
              <a:rPr lang="en-I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Cloud Cube Model</a:t>
            </a:r>
            <a:endParaRPr lang="en-IN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7086" y="928915"/>
            <a:ext cx="89045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N" dirty="0" smtClean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7086" y="928914"/>
            <a:ext cx="8904513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 algn="just">
              <a:buFont typeface="Arial" panose="020B0604020202020204" pitchFamily="34" charset="0"/>
              <a:buChar char="•"/>
              <a:defRPr/>
            </a:pPr>
            <a:r>
              <a:rPr lang="en-US" alt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Open </a:t>
            </a:r>
            <a:r>
              <a:rPr lang="en-US" alt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maintains an association called the Jericho Forum (</a:t>
            </a:r>
            <a:r>
              <a:rPr lang="en-US" alt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</a:t>
            </a:r>
            <a:r>
              <a:rPr lang="en-US" alt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www.open</a:t>
            </a:r>
            <a:r>
              <a:rPr lang="en-US" alt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group.org/</a:t>
            </a:r>
            <a:r>
              <a:rPr lang="en-US" altLang="en-US" sz="160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jericho</a:t>
            </a:r>
            <a:r>
              <a:rPr lang="en-US" alt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/index.htm</a:t>
            </a:r>
            <a:r>
              <a:rPr lang="en-US" alt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whose main focus is how to protect cloud networks</a:t>
            </a:r>
            <a:r>
              <a:rPr lang="en-US" alt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lvl="1" indent="-285750" algn="just">
              <a:buFont typeface="Arial" panose="020B0604020202020204" pitchFamily="34" charset="0"/>
              <a:buChar char="•"/>
              <a:defRPr/>
            </a:pPr>
            <a:r>
              <a:rPr lang="en-US" alt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group </a:t>
            </a:r>
            <a:r>
              <a:rPr lang="en-US" alt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 an interesting model that attempts to categorize a cloud network based on four </a:t>
            </a:r>
            <a:r>
              <a:rPr lang="en-US" altLang="en-US" sz="160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dimen</a:t>
            </a:r>
            <a:r>
              <a:rPr lang="en-US" alt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  </a:t>
            </a:r>
            <a:r>
              <a:rPr lang="en-US" altLang="en-US" sz="160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sional</a:t>
            </a:r>
            <a:r>
              <a:rPr lang="en-US" alt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factors</a:t>
            </a:r>
            <a:r>
              <a:rPr lang="en-US" alt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lvl="1" indent="-285750" algn="just">
              <a:buFont typeface="Arial" panose="020B0604020202020204" pitchFamily="34" charset="0"/>
              <a:buChar char="•"/>
              <a:defRPr/>
            </a:pPr>
            <a:r>
              <a:rPr lang="en-US" alt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Paper-</a:t>
            </a:r>
            <a:r>
              <a:rPr lang="en-US" altLang="en-US" sz="16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“Cloud </a:t>
            </a:r>
            <a:r>
              <a:rPr lang="en-US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Cube Model: </a:t>
            </a:r>
            <a:r>
              <a:rPr lang="en-US" alt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Selecting Cloud Formations </a:t>
            </a:r>
            <a:r>
              <a:rPr lang="en-US" alt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Secure </a:t>
            </a:r>
            <a:r>
              <a:rPr lang="en-US" alt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Collaboration” </a:t>
            </a:r>
            <a:r>
              <a:rPr lang="en-US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(http://</a:t>
            </a:r>
            <a:r>
              <a:rPr lang="en-US" altLang="en-US" sz="16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www.opengroup.org/jericho/cloud_cube_model_v1.0.pdf</a:t>
            </a:r>
            <a:r>
              <a:rPr lang="en-US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alt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type of cloud networks you use dramatically changes the notion of where </a:t>
            </a:r>
            <a:r>
              <a:rPr lang="en-US" alt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boundary </a:t>
            </a:r>
            <a:r>
              <a:rPr lang="en-US" alt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between the client’s network and the cloud begins and ends</a:t>
            </a:r>
            <a:r>
              <a:rPr lang="en-US" alt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 algn="just">
              <a:defRPr/>
            </a:pPr>
            <a:r>
              <a:rPr lang="en-US" altLang="en-US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four dimensions of the </a:t>
            </a:r>
            <a:r>
              <a:rPr lang="en-US" altLang="en-US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 Cube Model </a:t>
            </a:r>
            <a:r>
              <a:rPr lang="en-US" altLang="en-US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are:</a:t>
            </a:r>
          </a:p>
          <a:p>
            <a:pPr marL="285750" lvl="1" indent="-285750" algn="just">
              <a:buFont typeface="Arial" panose="020B0604020202020204" pitchFamily="34" charset="0"/>
              <a:buChar char="•"/>
              <a:defRPr/>
            </a:pPr>
            <a:r>
              <a:rPr lang="en-US" altLang="en-US" sz="1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 </a:t>
            </a:r>
            <a:r>
              <a:rPr lang="en-US" altLang="en-US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location of the data: </a:t>
            </a:r>
            <a:r>
              <a:rPr lang="en-US" alt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Internal (I) / External (E) determines your </a:t>
            </a:r>
            <a:r>
              <a:rPr lang="en-US" altLang="en-US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organization’s boundaries</a:t>
            </a:r>
            <a:r>
              <a:rPr lang="en-US" alt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lvl="1" indent="-285750" algn="just">
              <a:buFont typeface="Arial" panose="020B0604020202020204" pitchFamily="34" charset="0"/>
              <a:buChar char="•"/>
              <a:defRPr/>
            </a:pPr>
            <a:r>
              <a:rPr lang="en-US" altLang="en-US" sz="1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Ownership</a:t>
            </a:r>
            <a:r>
              <a:rPr lang="en-US" altLang="en-US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Proprietary (P) / Open (O) is a measure of not only the technology </a:t>
            </a:r>
            <a:r>
              <a:rPr lang="en-US" altLang="en-US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ownership, but </a:t>
            </a:r>
            <a:r>
              <a:rPr lang="en-US" alt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interoperability, ease of data transfer, and degree of vendor application </a:t>
            </a:r>
            <a:r>
              <a:rPr lang="en-US" altLang="en-US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lock-in.</a:t>
            </a:r>
          </a:p>
          <a:p>
            <a:pPr marL="285750" lvl="1" indent="-285750" algn="just">
              <a:buFont typeface="Arial" panose="020B0604020202020204" pitchFamily="34" charset="0"/>
              <a:buChar char="•"/>
              <a:defRPr/>
            </a:pPr>
            <a:r>
              <a:rPr lang="en-US" altLang="en-US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 boundary</a:t>
            </a:r>
            <a:r>
              <a:rPr lang="en-US" alt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16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Perimeterised</a:t>
            </a:r>
            <a:r>
              <a:rPr lang="en-US" alt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(Per) / De-</a:t>
            </a:r>
            <a:r>
              <a:rPr lang="en-US" altLang="en-US" sz="16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perimiterised</a:t>
            </a:r>
            <a:r>
              <a:rPr lang="en-US" alt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(D-p) is a measure of </a:t>
            </a:r>
            <a:r>
              <a:rPr lang="en-US" altLang="en-US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whether the </a:t>
            </a:r>
            <a:r>
              <a:rPr lang="en-US" alt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 is inside or outside the security boundary or network firewall.</a:t>
            </a:r>
          </a:p>
          <a:p>
            <a:pPr marL="285750" lvl="1" indent="-285750" algn="just">
              <a:buFont typeface="Arial" panose="020B0604020202020204" pitchFamily="34" charset="0"/>
              <a:buChar char="•"/>
              <a:defRPr/>
            </a:pPr>
            <a:r>
              <a:rPr lang="en-US" altLang="en-US" sz="1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Sourcing</a:t>
            </a:r>
            <a:r>
              <a:rPr lang="en-US" altLang="en-US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Insourced or Outsourced means whether the service is provided by the </a:t>
            </a:r>
            <a:r>
              <a:rPr lang="en-US" altLang="en-US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</a:t>
            </a:r>
            <a:r>
              <a:rPr lang="en-US" alt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 the service provider.</a:t>
            </a:r>
          </a:p>
          <a:p>
            <a:pPr marL="285750" lvl="1" indent="-285750" algn="just">
              <a:buFont typeface="Arial" panose="020B0604020202020204" pitchFamily="34" charset="0"/>
              <a:buChar char="•"/>
              <a:defRPr/>
            </a:pPr>
            <a:endParaRPr lang="en-US" alt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1" indent="-285750" algn="just">
              <a:buFont typeface="Arial" panose="020B0604020202020204" pitchFamily="34" charset="0"/>
              <a:buChar char="•"/>
              <a:defRPr/>
            </a:pPr>
            <a:endParaRPr lang="en-US" alt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1" indent="-285750" algn="just">
              <a:buFont typeface="Arial" panose="020B0604020202020204" pitchFamily="34" charset="0"/>
              <a:buChar char="•"/>
              <a:defRPr/>
            </a:pPr>
            <a:endParaRPr lang="en-US" alt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55575" y="1016000"/>
            <a:ext cx="883602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16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utoShape 4" descr="Virtualization Cloud Model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14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55589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</a:p>
          <a:p>
            <a:pPr algn="ctr"/>
            <a:r>
              <a:rPr lang="en-I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Cloud Cube Model</a:t>
            </a:r>
            <a:endParaRPr lang="en-IN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7086" y="928915"/>
            <a:ext cx="89045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N" dirty="0" smtClean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7086" y="928914"/>
            <a:ext cx="890451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 algn="just">
              <a:buFont typeface="Arial" panose="020B0604020202020204" pitchFamily="34" charset="0"/>
              <a:buChar char="•"/>
              <a:defRPr/>
            </a:pPr>
            <a:endParaRPr lang="en-US" alt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1" indent="-285750" algn="just">
              <a:buFont typeface="Arial" panose="020B0604020202020204" pitchFamily="34" charset="0"/>
              <a:buChar char="•"/>
              <a:defRPr/>
            </a:pPr>
            <a:endParaRPr lang="en-US" alt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1" indent="-285750" algn="just">
              <a:buFont typeface="Arial" panose="020B0604020202020204" pitchFamily="34" charset="0"/>
              <a:buChar char="•"/>
              <a:defRPr/>
            </a:pPr>
            <a:endParaRPr lang="en-US" alt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55575" y="1016000"/>
            <a:ext cx="883602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16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utoShape 4" descr="Virtualization Cloud Model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75" y="1016000"/>
            <a:ext cx="5102226" cy="32921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57800" y="1344412"/>
            <a:ext cx="367029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fourth dimension corresponds to two different states in the eight </a:t>
            </a:r>
            <a:r>
              <a:rPr 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possible cloud forms</a:t>
            </a:r>
          </a:p>
          <a:p>
            <a:pPr algn="just"/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16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 </a:t>
            </a:r>
            <a:r>
              <a:rPr lang="en-US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(IP, IO, EP, EO</a:t>
            </a:r>
            <a:r>
              <a:rPr lang="en-US" sz="16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/>
            <a:r>
              <a:rPr lang="en-US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and D-  p </a:t>
            </a:r>
            <a:r>
              <a:rPr lang="en-US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(IP, IO, EP, EO). </a:t>
            </a:r>
            <a:endParaRPr lang="en-US" sz="16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sourcing dimension addresses </a:t>
            </a:r>
            <a:r>
              <a:rPr 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deliverer </a:t>
            </a: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the service. </a:t>
            </a:r>
            <a:endParaRPr lang="en-US" sz="1600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</a:t>
            </a:r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Cloud Cube Model is meant to show is that the traditional </a:t>
            </a:r>
            <a:r>
              <a:rPr lang="en-US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notion of </a:t>
            </a:r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network boundary being the network’s firewall no longer applies in cloud computing.</a:t>
            </a:r>
            <a:endParaRPr lang="en-IN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4930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55589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</a:p>
          <a:p>
            <a:pPr algn="ctr"/>
            <a:r>
              <a:rPr lang="en-I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Deployment </a:t>
            </a:r>
            <a:r>
              <a:rPr lang="en-I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  <a:endParaRPr lang="en-IN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7086" y="928915"/>
            <a:ext cx="89045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N" dirty="0" smtClean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7086" y="928914"/>
            <a:ext cx="890451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 algn="just">
              <a:buFont typeface="Arial" panose="020B0604020202020204" pitchFamily="34" charset="0"/>
              <a:buChar char="•"/>
              <a:defRPr/>
            </a:pPr>
            <a:endParaRPr lang="en-US" alt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1" indent="-285750" algn="just">
              <a:buFont typeface="Arial" panose="020B0604020202020204" pitchFamily="34" charset="0"/>
              <a:buChar char="•"/>
              <a:defRPr/>
            </a:pPr>
            <a:endParaRPr lang="en-US" alt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1" indent="-285750" algn="just">
              <a:buFont typeface="Arial" panose="020B0604020202020204" pitchFamily="34" charset="0"/>
              <a:buChar char="•"/>
              <a:defRPr/>
            </a:pPr>
            <a:endParaRPr lang="en-US" alt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55575" y="1016000"/>
            <a:ext cx="883602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16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utoShape 4" descr="Virtualization Cloud Model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87086" y="1015999"/>
            <a:ext cx="8841013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deployment model defines the purpose of the cloud and the nature of how the cloud is located.</a:t>
            </a:r>
          </a:p>
          <a:p>
            <a:pPr algn="just"/>
            <a:r>
              <a:rPr 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NIST definition for the </a:t>
            </a:r>
            <a:r>
              <a:rPr lang="en-US" sz="16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four deployment models:</a:t>
            </a:r>
            <a:endParaRPr lang="en-US" sz="1600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1600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cloud: </a:t>
            </a:r>
            <a:r>
              <a:rPr 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public cloud infrastructure is available for public use alternatively for a large industry group and is owned by an organization selling cloud services.</a:t>
            </a:r>
          </a:p>
          <a:p>
            <a:pPr algn="just"/>
            <a:endParaRPr lang="en-US" sz="1600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Private cloud: </a:t>
            </a:r>
            <a:r>
              <a:rPr 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private cloud infrastructure is operated for the exclusive use of an organization. The cloud may be managed by that organization or a third party. Private clouds may be either on- or off-premises.</a:t>
            </a:r>
          </a:p>
          <a:p>
            <a:pPr algn="just"/>
            <a:endParaRPr lang="en-US" sz="1600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Hybrid cloud: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hybrid cloud combines multiple clouds (private, community of public) where those clouds retain their unique identities, but are bound together as a unit.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Hybrid cloud may offer standardized or proprietary access to data and applications, as well as application portability.</a:t>
            </a:r>
          </a:p>
        </p:txBody>
      </p:sp>
    </p:spTree>
    <p:extLst>
      <p:ext uri="{BB962C8B-B14F-4D97-AF65-F5344CB8AC3E}">
        <p14:creationId xmlns:p14="http://schemas.microsoft.com/office/powerpoint/2010/main" val="4006112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55589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</a:p>
          <a:p>
            <a:pPr algn="ctr"/>
            <a:r>
              <a:rPr lang="en-I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Deployment </a:t>
            </a:r>
            <a:r>
              <a:rPr lang="en-I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  <a:endParaRPr lang="en-IN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7086" y="928915"/>
            <a:ext cx="89045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N" dirty="0" smtClean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7086" y="928914"/>
            <a:ext cx="890451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 algn="just">
              <a:buFont typeface="Arial" panose="020B0604020202020204" pitchFamily="34" charset="0"/>
              <a:buChar char="•"/>
              <a:defRPr/>
            </a:pPr>
            <a:endParaRPr lang="en-US" alt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1" indent="-285750" algn="just">
              <a:buFont typeface="Arial" panose="020B0604020202020204" pitchFamily="34" charset="0"/>
              <a:buChar char="•"/>
              <a:defRPr/>
            </a:pPr>
            <a:endParaRPr lang="en-US" alt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1" indent="-285750" algn="just">
              <a:buFont typeface="Arial" panose="020B0604020202020204" pitchFamily="34" charset="0"/>
              <a:buChar char="•"/>
              <a:defRPr/>
            </a:pPr>
            <a:endParaRPr lang="en-US" alt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55575" y="1016000"/>
            <a:ext cx="883602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16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utoShape 4" descr="Virtualization Cloud Model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87086" y="1015999"/>
            <a:ext cx="884101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Community  Cloud: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one where the cloud has been organized </a:t>
            </a:r>
            <a:r>
              <a:rPr 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serve </a:t>
            </a: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common function or purpose.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may be for one organization or for several organizations, but they share common </a:t>
            </a:r>
            <a:r>
              <a:rPr 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concerns </a:t>
            </a: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such as their mission, policies, security, regulatory compliance needs, and so on. </a:t>
            </a:r>
            <a:endParaRPr lang="en-US" sz="1600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community </a:t>
            </a:r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 may be managed by the constituent organization(s) or by a third party</a:t>
            </a:r>
            <a:r>
              <a:rPr lang="en-US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1600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0" y="2400300"/>
            <a:ext cx="5245100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764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55589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</a:p>
          <a:p>
            <a:pPr algn="ctr"/>
            <a:r>
              <a:rPr lang="en-I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Deployment </a:t>
            </a:r>
            <a:r>
              <a:rPr lang="en-I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  <a:endParaRPr lang="en-IN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7086" y="928915"/>
            <a:ext cx="89045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N" dirty="0" smtClean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7086" y="928914"/>
            <a:ext cx="890451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 algn="just">
              <a:buFont typeface="Arial" panose="020B0604020202020204" pitchFamily="34" charset="0"/>
              <a:buChar char="•"/>
              <a:defRPr/>
            </a:pPr>
            <a:endParaRPr lang="en-US" alt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1" indent="-285750" algn="just">
              <a:buFont typeface="Arial" panose="020B0604020202020204" pitchFamily="34" charset="0"/>
              <a:buChar char="•"/>
              <a:defRPr/>
            </a:pPr>
            <a:endParaRPr lang="en-US" alt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1" indent="-285750" algn="just">
              <a:buFont typeface="Arial" panose="020B0604020202020204" pitchFamily="34" charset="0"/>
              <a:buChar char="•"/>
              <a:defRPr/>
            </a:pPr>
            <a:endParaRPr lang="en-US" alt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55575" y="1016000"/>
            <a:ext cx="883602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16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utoShape 4" descr="Virtualization Cloud Model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87086" y="1015999"/>
            <a:ext cx="8841013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Community  </a:t>
            </a:r>
            <a:r>
              <a:rPr lang="en-US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</a:t>
            </a:r>
            <a:r>
              <a:rPr lang="en-US" sz="16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/>
            <a:endParaRPr lang="en-US" sz="16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United States Government, under the auspices of the General Services Administrator (GSA</a:t>
            </a:r>
            <a:r>
              <a:rPr 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launched </a:t>
            </a: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cloud computing portal called </a:t>
            </a:r>
            <a:r>
              <a:rPr 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Apps.gov.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 </a:t>
            </a:r>
            <a:r>
              <a:rPr 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providing </a:t>
            </a: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 services to federal agencies. Described under the “U.S. Federal Cloud Computing  i</a:t>
            </a:r>
            <a:r>
              <a:rPr 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nitiative </a:t>
            </a:r>
            <a:r>
              <a:rPr lang="en-US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http://</a:t>
            </a:r>
            <a:r>
              <a:rPr lang="en-US" sz="16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www.scribd.com/doc/17914883/US-Federal-Cloud-Computing-</a:t>
            </a:r>
            <a:r>
              <a:rPr lang="en-US" sz="16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Initiative-RFQ-GSA).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 </a:t>
            </a:r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 of the initiative is to make large portions of the federal </a:t>
            </a:r>
            <a:r>
              <a:rPr lang="en-US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govern- </a:t>
            </a:r>
            <a:r>
              <a:rPr lang="en-US" sz="16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ment’s</a:t>
            </a:r>
            <a:r>
              <a:rPr lang="en-US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apparatus </a:t>
            </a:r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available under a cloud computing model. </a:t>
            </a:r>
            <a:endParaRPr lang="en-US" sz="16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a good example of a </a:t>
            </a:r>
            <a:r>
              <a:rPr lang="en-US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community cloud </a:t>
            </a:r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deployment, with the government being the community.</a:t>
            </a:r>
            <a:endParaRPr lang="en-US" sz="16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41394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55589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</a:p>
          <a:p>
            <a:pPr algn="ctr"/>
            <a:r>
              <a:rPr lang="en-I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Deployment </a:t>
            </a:r>
            <a:r>
              <a:rPr lang="en-I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  <a:endParaRPr lang="en-IN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7086" y="928915"/>
            <a:ext cx="89045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N" dirty="0" smtClean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7086" y="928914"/>
            <a:ext cx="890451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 algn="just">
              <a:buFont typeface="Arial" panose="020B0604020202020204" pitchFamily="34" charset="0"/>
              <a:buChar char="•"/>
              <a:defRPr/>
            </a:pPr>
            <a:endParaRPr lang="en-US" alt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1" indent="-285750" algn="just">
              <a:buFont typeface="Arial" panose="020B0604020202020204" pitchFamily="34" charset="0"/>
              <a:buChar char="•"/>
              <a:defRPr/>
            </a:pPr>
            <a:endParaRPr lang="en-US" alt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1" indent="-285750" algn="just">
              <a:buFont typeface="Arial" panose="020B0604020202020204" pitchFamily="34" charset="0"/>
              <a:buChar char="•"/>
              <a:defRPr/>
            </a:pPr>
            <a:endParaRPr lang="en-US" alt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55575" y="1016000"/>
            <a:ext cx="883602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16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utoShape 4" descr="Virtualization Cloud Model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87086" y="1015999"/>
            <a:ext cx="88410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185276"/>
            <a:ext cx="8229600" cy="3691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4632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55589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</a:p>
          <a:p>
            <a:pPr algn="ctr"/>
            <a:r>
              <a:rPr lang="en-I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Service Models</a:t>
            </a:r>
            <a:endParaRPr lang="en-IN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7086" y="928915"/>
            <a:ext cx="89045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N" dirty="0" smtClean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7086" y="928914"/>
            <a:ext cx="890451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 algn="just">
              <a:buFont typeface="Arial" panose="020B0604020202020204" pitchFamily="34" charset="0"/>
              <a:buChar char="•"/>
              <a:defRPr/>
            </a:pPr>
            <a:endParaRPr lang="en-US" alt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1" indent="-285750" algn="just">
              <a:buFont typeface="Arial" panose="020B0604020202020204" pitchFamily="34" charset="0"/>
              <a:buChar char="•"/>
              <a:defRPr/>
            </a:pPr>
            <a:endParaRPr lang="en-US" alt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1" indent="-285750" algn="just">
              <a:buFont typeface="Arial" panose="020B0604020202020204" pitchFamily="34" charset="0"/>
              <a:buChar char="•"/>
              <a:defRPr/>
            </a:pPr>
            <a:endParaRPr lang="en-US" alt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55575" y="1016000"/>
            <a:ext cx="883602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16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utoShape 4" descr="Virtualization Cloud Model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55574" y="1016000"/>
            <a:ext cx="8766176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 </a:t>
            </a:r>
            <a:r>
              <a:rPr lang="en-I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 developed, different vendors offer clouds that have different services associated </a:t>
            </a:r>
            <a:r>
              <a:rPr lang="en-IN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them.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</a:t>
            </a:r>
            <a:r>
              <a:rPr lang="en-I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many different service models described in the literature, all of which take the </a:t>
            </a:r>
            <a:r>
              <a:rPr lang="en-IN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following form: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XaaS</a:t>
            </a:r>
            <a:r>
              <a:rPr lang="en-I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or “&lt;Something&gt; as a Service”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Three </a:t>
            </a:r>
            <a:r>
              <a:rPr lang="en-I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 types have been universally accepted</a:t>
            </a:r>
            <a:r>
              <a:rPr lang="en-IN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/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Infrastructure 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a </a:t>
            </a:r>
            <a:r>
              <a:rPr 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 (</a:t>
            </a: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IaaS)</a:t>
            </a:r>
            <a:r>
              <a:rPr 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IaaS 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 virtual machines, virtual storage, virtual </a:t>
            </a: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infrastructure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other hardware assets as resources that clients can provision</a:t>
            </a: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IaaS service provider manages all the infrastructure, while the client is responsible </a:t>
            </a: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all 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 aspects of the deployment. This can include the operating system, </a:t>
            </a: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applications, and 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interactions with the </a:t>
            </a: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20582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55589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</a:p>
          <a:p>
            <a:pPr algn="ctr"/>
            <a:r>
              <a:rPr lang="en-I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Cloud Deployment Models</a:t>
            </a:r>
            <a:endParaRPr lang="en-IN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7086" y="928915"/>
            <a:ext cx="890451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55573" y="928914"/>
            <a:ext cx="883602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>
              <a:defRPr/>
            </a:pPr>
            <a:endParaRPr lang="en-US" alt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1" indent="-285750" algn="just">
              <a:buFont typeface="Arial" panose="020B0604020202020204" pitchFamily="34" charset="0"/>
              <a:buChar char="•"/>
              <a:defRPr/>
            </a:pPr>
            <a:endParaRPr lang="en-US" alt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55575" y="1016000"/>
            <a:ext cx="883602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16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utoShape 4" descr="Virtualization Cloud Model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87086" y="882650"/>
            <a:ext cx="883466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IN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55573" y="928913"/>
            <a:ext cx="883466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22250" y="1015999"/>
            <a:ext cx="86995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Public Cloud 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267467"/>
            <a:ext cx="3724275" cy="3031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Private Cloud 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4713" y="1236692"/>
            <a:ext cx="3798887" cy="2998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47612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55589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</a:p>
          <a:p>
            <a:pPr algn="ctr"/>
            <a:r>
              <a:rPr lang="en-I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Cloud Deployment Models</a:t>
            </a:r>
            <a:endParaRPr lang="en-IN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7086" y="928915"/>
            <a:ext cx="890451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55573" y="928914"/>
            <a:ext cx="883602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>
              <a:defRPr/>
            </a:pPr>
            <a:endParaRPr lang="en-US" alt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1" indent="-285750" algn="just">
              <a:buFont typeface="Arial" panose="020B0604020202020204" pitchFamily="34" charset="0"/>
              <a:buChar char="•"/>
              <a:defRPr/>
            </a:pPr>
            <a:endParaRPr lang="en-US" alt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55575" y="1016000"/>
            <a:ext cx="883602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16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utoShape 4" descr="Virtualization Cloud Model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87086" y="882650"/>
            <a:ext cx="883466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IN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55573" y="928913"/>
            <a:ext cx="883466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22250" y="1015999"/>
            <a:ext cx="86995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0499405"/>
              </p:ext>
            </p:extLst>
          </p:nvPr>
        </p:nvGraphicFramePr>
        <p:xfrm>
          <a:off x="285748" y="1085849"/>
          <a:ext cx="8702676" cy="3713356"/>
        </p:xfrm>
        <a:graphic>
          <a:graphicData uri="http://schemas.openxmlformats.org/drawingml/2006/table">
            <a:tbl>
              <a:tblPr/>
              <a:tblGrid>
                <a:gridCol w="2175669"/>
                <a:gridCol w="2175669"/>
                <a:gridCol w="2175669"/>
                <a:gridCol w="2175669"/>
              </a:tblGrid>
              <a:tr h="191885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9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Factors</a:t>
                      </a:r>
                    </a:p>
                  </a:txBody>
                  <a:tcPr marL="18095" marR="18095" marT="36190" marB="3619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900" b="1" dirty="0">
                          <a:solidFill>
                            <a:srgbClr val="00B0F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Public Cloud</a:t>
                      </a:r>
                    </a:p>
                  </a:txBody>
                  <a:tcPr marL="36190" marR="36190" marT="36190" marB="3619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9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Private Cloud</a:t>
                      </a:r>
                    </a:p>
                  </a:txBody>
                  <a:tcPr marL="36190" marR="36190" marT="36190" marB="3619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900" b="1" dirty="0">
                          <a:solidFill>
                            <a:srgbClr val="92D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 Cloud</a:t>
                      </a:r>
                    </a:p>
                  </a:txBody>
                  <a:tcPr marL="36190" marR="36190" marT="36190" marB="3619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</a:tr>
              <a:tr h="402556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Resources</a:t>
                      </a:r>
                    </a:p>
                  </a:txBody>
                  <a:tcPr marL="36190" marR="36190" marT="50665" marB="50665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dirty="0">
                          <a:solidFill>
                            <a:srgbClr val="00B0F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Resources are shared among multiple customers</a:t>
                      </a:r>
                    </a:p>
                  </a:txBody>
                  <a:tcPr marL="36190" marR="36190" marT="50665" marB="50665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Resources are shared with a single organization</a:t>
                      </a:r>
                    </a:p>
                  </a:txBody>
                  <a:tcPr marL="36190" marR="36190" marT="50665" marB="50665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dirty="0">
                          <a:solidFill>
                            <a:srgbClr val="92D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 is a  combination of public and private clouds. based on the requirement.</a:t>
                      </a:r>
                    </a:p>
                  </a:txBody>
                  <a:tcPr marL="36190" marR="36190" marT="50665" marB="50665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</a:tr>
              <a:tr h="402556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Tenancy</a:t>
                      </a:r>
                    </a:p>
                  </a:txBody>
                  <a:tcPr marL="36190" marR="36190" marT="50665" marB="50665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dirty="0">
                          <a:solidFill>
                            <a:srgbClr val="00B0F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of multiple organizations is stored in the public cloud</a:t>
                      </a:r>
                    </a:p>
                  </a:txBody>
                  <a:tcPr marL="36190" marR="36190" marT="50665" marB="50665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of a single organization is stored in a clouds the public cloud</a:t>
                      </a:r>
                    </a:p>
                  </a:txBody>
                  <a:tcPr marL="36190" marR="36190" marT="50665" marB="50665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dirty="0">
                          <a:solidFill>
                            <a:srgbClr val="92D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is stored in the public cloud, and provide security in the public cloud.</a:t>
                      </a:r>
                    </a:p>
                  </a:txBody>
                  <a:tcPr marL="36190" marR="36190" marT="50665" marB="50665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</a:tr>
              <a:tr h="79451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 Model</a:t>
                      </a:r>
                    </a:p>
                  </a:txBody>
                  <a:tcPr marL="36190" marR="36190" marT="50665" marB="50665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dirty="0">
                          <a:solidFill>
                            <a:srgbClr val="00B0F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 what you used</a:t>
                      </a:r>
                    </a:p>
                  </a:txBody>
                  <a:tcPr marL="36190" marR="36190" marT="50665" marB="50665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Have a variety of pricing models</a:t>
                      </a:r>
                    </a:p>
                  </a:txBody>
                  <a:tcPr marL="36190" marR="36190" marT="50665" marB="50665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dirty="0">
                          <a:solidFill>
                            <a:srgbClr val="92D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 can include a mix of public cloud pay-as-you-go pricing, and private cloud fixed pricing. It has other pricing models such as consumption-based, subscription-based, etc.</a:t>
                      </a:r>
                    </a:p>
                  </a:txBody>
                  <a:tcPr marL="36190" marR="36190" marT="50665" marB="50665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</a:tr>
              <a:tr h="30456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Operated by </a:t>
                      </a:r>
                    </a:p>
                  </a:txBody>
                  <a:tcPr marL="36190" marR="36190" marT="50665" marB="50665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dirty="0">
                          <a:solidFill>
                            <a:srgbClr val="00B0F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Third-party service provider</a:t>
                      </a:r>
                    </a:p>
                  </a:txBody>
                  <a:tcPr marL="36190" marR="36190" marT="50665" marB="50665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Specific  organization </a:t>
                      </a:r>
                    </a:p>
                  </a:txBody>
                  <a:tcPr marL="36190" marR="36190" marT="50665" marB="50665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dirty="0">
                          <a:solidFill>
                            <a:srgbClr val="92D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 be a combination of both</a:t>
                      </a:r>
                    </a:p>
                  </a:txBody>
                  <a:tcPr marL="36190" marR="36190" marT="50665" marB="50665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</a:tr>
              <a:tr h="598534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Scalability and Flexibility</a:t>
                      </a:r>
                    </a:p>
                  </a:txBody>
                  <a:tcPr marL="36190" marR="36190" marT="50665" marB="50665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dirty="0">
                          <a:solidFill>
                            <a:srgbClr val="00B0F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 has more scalability and flexibility,</a:t>
                      </a:r>
                    </a:p>
                  </a:txBody>
                  <a:tcPr marL="36190" marR="36190" marT="50665" marB="50665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 has predictability and consistency</a:t>
                      </a:r>
                    </a:p>
                  </a:txBody>
                  <a:tcPr marL="36190" marR="36190" marT="50665" marB="50665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dirty="0">
                          <a:solidFill>
                            <a:srgbClr val="92D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 has scalability and flexibility by allowing organizations to use a combination of public and private cloud services.</a:t>
                      </a:r>
                    </a:p>
                  </a:txBody>
                  <a:tcPr marL="36190" marR="36190" marT="50665" marB="50665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</a:tr>
              <a:tr h="69652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Expensive</a:t>
                      </a:r>
                    </a:p>
                  </a:txBody>
                  <a:tcPr marL="36190" marR="36190" marT="50665" marB="50665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dirty="0">
                          <a:solidFill>
                            <a:srgbClr val="00B0F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less expensive</a:t>
                      </a:r>
                    </a:p>
                  </a:txBody>
                  <a:tcPr marL="36190" marR="36190" marT="50665" marB="50665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More expensive </a:t>
                      </a:r>
                    </a:p>
                  </a:txBody>
                  <a:tcPr marL="36190" marR="36190" marT="50665" marB="50665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dirty="0">
                          <a:solidFill>
                            <a:srgbClr val="92D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Can be more expensive, but it can also be less expensive , depending on the specific needs and requirements of the organization.</a:t>
                      </a:r>
                    </a:p>
                  </a:txBody>
                  <a:tcPr marL="36190" marR="36190" marT="50665" marB="50665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</a:tr>
              <a:tr h="30456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Availability</a:t>
                      </a:r>
                    </a:p>
                  </a:txBody>
                  <a:tcPr marL="36190" marR="36190" marT="50665" marB="50665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dirty="0">
                          <a:solidFill>
                            <a:srgbClr val="00B0F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general public (over the internet)</a:t>
                      </a:r>
                    </a:p>
                  </a:txBody>
                  <a:tcPr marL="36190" marR="36190" marT="50665" marB="50665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Restricted to a specific organization</a:t>
                      </a:r>
                    </a:p>
                  </a:txBody>
                  <a:tcPr marL="36190" marR="36190" marT="50665" marB="50665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dirty="0">
                          <a:solidFill>
                            <a:srgbClr val="92D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 be a combination of both.</a:t>
                      </a:r>
                    </a:p>
                  </a:txBody>
                  <a:tcPr marL="36190" marR="36190" marT="50665" marB="50665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13089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55589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</a:p>
          <a:p>
            <a:pPr algn="ctr"/>
            <a:r>
              <a:rPr lang="en-I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Service Models</a:t>
            </a:r>
            <a:endParaRPr lang="en-IN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7086" y="928915"/>
            <a:ext cx="89045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N" dirty="0" smtClean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7086" y="928914"/>
            <a:ext cx="890451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 algn="just">
              <a:buFont typeface="Arial" panose="020B0604020202020204" pitchFamily="34" charset="0"/>
              <a:buChar char="•"/>
              <a:defRPr/>
            </a:pPr>
            <a:endParaRPr lang="en-US" alt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1" indent="-285750" algn="just">
              <a:buFont typeface="Arial" panose="020B0604020202020204" pitchFamily="34" charset="0"/>
              <a:buChar char="•"/>
              <a:defRPr/>
            </a:pPr>
            <a:endParaRPr lang="en-US" alt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1" indent="-285750" algn="just">
              <a:buFont typeface="Arial" panose="020B0604020202020204" pitchFamily="34" charset="0"/>
              <a:buChar char="•"/>
              <a:defRPr/>
            </a:pPr>
            <a:endParaRPr lang="en-US" alt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55575" y="1016000"/>
            <a:ext cx="883602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16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utoShape 4" descr="Virtualization Cloud Model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87086" y="882650"/>
            <a:ext cx="8834664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Platform as a </a:t>
            </a:r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 (</a:t>
            </a:r>
            <a:r>
              <a:rPr lang="en-US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Paas</a:t>
            </a:r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</a:p>
          <a:p>
            <a:pPr algn="just"/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PaaS 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 virtual machines, operating systems, </a:t>
            </a: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applications, services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development frameworks, transactions, and control structures.</a:t>
            </a:r>
          </a:p>
          <a:p>
            <a:pPr algn="just"/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 can deploy its applications on the cloud infrastructure or use applications </a:t>
            </a: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were 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programmed using languages and tools that are supported by the PaaS service </a:t>
            </a: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provider.</a:t>
            </a:r>
          </a:p>
          <a:p>
            <a:pPr algn="just"/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 provider manages the cloud infrastructure, the operating systems, </a:t>
            </a: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the 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enabling software. The client is responsible for installing and managing the </a:t>
            </a: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that 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</a:t>
            </a: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deploying.</a:t>
            </a:r>
          </a:p>
          <a:p>
            <a:pPr algn="just"/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a </a:t>
            </a:r>
            <a:r>
              <a:rPr 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 (SaaS )</a:t>
            </a:r>
          </a:p>
          <a:p>
            <a:pPr algn="just"/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complete operating environment with applications, </a:t>
            </a: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management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the user interface</a:t>
            </a: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the SaaS model, the application is provided to the client through a thin client </a:t>
            </a: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 (a 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browser, usually), and the customer’s responsibility begins and ends with entering </a:t>
            </a: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managing 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its data and user interaction. </a:t>
            </a:r>
            <a:endParaRPr lang="en-US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Everything 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the application down to the </a:t>
            </a: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infrastructure 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the vendor’s responsibility.</a:t>
            </a:r>
            <a:endParaRPr lang="en-IN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99404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55589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</a:p>
          <a:p>
            <a:pPr algn="ctr"/>
            <a:r>
              <a:rPr lang="en-I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Service Models</a:t>
            </a:r>
            <a:endParaRPr lang="en-IN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7086" y="928915"/>
            <a:ext cx="89045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N" dirty="0" smtClean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7086" y="928914"/>
            <a:ext cx="890451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 algn="just">
              <a:buFont typeface="Arial" panose="020B0604020202020204" pitchFamily="34" charset="0"/>
              <a:buChar char="•"/>
              <a:defRPr/>
            </a:pPr>
            <a:endParaRPr lang="en-US" alt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1" indent="-285750" algn="just">
              <a:buFont typeface="Arial" panose="020B0604020202020204" pitchFamily="34" charset="0"/>
              <a:buChar char="•"/>
              <a:defRPr/>
            </a:pPr>
            <a:endParaRPr lang="en-US" alt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1" indent="-285750" algn="just">
              <a:buFont typeface="Arial" panose="020B0604020202020204" pitchFamily="34" charset="0"/>
              <a:buChar char="•"/>
              <a:defRPr/>
            </a:pPr>
            <a:endParaRPr lang="en-US" alt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55575" y="1016000"/>
            <a:ext cx="883602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16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utoShape 4" descr="Virtualization Cloud Model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87086" y="882650"/>
            <a:ext cx="883466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IN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55573" y="928913"/>
            <a:ext cx="8834665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 </a:t>
            </a:r>
            <a:r>
              <a:rPr lang="en-IN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three different service models taken together have come to be known as the SPI model </a:t>
            </a:r>
            <a:r>
              <a:rPr lang="en-IN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cloud computing. Many </a:t>
            </a:r>
            <a:r>
              <a:rPr lang="en-IN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 service models have been mentioned: </a:t>
            </a:r>
            <a:r>
              <a:rPr lang="en-IN" sz="16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StaaS</a:t>
            </a:r>
            <a:r>
              <a:rPr lang="en-IN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Storage as a Service</a:t>
            </a:r>
            <a:r>
              <a:rPr lang="en-IN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16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IdaaS</a:t>
            </a:r>
            <a:r>
              <a:rPr lang="en-IN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Identity as a Service; </a:t>
            </a:r>
            <a:r>
              <a:rPr lang="en-IN" sz="160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CmaaS</a:t>
            </a:r>
            <a:r>
              <a:rPr lang="en-IN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Compliance as a Service; and so forth. However, the SPI </a:t>
            </a:r>
            <a:r>
              <a:rPr lang="en-IN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services </a:t>
            </a:r>
            <a:r>
              <a:rPr lang="en-IN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encompass all the other possibilities.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1600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IN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useful to think of cloud computing’s service models in terms of a hardware/software </a:t>
            </a:r>
            <a:r>
              <a:rPr lang="en-IN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stack. One </a:t>
            </a:r>
            <a:r>
              <a:rPr lang="en-IN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such representation called the Cloud Reference </a:t>
            </a:r>
            <a:r>
              <a:rPr lang="en-IN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 </a:t>
            </a:r>
            <a:r>
              <a:rPr lang="en-IN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bottom of </a:t>
            </a:r>
            <a:r>
              <a:rPr lang="en-IN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stack is the hardware or infrastructure that comprises the network. As you move upward </a:t>
            </a:r>
            <a:r>
              <a:rPr lang="en-IN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lang="en-IN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stack, each service model inherits the capabilities of the service model beneath it</a:t>
            </a:r>
            <a:r>
              <a:rPr lang="en-IN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16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IaaS </a:t>
            </a:r>
            <a:r>
              <a:rPr lang="en-IN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 </a:t>
            </a:r>
            <a:r>
              <a:rPr lang="en-IN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least </a:t>
            </a:r>
            <a:r>
              <a:rPr lang="en-IN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levels of integrated functionality and the lowest levels of integration, and SaaS has the </a:t>
            </a:r>
            <a:r>
              <a:rPr lang="en-IN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e</a:t>
            </a:r>
            <a:r>
              <a:rPr lang="en-US" sz="16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xamples</a:t>
            </a:r>
            <a:r>
              <a:rPr lang="en-US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IaaS service providers </a:t>
            </a:r>
            <a:r>
              <a:rPr lang="en-US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include: Amazon </a:t>
            </a:r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Elastic Compute Cloud (EC2</a:t>
            </a:r>
            <a:r>
              <a:rPr lang="en-US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Eucalyptus, </a:t>
            </a:r>
            <a:r>
              <a:rPr lang="en-US" sz="16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GoGrid</a:t>
            </a:r>
            <a:r>
              <a:rPr lang="en-US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6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FlexiScale</a:t>
            </a:r>
            <a:r>
              <a:rPr lang="en-IN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6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Linode</a:t>
            </a:r>
            <a:r>
              <a:rPr lang="en-IN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Rack Space Cloud, </a:t>
            </a:r>
            <a:r>
              <a:rPr lang="en-IN" sz="16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Terremark</a:t>
            </a:r>
            <a:r>
              <a:rPr lang="en-IN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17285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55589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</a:p>
          <a:p>
            <a:pPr algn="ctr"/>
            <a:r>
              <a:rPr lang="en-I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Service Models</a:t>
            </a:r>
            <a:endParaRPr lang="en-IN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7086" y="928915"/>
            <a:ext cx="89045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N" dirty="0" smtClean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7086" y="928914"/>
            <a:ext cx="890451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 algn="just">
              <a:buFont typeface="Arial" panose="020B0604020202020204" pitchFamily="34" charset="0"/>
              <a:buChar char="•"/>
              <a:defRPr/>
            </a:pPr>
            <a:endParaRPr lang="en-US" alt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1" indent="-285750" algn="just">
              <a:buFont typeface="Arial" panose="020B0604020202020204" pitchFamily="34" charset="0"/>
              <a:buChar char="•"/>
              <a:defRPr/>
            </a:pPr>
            <a:endParaRPr lang="en-US" alt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1" indent="-285750" algn="just">
              <a:buFont typeface="Arial" panose="020B0604020202020204" pitchFamily="34" charset="0"/>
              <a:buChar char="•"/>
              <a:defRPr/>
            </a:pPr>
            <a:endParaRPr lang="en-US" alt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55575" y="1016000"/>
            <a:ext cx="883602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16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utoShape 4" descr="Virtualization Cloud Model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87086" y="882650"/>
            <a:ext cx="883466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IN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55573" y="928913"/>
            <a:ext cx="883466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22250" y="1015999"/>
            <a:ext cx="86995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hese </a:t>
            </a:r>
            <a:r>
              <a:rPr lang="en-IN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vendors offer direct access to hardware resources. On Amazon EC2, considered the </a:t>
            </a:r>
            <a:r>
              <a:rPr lang="en-IN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classic </a:t>
            </a:r>
            <a:r>
              <a:rPr lang="en-IN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IaaS example, a client would provision a computer in the form of a virtual machine image, </a:t>
            </a:r>
            <a:r>
              <a:rPr lang="en-IN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provision </a:t>
            </a:r>
            <a:r>
              <a:rPr lang="en-IN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storage, and then go on to install the operating system and applications onto that </a:t>
            </a:r>
            <a:r>
              <a:rPr lang="en-IN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virtual system</a:t>
            </a:r>
            <a:r>
              <a:rPr lang="en-IN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IN" sz="1600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16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Amazon </a:t>
            </a:r>
            <a:r>
              <a:rPr lang="en-IN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 a number of operating systems and some enterprise applications that </a:t>
            </a:r>
            <a:r>
              <a:rPr lang="en-IN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they offer </a:t>
            </a:r>
            <a:r>
              <a:rPr lang="en-IN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a rental basis to customers in the form of a number of canned images, but customers </a:t>
            </a:r>
            <a:r>
              <a:rPr lang="en-IN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free </a:t>
            </a:r>
            <a:r>
              <a:rPr lang="en-IN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install whatever software they want to run. </a:t>
            </a:r>
            <a:endParaRPr lang="en-IN" sz="1600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Amazon’s </a:t>
            </a:r>
            <a:r>
              <a:rPr lang="en-IN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responsibilities as expressed in </a:t>
            </a:r>
            <a:r>
              <a:rPr lang="en-IN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its Service </a:t>
            </a:r>
            <a:r>
              <a:rPr lang="en-IN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Level Agreement, which is published on Amazon’s Web site, contractually obligates </a:t>
            </a:r>
            <a:r>
              <a:rPr lang="en-IN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Amazon to </a:t>
            </a:r>
            <a:r>
              <a:rPr lang="en-IN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 a level of performance commensurate with the type of resource chosen, as well as a </a:t>
            </a:r>
            <a:r>
              <a:rPr lang="en-IN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certain </a:t>
            </a:r>
            <a:r>
              <a:rPr lang="en-IN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level of reliability as measured by the system’s uptime.</a:t>
            </a:r>
          </a:p>
        </p:txBody>
      </p:sp>
    </p:spTree>
    <p:extLst>
      <p:ext uri="{BB962C8B-B14F-4D97-AF65-F5344CB8AC3E}">
        <p14:creationId xmlns:p14="http://schemas.microsoft.com/office/powerpoint/2010/main" val="11251442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55589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</a:p>
          <a:p>
            <a:pPr algn="ctr"/>
            <a:r>
              <a:rPr lang="en-I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Service Models</a:t>
            </a:r>
            <a:endParaRPr lang="en-IN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7086" y="928915"/>
            <a:ext cx="89045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N" dirty="0" smtClean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7086" y="928914"/>
            <a:ext cx="890451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 algn="just">
              <a:buFont typeface="Arial" panose="020B0604020202020204" pitchFamily="34" charset="0"/>
              <a:buChar char="•"/>
              <a:defRPr/>
            </a:pPr>
            <a:endParaRPr lang="en-US" alt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1" indent="-285750" algn="just">
              <a:buFont typeface="Arial" panose="020B0604020202020204" pitchFamily="34" charset="0"/>
              <a:buChar char="•"/>
              <a:defRPr/>
            </a:pPr>
            <a:endParaRPr lang="en-US" alt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1" indent="-285750" algn="just">
              <a:buFont typeface="Arial" panose="020B0604020202020204" pitchFamily="34" charset="0"/>
              <a:buChar char="•"/>
              <a:defRPr/>
            </a:pPr>
            <a:endParaRPr lang="en-US" alt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55575" y="1016000"/>
            <a:ext cx="883602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16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utoShape 4" descr="Virtualization Cloud Model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87086" y="882650"/>
            <a:ext cx="883466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IN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55573" y="928913"/>
            <a:ext cx="883466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22250" y="1015999"/>
            <a:ext cx="86995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1" y="1015998"/>
            <a:ext cx="8588374" cy="3835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4258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55589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</a:p>
          <a:p>
            <a:pPr algn="ctr"/>
            <a:r>
              <a:rPr lang="en-I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Cloud Service Models</a:t>
            </a:r>
            <a:endParaRPr lang="en-IN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7086" y="928915"/>
            <a:ext cx="890451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55573" y="928914"/>
            <a:ext cx="883602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>
              <a:defRPr/>
            </a:pPr>
            <a:endParaRPr lang="en-US" alt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1" indent="-285750" algn="just">
              <a:buFont typeface="Arial" panose="020B0604020202020204" pitchFamily="34" charset="0"/>
              <a:buChar char="•"/>
              <a:defRPr/>
            </a:pPr>
            <a:endParaRPr lang="en-US" alt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55575" y="1016000"/>
            <a:ext cx="883602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16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utoShape 4" descr="Virtualization Cloud Model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87086" y="882650"/>
            <a:ext cx="883466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IN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55573" y="928913"/>
            <a:ext cx="883466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22250" y="1015999"/>
            <a:ext cx="86995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052" y="1015998"/>
            <a:ext cx="8509848" cy="3987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446295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55589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</a:p>
          <a:p>
            <a:pPr algn="ctr"/>
            <a:r>
              <a:rPr lang="en-I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Service Models</a:t>
            </a:r>
            <a:endParaRPr lang="en-IN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7086" y="928915"/>
            <a:ext cx="8904513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PaaS service adds integration features, middleware, and other orchestration and </a:t>
            </a:r>
            <a:r>
              <a:rPr 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choreography services </a:t>
            </a: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the IaaS model. </a:t>
            </a:r>
            <a:endParaRPr lang="en-US" sz="1600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 </a:t>
            </a: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PaaS services </a:t>
            </a:r>
            <a:r>
              <a:rPr lang="en-US" sz="160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are:Force.com</a:t>
            </a:r>
            <a:r>
              <a:rPr 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GoGrid</a:t>
            </a:r>
            <a:r>
              <a:rPr 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CloudCenter</a:t>
            </a: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Google </a:t>
            </a:r>
            <a:r>
              <a:rPr lang="en-US" sz="160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AppEngine</a:t>
            </a:r>
            <a:r>
              <a:rPr 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Windows Azure </a:t>
            </a:r>
            <a:r>
              <a:rPr 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Platform.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a cloud computing vendor offers software running in the cloud with use of the </a:t>
            </a:r>
            <a:r>
              <a:rPr lang="en-US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on </a:t>
            </a:r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pay-as-you-go model, it is referred to as SaaS. </a:t>
            </a:r>
            <a:endParaRPr lang="en-US" sz="16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SaaS, the customer uses the application </a:t>
            </a:r>
            <a:r>
              <a:rPr lang="en-US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needed </a:t>
            </a:r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is not responsible for the installation of the application, its maintenance, or its upkeep.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good example of an SaaS offering is an online accounting package, with the online versions </a:t>
            </a:r>
            <a:r>
              <a:rPr lang="en-US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Quicken </a:t>
            </a:r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16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Quickbooks</a:t>
            </a:r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prime example. </a:t>
            </a:r>
            <a:endParaRPr lang="en-US" sz="16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7086" y="928914"/>
            <a:ext cx="890451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 algn="just">
              <a:buFont typeface="Arial" panose="020B0604020202020204" pitchFamily="34" charset="0"/>
              <a:buChar char="•"/>
              <a:defRPr/>
            </a:pPr>
            <a:endParaRPr lang="en-US" alt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1" indent="-285750" algn="just">
              <a:buFont typeface="Arial" panose="020B0604020202020204" pitchFamily="34" charset="0"/>
              <a:buChar char="•"/>
              <a:defRPr/>
            </a:pPr>
            <a:endParaRPr lang="en-US" alt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1" indent="-285750" algn="just">
              <a:buFont typeface="Arial" panose="020B0604020202020204" pitchFamily="34" charset="0"/>
              <a:buChar char="•"/>
              <a:defRPr/>
            </a:pPr>
            <a:endParaRPr lang="en-US" alt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55575" y="1016000"/>
            <a:ext cx="883602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16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utoShape 4" descr="Virtualization Cloud Model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87086" y="882650"/>
            <a:ext cx="883466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IN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55573" y="928913"/>
            <a:ext cx="883466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22250" y="1015999"/>
            <a:ext cx="86995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38492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55589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</a:p>
          <a:p>
            <a:pPr algn="ctr"/>
            <a:r>
              <a:rPr lang="en-I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Service Models</a:t>
            </a:r>
            <a:endParaRPr lang="en-IN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7086" y="928915"/>
            <a:ext cx="8904513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shows </a:t>
            </a: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home page for QuickBooks </a:t>
            </a:r>
            <a:r>
              <a:rPr 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Online plus </a:t>
            </a: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the Intuit.com Web </a:t>
            </a:r>
            <a:r>
              <a:rPr 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7086" y="928914"/>
            <a:ext cx="890451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 algn="just">
              <a:buFont typeface="Arial" panose="020B0604020202020204" pitchFamily="34" charset="0"/>
              <a:buChar char="•"/>
              <a:defRPr/>
            </a:pPr>
            <a:endParaRPr lang="en-US" alt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1" indent="-285750" algn="just">
              <a:buFont typeface="Arial" panose="020B0604020202020204" pitchFamily="34" charset="0"/>
              <a:buChar char="•"/>
              <a:defRPr/>
            </a:pPr>
            <a:endParaRPr lang="en-US" alt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1" indent="-285750" algn="just">
              <a:buFont typeface="Arial" panose="020B0604020202020204" pitchFamily="34" charset="0"/>
              <a:buChar char="•"/>
              <a:defRPr/>
            </a:pPr>
            <a:endParaRPr lang="en-US" alt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55575" y="1016000"/>
            <a:ext cx="883602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16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utoShape 4" descr="Virtualization Cloud Model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87086" y="882650"/>
            <a:ext cx="883466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IN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55573" y="928913"/>
            <a:ext cx="883466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22250" y="1015999"/>
            <a:ext cx="86995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299" y="1256690"/>
            <a:ext cx="7985125" cy="3638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8801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55589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</a:p>
          <a:p>
            <a:pPr algn="ctr"/>
            <a:r>
              <a:rPr lang="en-I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Service Models</a:t>
            </a:r>
            <a:endParaRPr lang="en-IN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7086" y="928915"/>
            <a:ext cx="8904513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client using an SaaS service </a:t>
            </a:r>
            <a:r>
              <a:rPr 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might as </a:t>
            </a: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the case for </a:t>
            </a:r>
            <a:r>
              <a:rPr lang="en-US" sz="16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Quickbooks</a:t>
            </a: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online log </a:t>
            </a: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into the </a:t>
            </a:r>
            <a:r>
              <a:rPr 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 from </a:t>
            </a: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 browser, create an account, and enter data into the system. </a:t>
            </a:r>
            <a:endParaRPr lang="en-US" sz="1600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Intuit.com </a:t>
            </a: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 a service </a:t>
            </a:r>
            <a:r>
              <a:rPr 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agreement </a:t>
            </a: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not only covers the performance of the hardware and software, but extends to </a:t>
            </a:r>
            <a:r>
              <a:rPr 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protecting the </a:t>
            </a: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that they store for clients, and other fundamental characteristics</a:t>
            </a:r>
            <a:r>
              <a:rPr 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 good examples of SaaS cloud service providers </a:t>
            </a:r>
            <a:r>
              <a:rPr 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are: </a:t>
            </a:r>
            <a:r>
              <a:rPr lang="en-US" sz="160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GoogleApps</a:t>
            </a:r>
            <a:r>
              <a:rPr 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Oracle </a:t>
            </a: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Demand SalesForce.com, SQL </a:t>
            </a:r>
            <a:r>
              <a:rPr lang="en-US" sz="160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Azur</a:t>
            </a:r>
            <a:r>
              <a:rPr 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</a:t>
            </a:r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 model classifications start to get confusing rather quickly when you have a </a:t>
            </a:r>
            <a:r>
              <a:rPr lang="en-US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 service  provider </a:t>
            </a:r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starts out offering services in one area and then develops services that </a:t>
            </a:r>
            <a:r>
              <a:rPr lang="en-US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classified </a:t>
            </a:r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another type. </a:t>
            </a:r>
            <a:endParaRPr lang="en-US" sz="16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example, SalesForce.com started out as a Customer </a:t>
            </a:r>
            <a:r>
              <a:rPr lang="en-US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Management </a:t>
            </a:r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SaaS platform that allowed clients to add their own applications</a:t>
            </a:r>
            <a:r>
              <a:rPr lang="en-US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 time SalesForce.com </a:t>
            </a:r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opened an API called the Force API that allowed developers to create </a:t>
            </a:r>
            <a:r>
              <a:rPr lang="en-US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based </a:t>
            </a:r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the SalesForce.com technologies. Force.com is thus their PaaS </a:t>
            </a:r>
            <a:r>
              <a:rPr lang="en-US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155573" y="928914"/>
            <a:ext cx="883602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>
              <a:defRPr/>
            </a:pPr>
            <a:endParaRPr lang="en-US" alt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1" indent="-285750" algn="just">
              <a:buFont typeface="Arial" panose="020B0604020202020204" pitchFamily="34" charset="0"/>
              <a:buChar char="•"/>
              <a:defRPr/>
            </a:pPr>
            <a:endParaRPr lang="en-US" alt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55575" y="1016000"/>
            <a:ext cx="883602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16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utoShape 4" descr="Virtualization Cloud Model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87086" y="882650"/>
            <a:ext cx="883466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IN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55573" y="928913"/>
            <a:ext cx="883466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22250" y="1015999"/>
            <a:ext cx="86995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84896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55589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</a:p>
          <a:p>
            <a:pPr algn="ctr"/>
            <a:r>
              <a:rPr lang="en-I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Service Models</a:t>
            </a:r>
            <a:endParaRPr lang="en-IN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7086" y="928915"/>
            <a:ext cx="890451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another example, take the PaaS offering that is the Windows Azure Platform. </a:t>
            </a:r>
            <a:endParaRPr lang="en-US" sz="1600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Windows Azure Platform </a:t>
            </a: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allows .NET developers to stage their applications on top of Microsoft’s infrastructure </a:t>
            </a:r>
            <a:r>
              <a:rPr 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 that </a:t>
            </a: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 application built with the .NET Framework can live locally, in Microsoft’s cloud </a:t>
            </a:r>
            <a:r>
              <a:rPr 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network or </a:t>
            </a: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 combination thereof</a:t>
            </a:r>
            <a:r>
              <a:rPr 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Microsoft adds enterprise applications to its cloud service </a:t>
            </a:r>
            <a:r>
              <a:rPr lang="en-US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portfolio</a:t>
            </a:r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as it has in the case of SQL Azure (and many other enterprise applications to come), </a:t>
            </a:r>
            <a:r>
              <a:rPr lang="en-US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offerings </a:t>
            </a:r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fall under the rubric of being an SaaS service model.</a:t>
            </a:r>
            <a:endParaRPr lang="en-US" sz="16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55573" y="928914"/>
            <a:ext cx="883602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>
              <a:defRPr/>
            </a:pPr>
            <a:endParaRPr lang="en-US" alt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1" indent="-285750" algn="just">
              <a:buFont typeface="Arial" panose="020B0604020202020204" pitchFamily="34" charset="0"/>
              <a:buChar char="•"/>
              <a:defRPr/>
            </a:pPr>
            <a:endParaRPr lang="en-US" alt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55575" y="1016000"/>
            <a:ext cx="883602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16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utoShape 4" descr="Virtualization Cloud Model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87086" y="882650"/>
            <a:ext cx="883466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IN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55573" y="928913"/>
            <a:ext cx="883466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22250" y="1015999"/>
            <a:ext cx="86995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96315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"/>
            <a:ext cx="55589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</a:p>
          <a:p>
            <a:pPr algn="ctr"/>
            <a:r>
              <a:rPr lang="en-I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Service Models-Differences</a:t>
            </a:r>
            <a:endParaRPr lang="en-IN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7086" y="928915"/>
            <a:ext cx="890451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55573" y="928914"/>
            <a:ext cx="883602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>
              <a:defRPr/>
            </a:pPr>
            <a:endParaRPr lang="en-US" alt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1" indent="-285750" algn="just">
              <a:buFont typeface="Arial" panose="020B0604020202020204" pitchFamily="34" charset="0"/>
              <a:buChar char="•"/>
              <a:defRPr/>
            </a:pPr>
            <a:endParaRPr lang="en-US" alt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55575" y="1016000"/>
            <a:ext cx="883602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16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utoShape 4" descr="Virtualization Cloud Model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87086" y="882650"/>
            <a:ext cx="883466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IN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55573" y="928913"/>
            <a:ext cx="883466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22250" y="1015999"/>
            <a:ext cx="86995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8212243"/>
              </p:ext>
            </p:extLst>
          </p:nvPr>
        </p:nvGraphicFramePr>
        <p:xfrm>
          <a:off x="285749" y="1016000"/>
          <a:ext cx="8702675" cy="3822654"/>
        </p:xfrm>
        <a:graphic>
          <a:graphicData uri="http://schemas.openxmlformats.org/drawingml/2006/table">
            <a:tbl>
              <a:tblPr/>
              <a:tblGrid>
                <a:gridCol w="1392428"/>
                <a:gridCol w="2436749"/>
                <a:gridCol w="2436749"/>
                <a:gridCol w="2436749"/>
              </a:tblGrid>
              <a:tr h="133257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500" b="1" dirty="0">
                          <a:solidFill>
                            <a:srgbClr val="FF0000"/>
                          </a:solidFill>
                          <a:effectLst/>
                        </a:rPr>
                        <a:t>Basis Of</a:t>
                      </a:r>
                    </a:p>
                  </a:txBody>
                  <a:tcPr marL="13928" marR="13928" marT="27856" marB="27856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500" b="1" dirty="0">
                          <a:solidFill>
                            <a:srgbClr val="00B0F0"/>
                          </a:solidFill>
                          <a:effectLst/>
                        </a:rPr>
                        <a:t>IAAS</a:t>
                      </a:r>
                    </a:p>
                  </a:txBody>
                  <a:tcPr marL="27856" marR="27856" marT="27856" marB="27856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500" b="1" dirty="0">
                          <a:solidFill>
                            <a:srgbClr val="00B050"/>
                          </a:solidFill>
                          <a:effectLst/>
                        </a:rPr>
                        <a:t>PAAS</a:t>
                      </a:r>
                    </a:p>
                  </a:txBody>
                  <a:tcPr marL="27856" marR="27856" marT="27856" marB="27856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500" b="1">
                          <a:solidFill>
                            <a:srgbClr val="FF0000"/>
                          </a:solidFill>
                          <a:effectLst/>
                        </a:rPr>
                        <a:t>SAAS</a:t>
                      </a:r>
                    </a:p>
                  </a:txBody>
                  <a:tcPr marL="27856" marR="27856" marT="27856" marB="27856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</a:tr>
              <a:tr h="153676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500" b="1">
                          <a:solidFill>
                            <a:srgbClr val="FF0000"/>
                          </a:solidFill>
                          <a:effectLst/>
                        </a:rPr>
                        <a:t>Stands for</a:t>
                      </a:r>
                    </a:p>
                  </a:txBody>
                  <a:tcPr marL="13928" marR="13928" marT="23260" marB="2326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dirty="0">
                          <a:solidFill>
                            <a:srgbClr val="00B0F0"/>
                          </a:solidFill>
                          <a:effectLst/>
                        </a:rPr>
                        <a:t>Infrastructure as a service.</a:t>
                      </a:r>
                    </a:p>
                  </a:txBody>
                  <a:tcPr marL="27856" marR="27856" marT="38999" marB="38999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dirty="0">
                          <a:solidFill>
                            <a:srgbClr val="00B050"/>
                          </a:solidFill>
                          <a:effectLst/>
                        </a:rPr>
                        <a:t>Platform as a service.</a:t>
                      </a:r>
                    </a:p>
                  </a:txBody>
                  <a:tcPr marL="27856" marR="27856" marT="38999" marB="38999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>
                          <a:solidFill>
                            <a:srgbClr val="FF0000"/>
                          </a:solidFill>
                          <a:effectLst/>
                        </a:rPr>
                        <a:t>Software as a service.</a:t>
                      </a:r>
                    </a:p>
                  </a:txBody>
                  <a:tcPr marL="27856" marR="27856" marT="38999" marB="38999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</a:tr>
              <a:tr h="229618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500" b="1" dirty="0">
                          <a:solidFill>
                            <a:srgbClr val="FF0000"/>
                          </a:solidFill>
                          <a:effectLst/>
                        </a:rPr>
                        <a:t>Uses</a:t>
                      </a:r>
                    </a:p>
                  </a:txBody>
                  <a:tcPr marL="13928" marR="13928" marT="23260" marB="2326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dirty="0">
                          <a:solidFill>
                            <a:srgbClr val="00B0F0"/>
                          </a:solidFill>
                          <a:effectLst/>
                        </a:rPr>
                        <a:t>IAAS is used by network architects.</a:t>
                      </a:r>
                    </a:p>
                  </a:txBody>
                  <a:tcPr marL="27856" marR="27856" marT="38999" marB="38999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>
                          <a:solidFill>
                            <a:srgbClr val="00B050"/>
                          </a:solidFill>
                          <a:effectLst/>
                        </a:rPr>
                        <a:t>PAAS is used by developers.</a:t>
                      </a:r>
                    </a:p>
                  </a:txBody>
                  <a:tcPr marL="27856" marR="27856" marT="38999" marB="38999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>
                          <a:solidFill>
                            <a:srgbClr val="FF0000"/>
                          </a:solidFill>
                          <a:effectLst/>
                        </a:rPr>
                        <a:t>SAAS is used by the end user.</a:t>
                      </a:r>
                    </a:p>
                  </a:txBody>
                  <a:tcPr marL="27856" marR="27856" marT="38999" marB="38999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</a:tr>
              <a:tr h="457443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500" b="1" dirty="0">
                          <a:solidFill>
                            <a:srgbClr val="FF0000"/>
                          </a:solidFill>
                          <a:effectLst/>
                        </a:rPr>
                        <a:t>Access</a:t>
                      </a:r>
                    </a:p>
                  </a:txBody>
                  <a:tcPr marL="13928" marR="13928" marT="23260" marB="2326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dirty="0">
                          <a:solidFill>
                            <a:srgbClr val="00B0F0"/>
                          </a:solidFill>
                          <a:effectLst/>
                        </a:rPr>
                        <a:t>IAAS gives access to the resources like virtual machines and virtual storage.</a:t>
                      </a:r>
                    </a:p>
                  </a:txBody>
                  <a:tcPr marL="27856" marR="27856" marT="38999" marB="38999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dirty="0">
                          <a:solidFill>
                            <a:srgbClr val="00B050"/>
                          </a:solidFill>
                          <a:effectLst/>
                        </a:rPr>
                        <a:t>PAAS gives access to run time environment to deployment and development tools for application.</a:t>
                      </a:r>
                    </a:p>
                  </a:txBody>
                  <a:tcPr marL="27856" marR="27856" marT="38999" marB="38999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dirty="0">
                          <a:solidFill>
                            <a:srgbClr val="FF0000"/>
                          </a:solidFill>
                          <a:effectLst/>
                        </a:rPr>
                        <a:t>SAAS gives access to the end user.</a:t>
                      </a:r>
                    </a:p>
                  </a:txBody>
                  <a:tcPr marL="27856" marR="27856" marT="38999" marB="38999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</a:tr>
              <a:tr h="381502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500" b="1">
                          <a:solidFill>
                            <a:srgbClr val="FF0000"/>
                          </a:solidFill>
                          <a:effectLst/>
                        </a:rPr>
                        <a:t>Model</a:t>
                      </a:r>
                    </a:p>
                  </a:txBody>
                  <a:tcPr marL="13928" marR="13928" marT="23260" marB="2326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dirty="0">
                          <a:solidFill>
                            <a:srgbClr val="00B0F0"/>
                          </a:solidFill>
                          <a:effectLst/>
                        </a:rPr>
                        <a:t>It is a service model that provides virtualized computing resources over the internet.</a:t>
                      </a:r>
                    </a:p>
                  </a:txBody>
                  <a:tcPr marL="27856" marR="27856" marT="38999" marB="38999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dirty="0">
                          <a:solidFill>
                            <a:srgbClr val="00B050"/>
                          </a:solidFill>
                          <a:effectLst/>
                        </a:rPr>
                        <a:t>It is a cloud computing model that delivers tools that are used for the development of applications.</a:t>
                      </a:r>
                    </a:p>
                  </a:txBody>
                  <a:tcPr marL="27856" marR="27856" marT="38999" marB="38999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>
                          <a:solidFill>
                            <a:srgbClr val="FF0000"/>
                          </a:solidFill>
                          <a:effectLst/>
                        </a:rPr>
                        <a:t>It is a service model in cloud computing that hosts software to make it available to clients.</a:t>
                      </a:r>
                    </a:p>
                  </a:txBody>
                  <a:tcPr marL="27856" marR="27856" marT="38999" marB="38999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</a:tr>
              <a:tr h="305560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500" b="1">
                          <a:solidFill>
                            <a:srgbClr val="FF0000"/>
                          </a:solidFill>
                          <a:effectLst/>
                        </a:rPr>
                        <a:t>Technical understanding.</a:t>
                      </a:r>
                    </a:p>
                  </a:txBody>
                  <a:tcPr marL="13928" marR="13928" marT="23260" marB="2326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dirty="0">
                          <a:solidFill>
                            <a:srgbClr val="00B0F0"/>
                          </a:solidFill>
                          <a:effectLst/>
                        </a:rPr>
                        <a:t>It requires technical knowledge.</a:t>
                      </a:r>
                    </a:p>
                  </a:txBody>
                  <a:tcPr marL="27856" marR="27856" marT="38999" marB="38999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dirty="0">
                          <a:solidFill>
                            <a:srgbClr val="00B050"/>
                          </a:solidFill>
                          <a:effectLst/>
                        </a:rPr>
                        <a:t>Some knowledge is required for the basic setup.</a:t>
                      </a:r>
                    </a:p>
                  </a:txBody>
                  <a:tcPr marL="27856" marR="27856" marT="38999" marB="38999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>
                          <a:solidFill>
                            <a:srgbClr val="FF0000"/>
                          </a:solidFill>
                          <a:effectLst/>
                        </a:rPr>
                        <a:t>There is no requirement about technicalities company handles everything.</a:t>
                      </a:r>
                    </a:p>
                  </a:txBody>
                  <a:tcPr marL="27856" marR="27856" marT="38999" marB="38999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</a:tr>
              <a:tr h="381502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500" b="1" dirty="0">
                          <a:solidFill>
                            <a:srgbClr val="FF0000"/>
                          </a:solidFill>
                          <a:effectLst/>
                        </a:rPr>
                        <a:t>Popularity</a:t>
                      </a:r>
                    </a:p>
                  </a:txBody>
                  <a:tcPr marL="13928" marR="13928" marT="23260" marB="2326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dirty="0">
                          <a:solidFill>
                            <a:srgbClr val="00B0F0"/>
                          </a:solidFill>
                          <a:effectLst/>
                        </a:rPr>
                        <a:t>It is popular among developers and researchers.</a:t>
                      </a:r>
                    </a:p>
                  </a:txBody>
                  <a:tcPr marL="27856" marR="27856" marT="38999" marB="38999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dirty="0">
                          <a:solidFill>
                            <a:srgbClr val="00B050"/>
                          </a:solidFill>
                          <a:effectLst/>
                        </a:rPr>
                        <a:t>It is popular among developers who focus on the development of apps and scripts.</a:t>
                      </a:r>
                    </a:p>
                  </a:txBody>
                  <a:tcPr marL="27856" marR="27856" marT="38999" marB="38999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>
                          <a:solidFill>
                            <a:srgbClr val="FF0000"/>
                          </a:solidFill>
                          <a:effectLst/>
                        </a:rPr>
                        <a:t>It is popular among consumers and companies, such as file sharing, email, and networking.</a:t>
                      </a:r>
                    </a:p>
                  </a:txBody>
                  <a:tcPr marL="27856" marR="27856" marT="38999" marB="38999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</a:tr>
              <a:tr h="229618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500" b="1">
                          <a:solidFill>
                            <a:srgbClr val="FF0000"/>
                          </a:solidFill>
                          <a:effectLst/>
                        </a:rPr>
                        <a:t>Percentage rise</a:t>
                      </a:r>
                    </a:p>
                  </a:txBody>
                  <a:tcPr marL="13928" marR="13928" marT="23260" marB="2326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>
                          <a:solidFill>
                            <a:srgbClr val="00B0F0"/>
                          </a:solidFill>
                          <a:effectLst/>
                        </a:rPr>
                        <a:t>It has around a 12% increment.</a:t>
                      </a:r>
                    </a:p>
                  </a:txBody>
                  <a:tcPr marL="27856" marR="27856" marT="38999" marB="38999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dirty="0">
                          <a:solidFill>
                            <a:srgbClr val="00B050"/>
                          </a:solidFill>
                          <a:effectLst/>
                        </a:rPr>
                        <a:t>It has around 32% increment.</a:t>
                      </a:r>
                    </a:p>
                  </a:txBody>
                  <a:tcPr marL="27856" marR="27856" marT="38999" marB="38999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>
                          <a:solidFill>
                            <a:srgbClr val="FF0000"/>
                          </a:solidFill>
                          <a:effectLst/>
                        </a:rPr>
                        <a:t>It has about a 27 % rise in the cloud computing model.</a:t>
                      </a:r>
                    </a:p>
                  </a:txBody>
                  <a:tcPr marL="27856" marR="27856" marT="38999" marB="38999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</a:tr>
              <a:tr h="305560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500" b="1">
                          <a:solidFill>
                            <a:srgbClr val="FF0000"/>
                          </a:solidFill>
                          <a:effectLst/>
                        </a:rPr>
                        <a:t>Usage</a:t>
                      </a:r>
                    </a:p>
                  </a:txBody>
                  <a:tcPr marL="13928" marR="13928" marT="23260" marB="2326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dirty="0">
                          <a:solidFill>
                            <a:srgbClr val="00B0F0"/>
                          </a:solidFill>
                          <a:effectLst/>
                        </a:rPr>
                        <a:t>Used by the skilled developer to develop unique applications.</a:t>
                      </a:r>
                    </a:p>
                  </a:txBody>
                  <a:tcPr marL="27856" marR="27856" marT="38999" marB="38999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dirty="0">
                          <a:solidFill>
                            <a:srgbClr val="00B050"/>
                          </a:solidFill>
                          <a:effectLst/>
                        </a:rPr>
                        <a:t>Used by mid-level developers to build applications.</a:t>
                      </a:r>
                    </a:p>
                  </a:txBody>
                  <a:tcPr marL="27856" marR="27856" marT="38999" marB="38999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>
                          <a:solidFill>
                            <a:srgbClr val="FF0000"/>
                          </a:solidFill>
                          <a:effectLst/>
                        </a:rPr>
                        <a:t>Used among the users of entertainment.</a:t>
                      </a:r>
                    </a:p>
                  </a:txBody>
                  <a:tcPr marL="27856" marR="27856" marT="38999" marB="38999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</a:tr>
              <a:tr h="229618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500" b="1">
                          <a:solidFill>
                            <a:srgbClr val="FF0000"/>
                          </a:solidFill>
                          <a:effectLst/>
                        </a:rPr>
                        <a:t>Cloud services.</a:t>
                      </a:r>
                    </a:p>
                  </a:txBody>
                  <a:tcPr marL="13928" marR="13928" marT="23260" marB="2326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dirty="0">
                          <a:solidFill>
                            <a:srgbClr val="00B0F0"/>
                          </a:solidFill>
                          <a:effectLst/>
                        </a:rPr>
                        <a:t>Amazon Web Services, sun, </a:t>
                      </a:r>
                      <a:r>
                        <a:rPr lang="en-US" sz="500" b="0" dirty="0" err="1">
                          <a:solidFill>
                            <a:srgbClr val="00B0F0"/>
                          </a:solidFill>
                          <a:effectLst/>
                        </a:rPr>
                        <a:t>vCloud</a:t>
                      </a:r>
                      <a:r>
                        <a:rPr lang="en-US" sz="500" b="0" dirty="0">
                          <a:solidFill>
                            <a:srgbClr val="00B0F0"/>
                          </a:solidFill>
                          <a:effectLst/>
                        </a:rPr>
                        <a:t> Express.</a:t>
                      </a:r>
                    </a:p>
                  </a:txBody>
                  <a:tcPr marL="27856" marR="27856" marT="38999" marB="38999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dirty="0">
                          <a:solidFill>
                            <a:srgbClr val="00B050"/>
                          </a:solidFill>
                          <a:effectLst/>
                        </a:rPr>
                        <a:t>Facebook, and Google search engine.</a:t>
                      </a:r>
                    </a:p>
                  </a:txBody>
                  <a:tcPr marL="27856" marR="27856" marT="38999" marB="38999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>
                          <a:solidFill>
                            <a:srgbClr val="FF0000"/>
                          </a:solidFill>
                          <a:effectLst/>
                        </a:rPr>
                        <a:t>MS Office web, Facebook and Google Apps.</a:t>
                      </a:r>
                    </a:p>
                  </a:txBody>
                  <a:tcPr marL="27856" marR="27856" marT="38999" marB="38999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</a:tr>
              <a:tr h="201829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500" b="1">
                          <a:solidFill>
                            <a:srgbClr val="FF0000"/>
                          </a:solidFill>
                          <a:effectLst/>
                        </a:rPr>
                        <a:t>Enterprise services.</a:t>
                      </a:r>
                    </a:p>
                  </a:txBody>
                  <a:tcPr marL="13928" marR="13928" marT="23260" marB="2326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dirty="0">
                          <a:solidFill>
                            <a:srgbClr val="00B0F0"/>
                          </a:solidFill>
                          <a:effectLst/>
                        </a:rPr>
                        <a:t>AWS virtual private cloud.</a:t>
                      </a:r>
                    </a:p>
                  </a:txBody>
                  <a:tcPr marL="27856" marR="27856" marT="38999" marB="38999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dirty="0">
                          <a:solidFill>
                            <a:srgbClr val="00B050"/>
                          </a:solidFill>
                          <a:effectLst/>
                        </a:rPr>
                        <a:t>Microsoft Azure.</a:t>
                      </a:r>
                    </a:p>
                  </a:txBody>
                  <a:tcPr marL="27856" marR="27856" marT="38999" marB="38999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>
                          <a:solidFill>
                            <a:srgbClr val="FF0000"/>
                          </a:solidFill>
                          <a:effectLst/>
                        </a:rPr>
                        <a:t>IBM cloud analysis.</a:t>
                      </a:r>
                    </a:p>
                  </a:txBody>
                  <a:tcPr marL="27856" marR="27856" marT="38999" marB="38999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</a:tr>
              <a:tr h="201829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500" b="1">
                          <a:solidFill>
                            <a:srgbClr val="FF0000"/>
                          </a:solidFill>
                          <a:effectLst/>
                        </a:rPr>
                        <a:t>Outsourced cloud services.</a:t>
                      </a:r>
                    </a:p>
                  </a:txBody>
                  <a:tcPr marL="13928" marR="13928" marT="23260" marB="2326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dirty="0">
                          <a:solidFill>
                            <a:srgbClr val="00B0F0"/>
                          </a:solidFill>
                          <a:effectLst/>
                        </a:rPr>
                        <a:t>Salesforce</a:t>
                      </a:r>
                    </a:p>
                  </a:txBody>
                  <a:tcPr marL="27856" marR="27856" marT="38999" marB="38999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dirty="0">
                          <a:solidFill>
                            <a:srgbClr val="00B050"/>
                          </a:solidFill>
                          <a:effectLst/>
                        </a:rPr>
                        <a:t>Force.com, </a:t>
                      </a:r>
                      <a:r>
                        <a:rPr lang="en-IN" sz="500" b="0" dirty="0" err="1">
                          <a:solidFill>
                            <a:srgbClr val="00B050"/>
                          </a:solidFill>
                          <a:effectLst/>
                        </a:rPr>
                        <a:t>Gigaspaces</a:t>
                      </a:r>
                      <a:r>
                        <a:rPr lang="en-IN" sz="500" b="0" dirty="0">
                          <a:solidFill>
                            <a:srgbClr val="00B050"/>
                          </a:solidFill>
                          <a:effectLst/>
                        </a:rPr>
                        <a:t>.</a:t>
                      </a:r>
                    </a:p>
                  </a:txBody>
                  <a:tcPr marL="27856" marR="27856" marT="38999" marB="38999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>
                          <a:solidFill>
                            <a:srgbClr val="FF0000"/>
                          </a:solidFill>
                          <a:effectLst/>
                        </a:rPr>
                        <a:t>AWS, Terremark</a:t>
                      </a:r>
                    </a:p>
                  </a:txBody>
                  <a:tcPr marL="27856" marR="27856" marT="38999" marB="38999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</a:tr>
              <a:tr h="305560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500" b="1">
                          <a:solidFill>
                            <a:srgbClr val="FF0000"/>
                          </a:solidFill>
                          <a:effectLst/>
                        </a:rPr>
                        <a:t>User Controls</a:t>
                      </a:r>
                    </a:p>
                  </a:txBody>
                  <a:tcPr marL="13928" marR="13928" marT="23260" marB="2326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dirty="0">
                          <a:solidFill>
                            <a:srgbClr val="00B0F0"/>
                          </a:solidFill>
                          <a:effectLst/>
                        </a:rPr>
                        <a:t>Operating System, Runtime, Middleware, and Application data</a:t>
                      </a:r>
                    </a:p>
                  </a:txBody>
                  <a:tcPr marL="27856" marR="27856" marT="38999" marB="38999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dirty="0">
                          <a:solidFill>
                            <a:srgbClr val="00B050"/>
                          </a:solidFill>
                          <a:effectLst/>
                        </a:rPr>
                        <a:t>Data of the application</a:t>
                      </a:r>
                    </a:p>
                  </a:txBody>
                  <a:tcPr marL="27856" marR="27856" marT="38999" marB="38999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dirty="0">
                          <a:solidFill>
                            <a:srgbClr val="FF0000"/>
                          </a:solidFill>
                          <a:effectLst/>
                        </a:rPr>
                        <a:t>Nothing</a:t>
                      </a:r>
                    </a:p>
                  </a:txBody>
                  <a:tcPr marL="27856" marR="27856" marT="38999" marB="38999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</a:tr>
              <a:tr h="305560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500" b="1">
                          <a:solidFill>
                            <a:srgbClr val="FF0000"/>
                          </a:solidFill>
                          <a:effectLst/>
                        </a:rPr>
                        <a:t>Others</a:t>
                      </a:r>
                    </a:p>
                  </a:txBody>
                  <a:tcPr marL="13928" marR="13928" marT="23260" marB="2326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dirty="0">
                          <a:solidFill>
                            <a:srgbClr val="00B0F0"/>
                          </a:solidFill>
                          <a:effectLst/>
                        </a:rPr>
                        <a:t>It is highly scalable and flexible.</a:t>
                      </a:r>
                    </a:p>
                  </a:txBody>
                  <a:tcPr marL="27856" marR="27856" marT="38999" marB="38999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dirty="0">
                          <a:solidFill>
                            <a:srgbClr val="00B050"/>
                          </a:solidFill>
                          <a:effectLst/>
                        </a:rPr>
                        <a:t>It is highly scalable to suit the different businesses according to resources.</a:t>
                      </a:r>
                    </a:p>
                  </a:txBody>
                  <a:tcPr marL="27856" marR="27856" marT="38999" marB="38999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0" dirty="0">
                          <a:solidFill>
                            <a:srgbClr val="FF0000"/>
                          </a:solidFill>
                          <a:effectLst/>
                        </a:rPr>
                        <a:t>It is highly scalable to suit the small, mid and enterprise level business</a:t>
                      </a:r>
                    </a:p>
                  </a:txBody>
                  <a:tcPr marL="27856" marR="27856" marT="38999" marB="38999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41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783529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1125</TotalTime>
  <Words>2451</Words>
  <Application>Microsoft Office PowerPoint</Application>
  <PresentationFormat>On-screen Show (16:9)</PresentationFormat>
  <Paragraphs>264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Times New Roman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Nagaraja GS</dc:creator>
  <cp:lastModifiedBy>Microsoft account</cp:lastModifiedBy>
  <cp:revision>222</cp:revision>
  <dcterms:modified xsi:type="dcterms:W3CDTF">2024-11-15T07:40:09Z</dcterms:modified>
</cp:coreProperties>
</file>
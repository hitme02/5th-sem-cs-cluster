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72.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Lst>
  <p:sldSz cy="6858000" cx="9144000"/>
  <p:notesSz cx="6858000" cy="9144000"/>
  <p:embeddedFontLst>
    <p:embeddedFont>
      <p:font typeface="Noto Sans Symbols"/>
      <p:regular r:id="rId307"/>
      <p:bold r:id="rId308"/>
    </p:embeddedFont>
    <p:embeddedFont>
      <p:font typeface="Helvetica Neue"/>
      <p:regular r:id="rId309"/>
      <p:bold r:id="rId310"/>
      <p:italic r:id="rId311"/>
      <p:boldItalic r:id="rId3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3" roundtripDataSignature="AMtx7miU0IzbeJt/6Z1T0d1evmI8AU/U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31C186-C125-4E34-A739-053F885C22C1}">
  <a:tblStyle styleId="{DA31C186-C125-4E34-A739-053F885C22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slide" Target="slides/slide18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slide" Target="slides/slide187.xml"/><Relationship Id="rId43" Type="http://schemas.openxmlformats.org/officeDocument/2006/relationships/slide" Target="slides/slide36.xml"/><Relationship Id="rId193" Type="http://schemas.openxmlformats.org/officeDocument/2006/relationships/slide" Target="slides/slide186.xml"/><Relationship Id="rId46" Type="http://schemas.openxmlformats.org/officeDocument/2006/relationships/slide" Target="slides/slide39.xml"/><Relationship Id="rId192" Type="http://schemas.openxmlformats.org/officeDocument/2006/relationships/slide" Target="slides/slide185.xml"/><Relationship Id="rId45" Type="http://schemas.openxmlformats.org/officeDocument/2006/relationships/slide" Target="slides/slide38.xml"/><Relationship Id="rId191" Type="http://schemas.openxmlformats.org/officeDocument/2006/relationships/slide" Target="slides/slide184.xml"/><Relationship Id="rId48" Type="http://schemas.openxmlformats.org/officeDocument/2006/relationships/slide" Target="slides/slide41.xml"/><Relationship Id="rId187" Type="http://schemas.openxmlformats.org/officeDocument/2006/relationships/slide" Target="slides/slide180.xml"/><Relationship Id="rId47" Type="http://schemas.openxmlformats.org/officeDocument/2006/relationships/slide" Target="slides/slide40.xml"/><Relationship Id="rId186" Type="http://schemas.openxmlformats.org/officeDocument/2006/relationships/slide" Target="slides/slide179.xml"/><Relationship Id="rId185" Type="http://schemas.openxmlformats.org/officeDocument/2006/relationships/slide" Target="slides/slide178.xml"/><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slide" Target="slides/slide182.xml"/><Relationship Id="rId188" Type="http://schemas.openxmlformats.org/officeDocument/2006/relationships/slide" Target="slides/slide18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297" Type="http://schemas.openxmlformats.org/officeDocument/2006/relationships/slide" Target="slides/slide290.xml"/><Relationship Id="rId36" Type="http://schemas.openxmlformats.org/officeDocument/2006/relationships/slide" Target="slides/slide29.xml"/><Relationship Id="rId175" Type="http://schemas.openxmlformats.org/officeDocument/2006/relationships/slide" Target="slides/slide168.xml"/><Relationship Id="rId296" Type="http://schemas.openxmlformats.org/officeDocument/2006/relationships/slide" Target="slides/slide289.xml"/><Relationship Id="rId39" Type="http://schemas.openxmlformats.org/officeDocument/2006/relationships/slide" Target="slides/slide32.xml"/><Relationship Id="rId174" Type="http://schemas.openxmlformats.org/officeDocument/2006/relationships/slide" Target="slides/slide167.xml"/><Relationship Id="rId295" Type="http://schemas.openxmlformats.org/officeDocument/2006/relationships/slide" Target="slides/slide288.xml"/><Relationship Id="rId38" Type="http://schemas.openxmlformats.org/officeDocument/2006/relationships/slide" Target="slides/slide31.xml"/><Relationship Id="rId173" Type="http://schemas.openxmlformats.org/officeDocument/2006/relationships/slide" Target="slides/slide166.xml"/><Relationship Id="rId294" Type="http://schemas.openxmlformats.org/officeDocument/2006/relationships/slide" Target="slides/slide287.xml"/><Relationship Id="rId179" Type="http://schemas.openxmlformats.org/officeDocument/2006/relationships/slide" Target="slides/slide172.xml"/><Relationship Id="rId178" Type="http://schemas.openxmlformats.org/officeDocument/2006/relationships/slide" Target="slides/slide171.xml"/><Relationship Id="rId299" Type="http://schemas.openxmlformats.org/officeDocument/2006/relationships/slide" Target="slides/slide292.xml"/><Relationship Id="rId177" Type="http://schemas.openxmlformats.org/officeDocument/2006/relationships/slide" Target="slides/slide170.xml"/><Relationship Id="rId298" Type="http://schemas.openxmlformats.org/officeDocument/2006/relationships/slide" Target="slides/slide29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slide" Target="slides/slide191.xml"/><Relationship Id="rId14" Type="http://schemas.openxmlformats.org/officeDocument/2006/relationships/slide" Target="slides/slide7.xml"/><Relationship Id="rId197" Type="http://schemas.openxmlformats.org/officeDocument/2006/relationships/slide" Target="slides/slide190.xml"/><Relationship Id="rId17" Type="http://schemas.openxmlformats.org/officeDocument/2006/relationships/slide" Target="slides/slide10.xml"/><Relationship Id="rId196" Type="http://schemas.openxmlformats.org/officeDocument/2006/relationships/slide" Target="slides/slide189.xml"/><Relationship Id="rId16" Type="http://schemas.openxmlformats.org/officeDocument/2006/relationships/slide" Target="slides/slide9.xml"/><Relationship Id="rId195" Type="http://schemas.openxmlformats.org/officeDocument/2006/relationships/slide" Target="slides/slide188.xml"/><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slide" Target="slides/slide192.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271" Type="http://schemas.openxmlformats.org/officeDocument/2006/relationships/slide" Target="slides/slide264.xml"/><Relationship Id="rId87" Type="http://schemas.openxmlformats.org/officeDocument/2006/relationships/slide" Target="slides/slide80.xml"/><Relationship Id="rId270" Type="http://schemas.openxmlformats.org/officeDocument/2006/relationships/slide" Target="slides/slide263.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269" Type="http://schemas.openxmlformats.org/officeDocument/2006/relationships/slide" Target="slides/slide262.xml"/><Relationship Id="rId9" Type="http://schemas.openxmlformats.org/officeDocument/2006/relationships/slide" Target="slides/slide2.xml"/><Relationship Id="rId143" Type="http://schemas.openxmlformats.org/officeDocument/2006/relationships/slide" Target="slides/slide136.xml"/><Relationship Id="rId264" Type="http://schemas.openxmlformats.org/officeDocument/2006/relationships/slide" Target="slides/slide257.xml"/><Relationship Id="rId142" Type="http://schemas.openxmlformats.org/officeDocument/2006/relationships/slide" Target="slides/slide135.xml"/><Relationship Id="rId263" Type="http://schemas.openxmlformats.org/officeDocument/2006/relationships/slide" Target="slides/slide256.xml"/><Relationship Id="rId141" Type="http://schemas.openxmlformats.org/officeDocument/2006/relationships/slide" Target="slides/slide134.xml"/><Relationship Id="rId262" Type="http://schemas.openxmlformats.org/officeDocument/2006/relationships/slide" Target="slides/slide255.xml"/><Relationship Id="rId140" Type="http://schemas.openxmlformats.org/officeDocument/2006/relationships/slide" Target="slides/slide133.xml"/><Relationship Id="rId261" Type="http://schemas.openxmlformats.org/officeDocument/2006/relationships/slide" Target="slides/slide254.xml"/><Relationship Id="rId5" Type="http://schemas.openxmlformats.org/officeDocument/2006/relationships/slideMaster" Target="slideMasters/slideMaster1.xml"/><Relationship Id="rId147" Type="http://schemas.openxmlformats.org/officeDocument/2006/relationships/slide" Target="slides/slide140.xml"/><Relationship Id="rId268" Type="http://schemas.openxmlformats.org/officeDocument/2006/relationships/slide" Target="slides/slide261.xml"/><Relationship Id="rId6" Type="http://schemas.openxmlformats.org/officeDocument/2006/relationships/slideMaster" Target="slideMasters/slideMaster2.xml"/><Relationship Id="rId146" Type="http://schemas.openxmlformats.org/officeDocument/2006/relationships/slide" Target="slides/slide139.xml"/><Relationship Id="rId267" Type="http://schemas.openxmlformats.org/officeDocument/2006/relationships/slide" Target="slides/slide260.xml"/><Relationship Id="rId7" Type="http://schemas.openxmlformats.org/officeDocument/2006/relationships/notesMaster" Target="notesMasters/notesMaster1.xml"/><Relationship Id="rId145" Type="http://schemas.openxmlformats.org/officeDocument/2006/relationships/slide" Target="slides/slide138.xml"/><Relationship Id="rId266" Type="http://schemas.openxmlformats.org/officeDocument/2006/relationships/slide" Target="slides/slide259.xml"/><Relationship Id="rId8" Type="http://schemas.openxmlformats.org/officeDocument/2006/relationships/slide" Target="slides/slide1.xml"/><Relationship Id="rId144" Type="http://schemas.openxmlformats.org/officeDocument/2006/relationships/slide" Target="slides/slide137.xml"/><Relationship Id="rId265" Type="http://schemas.openxmlformats.org/officeDocument/2006/relationships/slide" Target="slides/slide258.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260" Type="http://schemas.openxmlformats.org/officeDocument/2006/relationships/slide" Target="slides/slide253.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259" Type="http://schemas.openxmlformats.org/officeDocument/2006/relationships/slide" Target="slides/slide252.xml"/><Relationship Id="rId137" Type="http://schemas.openxmlformats.org/officeDocument/2006/relationships/slide" Target="slides/slide130.xml"/><Relationship Id="rId258" Type="http://schemas.openxmlformats.org/officeDocument/2006/relationships/slide" Target="slides/slide251.xml"/><Relationship Id="rId132" Type="http://schemas.openxmlformats.org/officeDocument/2006/relationships/slide" Target="slides/slide125.xml"/><Relationship Id="rId253" Type="http://schemas.openxmlformats.org/officeDocument/2006/relationships/slide" Target="slides/slide246.xml"/><Relationship Id="rId131" Type="http://schemas.openxmlformats.org/officeDocument/2006/relationships/slide" Target="slides/slide124.xml"/><Relationship Id="rId252" Type="http://schemas.openxmlformats.org/officeDocument/2006/relationships/slide" Target="slides/slide245.xml"/><Relationship Id="rId130" Type="http://schemas.openxmlformats.org/officeDocument/2006/relationships/slide" Target="slides/slide123.xml"/><Relationship Id="rId251" Type="http://schemas.openxmlformats.org/officeDocument/2006/relationships/slide" Target="slides/slide244.xml"/><Relationship Id="rId250" Type="http://schemas.openxmlformats.org/officeDocument/2006/relationships/slide" Target="slides/slide243.xml"/><Relationship Id="rId136" Type="http://schemas.openxmlformats.org/officeDocument/2006/relationships/slide" Target="slides/slide129.xml"/><Relationship Id="rId257" Type="http://schemas.openxmlformats.org/officeDocument/2006/relationships/slide" Target="slides/slide250.xml"/><Relationship Id="rId135" Type="http://schemas.openxmlformats.org/officeDocument/2006/relationships/slide" Target="slides/slide128.xml"/><Relationship Id="rId256" Type="http://schemas.openxmlformats.org/officeDocument/2006/relationships/slide" Target="slides/slide249.xml"/><Relationship Id="rId134" Type="http://schemas.openxmlformats.org/officeDocument/2006/relationships/slide" Target="slides/slide127.xml"/><Relationship Id="rId255" Type="http://schemas.openxmlformats.org/officeDocument/2006/relationships/slide" Target="slides/slide248.xml"/><Relationship Id="rId133" Type="http://schemas.openxmlformats.org/officeDocument/2006/relationships/slide" Target="slides/slide126.xml"/><Relationship Id="rId254" Type="http://schemas.openxmlformats.org/officeDocument/2006/relationships/slide" Target="slides/slide247.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293" Type="http://schemas.openxmlformats.org/officeDocument/2006/relationships/slide" Target="slides/slide286.xml"/><Relationship Id="rId65" Type="http://schemas.openxmlformats.org/officeDocument/2006/relationships/slide" Target="slides/slide58.xml"/><Relationship Id="rId171" Type="http://schemas.openxmlformats.org/officeDocument/2006/relationships/slide" Target="slides/slide164.xml"/><Relationship Id="rId292" Type="http://schemas.openxmlformats.org/officeDocument/2006/relationships/slide" Target="slides/slide285.xml"/><Relationship Id="rId68" Type="http://schemas.openxmlformats.org/officeDocument/2006/relationships/slide" Target="slides/slide61.xml"/><Relationship Id="rId170" Type="http://schemas.openxmlformats.org/officeDocument/2006/relationships/slide" Target="slides/slide163.xml"/><Relationship Id="rId291" Type="http://schemas.openxmlformats.org/officeDocument/2006/relationships/slide" Target="slides/slide284.xml"/><Relationship Id="rId67" Type="http://schemas.openxmlformats.org/officeDocument/2006/relationships/slide" Target="slides/slide60.xml"/><Relationship Id="rId290" Type="http://schemas.openxmlformats.org/officeDocument/2006/relationships/slide" Target="slides/slide283.xml"/><Relationship Id="rId60" Type="http://schemas.openxmlformats.org/officeDocument/2006/relationships/slide" Target="slides/slide53.xml"/><Relationship Id="rId165" Type="http://schemas.openxmlformats.org/officeDocument/2006/relationships/slide" Target="slides/slide158.xml"/><Relationship Id="rId286" Type="http://schemas.openxmlformats.org/officeDocument/2006/relationships/slide" Target="slides/slide279.xml"/><Relationship Id="rId69" Type="http://schemas.openxmlformats.org/officeDocument/2006/relationships/slide" Target="slides/slide62.xml"/><Relationship Id="rId164" Type="http://schemas.openxmlformats.org/officeDocument/2006/relationships/slide" Target="slides/slide157.xml"/><Relationship Id="rId285" Type="http://schemas.openxmlformats.org/officeDocument/2006/relationships/slide" Target="slides/slide278.xml"/><Relationship Id="rId163" Type="http://schemas.openxmlformats.org/officeDocument/2006/relationships/slide" Target="slides/slide156.xml"/><Relationship Id="rId284" Type="http://schemas.openxmlformats.org/officeDocument/2006/relationships/slide" Target="slides/slide277.xml"/><Relationship Id="rId162" Type="http://schemas.openxmlformats.org/officeDocument/2006/relationships/slide" Target="slides/slide155.xml"/><Relationship Id="rId283" Type="http://schemas.openxmlformats.org/officeDocument/2006/relationships/slide" Target="slides/slide276.xml"/><Relationship Id="rId169" Type="http://schemas.openxmlformats.org/officeDocument/2006/relationships/slide" Target="slides/slide162.xml"/><Relationship Id="rId168" Type="http://schemas.openxmlformats.org/officeDocument/2006/relationships/slide" Target="slides/slide161.xml"/><Relationship Id="rId289" Type="http://schemas.openxmlformats.org/officeDocument/2006/relationships/slide" Target="slides/slide282.xml"/><Relationship Id="rId167" Type="http://schemas.openxmlformats.org/officeDocument/2006/relationships/slide" Target="slides/slide160.xml"/><Relationship Id="rId288" Type="http://schemas.openxmlformats.org/officeDocument/2006/relationships/slide" Target="slides/slide281.xml"/><Relationship Id="rId166" Type="http://schemas.openxmlformats.org/officeDocument/2006/relationships/slide" Target="slides/slide159.xml"/><Relationship Id="rId287" Type="http://schemas.openxmlformats.org/officeDocument/2006/relationships/slide" Target="slides/slide280.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282" Type="http://schemas.openxmlformats.org/officeDocument/2006/relationships/slide" Target="slides/slide275.xml"/><Relationship Id="rId54" Type="http://schemas.openxmlformats.org/officeDocument/2006/relationships/slide" Target="slides/slide47.xml"/><Relationship Id="rId160" Type="http://schemas.openxmlformats.org/officeDocument/2006/relationships/slide" Target="slides/slide153.xml"/><Relationship Id="rId281" Type="http://schemas.openxmlformats.org/officeDocument/2006/relationships/slide" Target="slides/slide274.xml"/><Relationship Id="rId57" Type="http://schemas.openxmlformats.org/officeDocument/2006/relationships/slide" Target="slides/slide50.xml"/><Relationship Id="rId280" Type="http://schemas.openxmlformats.org/officeDocument/2006/relationships/slide" Target="slides/slide273.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275" Type="http://schemas.openxmlformats.org/officeDocument/2006/relationships/slide" Target="slides/slide268.xml"/><Relationship Id="rId58" Type="http://schemas.openxmlformats.org/officeDocument/2006/relationships/slide" Target="slides/slide51.xml"/><Relationship Id="rId153" Type="http://schemas.openxmlformats.org/officeDocument/2006/relationships/slide" Target="slides/slide146.xml"/><Relationship Id="rId274" Type="http://schemas.openxmlformats.org/officeDocument/2006/relationships/slide" Target="slides/slide267.xml"/><Relationship Id="rId152" Type="http://schemas.openxmlformats.org/officeDocument/2006/relationships/slide" Target="slides/slide145.xml"/><Relationship Id="rId273" Type="http://schemas.openxmlformats.org/officeDocument/2006/relationships/slide" Target="slides/slide266.xml"/><Relationship Id="rId151" Type="http://schemas.openxmlformats.org/officeDocument/2006/relationships/slide" Target="slides/slide144.xml"/><Relationship Id="rId272" Type="http://schemas.openxmlformats.org/officeDocument/2006/relationships/slide" Target="slides/slide265.xml"/><Relationship Id="rId158" Type="http://schemas.openxmlformats.org/officeDocument/2006/relationships/slide" Target="slides/slide151.xml"/><Relationship Id="rId279" Type="http://schemas.openxmlformats.org/officeDocument/2006/relationships/slide" Target="slides/slide272.xml"/><Relationship Id="rId157" Type="http://schemas.openxmlformats.org/officeDocument/2006/relationships/slide" Target="slides/slide150.xml"/><Relationship Id="rId278" Type="http://schemas.openxmlformats.org/officeDocument/2006/relationships/slide" Target="slides/slide271.xml"/><Relationship Id="rId156" Type="http://schemas.openxmlformats.org/officeDocument/2006/relationships/slide" Target="slides/slide149.xml"/><Relationship Id="rId277" Type="http://schemas.openxmlformats.org/officeDocument/2006/relationships/slide" Target="slides/slide270.xml"/><Relationship Id="rId155" Type="http://schemas.openxmlformats.org/officeDocument/2006/relationships/slide" Target="slides/slide148.xml"/><Relationship Id="rId276" Type="http://schemas.openxmlformats.org/officeDocument/2006/relationships/slide" Target="slides/slide269.xml"/><Relationship Id="rId107" Type="http://schemas.openxmlformats.org/officeDocument/2006/relationships/slide" Target="slides/slide100.xml"/><Relationship Id="rId228" Type="http://schemas.openxmlformats.org/officeDocument/2006/relationships/slide" Target="slides/slide221.xml"/><Relationship Id="rId106" Type="http://schemas.openxmlformats.org/officeDocument/2006/relationships/slide" Target="slides/slide99.xml"/><Relationship Id="rId227" Type="http://schemas.openxmlformats.org/officeDocument/2006/relationships/slide" Target="slides/slide220.xml"/><Relationship Id="rId105" Type="http://schemas.openxmlformats.org/officeDocument/2006/relationships/slide" Target="slides/slide98.xml"/><Relationship Id="rId226" Type="http://schemas.openxmlformats.org/officeDocument/2006/relationships/slide" Target="slides/slide219.xml"/><Relationship Id="rId104" Type="http://schemas.openxmlformats.org/officeDocument/2006/relationships/slide" Target="slides/slide97.xml"/><Relationship Id="rId225" Type="http://schemas.openxmlformats.org/officeDocument/2006/relationships/slide" Target="slides/slide218.xml"/><Relationship Id="rId109" Type="http://schemas.openxmlformats.org/officeDocument/2006/relationships/slide" Target="slides/slide102.xml"/><Relationship Id="rId108" Type="http://schemas.openxmlformats.org/officeDocument/2006/relationships/slide" Target="slides/slide101.xml"/><Relationship Id="rId229" Type="http://schemas.openxmlformats.org/officeDocument/2006/relationships/slide" Target="slides/slide222.xml"/><Relationship Id="rId220" Type="http://schemas.openxmlformats.org/officeDocument/2006/relationships/slide" Target="slides/slide213.xml"/><Relationship Id="rId103" Type="http://schemas.openxmlformats.org/officeDocument/2006/relationships/slide" Target="slides/slide96.xml"/><Relationship Id="rId224" Type="http://schemas.openxmlformats.org/officeDocument/2006/relationships/slide" Target="slides/slide217.xml"/><Relationship Id="rId102" Type="http://schemas.openxmlformats.org/officeDocument/2006/relationships/slide" Target="slides/slide95.xml"/><Relationship Id="rId223" Type="http://schemas.openxmlformats.org/officeDocument/2006/relationships/slide" Target="slides/slide216.xml"/><Relationship Id="rId101" Type="http://schemas.openxmlformats.org/officeDocument/2006/relationships/slide" Target="slides/slide94.xml"/><Relationship Id="rId222" Type="http://schemas.openxmlformats.org/officeDocument/2006/relationships/slide" Target="slides/slide215.xml"/><Relationship Id="rId100" Type="http://schemas.openxmlformats.org/officeDocument/2006/relationships/slide" Target="slides/slide93.xml"/><Relationship Id="rId221" Type="http://schemas.openxmlformats.org/officeDocument/2006/relationships/slide" Target="slides/slide214.xml"/><Relationship Id="rId217" Type="http://schemas.openxmlformats.org/officeDocument/2006/relationships/slide" Target="slides/slide210.xml"/><Relationship Id="rId216" Type="http://schemas.openxmlformats.org/officeDocument/2006/relationships/slide" Target="slides/slide209.xml"/><Relationship Id="rId215" Type="http://schemas.openxmlformats.org/officeDocument/2006/relationships/slide" Target="slides/slide208.xml"/><Relationship Id="rId214" Type="http://schemas.openxmlformats.org/officeDocument/2006/relationships/slide" Target="slides/slide207.xml"/><Relationship Id="rId219" Type="http://schemas.openxmlformats.org/officeDocument/2006/relationships/slide" Target="slides/slide212.xml"/><Relationship Id="rId218" Type="http://schemas.openxmlformats.org/officeDocument/2006/relationships/slide" Target="slides/slide211.xml"/><Relationship Id="rId213" Type="http://schemas.openxmlformats.org/officeDocument/2006/relationships/slide" Target="slides/slide206.xml"/><Relationship Id="rId212" Type="http://schemas.openxmlformats.org/officeDocument/2006/relationships/slide" Target="slides/slide205.xml"/><Relationship Id="rId211" Type="http://schemas.openxmlformats.org/officeDocument/2006/relationships/slide" Target="slides/slide204.xml"/><Relationship Id="rId210" Type="http://schemas.openxmlformats.org/officeDocument/2006/relationships/slide" Target="slides/slide203.xml"/><Relationship Id="rId129" Type="http://schemas.openxmlformats.org/officeDocument/2006/relationships/slide" Target="slides/slide122.xml"/><Relationship Id="rId128" Type="http://schemas.openxmlformats.org/officeDocument/2006/relationships/slide" Target="slides/slide121.xml"/><Relationship Id="rId249" Type="http://schemas.openxmlformats.org/officeDocument/2006/relationships/slide" Target="slides/slide242.xml"/><Relationship Id="rId127" Type="http://schemas.openxmlformats.org/officeDocument/2006/relationships/slide" Target="slides/slide120.xml"/><Relationship Id="rId248" Type="http://schemas.openxmlformats.org/officeDocument/2006/relationships/slide" Target="slides/slide241.xml"/><Relationship Id="rId126" Type="http://schemas.openxmlformats.org/officeDocument/2006/relationships/slide" Target="slides/slide119.xml"/><Relationship Id="rId247" Type="http://schemas.openxmlformats.org/officeDocument/2006/relationships/slide" Target="slides/slide240.xml"/><Relationship Id="rId121" Type="http://schemas.openxmlformats.org/officeDocument/2006/relationships/slide" Target="slides/slide114.xml"/><Relationship Id="rId242" Type="http://schemas.openxmlformats.org/officeDocument/2006/relationships/slide" Target="slides/slide235.xml"/><Relationship Id="rId120" Type="http://schemas.openxmlformats.org/officeDocument/2006/relationships/slide" Target="slides/slide113.xml"/><Relationship Id="rId241" Type="http://schemas.openxmlformats.org/officeDocument/2006/relationships/slide" Target="slides/slide234.xml"/><Relationship Id="rId240" Type="http://schemas.openxmlformats.org/officeDocument/2006/relationships/slide" Target="slides/slide233.xml"/><Relationship Id="rId125" Type="http://schemas.openxmlformats.org/officeDocument/2006/relationships/slide" Target="slides/slide118.xml"/><Relationship Id="rId246" Type="http://schemas.openxmlformats.org/officeDocument/2006/relationships/slide" Target="slides/slide239.xml"/><Relationship Id="rId124" Type="http://schemas.openxmlformats.org/officeDocument/2006/relationships/slide" Target="slides/slide117.xml"/><Relationship Id="rId245" Type="http://schemas.openxmlformats.org/officeDocument/2006/relationships/slide" Target="slides/slide238.xml"/><Relationship Id="rId123" Type="http://schemas.openxmlformats.org/officeDocument/2006/relationships/slide" Target="slides/slide116.xml"/><Relationship Id="rId244" Type="http://schemas.openxmlformats.org/officeDocument/2006/relationships/slide" Target="slides/slide237.xml"/><Relationship Id="rId122" Type="http://schemas.openxmlformats.org/officeDocument/2006/relationships/slide" Target="slides/slide115.xml"/><Relationship Id="rId243" Type="http://schemas.openxmlformats.org/officeDocument/2006/relationships/slide" Target="slides/slide236.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239" Type="http://schemas.openxmlformats.org/officeDocument/2006/relationships/slide" Target="slides/slide232.xml"/><Relationship Id="rId117" Type="http://schemas.openxmlformats.org/officeDocument/2006/relationships/slide" Target="slides/slide110.xml"/><Relationship Id="rId238" Type="http://schemas.openxmlformats.org/officeDocument/2006/relationships/slide" Target="slides/slide231.xml"/><Relationship Id="rId116" Type="http://schemas.openxmlformats.org/officeDocument/2006/relationships/slide" Target="slides/slide109.xml"/><Relationship Id="rId237" Type="http://schemas.openxmlformats.org/officeDocument/2006/relationships/slide" Target="slides/slide230.xml"/><Relationship Id="rId115" Type="http://schemas.openxmlformats.org/officeDocument/2006/relationships/slide" Target="slides/slide108.xml"/><Relationship Id="rId236" Type="http://schemas.openxmlformats.org/officeDocument/2006/relationships/slide" Target="slides/slide229.xml"/><Relationship Id="rId119" Type="http://schemas.openxmlformats.org/officeDocument/2006/relationships/slide" Target="slides/slide112.xml"/><Relationship Id="rId110" Type="http://schemas.openxmlformats.org/officeDocument/2006/relationships/slide" Target="slides/slide103.xml"/><Relationship Id="rId231" Type="http://schemas.openxmlformats.org/officeDocument/2006/relationships/slide" Target="slides/slide224.xml"/><Relationship Id="rId230" Type="http://schemas.openxmlformats.org/officeDocument/2006/relationships/slide" Target="slides/slide223.xml"/><Relationship Id="rId114" Type="http://schemas.openxmlformats.org/officeDocument/2006/relationships/slide" Target="slides/slide107.xml"/><Relationship Id="rId235" Type="http://schemas.openxmlformats.org/officeDocument/2006/relationships/slide" Target="slides/slide228.xml"/><Relationship Id="rId113" Type="http://schemas.openxmlformats.org/officeDocument/2006/relationships/slide" Target="slides/slide106.xml"/><Relationship Id="rId234" Type="http://schemas.openxmlformats.org/officeDocument/2006/relationships/slide" Target="slides/slide227.xml"/><Relationship Id="rId112" Type="http://schemas.openxmlformats.org/officeDocument/2006/relationships/slide" Target="slides/slide105.xml"/><Relationship Id="rId233" Type="http://schemas.openxmlformats.org/officeDocument/2006/relationships/slide" Target="slides/slide226.xml"/><Relationship Id="rId111" Type="http://schemas.openxmlformats.org/officeDocument/2006/relationships/slide" Target="slides/slide104.xml"/><Relationship Id="rId232" Type="http://schemas.openxmlformats.org/officeDocument/2006/relationships/slide" Target="slides/slide225.xml"/><Relationship Id="rId305" Type="http://schemas.openxmlformats.org/officeDocument/2006/relationships/slide" Target="slides/slide298.xml"/><Relationship Id="rId304" Type="http://schemas.openxmlformats.org/officeDocument/2006/relationships/slide" Target="slides/slide297.xml"/><Relationship Id="rId303" Type="http://schemas.openxmlformats.org/officeDocument/2006/relationships/slide" Target="slides/slide296.xml"/><Relationship Id="rId302" Type="http://schemas.openxmlformats.org/officeDocument/2006/relationships/slide" Target="slides/slide295.xml"/><Relationship Id="rId309" Type="http://schemas.openxmlformats.org/officeDocument/2006/relationships/font" Target="fonts/HelveticaNeue-regular.fntdata"/><Relationship Id="rId308" Type="http://schemas.openxmlformats.org/officeDocument/2006/relationships/font" Target="fonts/NotoSansSymbols-bold.fntdata"/><Relationship Id="rId307" Type="http://schemas.openxmlformats.org/officeDocument/2006/relationships/font" Target="fonts/NotoSansSymbols-regular.fntdata"/><Relationship Id="rId306" Type="http://schemas.openxmlformats.org/officeDocument/2006/relationships/slide" Target="slides/slide299.xml"/><Relationship Id="rId301" Type="http://schemas.openxmlformats.org/officeDocument/2006/relationships/slide" Target="slides/slide294.xml"/><Relationship Id="rId300" Type="http://schemas.openxmlformats.org/officeDocument/2006/relationships/slide" Target="slides/slide293.xml"/><Relationship Id="rId206" Type="http://schemas.openxmlformats.org/officeDocument/2006/relationships/slide" Target="slides/slide199.xml"/><Relationship Id="rId205" Type="http://schemas.openxmlformats.org/officeDocument/2006/relationships/slide" Target="slides/slide198.xml"/><Relationship Id="rId204" Type="http://schemas.openxmlformats.org/officeDocument/2006/relationships/slide" Target="slides/slide197.xml"/><Relationship Id="rId203" Type="http://schemas.openxmlformats.org/officeDocument/2006/relationships/slide" Target="slides/slide196.xml"/><Relationship Id="rId209" Type="http://schemas.openxmlformats.org/officeDocument/2006/relationships/slide" Target="slides/slide202.xml"/><Relationship Id="rId208" Type="http://schemas.openxmlformats.org/officeDocument/2006/relationships/slide" Target="slides/slide201.xml"/><Relationship Id="rId207" Type="http://schemas.openxmlformats.org/officeDocument/2006/relationships/slide" Target="slides/slide200.xml"/><Relationship Id="rId202" Type="http://schemas.openxmlformats.org/officeDocument/2006/relationships/slide" Target="slides/slide195.xml"/><Relationship Id="rId201" Type="http://schemas.openxmlformats.org/officeDocument/2006/relationships/slide" Target="slides/slide194.xml"/><Relationship Id="rId200" Type="http://schemas.openxmlformats.org/officeDocument/2006/relationships/slide" Target="slides/slide193.xml"/><Relationship Id="rId313" Type="http://customschemas.google.com/relationships/presentationmetadata" Target="metadata"/><Relationship Id="rId312" Type="http://schemas.openxmlformats.org/officeDocument/2006/relationships/font" Target="fonts/HelveticaNeue-boldItalic.fntdata"/><Relationship Id="rId311" Type="http://schemas.openxmlformats.org/officeDocument/2006/relationships/font" Target="fonts/HelveticaNeue-italic.fntdata"/><Relationship Id="rId310" Type="http://schemas.openxmlformats.org/officeDocument/2006/relationships/font" Target="fonts/HelveticaNeu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rgbClr val="000000"/>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rgbClr val="000000"/>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rgbClr val="000000"/>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rgbClr val="000000"/>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0" name="Google Shape;76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 name="Google Shape;96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 name="Google Shape;97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9" name="Google Shape;1019;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7" name="Google Shape;1077;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5" name="Google Shape;111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3" name="Google Shape;114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1" name="Google Shape;119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general, given m transactions with number of operations n1, n2, ..., nm, the number of possible schedules is: (n1 + n2 + ... + nm)! / (n1! * n2! * ... * nm!), where ! is the factorial function. In our case, m =2 and n1 = 5 and n2 = 3, so the number of possible schedules is:(5+3)! / (5! * 3!) = 8*7*6*5*4*3*2*1/ 5*4*3*2*1*3*2*1 = 56.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5" name="Google Shape;1215;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6" name="Google Shape;122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3" name="Google Shape;123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0" name="Google Shape;1250;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8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6" name="Google Shape;1266;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3" name="Google Shape;1283;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2" name="Google Shape;130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8" name="Google Shape;1318;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1" name="Google Shape;1351;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3" name="Google Shape;1373;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7" name="Google Shape;1397;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p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9" name="Google Shape;1419;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1" name="Google Shape;1441;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1" name="Google Shape;1451;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p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9" name="Google Shape;1459;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p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7" name="Google Shape;1467;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p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5" name="Google Shape;1475;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3" name="Google Shape;1483;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p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1" name="Google Shape;149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p9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9" name="Google Shape;1499;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8" name="Google Shape;1508;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p10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6" name="Google Shape;1516;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10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2" name="Google Shape;1532;p10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the transaction ends, it moves to partially committed state. At this point, some recovery protocols need to ensure that a system failure will not result in an inability to record changes of the transaction permanently. Once this check is successful, the transaction is said to have reached its commit point and enters the committed state.</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p1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1" name="Google Shape;1541;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p10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9" name="Google Shape;1549;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p1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7" name="Google Shape;1557;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5" name="Google Shape;1565;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3" name="Google Shape;1573;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p1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3" name="Google Shape;1583;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5" name="Google Shape;1595;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1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8" name="Google Shape;1608;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p1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8" name="Google Shape;1618;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p1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9" name="Google Shape;1639;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9" name="Google Shape;1649;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1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7" name="Google Shape;1667;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p1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5" name="Google Shape;1675;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1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1" name="Google Shape;1691;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p1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0" name="Google Shape;1710;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1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3" name="Google Shape;1733;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1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1" name="Google Shape;1741;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p1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9" name="Google Shape;1749;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1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2" name="Google Shape;1762;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5" name="Google Shape;1775;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p1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8" name="Google Shape;1788;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p1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1" name="Google Shape;1801;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p1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4" name="Google Shape;1814;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p1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8" name="Google Shape;1828;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p1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2" name="Google Shape;1842;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1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6" name="Google Shape;1856;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p1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5" name="Google Shape;1865;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p1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3" name="Google Shape;1873;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p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3" name="Google Shape;1883;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p1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0" name="Google Shape;1910;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1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8" name="Google Shape;1918;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p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6" name="Google Shape;1926;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p1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1" name="Google Shape;1951;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7" name="Shape 1977"/>
        <p:cNvGrpSpPr/>
        <p:nvPr/>
      </p:nvGrpSpPr>
      <p:grpSpPr>
        <a:xfrm>
          <a:off x="0" y="0"/>
          <a:ext cx="0" cy="0"/>
          <a:chOff x="0" y="0"/>
          <a:chExt cx="0" cy="0"/>
        </a:xfrm>
      </p:grpSpPr>
      <p:sp>
        <p:nvSpPr>
          <p:cNvPr id="1978" name="Google Shape;1978;p1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9" name="Google Shape;1979;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p1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9" name="Google Shape;2009;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p1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5" name="Google Shape;2045;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1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2" name="Google Shape;2082;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1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2" name="Google Shape;2092;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p1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1" name="Google Shape;2121;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p1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9" name="Google Shape;2129;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1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1" name="Google Shape;2141;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p1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9" name="Google Shape;2149;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p1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8" name="Google Shape;2158;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4" name="Shape 2164"/>
        <p:cNvGrpSpPr/>
        <p:nvPr/>
      </p:nvGrpSpPr>
      <p:grpSpPr>
        <a:xfrm>
          <a:off x="0" y="0"/>
          <a:ext cx="0" cy="0"/>
          <a:chOff x="0" y="0"/>
          <a:chExt cx="0" cy="0"/>
        </a:xfrm>
      </p:grpSpPr>
      <p:sp>
        <p:nvSpPr>
          <p:cNvPr id="2165" name="Google Shape;2165;p1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6" name="Google Shape;2166;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p1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4" name="Google Shape;2174;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1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2" name="Google Shape;2182;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9" name="Shape 2189"/>
        <p:cNvGrpSpPr/>
        <p:nvPr/>
      </p:nvGrpSpPr>
      <p:grpSpPr>
        <a:xfrm>
          <a:off x="0" y="0"/>
          <a:ext cx="0" cy="0"/>
          <a:chOff x="0" y="0"/>
          <a:chExt cx="0" cy="0"/>
        </a:xfrm>
      </p:grpSpPr>
      <p:sp>
        <p:nvSpPr>
          <p:cNvPr id="2190" name="Google Shape;2190;p1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1" name="Google Shape;2191;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p1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0" name="Google Shape;2200;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p1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0" name="Google Shape;2210;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p1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3" name="Google Shape;2223;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1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7" name="Google Shape;2237;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9" name="Shape 2249"/>
        <p:cNvGrpSpPr/>
        <p:nvPr/>
      </p:nvGrpSpPr>
      <p:grpSpPr>
        <a:xfrm>
          <a:off x="0" y="0"/>
          <a:ext cx="0" cy="0"/>
          <a:chOff x="0" y="0"/>
          <a:chExt cx="0" cy="0"/>
        </a:xfrm>
      </p:grpSpPr>
      <p:sp>
        <p:nvSpPr>
          <p:cNvPr id="2250" name="Google Shape;2250;p1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1" name="Google Shape;2251;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p1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5" name="Google Shape;2265;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1" name="Shape 2271"/>
        <p:cNvGrpSpPr/>
        <p:nvPr/>
      </p:nvGrpSpPr>
      <p:grpSpPr>
        <a:xfrm>
          <a:off x="0" y="0"/>
          <a:ext cx="0" cy="0"/>
          <a:chOff x="0" y="0"/>
          <a:chExt cx="0" cy="0"/>
        </a:xfrm>
      </p:grpSpPr>
      <p:sp>
        <p:nvSpPr>
          <p:cNvPr id="2272" name="Google Shape;2272;p1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3" name="Google Shape;2273;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p1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4" name="Google Shape;2284;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0" name="Shape 2290"/>
        <p:cNvGrpSpPr/>
        <p:nvPr/>
      </p:nvGrpSpPr>
      <p:grpSpPr>
        <a:xfrm>
          <a:off x="0" y="0"/>
          <a:ext cx="0" cy="0"/>
          <a:chOff x="0" y="0"/>
          <a:chExt cx="0" cy="0"/>
        </a:xfrm>
      </p:grpSpPr>
      <p:sp>
        <p:nvSpPr>
          <p:cNvPr id="2291" name="Google Shape;2291;p1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2" name="Google Shape;2292;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0" name="Google Shape;2300;p1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rgbClr val="000000"/>
              </a:buClr>
              <a:buSzPts val="1200"/>
              <a:buFont typeface="Calibri"/>
              <a:buAutoNum type="arabicPeriod"/>
            </a:pPr>
            <a:r>
              <a:rPr lang="en-US"/>
              <a:t>Recoverable Schedule </a:t>
            </a:r>
            <a:endParaRPr/>
          </a:p>
          <a:p>
            <a:pPr indent="-457200" lvl="0" marL="457200" rtl="0" algn="l">
              <a:spcBef>
                <a:spcPts val="0"/>
              </a:spcBef>
              <a:spcAft>
                <a:spcPts val="0"/>
              </a:spcAft>
              <a:buClr>
                <a:srgbClr val="000000"/>
              </a:buClr>
              <a:buSzPts val="1200"/>
              <a:buFont typeface="Calibri"/>
              <a:buAutoNum type="arabicPeriod"/>
            </a:pPr>
            <a:r>
              <a:rPr lang="en-US"/>
              <a:t>Cascading Rollback or Cascading Abort</a:t>
            </a:r>
            <a:endParaRPr/>
          </a:p>
          <a:p>
            <a:pPr indent="-457200" lvl="0" marL="457200" rtl="0" algn="l">
              <a:spcBef>
                <a:spcPts val="0"/>
              </a:spcBef>
              <a:spcAft>
                <a:spcPts val="0"/>
              </a:spcAft>
              <a:buClr>
                <a:srgbClr val="000000"/>
              </a:buClr>
              <a:buSzPts val="1200"/>
              <a:buFont typeface="Calibri"/>
              <a:buAutoNum type="arabicPeriod"/>
            </a:pPr>
            <a:r>
              <a:rPr lang="en-US"/>
              <a:t>Cascadeless or Avoid Cascading Rollback schedule </a:t>
            </a:r>
            <a:endParaRPr/>
          </a:p>
          <a:p>
            <a:pPr indent="-457200" lvl="0" marL="457200" rtl="0" algn="l">
              <a:spcBef>
                <a:spcPts val="0"/>
              </a:spcBef>
              <a:spcAft>
                <a:spcPts val="0"/>
              </a:spcAft>
              <a:buClr>
                <a:srgbClr val="000000"/>
              </a:buClr>
              <a:buSzPts val="1200"/>
              <a:buFont typeface="Calibri"/>
              <a:buAutoNum type="arabicPeriod"/>
            </a:pPr>
            <a:r>
              <a:rPr lang="en-US"/>
              <a:t>Strict Schedules</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p1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8" name="Google Shape;2308;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p1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6" name="Google Shape;2316;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1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7" name="Google Shape;2327;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1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0" name="Google Shape;2340;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p1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0" name="Google Shape;2350;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p1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3" name="Google Shape;2363;p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1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1" name="Google Shape;2381;p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p1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1" name="Google Shape;2391;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0" name="Shape 2400"/>
        <p:cNvGrpSpPr/>
        <p:nvPr/>
      </p:nvGrpSpPr>
      <p:grpSpPr>
        <a:xfrm>
          <a:off x="0" y="0"/>
          <a:ext cx="0" cy="0"/>
          <a:chOff x="0" y="0"/>
          <a:chExt cx="0" cy="0"/>
        </a:xfrm>
      </p:grpSpPr>
      <p:sp>
        <p:nvSpPr>
          <p:cNvPr id="2401" name="Google Shape;2401;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2" name="Google Shape;2402;p1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https://www.youtube.com/watch?v=pshqwLNoMuc</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1" name="Google Shape;2411;p1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https://www.youtube.com/watch?v=pshqwLNoMuc</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3" name="Shape 2423"/>
        <p:cNvGrpSpPr/>
        <p:nvPr/>
      </p:nvGrpSpPr>
      <p:grpSpPr>
        <a:xfrm>
          <a:off x="0" y="0"/>
          <a:ext cx="0" cy="0"/>
          <a:chOff x="0" y="0"/>
          <a:chExt cx="0" cy="0"/>
        </a:xfrm>
      </p:grpSpPr>
      <p:sp>
        <p:nvSpPr>
          <p:cNvPr id="2424" name="Google Shape;2424;p1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5" name="Google Shape;2425;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p1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5" name="Google Shape;2435;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7" name="Google Shape;2447;p1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rgbClr val="000000"/>
              </a:buClr>
              <a:buSzPts val="1200"/>
              <a:buFont typeface="Calibri"/>
              <a:buAutoNum type="arabicPeriod"/>
            </a:pPr>
            <a:r>
              <a:rPr lang="en-US"/>
              <a:t>Recoverable Schedule </a:t>
            </a:r>
            <a:endParaRPr/>
          </a:p>
          <a:p>
            <a:pPr indent="-457200" lvl="0" marL="457200" rtl="0" algn="l">
              <a:spcBef>
                <a:spcPts val="0"/>
              </a:spcBef>
              <a:spcAft>
                <a:spcPts val="0"/>
              </a:spcAft>
              <a:buClr>
                <a:srgbClr val="000000"/>
              </a:buClr>
              <a:buSzPts val="1200"/>
              <a:buFont typeface="Calibri"/>
              <a:buAutoNum type="arabicPeriod"/>
            </a:pPr>
            <a:r>
              <a:rPr lang="en-US"/>
              <a:t>Cascading Rollback or Cascading Abort</a:t>
            </a:r>
            <a:endParaRPr/>
          </a:p>
          <a:p>
            <a:pPr indent="-457200" lvl="0" marL="457200" rtl="0" algn="l">
              <a:spcBef>
                <a:spcPts val="0"/>
              </a:spcBef>
              <a:spcAft>
                <a:spcPts val="0"/>
              </a:spcAft>
              <a:buClr>
                <a:srgbClr val="000000"/>
              </a:buClr>
              <a:buSzPts val="1200"/>
              <a:buFont typeface="Calibri"/>
              <a:buAutoNum type="arabicPeriod"/>
            </a:pPr>
            <a:r>
              <a:rPr lang="en-US"/>
              <a:t>Cascadeless or Avoid Cascading Rollback schedule </a:t>
            </a:r>
            <a:endParaRPr/>
          </a:p>
          <a:p>
            <a:pPr indent="-457200" lvl="0" marL="457200" rtl="0" algn="l">
              <a:spcBef>
                <a:spcPts val="0"/>
              </a:spcBef>
              <a:spcAft>
                <a:spcPts val="0"/>
              </a:spcAft>
              <a:buClr>
                <a:srgbClr val="000000"/>
              </a:buClr>
              <a:buSzPts val="1200"/>
              <a:buFont typeface="Calibri"/>
              <a:buAutoNum type="arabicPeriod"/>
            </a:pPr>
            <a:r>
              <a:rPr lang="en-US"/>
              <a:t>Strict Schedules</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3" name="Shape 2453"/>
        <p:cNvGrpSpPr/>
        <p:nvPr/>
      </p:nvGrpSpPr>
      <p:grpSpPr>
        <a:xfrm>
          <a:off x="0" y="0"/>
          <a:ext cx="0" cy="0"/>
          <a:chOff x="0" y="0"/>
          <a:chExt cx="0" cy="0"/>
        </a:xfrm>
      </p:grpSpPr>
      <p:sp>
        <p:nvSpPr>
          <p:cNvPr id="2454" name="Google Shape;2454;p1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5" name="Google Shape;2455;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4" name="Shape 2464"/>
        <p:cNvGrpSpPr/>
        <p:nvPr/>
      </p:nvGrpSpPr>
      <p:grpSpPr>
        <a:xfrm>
          <a:off x="0" y="0"/>
          <a:ext cx="0" cy="0"/>
          <a:chOff x="0" y="0"/>
          <a:chExt cx="0" cy="0"/>
        </a:xfrm>
      </p:grpSpPr>
      <p:sp>
        <p:nvSpPr>
          <p:cNvPr id="2465" name="Google Shape;2465;p1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6" name="Google Shape;2466;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9" name="Shape 2479"/>
        <p:cNvGrpSpPr/>
        <p:nvPr/>
      </p:nvGrpSpPr>
      <p:grpSpPr>
        <a:xfrm>
          <a:off x="0" y="0"/>
          <a:ext cx="0" cy="0"/>
          <a:chOff x="0" y="0"/>
          <a:chExt cx="0" cy="0"/>
        </a:xfrm>
      </p:grpSpPr>
      <p:sp>
        <p:nvSpPr>
          <p:cNvPr id="2480" name="Google Shape;2480;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1" name="Google Shape;2481;p1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where a rollback does not cascade to other transactions</a:t>
            </a:r>
            <a:endParaRPr/>
          </a:p>
          <a:p>
            <a:pPr indent="0" lvl="0" marL="0" rtl="0" algn="l">
              <a:spcBef>
                <a:spcPts val="0"/>
              </a:spcBef>
              <a:spcAft>
                <a:spcPts val="0"/>
              </a:spcAft>
              <a:buNone/>
            </a:pPr>
            <a:r>
              <a:rPr b="1" lang="en-US"/>
              <a:t>Why is this necessary? Rollbacks are Costly!</a:t>
            </a:r>
            <a:endParaRPr/>
          </a:p>
          <a:p>
            <a:pPr indent="0" lvl="0" marL="0" rtl="0" algn="l">
              <a:spcBef>
                <a:spcPts val="0"/>
              </a:spcBef>
              <a:spcAft>
                <a:spcPts val="0"/>
              </a:spcAft>
              <a:buNone/>
            </a:pPr>
            <a:r>
              <a:rPr lang="en-US"/>
              <a:t>–</a:t>
            </a:r>
            <a:r>
              <a:rPr b="1" lang="en-US"/>
              <a:t>How can we achieve it? </a:t>
            </a:r>
            <a:r>
              <a:rPr lang="en-US"/>
              <a:t>Every transaction </a:t>
            </a:r>
            <a:r>
              <a:rPr b="1" lang="en-US"/>
              <a:t>reads </a:t>
            </a:r>
            <a:r>
              <a:rPr lang="en-US"/>
              <a:t>only the items that are </a:t>
            </a:r>
            <a:r>
              <a:rPr b="1" lang="en-US"/>
              <a:t>written </a:t>
            </a:r>
            <a:r>
              <a:rPr lang="en-US"/>
              <a:t>by </a:t>
            </a:r>
            <a:r>
              <a:rPr b="1" lang="en-US"/>
              <a:t>committed </a:t>
            </a:r>
            <a:r>
              <a:rPr lang="en-US"/>
              <a:t>transactions.</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0" name="Shape 2490"/>
        <p:cNvGrpSpPr/>
        <p:nvPr/>
      </p:nvGrpSpPr>
      <p:grpSpPr>
        <a:xfrm>
          <a:off x="0" y="0"/>
          <a:ext cx="0" cy="0"/>
          <a:chOff x="0" y="0"/>
          <a:chExt cx="0" cy="0"/>
        </a:xfrm>
      </p:grpSpPr>
      <p:sp>
        <p:nvSpPr>
          <p:cNvPr id="2491" name="Google Shape;2491;p1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2" name="Google Shape;2492;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0" name="Shape 2500"/>
        <p:cNvGrpSpPr/>
        <p:nvPr/>
      </p:nvGrpSpPr>
      <p:grpSpPr>
        <a:xfrm>
          <a:off x="0" y="0"/>
          <a:ext cx="0" cy="0"/>
          <a:chOff x="0" y="0"/>
          <a:chExt cx="0" cy="0"/>
        </a:xfrm>
      </p:grpSpPr>
      <p:sp>
        <p:nvSpPr>
          <p:cNvPr id="2501" name="Google Shape;2501;p1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2" name="Google Shape;2502;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1" name="Shape 2511"/>
        <p:cNvGrpSpPr/>
        <p:nvPr/>
      </p:nvGrpSpPr>
      <p:grpSpPr>
        <a:xfrm>
          <a:off x="0" y="0"/>
          <a:ext cx="0" cy="0"/>
          <a:chOff x="0" y="0"/>
          <a:chExt cx="0" cy="0"/>
        </a:xfrm>
      </p:grpSpPr>
      <p:sp>
        <p:nvSpPr>
          <p:cNvPr id="2512" name="Google Shape;2512;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3" name="Google Shape;2513;p1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rgbClr val="000000"/>
              </a:buClr>
              <a:buSzPts val="1200"/>
              <a:buFont typeface="Calibri"/>
              <a:buAutoNum type="arabicPeriod"/>
            </a:pPr>
            <a:r>
              <a:rPr lang="en-US"/>
              <a:t>Recoverable Schedule </a:t>
            </a:r>
            <a:endParaRPr/>
          </a:p>
          <a:p>
            <a:pPr indent="-457200" lvl="0" marL="457200" rtl="0" algn="l">
              <a:spcBef>
                <a:spcPts val="0"/>
              </a:spcBef>
              <a:spcAft>
                <a:spcPts val="0"/>
              </a:spcAft>
              <a:buClr>
                <a:srgbClr val="000000"/>
              </a:buClr>
              <a:buSzPts val="1200"/>
              <a:buFont typeface="Calibri"/>
              <a:buAutoNum type="arabicPeriod"/>
            </a:pPr>
            <a:r>
              <a:rPr lang="en-US"/>
              <a:t>Cascading Rollback or Cascading Abort</a:t>
            </a:r>
            <a:endParaRPr/>
          </a:p>
          <a:p>
            <a:pPr indent="-457200" lvl="0" marL="457200" rtl="0" algn="l">
              <a:spcBef>
                <a:spcPts val="0"/>
              </a:spcBef>
              <a:spcAft>
                <a:spcPts val="0"/>
              </a:spcAft>
              <a:buClr>
                <a:srgbClr val="000000"/>
              </a:buClr>
              <a:buSzPts val="1200"/>
              <a:buFont typeface="Calibri"/>
              <a:buAutoNum type="arabicPeriod"/>
            </a:pPr>
            <a:r>
              <a:rPr lang="en-US"/>
              <a:t>Cascadeless or Avoid Cascading Rollback schedule </a:t>
            </a:r>
            <a:endParaRPr/>
          </a:p>
          <a:p>
            <a:pPr indent="-457200" lvl="0" marL="457200" rtl="0" algn="l">
              <a:spcBef>
                <a:spcPts val="0"/>
              </a:spcBef>
              <a:spcAft>
                <a:spcPts val="0"/>
              </a:spcAft>
              <a:buClr>
                <a:srgbClr val="000000"/>
              </a:buClr>
              <a:buSzPts val="1200"/>
              <a:buFont typeface="Calibri"/>
              <a:buAutoNum type="arabicPeriod"/>
            </a:pPr>
            <a:r>
              <a:rPr lang="en-US"/>
              <a:t>Strict Schedules</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9" name="Shape 2519"/>
        <p:cNvGrpSpPr/>
        <p:nvPr/>
      </p:nvGrpSpPr>
      <p:grpSpPr>
        <a:xfrm>
          <a:off x="0" y="0"/>
          <a:ext cx="0" cy="0"/>
          <a:chOff x="0" y="0"/>
          <a:chExt cx="0" cy="0"/>
        </a:xfrm>
      </p:grpSpPr>
      <p:sp>
        <p:nvSpPr>
          <p:cNvPr id="2520" name="Google Shape;2520;p1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1" name="Google Shape;2521;p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9" name="Shape 2529"/>
        <p:cNvGrpSpPr/>
        <p:nvPr/>
      </p:nvGrpSpPr>
      <p:grpSpPr>
        <a:xfrm>
          <a:off x="0" y="0"/>
          <a:ext cx="0" cy="0"/>
          <a:chOff x="0" y="0"/>
          <a:chExt cx="0" cy="0"/>
        </a:xfrm>
      </p:grpSpPr>
      <p:sp>
        <p:nvSpPr>
          <p:cNvPr id="2530" name="Google Shape;2530;p1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1" name="Google Shape;2531;p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9" name="Shape 2539"/>
        <p:cNvGrpSpPr/>
        <p:nvPr/>
      </p:nvGrpSpPr>
      <p:grpSpPr>
        <a:xfrm>
          <a:off x="0" y="0"/>
          <a:ext cx="0" cy="0"/>
          <a:chOff x="0" y="0"/>
          <a:chExt cx="0" cy="0"/>
        </a:xfrm>
      </p:grpSpPr>
      <p:sp>
        <p:nvSpPr>
          <p:cNvPr id="2540" name="Google Shape;2540;p18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1" name="Google Shape;2541;p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p1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3" name="Google Shape;2553;p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1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3" name="Google Shape;2563;p1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4" name="Shape 2574"/>
        <p:cNvGrpSpPr/>
        <p:nvPr/>
      </p:nvGrpSpPr>
      <p:grpSpPr>
        <a:xfrm>
          <a:off x="0" y="0"/>
          <a:ext cx="0" cy="0"/>
          <a:chOff x="0" y="0"/>
          <a:chExt cx="0" cy="0"/>
        </a:xfrm>
      </p:grpSpPr>
      <p:sp>
        <p:nvSpPr>
          <p:cNvPr id="2575" name="Google Shape;2575;p1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6" name="Google Shape;2576;p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4" name="Shape 2584"/>
        <p:cNvGrpSpPr/>
        <p:nvPr/>
      </p:nvGrpSpPr>
      <p:grpSpPr>
        <a:xfrm>
          <a:off x="0" y="0"/>
          <a:ext cx="0" cy="0"/>
          <a:chOff x="0" y="0"/>
          <a:chExt cx="0" cy="0"/>
        </a:xfrm>
      </p:grpSpPr>
      <p:sp>
        <p:nvSpPr>
          <p:cNvPr id="2585" name="Google Shape;2585;p1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6" name="Google Shape;2586;p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5" name="Shape 2595"/>
        <p:cNvGrpSpPr/>
        <p:nvPr/>
      </p:nvGrpSpPr>
      <p:grpSpPr>
        <a:xfrm>
          <a:off x="0" y="0"/>
          <a:ext cx="0" cy="0"/>
          <a:chOff x="0" y="0"/>
          <a:chExt cx="0" cy="0"/>
        </a:xfrm>
      </p:grpSpPr>
      <p:sp>
        <p:nvSpPr>
          <p:cNvPr id="2596" name="Google Shape;2596;p1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7" name="Google Shape;2597;p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4" name="Shape 2614"/>
        <p:cNvGrpSpPr/>
        <p:nvPr/>
      </p:nvGrpSpPr>
      <p:grpSpPr>
        <a:xfrm>
          <a:off x="0" y="0"/>
          <a:ext cx="0" cy="0"/>
          <a:chOff x="0" y="0"/>
          <a:chExt cx="0" cy="0"/>
        </a:xfrm>
      </p:grpSpPr>
      <p:sp>
        <p:nvSpPr>
          <p:cNvPr id="2615" name="Google Shape;2615;p1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6" name="Google Shape;2616;p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2" name="Shape 2622"/>
        <p:cNvGrpSpPr/>
        <p:nvPr/>
      </p:nvGrpSpPr>
      <p:grpSpPr>
        <a:xfrm>
          <a:off x="0" y="0"/>
          <a:ext cx="0" cy="0"/>
          <a:chOff x="0" y="0"/>
          <a:chExt cx="0" cy="0"/>
        </a:xfrm>
      </p:grpSpPr>
      <p:sp>
        <p:nvSpPr>
          <p:cNvPr id="2623" name="Google Shape;2623;p1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4" name="Google Shape;2624;p1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0" name="Shape 2630"/>
        <p:cNvGrpSpPr/>
        <p:nvPr/>
      </p:nvGrpSpPr>
      <p:grpSpPr>
        <a:xfrm>
          <a:off x="0" y="0"/>
          <a:ext cx="0" cy="0"/>
          <a:chOff x="0" y="0"/>
          <a:chExt cx="0" cy="0"/>
        </a:xfrm>
      </p:grpSpPr>
      <p:sp>
        <p:nvSpPr>
          <p:cNvPr id="2631" name="Google Shape;2631;p1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2" name="Google Shape;2632;p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p1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7" name="Google Shape;2657;p1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1" name="Shape 2671"/>
        <p:cNvGrpSpPr/>
        <p:nvPr/>
      </p:nvGrpSpPr>
      <p:grpSpPr>
        <a:xfrm>
          <a:off x="0" y="0"/>
          <a:ext cx="0" cy="0"/>
          <a:chOff x="0" y="0"/>
          <a:chExt cx="0" cy="0"/>
        </a:xfrm>
      </p:grpSpPr>
      <p:sp>
        <p:nvSpPr>
          <p:cNvPr id="2672" name="Google Shape;2672;p1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3" name="Google Shape;2673;p1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p1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9" name="Google Shape;2689;p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p1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3" name="Google Shape;2703;p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8" name="Shape 2718"/>
        <p:cNvGrpSpPr/>
        <p:nvPr/>
      </p:nvGrpSpPr>
      <p:grpSpPr>
        <a:xfrm>
          <a:off x="0" y="0"/>
          <a:ext cx="0" cy="0"/>
          <a:chOff x="0" y="0"/>
          <a:chExt cx="0" cy="0"/>
        </a:xfrm>
      </p:grpSpPr>
      <p:sp>
        <p:nvSpPr>
          <p:cNvPr id="2719" name="Google Shape;2719;p1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0" name="Google Shape;2720;p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6" name="Shape 2736"/>
        <p:cNvGrpSpPr/>
        <p:nvPr/>
      </p:nvGrpSpPr>
      <p:grpSpPr>
        <a:xfrm>
          <a:off x="0" y="0"/>
          <a:ext cx="0" cy="0"/>
          <a:chOff x="0" y="0"/>
          <a:chExt cx="0" cy="0"/>
        </a:xfrm>
      </p:grpSpPr>
      <p:sp>
        <p:nvSpPr>
          <p:cNvPr id="2737" name="Google Shape;2737;p1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8" name="Google Shape;2738;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p19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6" name="Google Shape;2746;p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8" name="Shape 2758"/>
        <p:cNvGrpSpPr/>
        <p:nvPr/>
      </p:nvGrpSpPr>
      <p:grpSpPr>
        <a:xfrm>
          <a:off x="0" y="0"/>
          <a:ext cx="0" cy="0"/>
          <a:chOff x="0" y="0"/>
          <a:chExt cx="0" cy="0"/>
        </a:xfrm>
      </p:grpSpPr>
      <p:sp>
        <p:nvSpPr>
          <p:cNvPr id="2759" name="Google Shape;2759;p1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0" name="Google Shape;2760;p1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20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3" name="Google Shape;2773;p2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4" name="Shape 2784"/>
        <p:cNvGrpSpPr/>
        <p:nvPr/>
      </p:nvGrpSpPr>
      <p:grpSpPr>
        <a:xfrm>
          <a:off x="0" y="0"/>
          <a:ext cx="0" cy="0"/>
          <a:chOff x="0" y="0"/>
          <a:chExt cx="0" cy="0"/>
        </a:xfrm>
      </p:grpSpPr>
      <p:sp>
        <p:nvSpPr>
          <p:cNvPr id="2785" name="Google Shape;2785;p20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6" name="Google Shape;2786;p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7" name="Shape 2797"/>
        <p:cNvGrpSpPr/>
        <p:nvPr/>
      </p:nvGrpSpPr>
      <p:grpSpPr>
        <a:xfrm>
          <a:off x="0" y="0"/>
          <a:ext cx="0" cy="0"/>
          <a:chOff x="0" y="0"/>
          <a:chExt cx="0" cy="0"/>
        </a:xfrm>
      </p:grpSpPr>
      <p:sp>
        <p:nvSpPr>
          <p:cNvPr id="2798" name="Google Shape;2798;p2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9" name="Google Shape;2799;p2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0" name="Shape 2810"/>
        <p:cNvGrpSpPr/>
        <p:nvPr/>
      </p:nvGrpSpPr>
      <p:grpSpPr>
        <a:xfrm>
          <a:off x="0" y="0"/>
          <a:ext cx="0" cy="0"/>
          <a:chOff x="0" y="0"/>
          <a:chExt cx="0" cy="0"/>
        </a:xfrm>
      </p:grpSpPr>
      <p:sp>
        <p:nvSpPr>
          <p:cNvPr id="2811" name="Google Shape;2811;p2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2" name="Google Shape;2812;p2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3" name="Shape 2823"/>
        <p:cNvGrpSpPr/>
        <p:nvPr/>
      </p:nvGrpSpPr>
      <p:grpSpPr>
        <a:xfrm>
          <a:off x="0" y="0"/>
          <a:ext cx="0" cy="0"/>
          <a:chOff x="0" y="0"/>
          <a:chExt cx="0" cy="0"/>
        </a:xfrm>
      </p:grpSpPr>
      <p:sp>
        <p:nvSpPr>
          <p:cNvPr id="2824" name="Google Shape;2824;p20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5" name="Google Shape;2825;p2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1" name="Shape 2831"/>
        <p:cNvGrpSpPr/>
        <p:nvPr/>
      </p:nvGrpSpPr>
      <p:grpSpPr>
        <a:xfrm>
          <a:off x="0" y="0"/>
          <a:ext cx="0" cy="0"/>
          <a:chOff x="0" y="0"/>
          <a:chExt cx="0" cy="0"/>
        </a:xfrm>
      </p:grpSpPr>
      <p:sp>
        <p:nvSpPr>
          <p:cNvPr id="2832" name="Google Shape;2832;p2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3" name="Google Shape;2833;p2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p2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2" name="Google Shape;2842;p2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9" name="Shape 2849"/>
        <p:cNvGrpSpPr/>
        <p:nvPr/>
      </p:nvGrpSpPr>
      <p:grpSpPr>
        <a:xfrm>
          <a:off x="0" y="0"/>
          <a:ext cx="0" cy="0"/>
          <a:chOff x="0" y="0"/>
          <a:chExt cx="0" cy="0"/>
        </a:xfrm>
      </p:grpSpPr>
      <p:sp>
        <p:nvSpPr>
          <p:cNvPr id="2850" name="Google Shape;2850;p2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1" name="Google Shape;2851;p2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8" name="Shape 2858"/>
        <p:cNvGrpSpPr/>
        <p:nvPr/>
      </p:nvGrpSpPr>
      <p:grpSpPr>
        <a:xfrm>
          <a:off x="0" y="0"/>
          <a:ext cx="0" cy="0"/>
          <a:chOff x="0" y="0"/>
          <a:chExt cx="0" cy="0"/>
        </a:xfrm>
      </p:grpSpPr>
      <p:sp>
        <p:nvSpPr>
          <p:cNvPr id="2859" name="Google Shape;2859;p2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0" name="Google Shape;2860;p2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7" name="Shape 2867"/>
        <p:cNvGrpSpPr/>
        <p:nvPr/>
      </p:nvGrpSpPr>
      <p:grpSpPr>
        <a:xfrm>
          <a:off x="0" y="0"/>
          <a:ext cx="0" cy="0"/>
          <a:chOff x="0" y="0"/>
          <a:chExt cx="0" cy="0"/>
        </a:xfrm>
      </p:grpSpPr>
      <p:sp>
        <p:nvSpPr>
          <p:cNvPr id="2868" name="Google Shape;2868;p2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9" name="Google Shape;2869;p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6" name="Shape 2876"/>
        <p:cNvGrpSpPr/>
        <p:nvPr/>
      </p:nvGrpSpPr>
      <p:grpSpPr>
        <a:xfrm>
          <a:off x="0" y="0"/>
          <a:ext cx="0" cy="0"/>
          <a:chOff x="0" y="0"/>
          <a:chExt cx="0" cy="0"/>
        </a:xfrm>
      </p:grpSpPr>
      <p:sp>
        <p:nvSpPr>
          <p:cNvPr id="2877" name="Google Shape;2877;p2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8" name="Google Shape;2878;p2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9" name="Shape 2889"/>
        <p:cNvGrpSpPr/>
        <p:nvPr/>
      </p:nvGrpSpPr>
      <p:grpSpPr>
        <a:xfrm>
          <a:off x="0" y="0"/>
          <a:ext cx="0" cy="0"/>
          <a:chOff x="0" y="0"/>
          <a:chExt cx="0" cy="0"/>
        </a:xfrm>
      </p:grpSpPr>
      <p:sp>
        <p:nvSpPr>
          <p:cNvPr id="2890" name="Google Shape;2890;p2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1" name="Google Shape;2891;p2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2" name="Shape 2902"/>
        <p:cNvGrpSpPr/>
        <p:nvPr/>
      </p:nvGrpSpPr>
      <p:grpSpPr>
        <a:xfrm>
          <a:off x="0" y="0"/>
          <a:ext cx="0" cy="0"/>
          <a:chOff x="0" y="0"/>
          <a:chExt cx="0" cy="0"/>
        </a:xfrm>
      </p:grpSpPr>
      <p:sp>
        <p:nvSpPr>
          <p:cNvPr id="2903" name="Google Shape;2903;p2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4" name="Google Shape;2904;p2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1" name="Shape 2911"/>
        <p:cNvGrpSpPr/>
        <p:nvPr/>
      </p:nvGrpSpPr>
      <p:grpSpPr>
        <a:xfrm>
          <a:off x="0" y="0"/>
          <a:ext cx="0" cy="0"/>
          <a:chOff x="0" y="0"/>
          <a:chExt cx="0" cy="0"/>
        </a:xfrm>
      </p:grpSpPr>
      <p:sp>
        <p:nvSpPr>
          <p:cNvPr id="2912" name="Google Shape;2912;p2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3" name="Google Shape;2913;p2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p2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8" name="Google Shape;2928;p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4" name="Shape 2934"/>
        <p:cNvGrpSpPr/>
        <p:nvPr/>
      </p:nvGrpSpPr>
      <p:grpSpPr>
        <a:xfrm>
          <a:off x="0" y="0"/>
          <a:ext cx="0" cy="0"/>
          <a:chOff x="0" y="0"/>
          <a:chExt cx="0" cy="0"/>
        </a:xfrm>
      </p:grpSpPr>
      <p:sp>
        <p:nvSpPr>
          <p:cNvPr id="2935" name="Google Shape;2935;p2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6" name="Google Shape;2936;p2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5" name="Shape 2945"/>
        <p:cNvGrpSpPr/>
        <p:nvPr/>
      </p:nvGrpSpPr>
      <p:grpSpPr>
        <a:xfrm>
          <a:off x="0" y="0"/>
          <a:ext cx="0" cy="0"/>
          <a:chOff x="0" y="0"/>
          <a:chExt cx="0" cy="0"/>
        </a:xfrm>
      </p:grpSpPr>
      <p:sp>
        <p:nvSpPr>
          <p:cNvPr id="2946" name="Google Shape;2946;p2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7" name="Google Shape;2947;p2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7" name="Shape 2957"/>
        <p:cNvGrpSpPr/>
        <p:nvPr/>
      </p:nvGrpSpPr>
      <p:grpSpPr>
        <a:xfrm>
          <a:off x="0" y="0"/>
          <a:ext cx="0" cy="0"/>
          <a:chOff x="0" y="0"/>
          <a:chExt cx="0" cy="0"/>
        </a:xfrm>
      </p:grpSpPr>
      <p:sp>
        <p:nvSpPr>
          <p:cNvPr id="2958" name="Google Shape;2958;p2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9" name="Google Shape;2959;p2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6" name="Shape 2976"/>
        <p:cNvGrpSpPr/>
        <p:nvPr/>
      </p:nvGrpSpPr>
      <p:grpSpPr>
        <a:xfrm>
          <a:off x="0" y="0"/>
          <a:ext cx="0" cy="0"/>
          <a:chOff x="0" y="0"/>
          <a:chExt cx="0" cy="0"/>
        </a:xfrm>
      </p:grpSpPr>
      <p:sp>
        <p:nvSpPr>
          <p:cNvPr id="2977" name="Google Shape;2977;p2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8" name="Google Shape;2978;p2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p2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6" name="Google Shape;2986;p2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2" name="Shape 2992"/>
        <p:cNvGrpSpPr/>
        <p:nvPr/>
      </p:nvGrpSpPr>
      <p:grpSpPr>
        <a:xfrm>
          <a:off x="0" y="0"/>
          <a:ext cx="0" cy="0"/>
          <a:chOff x="0" y="0"/>
          <a:chExt cx="0" cy="0"/>
        </a:xfrm>
      </p:grpSpPr>
      <p:sp>
        <p:nvSpPr>
          <p:cNvPr id="2993" name="Google Shape;2993;p2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4" name="Google Shape;2994;p2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0" name="Shape 3000"/>
        <p:cNvGrpSpPr/>
        <p:nvPr/>
      </p:nvGrpSpPr>
      <p:grpSpPr>
        <a:xfrm>
          <a:off x="0" y="0"/>
          <a:ext cx="0" cy="0"/>
          <a:chOff x="0" y="0"/>
          <a:chExt cx="0" cy="0"/>
        </a:xfrm>
      </p:grpSpPr>
      <p:sp>
        <p:nvSpPr>
          <p:cNvPr id="3001" name="Google Shape;3001;p2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2" name="Google Shape;3002;p2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p2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0" name="Google Shape;3010;p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6" name="Shape 3016"/>
        <p:cNvGrpSpPr/>
        <p:nvPr/>
      </p:nvGrpSpPr>
      <p:grpSpPr>
        <a:xfrm>
          <a:off x="0" y="0"/>
          <a:ext cx="0" cy="0"/>
          <a:chOff x="0" y="0"/>
          <a:chExt cx="0" cy="0"/>
        </a:xfrm>
      </p:grpSpPr>
      <p:sp>
        <p:nvSpPr>
          <p:cNvPr id="3017" name="Google Shape;3017;p2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8" name="Google Shape;3018;p2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7" name="Shape 3027"/>
        <p:cNvGrpSpPr/>
        <p:nvPr/>
      </p:nvGrpSpPr>
      <p:grpSpPr>
        <a:xfrm>
          <a:off x="0" y="0"/>
          <a:ext cx="0" cy="0"/>
          <a:chOff x="0" y="0"/>
          <a:chExt cx="0" cy="0"/>
        </a:xfrm>
      </p:grpSpPr>
      <p:sp>
        <p:nvSpPr>
          <p:cNvPr id="3028" name="Google Shape;3028;p2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9" name="Google Shape;3029;p2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0" name="Shape 3040"/>
        <p:cNvGrpSpPr/>
        <p:nvPr/>
      </p:nvGrpSpPr>
      <p:grpSpPr>
        <a:xfrm>
          <a:off x="0" y="0"/>
          <a:ext cx="0" cy="0"/>
          <a:chOff x="0" y="0"/>
          <a:chExt cx="0" cy="0"/>
        </a:xfrm>
      </p:grpSpPr>
      <p:sp>
        <p:nvSpPr>
          <p:cNvPr id="3041" name="Google Shape;3041;p2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2" name="Google Shape;3042;p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p2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6" name="Google Shape;3056;p2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0" name="Shape 3070"/>
        <p:cNvGrpSpPr/>
        <p:nvPr/>
      </p:nvGrpSpPr>
      <p:grpSpPr>
        <a:xfrm>
          <a:off x="0" y="0"/>
          <a:ext cx="0" cy="0"/>
          <a:chOff x="0" y="0"/>
          <a:chExt cx="0" cy="0"/>
        </a:xfrm>
      </p:grpSpPr>
      <p:sp>
        <p:nvSpPr>
          <p:cNvPr id="3071" name="Google Shape;3071;p2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2" name="Google Shape;3072;p2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6" name="Shape 3086"/>
        <p:cNvGrpSpPr/>
        <p:nvPr/>
      </p:nvGrpSpPr>
      <p:grpSpPr>
        <a:xfrm>
          <a:off x="0" y="0"/>
          <a:ext cx="0" cy="0"/>
          <a:chOff x="0" y="0"/>
          <a:chExt cx="0" cy="0"/>
        </a:xfrm>
      </p:grpSpPr>
      <p:sp>
        <p:nvSpPr>
          <p:cNvPr id="3087" name="Google Shape;3087;p2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8" name="Google Shape;3088;p2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5" name="Shape 3105"/>
        <p:cNvGrpSpPr/>
        <p:nvPr/>
      </p:nvGrpSpPr>
      <p:grpSpPr>
        <a:xfrm>
          <a:off x="0" y="0"/>
          <a:ext cx="0" cy="0"/>
          <a:chOff x="0" y="0"/>
          <a:chExt cx="0" cy="0"/>
        </a:xfrm>
      </p:grpSpPr>
      <p:sp>
        <p:nvSpPr>
          <p:cNvPr id="3106" name="Google Shape;3106;p2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7" name="Google Shape;3107;p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5" name="Shape 3125"/>
        <p:cNvGrpSpPr/>
        <p:nvPr/>
      </p:nvGrpSpPr>
      <p:grpSpPr>
        <a:xfrm>
          <a:off x="0" y="0"/>
          <a:ext cx="0" cy="0"/>
          <a:chOff x="0" y="0"/>
          <a:chExt cx="0" cy="0"/>
        </a:xfrm>
      </p:grpSpPr>
      <p:sp>
        <p:nvSpPr>
          <p:cNvPr id="3126" name="Google Shape;3126;p2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7" name="Google Shape;3127;p2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0" name="Shape 3150"/>
        <p:cNvGrpSpPr/>
        <p:nvPr/>
      </p:nvGrpSpPr>
      <p:grpSpPr>
        <a:xfrm>
          <a:off x="0" y="0"/>
          <a:ext cx="0" cy="0"/>
          <a:chOff x="0" y="0"/>
          <a:chExt cx="0" cy="0"/>
        </a:xfrm>
      </p:grpSpPr>
      <p:sp>
        <p:nvSpPr>
          <p:cNvPr id="3151" name="Google Shape;3151;p2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2" name="Google Shape;3152;p2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6" name="Shape 3166"/>
        <p:cNvGrpSpPr/>
        <p:nvPr/>
      </p:nvGrpSpPr>
      <p:grpSpPr>
        <a:xfrm>
          <a:off x="0" y="0"/>
          <a:ext cx="0" cy="0"/>
          <a:chOff x="0" y="0"/>
          <a:chExt cx="0" cy="0"/>
        </a:xfrm>
      </p:grpSpPr>
      <p:sp>
        <p:nvSpPr>
          <p:cNvPr id="3167" name="Google Shape;3167;p2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8" name="Google Shape;3168;p2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2" name="Shape 3182"/>
        <p:cNvGrpSpPr/>
        <p:nvPr/>
      </p:nvGrpSpPr>
      <p:grpSpPr>
        <a:xfrm>
          <a:off x="0" y="0"/>
          <a:ext cx="0" cy="0"/>
          <a:chOff x="0" y="0"/>
          <a:chExt cx="0" cy="0"/>
        </a:xfrm>
      </p:grpSpPr>
      <p:sp>
        <p:nvSpPr>
          <p:cNvPr id="3183" name="Google Shape;3183;p2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4" name="Google Shape;3184;p2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8" name="Shape 3198"/>
        <p:cNvGrpSpPr/>
        <p:nvPr/>
      </p:nvGrpSpPr>
      <p:grpSpPr>
        <a:xfrm>
          <a:off x="0" y="0"/>
          <a:ext cx="0" cy="0"/>
          <a:chOff x="0" y="0"/>
          <a:chExt cx="0" cy="0"/>
        </a:xfrm>
      </p:grpSpPr>
      <p:sp>
        <p:nvSpPr>
          <p:cNvPr id="3199" name="Google Shape;3199;p2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0" name="Google Shape;3200;p2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5" name="Shape 3215"/>
        <p:cNvGrpSpPr/>
        <p:nvPr/>
      </p:nvGrpSpPr>
      <p:grpSpPr>
        <a:xfrm>
          <a:off x="0" y="0"/>
          <a:ext cx="0" cy="0"/>
          <a:chOff x="0" y="0"/>
          <a:chExt cx="0" cy="0"/>
        </a:xfrm>
      </p:grpSpPr>
      <p:sp>
        <p:nvSpPr>
          <p:cNvPr id="3216" name="Google Shape;3216;p2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7" name="Google Shape;3217;p2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5" name="Shape 3235"/>
        <p:cNvGrpSpPr/>
        <p:nvPr/>
      </p:nvGrpSpPr>
      <p:grpSpPr>
        <a:xfrm>
          <a:off x="0" y="0"/>
          <a:ext cx="0" cy="0"/>
          <a:chOff x="0" y="0"/>
          <a:chExt cx="0" cy="0"/>
        </a:xfrm>
      </p:grpSpPr>
      <p:sp>
        <p:nvSpPr>
          <p:cNvPr id="3236" name="Google Shape;3236;p2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7" name="Google Shape;3237;p2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0" name="Shape 3250"/>
        <p:cNvGrpSpPr/>
        <p:nvPr/>
      </p:nvGrpSpPr>
      <p:grpSpPr>
        <a:xfrm>
          <a:off x="0" y="0"/>
          <a:ext cx="0" cy="0"/>
          <a:chOff x="0" y="0"/>
          <a:chExt cx="0" cy="0"/>
        </a:xfrm>
      </p:grpSpPr>
      <p:sp>
        <p:nvSpPr>
          <p:cNvPr id="3251" name="Google Shape;3251;p2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2" name="Google Shape;3252;p2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1" name="Shape 3271"/>
        <p:cNvGrpSpPr/>
        <p:nvPr/>
      </p:nvGrpSpPr>
      <p:grpSpPr>
        <a:xfrm>
          <a:off x="0" y="0"/>
          <a:ext cx="0" cy="0"/>
          <a:chOff x="0" y="0"/>
          <a:chExt cx="0" cy="0"/>
        </a:xfrm>
      </p:grpSpPr>
      <p:sp>
        <p:nvSpPr>
          <p:cNvPr id="3272" name="Google Shape;3272;p2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3" name="Google Shape;3273;p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2" name="Shape 3282"/>
        <p:cNvGrpSpPr/>
        <p:nvPr/>
      </p:nvGrpSpPr>
      <p:grpSpPr>
        <a:xfrm>
          <a:off x="0" y="0"/>
          <a:ext cx="0" cy="0"/>
          <a:chOff x="0" y="0"/>
          <a:chExt cx="0" cy="0"/>
        </a:xfrm>
      </p:grpSpPr>
      <p:sp>
        <p:nvSpPr>
          <p:cNvPr id="3283" name="Google Shape;3283;p2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4" name="Google Shape;3284;p2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4" name="Shape 3294"/>
        <p:cNvGrpSpPr/>
        <p:nvPr/>
      </p:nvGrpSpPr>
      <p:grpSpPr>
        <a:xfrm>
          <a:off x="0" y="0"/>
          <a:ext cx="0" cy="0"/>
          <a:chOff x="0" y="0"/>
          <a:chExt cx="0" cy="0"/>
        </a:xfrm>
      </p:grpSpPr>
      <p:sp>
        <p:nvSpPr>
          <p:cNvPr id="3295" name="Google Shape;3295;p2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6" name="Google Shape;3296;p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9" name="Shape 3309"/>
        <p:cNvGrpSpPr/>
        <p:nvPr/>
      </p:nvGrpSpPr>
      <p:grpSpPr>
        <a:xfrm>
          <a:off x="0" y="0"/>
          <a:ext cx="0" cy="0"/>
          <a:chOff x="0" y="0"/>
          <a:chExt cx="0" cy="0"/>
        </a:xfrm>
      </p:grpSpPr>
      <p:sp>
        <p:nvSpPr>
          <p:cNvPr id="3310" name="Google Shape;3310;p2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1" name="Google Shape;3311;p2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1" name="Shape 3331"/>
        <p:cNvGrpSpPr/>
        <p:nvPr/>
      </p:nvGrpSpPr>
      <p:grpSpPr>
        <a:xfrm>
          <a:off x="0" y="0"/>
          <a:ext cx="0" cy="0"/>
          <a:chOff x="0" y="0"/>
          <a:chExt cx="0" cy="0"/>
        </a:xfrm>
      </p:grpSpPr>
      <p:sp>
        <p:nvSpPr>
          <p:cNvPr id="3332" name="Google Shape;3332;p2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3" name="Google Shape;3333;p2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9" name="Shape 3339"/>
        <p:cNvGrpSpPr/>
        <p:nvPr/>
      </p:nvGrpSpPr>
      <p:grpSpPr>
        <a:xfrm>
          <a:off x="0" y="0"/>
          <a:ext cx="0" cy="0"/>
          <a:chOff x="0" y="0"/>
          <a:chExt cx="0" cy="0"/>
        </a:xfrm>
      </p:grpSpPr>
      <p:sp>
        <p:nvSpPr>
          <p:cNvPr id="3340" name="Google Shape;3340;p2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1" name="Google Shape;3341;p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0" name="Shape 3350"/>
        <p:cNvGrpSpPr/>
        <p:nvPr/>
      </p:nvGrpSpPr>
      <p:grpSpPr>
        <a:xfrm>
          <a:off x="0" y="0"/>
          <a:ext cx="0" cy="0"/>
          <a:chOff x="0" y="0"/>
          <a:chExt cx="0" cy="0"/>
        </a:xfrm>
      </p:grpSpPr>
      <p:sp>
        <p:nvSpPr>
          <p:cNvPr id="3351" name="Google Shape;3351;p2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2" name="Google Shape;3352;p2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2" name="Shape 3362"/>
        <p:cNvGrpSpPr/>
        <p:nvPr/>
      </p:nvGrpSpPr>
      <p:grpSpPr>
        <a:xfrm>
          <a:off x="0" y="0"/>
          <a:ext cx="0" cy="0"/>
          <a:chOff x="0" y="0"/>
          <a:chExt cx="0" cy="0"/>
        </a:xfrm>
      </p:grpSpPr>
      <p:sp>
        <p:nvSpPr>
          <p:cNvPr id="3363" name="Google Shape;3363;p2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4" name="Google Shape;3364;p2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5" name="Shape 3375"/>
        <p:cNvGrpSpPr/>
        <p:nvPr/>
      </p:nvGrpSpPr>
      <p:grpSpPr>
        <a:xfrm>
          <a:off x="0" y="0"/>
          <a:ext cx="0" cy="0"/>
          <a:chOff x="0" y="0"/>
          <a:chExt cx="0" cy="0"/>
        </a:xfrm>
      </p:grpSpPr>
      <p:sp>
        <p:nvSpPr>
          <p:cNvPr id="3376" name="Google Shape;3376;p2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7" name="Google Shape;3377;p2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9" name="Shape 3389"/>
        <p:cNvGrpSpPr/>
        <p:nvPr/>
      </p:nvGrpSpPr>
      <p:grpSpPr>
        <a:xfrm>
          <a:off x="0" y="0"/>
          <a:ext cx="0" cy="0"/>
          <a:chOff x="0" y="0"/>
          <a:chExt cx="0" cy="0"/>
        </a:xfrm>
      </p:grpSpPr>
      <p:sp>
        <p:nvSpPr>
          <p:cNvPr id="3390" name="Google Shape;3390;p2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1" name="Google Shape;3391;p2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p2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5" name="Google Shape;3405;p2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7" name="Shape 3417"/>
        <p:cNvGrpSpPr/>
        <p:nvPr/>
      </p:nvGrpSpPr>
      <p:grpSpPr>
        <a:xfrm>
          <a:off x="0" y="0"/>
          <a:ext cx="0" cy="0"/>
          <a:chOff x="0" y="0"/>
          <a:chExt cx="0" cy="0"/>
        </a:xfrm>
      </p:grpSpPr>
      <p:sp>
        <p:nvSpPr>
          <p:cNvPr id="3418" name="Google Shape;3418;p2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9" name="Google Shape;3419;p2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1" name="Shape 3431"/>
        <p:cNvGrpSpPr/>
        <p:nvPr/>
      </p:nvGrpSpPr>
      <p:grpSpPr>
        <a:xfrm>
          <a:off x="0" y="0"/>
          <a:ext cx="0" cy="0"/>
          <a:chOff x="0" y="0"/>
          <a:chExt cx="0" cy="0"/>
        </a:xfrm>
      </p:grpSpPr>
      <p:sp>
        <p:nvSpPr>
          <p:cNvPr id="3432" name="Google Shape;3432;p2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3" name="Google Shape;3433;p2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p2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4" name="Google Shape;3444;p2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5" name="Shape 3455"/>
        <p:cNvGrpSpPr/>
        <p:nvPr/>
      </p:nvGrpSpPr>
      <p:grpSpPr>
        <a:xfrm>
          <a:off x="0" y="0"/>
          <a:ext cx="0" cy="0"/>
          <a:chOff x="0" y="0"/>
          <a:chExt cx="0" cy="0"/>
        </a:xfrm>
      </p:grpSpPr>
      <p:sp>
        <p:nvSpPr>
          <p:cNvPr id="3456" name="Google Shape;3456;p2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7" name="Google Shape;3457;p2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6" name="Shape 3466"/>
        <p:cNvGrpSpPr/>
        <p:nvPr/>
      </p:nvGrpSpPr>
      <p:grpSpPr>
        <a:xfrm>
          <a:off x="0" y="0"/>
          <a:ext cx="0" cy="0"/>
          <a:chOff x="0" y="0"/>
          <a:chExt cx="0" cy="0"/>
        </a:xfrm>
      </p:grpSpPr>
      <p:sp>
        <p:nvSpPr>
          <p:cNvPr id="3467" name="Google Shape;3467;p2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8" name="Google Shape;3468;p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9" name="Shape 3479"/>
        <p:cNvGrpSpPr/>
        <p:nvPr/>
      </p:nvGrpSpPr>
      <p:grpSpPr>
        <a:xfrm>
          <a:off x="0" y="0"/>
          <a:ext cx="0" cy="0"/>
          <a:chOff x="0" y="0"/>
          <a:chExt cx="0" cy="0"/>
        </a:xfrm>
      </p:grpSpPr>
      <p:sp>
        <p:nvSpPr>
          <p:cNvPr id="3480" name="Google Shape;3480;p2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1" name="Google Shape;3481;p2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7" name="Shape 3487"/>
        <p:cNvGrpSpPr/>
        <p:nvPr/>
      </p:nvGrpSpPr>
      <p:grpSpPr>
        <a:xfrm>
          <a:off x="0" y="0"/>
          <a:ext cx="0" cy="0"/>
          <a:chOff x="0" y="0"/>
          <a:chExt cx="0" cy="0"/>
        </a:xfrm>
      </p:grpSpPr>
      <p:sp>
        <p:nvSpPr>
          <p:cNvPr id="3488" name="Google Shape;3488;p2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9" name="Google Shape;3489;p2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5" name="Shape 3495"/>
        <p:cNvGrpSpPr/>
        <p:nvPr/>
      </p:nvGrpSpPr>
      <p:grpSpPr>
        <a:xfrm>
          <a:off x="0" y="0"/>
          <a:ext cx="0" cy="0"/>
          <a:chOff x="0" y="0"/>
          <a:chExt cx="0" cy="0"/>
        </a:xfrm>
      </p:grpSpPr>
      <p:sp>
        <p:nvSpPr>
          <p:cNvPr id="3496" name="Google Shape;3496;p2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7" name="Google Shape;3497;p2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3" name="Shape 3503"/>
        <p:cNvGrpSpPr/>
        <p:nvPr/>
      </p:nvGrpSpPr>
      <p:grpSpPr>
        <a:xfrm>
          <a:off x="0" y="0"/>
          <a:ext cx="0" cy="0"/>
          <a:chOff x="0" y="0"/>
          <a:chExt cx="0" cy="0"/>
        </a:xfrm>
      </p:grpSpPr>
      <p:sp>
        <p:nvSpPr>
          <p:cNvPr id="3504" name="Google Shape;3504;p2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5" name="Google Shape;3505;p2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9" name="Shape 3519"/>
        <p:cNvGrpSpPr/>
        <p:nvPr/>
      </p:nvGrpSpPr>
      <p:grpSpPr>
        <a:xfrm>
          <a:off x="0" y="0"/>
          <a:ext cx="0" cy="0"/>
          <a:chOff x="0" y="0"/>
          <a:chExt cx="0" cy="0"/>
        </a:xfrm>
      </p:grpSpPr>
      <p:sp>
        <p:nvSpPr>
          <p:cNvPr id="3520" name="Google Shape;3520;p2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1" name="Google Shape;3521;p2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8" name="Shape 3538"/>
        <p:cNvGrpSpPr/>
        <p:nvPr/>
      </p:nvGrpSpPr>
      <p:grpSpPr>
        <a:xfrm>
          <a:off x="0" y="0"/>
          <a:ext cx="0" cy="0"/>
          <a:chOff x="0" y="0"/>
          <a:chExt cx="0" cy="0"/>
        </a:xfrm>
      </p:grpSpPr>
      <p:sp>
        <p:nvSpPr>
          <p:cNvPr id="3539" name="Google Shape;3539;p2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0" name="Google Shape;3540;p2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0" name="Shape 3550"/>
        <p:cNvGrpSpPr/>
        <p:nvPr/>
      </p:nvGrpSpPr>
      <p:grpSpPr>
        <a:xfrm>
          <a:off x="0" y="0"/>
          <a:ext cx="0" cy="0"/>
          <a:chOff x="0" y="0"/>
          <a:chExt cx="0" cy="0"/>
        </a:xfrm>
      </p:grpSpPr>
      <p:sp>
        <p:nvSpPr>
          <p:cNvPr id="3551" name="Google Shape;3551;p2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2" name="Google Shape;3552;p2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3" name="Shape 3563"/>
        <p:cNvGrpSpPr/>
        <p:nvPr/>
      </p:nvGrpSpPr>
      <p:grpSpPr>
        <a:xfrm>
          <a:off x="0" y="0"/>
          <a:ext cx="0" cy="0"/>
          <a:chOff x="0" y="0"/>
          <a:chExt cx="0" cy="0"/>
        </a:xfrm>
      </p:grpSpPr>
      <p:sp>
        <p:nvSpPr>
          <p:cNvPr id="3564" name="Google Shape;3564;p2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5" name="Google Shape;3565;p2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5" name="Shape 3575"/>
        <p:cNvGrpSpPr/>
        <p:nvPr/>
      </p:nvGrpSpPr>
      <p:grpSpPr>
        <a:xfrm>
          <a:off x="0" y="0"/>
          <a:ext cx="0" cy="0"/>
          <a:chOff x="0" y="0"/>
          <a:chExt cx="0" cy="0"/>
        </a:xfrm>
      </p:grpSpPr>
      <p:sp>
        <p:nvSpPr>
          <p:cNvPr id="3576" name="Google Shape;3576;p2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7" name="Google Shape;3577;p2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8" name="Shape 3588"/>
        <p:cNvGrpSpPr/>
        <p:nvPr/>
      </p:nvGrpSpPr>
      <p:grpSpPr>
        <a:xfrm>
          <a:off x="0" y="0"/>
          <a:ext cx="0" cy="0"/>
          <a:chOff x="0" y="0"/>
          <a:chExt cx="0" cy="0"/>
        </a:xfrm>
      </p:grpSpPr>
      <p:sp>
        <p:nvSpPr>
          <p:cNvPr id="3589" name="Google Shape;3589;p2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0" name="Google Shape;3590;p2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0" name="Shape 3600"/>
        <p:cNvGrpSpPr/>
        <p:nvPr/>
      </p:nvGrpSpPr>
      <p:grpSpPr>
        <a:xfrm>
          <a:off x="0" y="0"/>
          <a:ext cx="0" cy="0"/>
          <a:chOff x="0" y="0"/>
          <a:chExt cx="0" cy="0"/>
        </a:xfrm>
      </p:grpSpPr>
      <p:sp>
        <p:nvSpPr>
          <p:cNvPr id="3601" name="Google Shape;3601;p2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2" name="Google Shape;3602;p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3" name="Shape 3613"/>
        <p:cNvGrpSpPr/>
        <p:nvPr/>
      </p:nvGrpSpPr>
      <p:grpSpPr>
        <a:xfrm>
          <a:off x="0" y="0"/>
          <a:ext cx="0" cy="0"/>
          <a:chOff x="0" y="0"/>
          <a:chExt cx="0" cy="0"/>
        </a:xfrm>
      </p:grpSpPr>
      <p:sp>
        <p:nvSpPr>
          <p:cNvPr id="3614" name="Google Shape;3614;p2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5" name="Google Shape;3615;p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1" name="Shape 3621"/>
        <p:cNvGrpSpPr/>
        <p:nvPr/>
      </p:nvGrpSpPr>
      <p:grpSpPr>
        <a:xfrm>
          <a:off x="0" y="0"/>
          <a:ext cx="0" cy="0"/>
          <a:chOff x="0" y="0"/>
          <a:chExt cx="0" cy="0"/>
        </a:xfrm>
      </p:grpSpPr>
      <p:sp>
        <p:nvSpPr>
          <p:cNvPr id="3622" name="Google Shape;3622;p2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3" name="Google Shape;3623;p2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9" name="Shape 3629"/>
        <p:cNvGrpSpPr/>
        <p:nvPr/>
      </p:nvGrpSpPr>
      <p:grpSpPr>
        <a:xfrm>
          <a:off x="0" y="0"/>
          <a:ext cx="0" cy="0"/>
          <a:chOff x="0" y="0"/>
          <a:chExt cx="0" cy="0"/>
        </a:xfrm>
      </p:grpSpPr>
      <p:sp>
        <p:nvSpPr>
          <p:cNvPr id="3630" name="Google Shape;3630;p2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1" name="Google Shape;3631;p2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7" name="Shape 3637"/>
        <p:cNvGrpSpPr/>
        <p:nvPr/>
      </p:nvGrpSpPr>
      <p:grpSpPr>
        <a:xfrm>
          <a:off x="0" y="0"/>
          <a:ext cx="0" cy="0"/>
          <a:chOff x="0" y="0"/>
          <a:chExt cx="0" cy="0"/>
        </a:xfrm>
      </p:grpSpPr>
      <p:sp>
        <p:nvSpPr>
          <p:cNvPr id="3638" name="Google Shape;3638;p2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9" name="Google Shape;3639;p2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3" name="Shape 3653"/>
        <p:cNvGrpSpPr/>
        <p:nvPr/>
      </p:nvGrpSpPr>
      <p:grpSpPr>
        <a:xfrm>
          <a:off x="0" y="0"/>
          <a:ext cx="0" cy="0"/>
          <a:chOff x="0" y="0"/>
          <a:chExt cx="0" cy="0"/>
        </a:xfrm>
      </p:grpSpPr>
      <p:sp>
        <p:nvSpPr>
          <p:cNvPr id="3654" name="Google Shape;3654;p2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5" name="Google Shape;3655;p2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2" name="Shape 3672"/>
        <p:cNvGrpSpPr/>
        <p:nvPr/>
      </p:nvGrpSpPr>
      <p:grpSpPr>
        <a:xfrm>
          <a:off x="0" y="0"/>
          <a:ext cx="0" cy="0"/>
          <a:chOff x="0" y="0"/>
          <a:chExt cx="0" cy="0"/>
        </a:xfrm>
      </p:grpSpPr>
      <p:sp>
        <p:nvSpPr>
          <p:cNvPr id="3673" name="Google Shape;3673;p2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4" name="Google Shape;3674;p2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4" name="Shape 3684"/>
        <p:cNvGrpSpPr/>
        <p:nvPr/>
      </p:nvGrpSpPr>
      <p:grpSpPr>
        <a:xfrm>
          <a:off x="0" y="0"/>
          <a:ext cx="0" cy="0"/>
          <a:chOff x="0" y="0"/>
          <a:chExt cx="0" cy="0"/>
        </a:xfrm>
      </p:grpSpPr>
      <p:sp>
        <p:nvSpPr>
          <p:cNvPr id="3685" name="Google Shape;3685;p2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6" name="Google Shape;3686;p2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7" name="Shape 3697"/>
        <p:cNvGrpSpPr/>
        <p:nvPr/>
      </p:nvGrpSpPr>
      <p:grpSpPr>
        <a:xfrm>
          <a:off x="0" y="0"/>
          <a:ext cx="0" cy="0"/>
          <a:chOff x="0" y="0"/>
          <a:chExt cx="0" cy="0"/>
        </a:xfrm>
      </p:grpSpPr>
      <p:sp>
        <p:nvSpPr>
          <p:cNvPr id="3698" name="Google Shape;3698;p2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9" name="Google Shape;3699;p2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9" name="Shape 3709"/>
        <p:cNvGrpSpPr/>
        <p:nvPr/>
      </p:nvGrpSpPr>
      <p:grpSpPr>
        <a:xfrm>
          <a:off x="0" y="0"/>
          <a:ext cx="0" cy="0"/>
          <a:chOff x="0" y="0"/>
          <a:chExt cx="0" cy="0"/>
        </a:xfrm>
      </p:grpSpPr>
      <p:sp>
        <p:nvSpPr>
          <p:cNvPr id="3710" name="Google Shape;3710;p2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1" name="Google Shape;3711;p2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2" name="Shape 3722"/>
        <p:cNvGrpSpPr/>
        <p:nvPr/>
      </p:nvGrpSpPr>
      <p:grpSpPr>
        <a:xfrm>
          <a:off x="0" y="0"/>
          <a:ext cx="0" cy="0"/>
          <a:chOff x="0" y="0"/>
          <a:chExt cx="0" cy="0"/>
        </a:xfrm>
      </p:grpSpPr>
      <p:sp>
        <p:nvSpPr>
          <p:cNvPr id="3723" name="Google Shape;3723;p2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4" name="Google Shape;3724;p2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4" name="Shape 3734"/>
        <p:cNvGrpSpPr/>
        <p:nvPr/>
      </p:nvGrpSpPr>
      <p:grpSpPr>
        <a:xfrm>
          <a:off x="0" y="0"/>
          <a:ext cx="0" cy="0"/>
          <a:chOff x="0" y="0"/>
          <a:chExt cx="0" cy="0"/>
        </a:xfrm>
      </p:grpSpPr>
      <p:sp>
        <p:nvSpPr>
          <p:cNvPr id="3735" name="Google Shape;3735;p2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6" name="Google Shape;3736;p2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7" name="Shape 3747"/>
        <p:cNvGrpSpPr/>
        <p:nvPr/>
      </p:nvGrpSpPr>
      <p:grpSpPr>
        <a:xfrm>
          <a:off x="0" y="0"/>
          <a:ext cx="0" cy="0"/>
          <a:chOff x="0" y="0"/>
          <a:chExt cx="0" cy="0"/>
        </a:xfrm>
      </p:grpSpPr>
      <p:sp>
        <p:nvSpPr>
          <p:cNvPr id="3748" name="Google Shape;3748;p2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9" name="Google Shape;3749;p2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5" name="Shape 3755"/>
        <p:cNvGrpSpPr/>
        <p:nvPr/>
      </p:nvGrpSpPr>
      <p:grpSpPr>
        <a:xfrm>
          <a:off x="0" y="0"/>
          <a:ext cx="0" cy="0"/>
          <a:chOff x="0" y="0"/>
          <a:chExt cx="0" cy="0"/>
        </a:xfrm>
      </p:grpSpPr>
      <p:sp>
        <p:nvSpPr>
          <p:cNvPr id="3756" name="Google Shape;3756;p2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7" name="Google Shape;3757;p2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3" name="Shape 3763"/>
        <p:cNvGrpSpPr/>
        <p:nvPr/>
      </p:nvGrpSpPr>
      <p:grpSpPr>
        <a:xfrm>
          <a:off x="0" y="0"/>
          <a:ext cx="0" cy="0"/>
          <a:chOff x="0" y="0"/>
          <a:chExt cx="0" cy="0"/>
        </a:xfrm>
      </p:grpSpPr>
      <p:sp>
        <p:nvSpPr>
          <p:cNvPr id="3764" name="Google Shape;3764;p2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5" name="Google Shape;3765;p2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3" name="Shape 3773"/>
        <p:cNvGrpSpPr/>
        <p:nvPr/>
      </p:nvGrpSpPr>
      <p:grpSpPr>
        <a:xfrm>
          <a:off x="0" y="0"/>
          <a:ext cx="0" cy="0"/>
          <a:chOff x="0" y="0"/>
          <a:chExt cx="0" cy="0"/>
        </a:xfrm>
      </p:grpSpPr>
      <p:sp>
        <p:nvSpPr>
          <p:cNvPr id="3774" name="Google Shape;3774;p2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5" name="Google Shape;3775;p2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1" name="Shape 3781"/>
        <p:cNvGrpSpPr/>
        <p:nvPr/>
      </p:nvGrpSpPr>
      <p:grpSpPr>
        <a:xfrm>
          <a:off x="0" y="0"/>
          <a:ext cx="0" cy="0"/>
          <a:chOff x="0" y="0"/>
          <a:chExt cx="0" cy="0"/>
        </a:xfrm>
      </p:grpSpPr>
      <p:sp>
        <p:nvSpPr>
          <p:cNvPr id="3782" name="Google Shape;3782;p2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3" name="Google Shape;3783;p2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2" name="Shape 3792"/>
        <p:cNvGrpSpPr/>
        <p:nvPr/>
      </p:nvGrpSpPr>
      <p:grpSpPr>
        <a:xfrm>
          <a:off x="0" y="0"/>
          <a:ext cx="0" cy="0"/>
          <a:chOff x="0" y="0"/>
          <a:chExt cx="0" cy="0"/>
        </a:xfrm>
      </p:grpSpPr>
      <p:sp>
        <p:nvSpPr>
          <p:cNvPr id="3793" name="Google Shape;3793;p2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5" name="Shape 3805"/>
        <p:cNvGrpSpPr/>
        <p:nvPr/>
      </p:nvGrpSpPr>
      <p:grpSpPr>
        <a:xfrm>
          <a:off x="0" y="0"/>
          <a:ext cx="0" cy="0"/>
          <a:chOff x="0" y="0"/>
          <a:chExt cx="0" cy="0"/>
        </a:xfrm>
      </p:grpSpPr>
      <p:sp>
        <p:nvSpPr>
          <p:cNvPr id="3806" name="Google Shape;3806;p2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7" name="Google Shape;3807;p2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5" name="Shape 3825"/>
        <p:cNvGrpSpPr/>
        <p:nvPr/>
      </p:nvGrpSpPr>
      <p:grpSpPr>
        <a:xfrm>
          <a:off x="0" y="0"/>
          <a:ext cx="0" cy="0"/>
          <a:chOff x="0" y="0"/>
          <a:chExt cx="0" cy="0"/>
        </a:xfrm>
      </p:grpSpPr>
      <p:sp>
        <p:nvSpPr>
          <p:cNvPr id="3826" name="Google Shape;3826;p28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7" name="Google Shape;3827;p2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5" name="Shape 3845"/>
        <p:cNvGrpSpPr/>
        <p:nvPr/>
      </p:nvGrpSpPr>
      <p:grpSpPr>
        <a:xfrm>
          <a:off x="0" y="0"/>
          <a:ext cx="0" cy="0"/>
          <a:chOff x="0" y="0"/>
          <a:chExt cx="0" cy="0"/>
        </a:xfrm>
      </p:grpSpPr>
      <p:sp>
        <p:nvSpPr>
          <p:cNvPr id="3846" name="Google Shape;3846;p2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7" name="Google Shape;3847;p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5" name="Shape 3865"/>
        <p:cNvGrpSpPr/>
        <p:nvPr/>
      </p:nvGrpSpPr>
      <p:grpSpPr>
        <a:xfrm>
          <a:off x="0" y="0"/>
          <a:ext cx="0" cy="0"/>
          <a:chOff x="0" y="0"/>
          <a:chExt cx="0" cy="0"/>
        </a:xfrm>
      </p:grpSpPr>
      <p:sp>
        <p:nvSpPr>
          <p:cNvPr id="3866" name="Google Shape;3866;p2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7" name="Google Shape;3867;p2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5" name="Shape 3885"/>
        <p:cNvGrpSpPr/>
        <p:nvPr/>
      </p:nvGrpSpPr>
      <p:grpSpPr>
        <a:xfrm>
          <a:off x="0" y="0"/>
          <a:ext cx="0" cy="0"/>
          <a:chOff x="0" y="0"/>
          <a:chExt cx="0" cy="0"/>
        </a:xfrm>
      </p:grpSpPr>
      <p:sp>
        <p:nvSpPr>
          <p:cNvPr id="3886" name="Google Shape;3886;p2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7" name="Google Shape;3887;p2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3" name="Shape 3893"/>
        <p:cNvGrpSpPr/>
        <p:nvPr/>
      </p:nvGrpSpPr>
      <p:grpSpPr>
        <a:xfrm>
          <a:off x="0" y="0"/>
          <a:ext cx="0" cy="0"/>
          <a:chOff x="0" y="0"/>
          <a:chExt cx="0" cy="0"/>
        </a:xfrm>
      </p:grpSpPr>
      <p:sp>
        <p:nvSpPr>
          <p:cNvPr id="3894" name="Google Shape;3894;p2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5" name="Google Shape;3895;p2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1" name="Shape 3901"/>
        <p:cNvGrpSpPr/>
        <p:nvPr/>
      </p:nvGrpSpPr>
      <p:grpSpPr>
        <a:xfrm>
          <a:off x="0" y="0"/>
          <a:ext cx="0" cy="0"/>
          <a:chOff x="0" y="0"/>
          <a:chExt cx="0" cy="0"/>
        </a:xfrm>
      </p:grpSpPr>
      <p:sp>
        <p:nvSpPr>
          <p:cNvPr id="3902" name="Google Shape;3902;p2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3" name="Google Shape;3903;p2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9" name="Shape 3909"/>
        <p:cNvGrpSpPr/>
        <p:nvPr/>
      </p:nvGrpSpPr>
      <p:grpSpPr>
        <a:xfrm>
          <a:off x="0" y="0"/>
          <a:ext cx="0" cy="0"/>
          <a:chOff x="0" y="0"/>
          <a:chExt cx="0" cy="0"/>
        </a:xfrm>
      </p:grpSpPr>
      <p:sp>
        <p:nvSpPr>
          <p:cNvPr id="3910" name="Google Shape;3910;p2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1" name="Google Shape;3911;p2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7" name="Shape 3917"/>
        <p:cNvGrpSpPr/>
        <p:nvPr/>
      </p:nvGrpSpPr>
      <p:grpSpPr>
        <a:xfrm>
          <a:off x="0" y="0"/>
          <a:ext cx="0" cy="0"/>
          <a:chOff x="0" y="0"/>
          <a:chExt cx="0" cy="0"/>
        </a:xfrm>
      </p:grpSpPr>
      <p:sp>
        <p:nvSpPr>
          <p:cNvPr id="3918" name="Google Shape;3918;p2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9" name="Google Shape;3919;p2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5" name="Shape 3925"/>
        <p:cNvGrpSpPr/>
        <p:nvPr/>
      </p:nvGrpSpPr>
      <p:grpSpPr>
        <a:xfrm>
          <a:off x="0" y="0"/>
          <a:ext cx="0" cy="0"/>
          <a:chOff x="0" y="0"/>
          <a:chExt cx="0" cy="0"/>
        </a:xfrm>
      </p:grpSpPr>
      <p:sp>
        <p:nvSpPr>
          <p:cNvPr id="3926" name="Google Shape;3926;p2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7" name="Google Shape;3927;p2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5" name="Shape 3935"/>
        <p:cNvGrpSpPr/>
        <p:nvPr/>
      </p:nvGrpSpPr>
      <p:grpSpPr>
        <a:xfrm>
          <a:off x="0" y="0"/>
          <a:ext cx="0" cy="0"/>
          <a:chOff x="0" y="0"/>
          <a:chExt cx="0" cy="0"/>
        </a:xfrm>
      </p:grpSpPr>
      <p:sp>
        <p:nvSpPr>
          <p:cNvPr id="3936" name="Google Shape;3936;p2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7" name="Google Shape;3937;p2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3" name="Shape 3943"/>
        <p:cNvGrpSpPr/>
        <p:nvPr/>
      </p:nvGrpSpPr>
      <p:grpSpPr>
        <a:xfrm>
          <a:off x="0" y="0"/>
          <a:ext cx="0" cy="0"/>
          <a:chOff x="0" y="0"/>
          <a:chExt cx="0" cy="0"/>
        </a:xfrm>
      </p:grpSpPr>
      <p:sp>
        <p:nvSpPr>
          <p:cNvPr id="3944" name="Google Shape;3944;p2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5" name="Google Shape;3945;p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3" name="Shape 3953"/>
        <p:cNvGrpSpPr/>
        <p:nvPr/>
      </p:nvGrpSpPr>
      <p:grpSpPr>
        <a:xfrm>
          <a:off x="0" y="0"/>
          <a:ext cx="0" cy="0"/>
          <a:chOff x="0" y="0"/>
          <a:chExt cx="0" cy="0"/>
        </a:xfrm>
      </p:grpSpPr>
      <p:sp>
        <p:nvSpPr>
          <p:cNvPr id="3954" name="Google Shape;3954;p2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5" name="Google Shape;3955;p2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1" name="Shape 3961"/>
        <p:cNvGrpSpPr/>
        <p:nvPr/>
      </p:nvGrpSpPr>
      <p:grpSpPr>
        <a:xfrm>
          <a:off x="0" y="0"/>
          <a:ext cx="0" cy="0"/>
          <a:chOff x="0" y="0"/>
          <a:chExt cx="0" cy="0"/>
        </a:xfrm>
      </p:grpSpPr>
      <p:sp>
        <p:nvSpPr>
          <p:cNvPr id="3962" name="Google Shape;3962;p2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3" name="Google Shape;3963;p2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9" name="Shape 3969"/>
        <p:cNvGrpSpPr/>
        <p:nvPr/>
      </p:nvGrpSpPr>
      <p:grpSpPr>
        <a:xfrm>
          <a:off x="0" y="0"/>
          <a:ext cx="0" cy="0"/>
          <a:chOff x="0" y="0"/>
          <a:chExt cx="0" cy="0"/>
        </a:xfrm>
      </p:grpSpPr>
      <p:sp>
        <p:nvSpPr>
          <p:cNvPr id="3970" name="Google Shape;3970;p2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1" name="Google Shape;3971;p2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8" name="Shape 3978"/>
        <p:cNvGrpSpPr/>
        <p:nvPr/>
      </p:nvGrpSpPr>
      <p:grpSpPr>
        <a:xfrm>
          <a:off x="0" y="0"/>
          <a:ext cx="0" cy="0"/>
          <a:chOff x="0" y="0"/>
          <a:chExt cx="0" cy="0"/>
        </a:xfrm>
      </p:grpSpPr>
      <p:sp>
        <p:nvSpPr>
          <p:cNvPr id="3979" name="Google Shape;3979;p2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0" name="Google Shape;3980;p2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6" name="Shape 3986"/>
        <p:cNvGrpSpPr/>
        <p:nvPr/>
      </p:nvGrpSpPr>
      <p:grpSpPr>
        <a:xfrm>
          <a:off x="0" y="0"/>
          <a:ext cx="0" cy="0"/>
          <a:chOff x="0" y="0"/>
          <a:chExt cx="0" cy="0"/>
        </a:xfrm>
      </p:grpSpPr>
      <p:sp>
        <p:nvSpPr>
          <p:cNvPr id="3987" name="Google Shape;3987;p29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8" name="Google Shape;3988;p2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4" name="Shape 3994"/>
        <p:cNvGrpSpPr/>
        <p:nvPr/>
      </p:nvGrpSpPr>
      <p:grpSpPr>
        <a:xfrm>
          <a:off x="0" y="0"/>
          <a:ext cx="0" cy="0"/>
          <a:chOff x="0" y="0"/>
          <a:chExt cx="0" cy="0"/>
        </a:xfrm>
      </p:grpSpPr>
      <p:sp>
        <p:nvSpPr>
          <p:cNvPr id="3995" name="Google Shape;3995;p2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6" name="Google Shape;3996;p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301"/>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01"/>
          <p:cNvSpPr txBox="1"/>
          <p:nvPr>
            <p:ph idx="1" type="body"/>
          </p:nvPr>
        </p:nvSpPr>
        <p:spPr>
          <a:xfrm>
            <a:off x="1447800" y="3429000"/>
            <a:ext cx="7010400" cy="1600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301"/>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14"/>
          <p:cNvSpPr txBox="1"/>
          <p:nvPr>
            <p:ph type="ctrTitle"/>
          </p:nvPr>
        </p:nvSpPr>
        <p:spPr>
          <a:xfrm>
            <a:off x="1143000" y="1122363"/>
            <a:ext cx="6858000" cy="2387600"/>
          </a:xfrm>
          <a:prstGeom prst="rect">
            <a:avLst/>
          </a:prstGeom>
          <a:noFill/>
          <a:ln>
            <a:noFill/>
          </a:ln>
        </p:spPr>
        <p:txBody>
          <a:bodyPr anchorCtr="0" anchor="b" bIns="45700" lIns="45700" spcFirstLastPara="1" rIns="45700" wrap="square" tIns="45700">
            <a:noAutofit/>
          </a:bodyPr>
          <a:lstStyle>
            <a:lvl1pPr lvl="0" algn="ctr">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14"/>
          <p:cNvSpPr txBox="1"/>
          <p:nvPr>
            <p:ph idx="1" type="subTitle"/>
          </p:nvPr>
        </p:nvSpPr>
        <p:spPr>
          <a:xfrm>
            <a:off x="1143000" y="3602038"/>
            <a:ext cx="6858000" cy="1655762"/>
          </a:xfrm>
          <a:prstGeom prst="rect">
            <a:avLst/>
          </a:prstGeom>
          <a:noFill/>
          <a:ln>
            <a:noFill/>
          </a:ln>
        </p:spPr>
        <p:txBody>
          <a:bodyPr anchorCtr="0" anchor="t" bIns="45700" lIns="45700" spcFirstLastPara="1" rIns="45700" wrap="square" tIns="45700">
            <a:noAutofit/>
          </a:bodyPr>
          <a:lstStyle>
            <a:lvl1pPr lvl="0" algn="ctr">
              <a:spcBef>
                <a:spcPts val="700"/>
              </a:spcBef>
              <a:spcAft>
                <a:spcPts val="0"/>
              </a:spcAft>
              <a:buSzPts val="2400"/>
              <a:buFont typeface="Verdana"/>
              <a:buNone/>
              <a:defRPr sz="2400"/>
            </a:lvl1pPr>
            <a:lvl2pPr lvl="1" algn="ctr">
              <a:spcBef>
                <a:spcPts val="700"/>
              </a:spcBef>
              <a:spcAft>
                <a:spcPts val="0"/>
              </a:spcAft>
              <a:buSzPts val="2000"/>
              <a:buFont typeface="Verdana"/>
              <a:buNone/>
              <a:defRPr sz="2000"/>
            </a:lvl2pPr>
            <a:lvl3pPr lvl="2" algn="ctr">
              <a:spcBef>
                <a:spcPts val="700"/>
              </a:spcBef>
              <a:spcAft>
                <a:spcPts val="0"/>
              </a:spcAft>
              <a:buSzPts val="1800"/>
              <a:buFont typeface="Verdana"/>
              <a:buNone/>
              <a:defRPr sz="1800"/>
            </a:lvl3pPr>
            <a:lvl4pPr lvl="3" algn="ctr">
              <a:spcBef>
                <a:spcPts val="700"/>
              </a:spcBef>
              <a:spcAft>
                <a:spcPts val="0"/>
              </a:spcAft>
              <a:buSzPts val="1600"/>
              <a:buFont typeface="Verdana"/>
              <a:buNone/>
              <a:defRPr sz="1600"/>
            </a:lvl4pPr>
            <a:lvl5pPr lvl="4" algn="ctr">
              <a:spcBef>
                <a:spcPts val="700"/>
              </a:spcBef>
              <a:spcAft>
                <a:spcPts val="0"/>
              </a:spcAft>
              <a:buSzPts val="1600"/>
              <a:buFont typeface="Verdana"/>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14"/>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15"/>
          <p:cNvSpPr txBox="1"/>
          <p:nvPr>
            <p:ph type="title"/>
          </p:nvPr>
        </p:nvSpPr>
        <p:spPr>
          <a:xfrm>
            <a:off x="623888" y="1709738"/>
            <a:ext cx="7886700" cy="2852737"/>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15"/>
          <p:cNvSpPr txBox="1"/>
          <p:nvPr>
            <p:ph idx="1" type="body"/>
          </p:nvPr>
        </p:nvSpPr>
        <p:spPr>
          <a:xfrm>
            <a:off x="623888" y="4589463"/>
            <a:ext cx="7886700" cy="1500187"/>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2400"/>
              <a:buFont typeface="Verdana"/>
              <a:buNone/>
              <a:defRPr sz="2400"/>
            </a:lvl1pPr>
            <a:lvl2pPr indent="-228600" lvl="1" marL="914400" algn="l">
              <a:spcBef>
                <a:spcPts val="700"/>
              </a:spcBef>
              <a:spcAft>
                <a:spcPts val="0"/>
              </a:spcAft>
              <a:buSzPts val="2000"/>
              <a:buFont typeface="Verdana"/>
              <a:buNone/>
              <a:defRPr sz="2000"/>
            </a:lvl2pPr>
            <a:lvl3pPr indent="-228600" lvl="2" marL="1371600" algn="l">
              <a:spcBef>
                <a:spcPts val="700"/>
              </a:spcBef>
              <a:spcAft>
                <a:spcPts val="0"/>
              </a:spcAft>
              <a:buSzPts val="1800"/>
              <a:buFont typeface="Verdana"/>
              <a:buNone/>
              <a:defRPr sz="1800"/>
            </a:lvl3pPr>
            <a:lvl4pPr indent="-228600" lvl="3" marL="1828800" algn="l">
              <a:spcBef>
                <a:spcPts val="700"/>
              </a:spcBef>
              <a:spcAft>
                <a:spcPts val="0"/>
              </a:spcAft>
              <a:buSzPts val="1600"/>
              <a:buFont typeface="Verdana"/>
              <a:buNone/>
              <a:defRPr sz="1600"/>
            </a:lvl4pPr>
            <a:lvl5pPr indent="-228600" lvl="4" marL="2286000" algn="l">
              <a:spcBef>
                <a:spcPts val="700"/>
              </a:spcBef>
              <a:spcAft>
                <a:spcPts val="0"/>
              </a:spcAft>
              <a:buSzPts val="1600"/>
              <a:buFont typeface="Verdana"/>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23" name="Google Shape;23;p315"/>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316"/>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6"/>
          <p:cNvSpPr txBox="1"/>
          <p:nvPr>
            <p:ph idx="1" type="body"/>
          </p:nvPr>
        </p:nvSpPr>
        <p:spPr>
          <a:xfrm>
            <a:off x="1447800" y="3429000"/>
            <a:ext cx="3429000" cy="1600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316"/>
          <p:cNvSpPr txBox="1"/>
          <p:nvPr>
            <p:ph idx="2" type="body"/>
          </p:nvPr>
        </p:nvSpPr>
        <p:spPr>
          <a:xfrm>
            <a:off x="5029200" y="3429000"/>
            <a:ext cx="3429000" cy="1600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16"/>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317"/>
          <p:cNvSpPr txBox="1"/>
          <p:nvPr>
            <p:ph type="title"/>
          </p:nvPr>
        </p:nvSpPr>
        <p:spPr>
          <a:xfrm>
            <a:off x="630238" y="365125"/>
            <a:ext cx="7886700" cy="1325563"/>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7"/>
          <p:cNvSpPr txBox="1"/>
          <p:nvPr>
            <p:ph idx="1" type="body"/>
          </p:nvPr>
        </p:nvSpPr>
        <p:spPr>
          <a:xfrm>
            <a:off x="630238" y="1681163"/>
            <a:ext cx="3868737" cy="823912"/>
          </a:xfrm>
          <a:prstGeom prst="rect">
            <a:avLst/>
          </a:prstGeom>
          <a:noFill/>
          <a:ln>
            <a:noFill/>
          </a:ln>
        </p:spPr>
        <p:txBody>
          <a:bodyPr anchorCtr="0" anchor="b" bIns="45700" lIns="45700" spcFirstLastPara="1" rIns="45700" wrap="square" tIns="45700">
            <a:noAutofit/>
          </a:bodyPr>
          <a:lstStyle>
            <a:lvl1pPr indent="-228600" lvl="0" marL="457200" algn="l">
              <a:spcBef>
                <a:spcPts val="700"/>
              </a:spcBef>
              <a:spcAft>
                <a:spcPts val="0"/>
              </a:spcAft>
              <a:buSzPts val="2400"/>
              <a:buFont typeface="Verdana"/>
              <a:buNone/>
              <a:defRPr b="1" sz="2400"/>
            </a:lvl1pPr>
            <a:lvl2pPr indent="-228600" lvl="1" marL="914400" algn="l">
              <a:spcBef>
                <a:spcPts val="700"/>
              </a:spcBef>
              <a:spcAft>
                <a:spcPts val="0"/>
              </a:spcAft>
              <a:buSzPts val="2000"/>
              <a:buFont typeface="Verdana"/>
              <a:buNone/>
              <a:defRPr b="1" sz="2000"/>
            </a:lvl2pPr>
            <a:lvl3pPr indent="-228600" lvl="2" marL="1371600" algn="l">
              <a:spcBef>
                <a:spcPts val="700"/>
              </a:spcBef>
              <a:spcAft>
                <a:spcPts val="0"/>
              </a:spcAft>
              <a:buSzPts val="1800"/>
              <a:buFont typeface="Verdana"/>
              <a:buNone/>
              <a:defRPr b="1" sz="1800"/>
            </a:lvl3pPr>
            <a:lvl4pPr indent="-228600" lvl="3" marL="1828800" algn="l">
              <a:spcBef>
                <a:spcPts val="700"/>
              </a:spcBef>
              <a:spcAft>
                <a:spcPts val="0"/>
              </a:spcAft>
              <a:buSzPts val="1600"/>
              <a:buFont typeface="Verdana"/>
              <a:buNone/>
              <a:defRPr b="1" sz="1600"/>
            </a:lvl4pPr>
            <a:lvl5pPr indent="-228600" lvl="4" marL="2286000" algn="l">
              <a:spcBef>
                <a:spcPts val="700"/>
              </a:spcBef>
              <a:spcAft>
                <a:spcPts val="0"/>
              </a:spcAft>
              <a:buSzPts val="1600"/>
              <a:buFont typeface="Verdan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317"/>
          <p:cNvSpPr txBox="1"/>
          <p:nvPr>
            <p:ph idx="2" type="body"/>
          </p:nvPr>
        </p:nvSpPr>
        <p:spPr>
          <a:xfrm>
            <a:off x="630238" y="2505075"/>
            <a:ext cx="3868737" cy="3684588"/>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7"/>
          <p:cNvSpPr txBox="1"/>
          <p:nvPr>
            <p:ph idx="3" type="body"/>
          </p:nvPr>
        </p:nvSpPr>
        <p:spPr>
          <a:xfrm>
            <a:off x="4629150" y="1681163"/>
            <a:ext cx="3887788" cy="823912"/>
          </a:xfrm>
          <a:prstGeom prst="rect">
            <a:avLst/>
          </a:prstGeom>
          <a:noFill/>
          <a:ln>
            <a:noFill/>
          </a:ln>
        </p:spPr>
        <p:txBody>
          <a:bodyPr anchorCtr="0" anchor="b" bIns="45700" lIns="45700" spcFirstLastPara="1" rIns="45700" wrap="square" tIns="45700">
            <a:noAutofit/>
          </a:bodyPr>
          <a:lstStyle>
            <a:lvl1pPr indent="-228600" lvl="0" marL="457200" algn="l">
              <a:spcBef>
                <a:spcPts val="700"/>
              </a:spcBef>
              <a:spcAft>
                <a:spcPts val="0"/>
              </a:spcAft>
              <a:buSzPts val="2400"/>
              <a:buFont typeface="Verdana"/>
              <a:buNone/>
              <a:defRPr b="1" sz="2400"/>
            </a:lvl1pPr>
            <a:lvl2pPr indent="-228600" lvl="1" marL="914400" algn="l">
              <a:spcBef>
                <a:spcPts val="700"/>
              </a:spcBef>
              <a:spcAft>
                <a:spcPts val="0"/>
              </a:spcAft>
              <a:buSzPts val="2000"/>
              <a:buFont typeface="Verdana"/>
              <a:buNone/>
              <a:defRPr b="1" sz="2000"/>
            </a:lvl2pPr>
            <a:lvl3pPr indent="-228600" lvl="2" marL="1371600" algn="l">
              <a:spcBef>
                <a:spcPts val="700"/>
              </a:spcBef>
              <a:spcAft>
                <a:spcPts val="0"/>
              </a:spcAft>
              <a:buSzPts val="1800"/>
              <a:buFont typeface="Verdana"/>
              <a:buNone/>
              <a:defRPr b="1" sz="1800"/>
            </a:lvl3pPr>
            <a:lvl4pPr indent="-228600" lvl="3" marL="1828800" algn="l">
              <a:spcBef>
                <a:spcPts val="700"/>
              </a:spcBef>
              <a:spcAft>
                <a:spcPts val="0"/>
              </a:spcAft>
              <a:buSzPts val="1600"/>
              <a:buFont typeface="Verdana"/>
              <a:buNone/>
              <a:defRPr b="1" sz="1600"/>
            </a:lvl4pPr>
            <a:lvl5pPr indent="-228600" lvl="4" marL="2286000" algn="l">
              <a:spcBef>
                <a:spcPts val="700"/>
              </a:spcBef>
              <a:spcAft>
                <a:spcPts val="0"/>
              </a:spcAft>
              <a:buSzPts val="1600"/>
              <a:buFont typeface="Verdan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317"/>
          <p:cNvSpPr txBox="1"/>
          <p:nvPr>
            <p:ph idx="4" type="body"/>
          </p:nvPr>
        </p:nvSpPr>
        <p:spPr>
          <a:xfrm>
            <a:off x="4629150" y="2505075"/>
            <a:ext cx="3887788" cy="3684588"/>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17"/>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318"/>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8"/>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319"/>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 name="Shape 41"/>
        <p:cNvGrpSpPr/>
        <p:nvPr/>
      </p:nvGrpSpPr>
      <p:grpSpPr>
        <a:xfrm>
          <a:off x="0" y="0"/>
          <a:ext cx="0" cy="0"/>
          <a:chOff x="0" y="0"/>
          <a:chExt cx="0" cy="0"/>
        </a:xfrm>
      </p:grpSpPr>
      <p:sp>
        <p:nvSpPr>
          <p:cNvPr id="42" name="Google Shape;42;p320"/>
          <p:cNvSpPr txBox="1"/>
          <p:nvPr>
            <p:ph type="title"/>
          </p:nvPr>
        </p:nvSpPr>
        <p:spPr>
          <a:xfrm>
            <a:off x="630238" y="457200"/>
            <a:ext cx="2949575" cy="16002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0"/>
          <p:cNvSpPr txBox="1"/>
          <p:nvPr>
            <p:ph idx="1" type="body"/>
          </p:nvPr>
        </p:nvSpPr>
        <p:spPr>
          <a:xfrm>
            <a:off x="3887788" y="987425"/>
            <a:ext cx="4629150" cy="4873625"/>
          </a:xfrm>
          <a:prstGeom prst="rect">
            <a:avLst/>
          </a:prstGeom>
          <a:noFill/>
          <a:ln>
            <a:noFill/>
          </a:ln>
        </p:spPr>
        <p:txBody>
          <a:bodyPr anchorCtr="0" anchor="t" bIns="45700" lIns="45700" spcFirstLastPara="1" rIns="45700" wrap="square" tIns="45700">
            <a:noAutofit/>
          </a:bodyPr>
          <a:lstStyle>
            <a:lvl1pPr indent="-431800" lvl="0" marL="457200" algn="l">
              <a:spcBef>
                <a:spcPts val="700"/>
              </a:spcBef>
              <a:spcAft>
                <a:spcPts val="0"/>
              </a:spcAft>
              <a:buSzPts val="3200"/>
              <a:buFont typeface="Verdana"/>
              <a:buChar char="□"/>
              <a:defRPr sz="3200"/>
            </a:lvl1pPr>
            <a:lvl2pPr indent="-406400" lvl="1" marL="914400" algn="l">
              <a:spcBef>
                <a:spcPts val="700"/>
              </a:spcBef>
              <a:spcAft>
                <a:spcPts val="0"/>
              </a:spcAft>
              <a:buSzPts val="2800"/>
              <a:buFont typeface="Verdana"/>
              <a:buChar char="■"/>
              <a:defRPr sz="2800"/>
            </a:lvl2pPr>
            <a:lvl3pPr indent="-381000" lvl="2" marL="1371600" algn="l">
              <a:spcBef>
                <a:spcPts val="700"/>
              </a:spcBef>
              <a:spcAft>
                <a:spcPts val="0"/>
              </a:spcAft>
              <a:buSzPts val="2400"/>
              <a:buFont typeface="Verdana"/>
              <a:buChar char="□"/>
              <a:defRPr sz="2400"/>
            </a:lvl3pPr>
            <a:lvl4pPr indent="-355600" lvl="3" marL="1828800" algn="l">
              <a:spcBef>
                <a:spcPts val="700"/>
              </a:spcBef>
              <a:spcAft>
                <a:spcPts val="0"/>
              </a:spcAft>
              <a:buSzPts val="2000"/>
              <a:buFont typeface="Verdana"/>
              <a:buChar char="■"/>
              <a:defRPr sz="2000"/>
            </a:lvl4pPr>
            <a:lvl5pPr indent="-355600" lvl="4" marL="2286000" algn="l">
              <a:spcBef>
                <a:spcPts val="700"/>
              </a:spcBef>
              <a:spcAft>
                <a:spcPts val="0"/>
              </a:spcAft>
              <a:buSzPts val="2000"/>
              <a:buFont typeface="Verdana"/>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4" name="Google Shape;44;p320"/>
          <p:cNvSpPr txBox="1"/>
          <p:nvPr>
            <p:ph idx="2" type="body"/>
          </p:nvPr>
        </p:nvSpPr>
        <p:spPr>
          <a:xfrm>
            <a:off x="630238" y="2057400"/>
            <a:ext cx="2949575" cy="3811588"/>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1600"/>
              <a:buFont typeface="Verdana"/>
              <a:buNone/>
              <a:defRPr sz="1600"/>
            </a:lvl1pPr>
            <a:lvl2pPr indent="-228600" lvl="1" marL="914400" algn="l">
              <a:spcBef>
                <a:spcPts val="700"/>
              </a:spcBef>
              <a:spcAft>
                <a:spcPts val="0"/>
              </a:spcAft>
              <a:buSzPts val="1400"/>
              <a:buFont typeface="Verdana"/>
              <a:buNone/>
              <a:defRPr sz="1400"/>
            </a:lvl2pPr>
            <a:lvl3pPr indent="-228600" lvl="2" marL="1371600" algn="l">
              <a:spcBef>
                <a:spcPts val="700"/>
              </a:spcBef>
              <a:spcAft>
                <a:spcPts val="0"/>
              </a:spcAft>
              <a:buSzPts val="1200"/>
              <a:buFont typeface="Verdana"/>
              <a:buNone/>
              <a:defRPr sz="1200"/>
            </a:lvl3pPr>
            <a:lvl4pPr indent="-228600" lvl="3" marL="1828800" algn="l">
              <a:spcBef>
                <a:spcPts val="700"/>
              </a:spcBef>
              <a:spcAft>
                <a:spcPts val="0"/>
              </a:spcAft>
              <a:buSzPts val="1000"/>
              <a:buFont typeface="Verdana"/>
              <a:buNone/>
              <a:defRPr sz="1000"/>
            </a:lvl4pPr>
            <a:lvl5pPr indent="-228600" lvl="4" marL="2286000" algn="l">
              <a:spcBef>
                <a:spcPts val="700"/>
              </a:spcBef>
              <a:spcAft>
                <a:spcPts val="0"/>
              </a:spcAft>
              <a:buSzPts val="1000"/>
              <a:buFont typeface="Verdan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 name="Google Shape;45;p320"/>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321"/>
          <p:cNvSpPr txBox="1"/>
          <p:nvPr>
            <p:ph type="title"/>
          </p:nvPr>
        </p:nvSpPr>
        <p:spPr>
          <a:xfrm>
            <a:off x="630238" y="457200"/>
            <a:ext cx="2949575" cy="16002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1"/>
          <p:cNvSpPr/>
          <p:nvPr>
            <p:ph idx="2" type="pic"/>
          </p:nvPr>
        </p:nvSpPr>
        <p:spPr>
          <a:xfrm>
            <a:off x="3887788" y="987425"/>
            <a:ext cx="4629150" cy="4873625"/>
          </a:xfrm>
          <a:prstGeom prst="rect">
            <a:avLst/>
          </a:prstGeom>
          <a:noFill/>
          <a:ln>
            <a:noFill/>
          </a:ln>
        </p:spPr>
      </p:sp>
      <p:sp>
        <p:nvSpPr>
          <p:cNvPr id="49" name="Google Shape;49;p321"/>
          <p:cNvSpPr txBox="1"/>
          <p:nvPr>
            <p:ph idx="1" type="body"/>
          </p:nvPr>
        </p:nvSpPr>
        <p:spPr>
          <a:xfrm>
            <a:off x="630238" y="2057400"/>
            <a:ext cx="2949575" cy="3811588"/>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1600"/>
              <a:buFont typeface="Verdana"/>
              <a:buNone/>
              <a:defRPr sz="1600"/>
            </a:lvl1pPr>
            <a:lvl2pPr indent="-228600" lvl="1" marL="914400" algn="l">
              <a:spcBef>
                <a:spcPts val="700"/>
              </a:spcBef>
              <a:spcAft>
                <a:spcPts val="0"/>
              </a:spcAft>
              <a:buSzPts val="1400"/>
              <a:buFont typeface="Verdana"/>
              <a:buNone/>
              <a:defRPr sz="1400"/>
            </a:lvl2pPr>
            <a:lvl3pPr indent="-228600" lvl="2" marL="1371600" algn="l">
              <a:spcBef>
                <a:spcPts val="700"/>
              </a:spcBef>
              <a:spcAft>
                <a:spcPts val="0"/>
              </a:spcAft>
              <a:buSzPts val="1200"/>
              <a:buFont typeface="Verdana"/>
              <a:buNone/>
              <a:defRPr sz="1200"/>
            </a:lvl3pPr>
            <a:lvl4pPr indent="-228600" lvl="3" marL="1828800" algn="l">
              <a:spcBef>
                <a:spcPts val="700"/>
              </a:spcBef>
              <a:spcAft>
                <a:spcPts val="0"/>
              </a:spcAft>
              <a:buSzPts val="1000"/>
              <a:buFont typeface="Verdana"/>
              <a:buNone/>
              <a:defRPr sz="1000"/>
            </a:lvl4pPr>
            <a:lvl5pPr indent="-228600" lvl="4" marL="2286000" algn="l">
              <a:spcBef>
                <a:spcPts val="700"/>
              </a:spcBef>
              <a:spcAft>
                <a:spcPts val="0"/>
              </a:spcAft>
              <a:buSzPts val="1000"/>
              <a:buFont typeface="Verdan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321"/>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1" name="Shape 51"/>
        <p:cNvGrpSpPr/>
        <p:nvPr/>
      </p:nvGrpSpPr>
      <p:grpSpPr>
        <a:xfrm>
          <a:off x="0" y="0"/>
          <a:ext cx="0" cy="0"/>
          <a:chOff x="0" y="0"/>
          <a:chExt cx="0" cy="0"/>
        </a:xfrm>
      </p:grpSpPr>
      <p:sp>
        <p:nvSpPr>
          <p:cNvPr id="52" name="Google Shape;52;p322"/>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2"/>
          <p:cNvSpPr txBox="1"/>
          <p:nvPr>
            <p:ph idx="1" type="body"/>
          </p:nvPr>
        </p:nvSpPr>
        <p:spPr>
          <a:xfrm rot="5400000">
            <a:off x="4152900" y="723900"/>
            <a:ext cx="1600200" cy="70104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22"/>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5" name="Shape 55"/>
        <p:cNvGrpSpPr/>
        <p:nvPr/>
      </p:nvGrpSpPr>
      <p:grpSpPr>
        <a:xfrm>
          <a:off x="0" y="0"/>
          <a:ext cx="0" cy="0"/>
          <a:chOff x="0" y="0"/>
          <a:chExt cx="0" cy="0"/>
        </a:xfrm>
      </p:grpSpPr>
      <p:sp>
        <p:nvSpPr>
          <p:cNvPr id="56" name="Google Shape;56;p323"/>
          <p:cNvSpPr txBox="1"/>
          <p:nvPr>
            <p:ph type="title"/>
          </p:nvPr>
        </p:nvSpPr>
        <p:spPr>
          <a:xfrm rot="5400000">
            <a:off x="5467350" y="2038350"/>
            <a:ext cx="4038600" cy="19431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3"/>
          <p:cNvSpPr txBox="1"/>
          <p:nvPr>
            <p:ph idx="1" type="body"/>
          </p:nvPr>
        </p:nvSpPr>
        <p:spPr>
          <a:xfrm rot="5400000">
            <a:off x="1504950" y="171450"/>
            <a:ext cx="4038600" cy="56769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23"/>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30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0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03"/>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 name="Shape 71"/>
        <p:cNvGrpSpPr/>
        <p:nvPr/>
      </p:nvGrpSpPr>
      <p:grpSpPr>
        <a:xfrm>
          <a:off x="0" y="0"/>
          <a:ext cx="0" cy="0"/>
          <a:chOff x="0" y="0"/>
          <a:chExt cx="0" cy="0"/>
        </a:xfrm>
      </p:grpSpPr>
      <p:sp>
        <p:nvSpPr>
          <p:cNvPr id="72" name="Google Shape;72;p304"/>
          <p:cNvSpPr txBox="1"/>
          <p:nvPr>
            <p:ph type="ctrTitle"/>
          </p:nvPr>
        </p:nvSpPr>
        <p:spPr>
          <a:xfrm>
            <a:off x="1143000" y="1122363"/>
            <a:ext cx="6858000" cy="2387600"/>
          </a:xfrm>
          <a:prstGeom prst="rect">
            <a:avLst/>
          </a:prstGeom>
          <a:noFill/>
          <a:ln>
            <a:noFill/>
          </a:ln>
        </p:spPr>
        <p:txBody>
          <a:bodyPr anchorCtr="0" anchor="b" bIns="45700" lIns="45700" spcFirstLastPara="1" rIns="45700" wrap="square" tIns="45700">
            <a:noAutofit/>
          </a:bodyPr>
          <a:lstStyle>
            <a:lvl1pPr lvl="0" algn="ctr">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4"/>
          <p:cNvSpPr txBox="1"/>
          <p:nvPr>
            <p:ph idx="1" type="subTitle"/>
          </p:nvPr>
        </p:nvSpPr>
        <p:spPr>
          <a:xfrm>
            <a:off x="1143000" y="3602038"/>
            <a:ext cx="6858000" cy="1655762"/>
          </a:xfrm>
          <a:prstGeom prst="rect">
            <a:avLst/>
          </a:prstGeom>
          <a:noFill/>
          <a:ln>
            <a:noFill/>
          </a:ln>
        </p:spPr>
        <p:txBody>
          <a:bodyPr anchorCtr="0" anchor="t" bIns="45700" lIns="45700" spcFirstLastPara="1" rIns="45700" wrap="square" tIns="45700">
            <a:noAutofit/>
          </a:bodyPr>
          <a:lstStyle>
            <a:lvl1pPr lvl="0" algn="ctr">
              <a:spcBef>
                <a:spcPts val="700"/>
              </a:spcBef>
              <a:spcAft>
                <a:spcPts val="0"/>
              </a:spcAft>
              <a:buSzPts val="2400"/>
              <a:buFont typeface="Verdana"/>
              <a:buNone/>
              <a:defRPr sz="2400"/>
            </a:lvl1pPr>
            <a:lvl2pPr lvl="1" algn="ctr">
              <a:spcBef>
                <a:spcPts val="700"/>
              </a:spcBef>
              <a:spcAft>
                <a:spcPts val="0"/>
              </a:spcAft>
              <a:buSzPts val="2000"/>
              <a:buFont typeface="Verdana"/>
              <a:buNone/>
              <a:defRPr sz="2000"/>
            </a:lvl2pPr>
            <a:lvl3pPr lvl="2" algn="ctr">
              <a:spcBef>
                <a:spcPts val="700"/>
              </a:spcBef>
              <a:spcAft>
                <a:spcPts val="0"/>
              </a:spcAft>
              <a:buSzPts val="1800"/>
              <a:buFont typeface="Verdana"/>
              <a:buNone/>
              <a:defRPr sz="1800"/>
            </a:lvl3pPr>
            <a:lvl4pPr lvl="3" algn="ctr">
              <a:spcBef>
                <a:spcPts val="700"/>
              </a:spcBef>
              <a:spcAft>
                <a:spcPts val="0"/>
              </a:spcAft>
              <a:buSzPts val="1600"/>
              <a:buFont typeface="Verdana"/>
              <a:buNone/>
              <a:defRPr sz="1600"/>
            </a:lvl4pPr>
            <a:lvl5pPr lvl="4" algn="ctr">
              <a:spcBef>
                <a:spcPts val="700"/>
              </a:spcBef>
              <a:spcAft>
                <a:spcPts val="0"/>
              </a:spcAft>
              <a:buSzPts val="1600"/>
              <a:buFont typeface="Verdana"/>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4" name="Google Shape;74;p304"/>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sp>
        <p:nvSpPr>
          <p:cNvPr id="76" name="Google Shape;76;p305"/>
          <p:cNvSpPr txBox="1"/>
          <p:nvPr>
            <p:ph type="title"/>
          </p:nvPr>
        </p:nvSpPr>
        <p:spPr>
          <a:xfrm>
            <a:off x="623888" y="1709738"/>
            <a:ext cx="7886700" cy="2852737"/>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5"/>
          <p:cNvSpPr txBox="1"/>
          <p:nvPr>
            <p:ph idx="1" type="body"/>
          </p:nvPr>
        </p:nvSpPr>
        <p:spPr>
          <a:xfrm>
            <a:off x="623888" y="4589463"/>
            <a:ext cx="7886700" cy="1500187"/>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2400"/>
              <a:buFont typeface="Verdana"/>
              <a:buNone/>
              <a:defRPr sz="2400"/>
            </a:lvl1pPr>
            <a:lvl2pPr indent="-228600" lvl="1" marL="914400" algn="l">
              <a:spcBef>
                <a:spcPts val="700"/>
              </a:spcBef>
              <a:spcAft>
                <a:spcPts val="0"/>
              </a:spcAft>
              <a:buSzPts val="2000"/>
              <a:buFont typeface="Verdana"/>
              <a:buNone/>
              <a:defRPr sz="2000"/>
            </a:lvl2pPr>
            <a:lvl3pPr indent="-228600" lvl="2" marL="1371600" algn="l">
              <a:spcBef>
                <a:spcPts val="700"/>
              </a:spcBef>
              <a:spcAft>
                <a:spcPts val="0"/>
              </a:spcAft>
              <a:buSzPts val="1800"/>
              <a:buFont typeface="Verdana"/>
              <a:buNone/>
              <a:defRPr sz="1800"/>
            </a:lvl3pPr>
            <a:lvl4pPr indent="-228600" lvl="3" marL="1828800" algn="l">
              <a:spcBef>
                <a:spcPts val="700"/>
              </a:spcBef>
              <a:spcAft>
                <a:spcPts val="0"/>
              </a:spcAft>
              <a:buSzPts val="1600"/>
              <a:buFont typeface="Verdana"/>
              <a:buNone/>
              <a:defRPr sz="1600"/>
            </a:lvl4pPr>
            <a:lvl5pPr indent="-228600" lvl="4" marL="2286000" algn="l">
              <a:spcBef>
                <a:spcPts val="700"/>
              </a:spcBef>
              <a:spcAft>
                <a:spcPts val="0"/>
              </a:spcAft>
              <a:buSzPts val="1600"/>
              <a:buFont typeface="Verdana"/>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78" name="Google Shape;78;p305"/>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30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6"/>
          <p:cNvSpPr txBox="1"/>
          <p:nvPr>
            <p:ph idx="1" type="body"/>
          </p:nvPr>
        </p:nvSpPr>
        <p:spPr>
          <a:xfrm>
            <a:off x="566738" y="1219200"/>
            <a:ext cx="3924300" cy="5029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06"/>
          <p:cNvSpPr txBox="1"/>
          <p:nvPr>
            <p:ph idx="2" type="body"/>
          </p:nvPr>
        </p:nvSpPr>
        <p:spPr>
          <a:xfrm>
            <a:off x="4643438" y="1219200"/>
            <a:ext cx="3924300" cy="50292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06"/>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307"/>
          <p:cNvSpPr txBox="1"/>
          <p:nvPr>
            <p:ph type="title"/>
          </p:nvPr>
        </p:nvSpPr>
        <p:spPr>
          <a:xfrm>
            <a:off x="630238" y="365125"/>
            <a:ext cx="7886700" cy="1325563"/>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07"/>
          <p:cNvSpPr txBox="1"/>
          <p:nvPr>
            <p:ph idx="1" type="body"/>
          </p:nvPr>
        </p:nvSpPr>
        <p:spPr>
          <a:xfrm>
            <a:off x="630238" y="1681163"/>
            <a:ext cx="3868737" cy="823912"/>
          </a:xfrm>
          <a:prstGeom prst="rect">
            <a:avLst/>
          </a:prstGeom>
          <a:noFill/>
          <a:ln>
            <a:noFill/>
          </a:ln>
        </p:spPr>
        <p:txBody>
          <a:bodyPr anchorCtr="0" anchor="b" bIns="45700" lIns="45700" spcFirstLastPara="1" rIns="45700" wrap="square" tIns="45700">
            <a:noAutofit/>
          </a:bodyPr>
          <a:lstStyle>
            <a:lvl1pPr indent="-228600" lvl="0" marL="457200" algn="l">
              <a:spcBef>
                <a:spcPts val="700"/>
              </a:spcBef>
              <a:spcAft>
                <a:spcPts val="0"/>
              </a:spcAft>
              <a:buSzPts val="2400"/>
              <a:buFont typeface="Verdana"/>
              <a:buNone/>
              <a:defRPr b="1" sz="2400"/>
            </a:lvl1pPr>
            <a:lvl2pPr indent="-228600" lvl="1" marL="914400" algn="l">
              <a:spcBef>
                <a:spcPts val="700"/>
              </a:spcBef>
              <a:spcAft>
                <a:spcPts val="0"/>
              </a:spcAft>
              <a:buSzPts val="2000"/>
              <a:buFont typeface="Verdana"/>
              <a:buNone/>
              <a:defRPr b="1" sz="2000"/>
            </a:lvl2pPr>
            <a:lvl3pPr indent="-228600" lvl="2" marL="1371600" algn="l">
              <a:spcBef>
                <a:spcPts val="700"/>
              </a:spcBef>
              <a:spcAft>
                <a:spcPts val="0"/>
              </a:spcAft>
              <a:buSzPts val="1800"/>
              <a:buFont typeface="Verdana"/>
              <a:buNone/>
              <a:defRPr b="1" sz="1800"/>
            </a:lvl3pPr>
            <a:lvl4pPr indent="-228600" lvl="3" marL="1828800" algn="l">
              <a:spcBef>
                <a:spcPts val="700"/>
              </a:spcBef>
              <a:spcAft>
                <a:spcPts val="0"/>
              </a:spcAft>
              <a:buSzPts val="1600"/>
              <a:buFont typeface="Verdana"/>
              <a:buNone/>
              <a:defRPr b="1" sz="1600"/>
            </a:lvl4pPr>
            <a:lvl5pPr indent="-228600" lvl="4" marL="2286000" algn="l">
              <a:spcBef>
                <a:spcPts val="700"/>
              </a:spcBef>
              <a:spcAft>
                <a:spcPts val="0"/>
              </a:spcAft>
              <a:buSzPts val="1600"/>
              <a:buFont typeface="Verdan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 name="Google Shape;87;p307"/>
          <p:cNvSpPr txBox="1"/>
          <p:nvPr>
            <p:ph idx="2" type="body"/>
          </p:nvPr>
        </p:nvSpPr>
        <p:spPr>
          <a:xfrm>
            <a:off x="630238" y="2505075"/>
            <a:ext cx="3868737" cy="3684588"/>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307"/>
          <p:cNvSpPr txBox="1"/>
          <p:nvPr>
            <p:ph idx="3" type="body"/>
          </p:nvPr>
        </p:nvSpPr>
        <p:spPr>
          <a:xfrm>
            <a:off x="4629150" y="1681163"/>
            <a:ext cx="3887788" cy="823912"/>
          </a:xfrm>
          <a:prstGeom prst="rect">
            <a:avLst/>
          </a:prstGeom>
          <a:noFill/>
          <a:ln>
            <a:noFill/>
          </a:ln>
        </p:spPr>
        <p:txBody>
          <a:bodyPr anchorCtr="0" anchor="b" bIns="45700" lIns="45700" spcFirstLastPara="1" rIns="45700" wrap="square" tIns="45700">
            <a:noAutofit/>
          </a:bodyPr>
          <a:lstStyle>
            <a:lvl1pPr indent="-228600" lvl="0" marL="457200" algn="l">
              <a:spcBef>
                <a:spcPts val="700"/>
              </a:spcBef>
              <a:spcAft>
                <a:spcPts val="0"/>
              </a:spcAft>
              <a:buSzPts val="2400"/>
              <a:buFont typeface="Verdana"/>
              <a:buNone/>
              <a:defRPr b="1" sz="2400"/>
            </a:lvl1pPr>
            <a:lvl2pPr indent="-228600" lvl="1" marL="914400" algn="l">
              <a:spcBef>
                <a:spcPts val="700"/>
              </a:spcBef>
              <a:spcAft>
                <a:spcPts val="0"/>
              </a:spcAft>
              <a:buSzPts val="2000"/>
              <a:buFont typeface="Verdana"/>
              <a:buNone/>
              <a:defRPr b="1" sz="2000"/>
            </a:lvl2pPr>
            <a:lvl3pPr indent="-228600" lvl="2" marL="1371600" algn="l">
              <a:spcBef>
                <a:spcPts val="700"/>
              </a:spcBef>
              <a:spcAft>
                <a:spcPts val="0"/>
              </a:spcAft>
              <a:buSzPts val="1800"/>
              <a:buFont typeface="Verdana"/>
              <a:buNone/>
              <a:defRPr b="1" sz="1800"/>
            </a:lvl3pPr>
            <a:lvl4pPr indent="-228600" lvl="3" marL="1828800" algn="l">
              <a:spcBef>
                <a:spcPts val="700"/>
              </a:spcBef>
              <a:spcAft>
                <a:spcPts val="0"/>
              </a:spcAft>
              <a:buSzPts val="1600"/>
              <a:buFont typeface="Verdana"/>
              <a:buNone/>
              <a:defRPr b="1" sz="1600"/>
            </a:lvl4pPr>
            <a:lvl5pPr indent="-228600" lvl="4" marL="2286000" algn="l">
              <a:spcBef>
                <a:spcPts val="700"/>
              </a:spcBef>
              <a:spcAft>
                <a:spcPts val="0"/>
              </a:spcAft>
              <a:buSzPts val="1600"/>
              <a:buFont typeface="Verdan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9" name="Google Shape;89;p307"/>
          <p:cNvSpPr txBox="1"/>
          <p:nvPr>
            <p:ph idx="4" type="body"/>
          </p:nvPr>
        </p:nvSpPr>
        <p:spPr>
          <a:xfrm>
            <a:off x="4629150" y="2505075"/>
            <a:ext cx="3887788" cy="3684588"/>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307"/>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30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08"/>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 name="Shape 94"/>
        <p:cNvGrpSpPr/>
        <p:nvPr/>
      </p:nvGrpSpPr>
      <p:grpSpPr>
        <a:xfrm>
          <a:off x="0" y="0"/>
          <a:ext cx="0" cy="0"/>
          <a:chOff x="0" y="0"/>
          <a:chExt cx="0" cy="0"/>
        </a:xfrm>
      </p:grpSpPr>
      <p:sp>
        <p:nvSpPr>
          <p:cNvPr id="95" name="Google Shape;95;p309"/>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6" name="Shape 96"/>
        <p:cNvGrpSpPr/>
        <p:nvPr/>
      </p:nvGrpSpPr>
      <p:grpSpPr>
        <a:xfrm>
          <a:off x="0" y="0"/>
          <a:ext cx="0" cy="0"/>
          <a:chOff x="0" y="0"/>
          <a:chExt cx="0" cy="0"/>
        </a:xfrm>
      </p:grpSpPr>
      <p:sp>
        <p:nvSpPr>
          <p:cNvPr id="97" name="Google Shape;97;p310"/>
          <p:cNvSpPr txBox="1"/>
          <p:nvPr>
            <p:ph type="title"/>
          </p:nvPr>
        </p:nvSpPr>
        <p:spPr>
          <a:xfrm>
            <a:off x="630238" y="457200"/>
            <a:ext cx="2949575" cy="16002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10"/>
          <p:cNvSpPr txBox="1"/>
          <p:nvPr>
            <p:ph idx="1" type="body"/>
          </p:nvPr>
        </p:nvSpPr>
        <p:spPr>
          <a:xfrm>
            <a:off x="3887788" y="987425"/>
            <a:ext cx="4629150" cy="4873625"/>
          </a:xfrm>
          <a:prstGeom prst="rect">
            <a:avLst/>
          </a:prstGeom>
          <a:noFill/>
          <a:ln>
            <a:noFill/>
          </a:ln>
        </p:spPr>
        <p:txBody>
          <a:bodyPr anchorCtr="0" anchor="t" bIns="45700" lIns="45700" spcFirstLastPara="1" rIns="45700" wrap="square" tIns="45700">
            <a:noAutofit/>
          </a:bodyPr>
          <a:lstStyle>
            <a:lvl1pPr indent="-431800" lvl="0" marL="457200" algn="l">
              <a:spcBef>
                <a:spcPts val="700"/>
              </a:spcBef>
              <a:spcAft>
                <a:spcPts val="0"/>
              </a:spcAft>
              <a:buSzPts val="3200"/>
              <a:buFont typeface="Verdana"/>
              <a:buChar char="□"/>
              <a:defRPr sz="3200"/>
            </a:lvl1pPr>
            <a:lvl2pPr indent="-406400" lvl="1" marL="914400" algn="l">
              <a:spcBef>
                <a:spcPts val="700"/>
              </a:spcBef>
              <a:spcAft>
                <a:spcPts val="0"/>
              </a:spcAft>
              <a:buSzPts val="2800"/>
              <a:buFont typeface="Verdana"/>
              <a:buChar char="■"/>
              <a:defRPr sz="2800"/>
            </a:lvl2pPr>
            <a:lvl3pPr indent="-381000" lvl="2" marL="1371600" algn="l">
              <a:spcBef>
                <a:spcPts val="700"/>
              </a:spcBef>
              <a:spcAft>
                <a:spcPts val="0"/>
              </a:spcAft>
              <a:buSzPts val="2400"/>
              <a:buFont typeface="Verdana"/>
              <a:buChar char="□"/>
              <a:defRPr sz="2400"/>
            </a:lvl3pPr>
            <a:lvl4pPr indent="-355600" lvl="3" marL="1828800" algn="l">
              <a:spcBef>
                <a:spcPts val="700"/>
              </a:spcBef>
              <a:spcAft>
                <a:spcPts val="0"/>
              </a:spcAft>
              <a:buSzPts val="2000"/>
              <a:buFont typeface="Verdana"/>
              <a:buChar char="■"/>
              <a:defRPr sz="2000"/>
            </a:lvl4pPr>
            <a:lvl5pPr indent="-355600" lvl="4" marL="2286000" algn="l">
              <a:spcBef>
                <a:spcPts val="700"/>
              </a:spcBef>
              <a:spcAft>
                <a:spcPts val="0"/>
              </a:spcAft>
              <a:buSzPts val="2000"/>
              <a:buFont typeface="Verdana"/>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9" name="Google Shape;99;p310"/>
          <p:cNvSpPr txBox="1"/>
          <p:nvPr>
            <p:ph idx="2" type="body"/>
          </p:nvPr>
        </p:nvSpPr>
        <p:spPr>
          <a:xfrm>
            <a:off x="630238" y="2057400"/>
            <a:ext cx="2949575" cy="3811588"/>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1600"/>
              <a:buFont typeface="Verdana"/>
              <a:buNone/>
              <a:defRPr sz="1600"/>
            </a:lvl1pPr>
            <a:lvl2pPr indent="-228600" lvl="1" marL="914400" algn="l">
              <a:spcBef>
                <a:spcPts val="700"/>
              </a:spcBef>
              <a:spcAft>
                <a:spcPts val="0"/>
              </a:spcAft>
              <a:buSzPts val="1400"/>
              <a:buFont typeface="Verdana"/>
              <a:buNone/>
              <a:defRPr sz="1400"/>
            </a:lvl2pPr>
            <a:lvl3pPr indent="-228600" lvl="2" marL="1371600" algn="l">
              <a:spcBef>
                <a:spcPts val="700"/>
              </a:spcBef>
              <a:spcAft>
                <a:spcPts val="0"/>
              </a:spcAft>
              <a:buSzPts val="1200"/>
              <a:buFont typeface="Verdana"/>
              <a:buNone/>
              <a:defRPr sz="1200"/>
            </a:lvl3pPr>
            <a:lvl4pPr indent="-228600" lvl="3" marL="1828800" algn="l">
              <a:spcBef>
                <a:spcPts val="700"/>
              </a:spcBef>
              <a:spcAft>
                <a:spcPts val="0"/>
              </a:spcAft>
              <a:buSzPts val="1000"/>
              <a:buFont typeface="Verdana"/>
              <a:buNone/>
              <a:defRPr sz="1000"/>
            </a:lvl4pPr>
            <a:lvl5pPr indent="-228600" lvl="4" marL="2286000" algn="l">
              <a:spcBef>
                <a:spcPts val="700"/>
              </a:spcBef>
              <a:spcAft>
                <a:spcPts val="0"/>
              </a:spcAft>
              <a:buSzPts val="1000"/>
              <a:buFont typeface="Verdan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0" name="Google Shape;100;p310"/>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1" name="Shape 101"/>
        <p:cNvGrpSpPr/>
        <p:nvPr/>
      </p:nvGrpSpPr>
      <p:grpSpPr>
        <a:xfrm>
          <a:off x="0" y="0"/>
          <a:ext cx="0" cy="0"/>
          <a:chOff x="0" y="0"/>
          <a:chExt cx="0" cy="0"/>
        </a:xfrm>
      </p:grpSpPr>
      <p:sp>
        <p:nvSpPr>
          <p:cNvPr id="102" name="Google Shape;102;p311"/>
          <p:cNvSpPr txBox="1"/>
          <p:nvPr>
            <p:ph type="title"/>
          </p:nvPr>
        </p:nvSpPr>
        <p:spPr>
          <a:xfrm>
            <a:off x="630238" y="457200"/>
            <a:ext cx="2949575" cy="16002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11"/>
          <p:cNvSpPr/>
          <p:nvPr>
            <p:ph idx="2" type="pic"/>
          </p:nvPr>
        </p:nvSpPr>
        <p:spPr>
          <a:xfrm>
            <a:off x="3887788" y="987425"/>
            <a:ext cx="4629150" cy="4873625"/>
          </a:xfrm>
          <a:prstGeom prst="rect">
            <a:avLst/>
          </a:prstGeom>
          <a:noFill/>
          <a:ln>
            <a:noFill/>
          </a:ln>
        </p:spPr>
      </p:sp>
      <p:sp>
        <p:nvSpPr>
          <p:cNvPr id="104" name="Google Shape;104;p311"/>
          <p:cNvSpPr txBox="1"/>
          <p:nvPr>
            <p:ph idx="1" type="body"/>
          </p:nvPr>
        </p:nvSpPr>
        <p:spPr>
          <a:xfrm>
            <a:off x="630238" y="2057400"/>
            <a:ext cx="2949575" cy="3811588"/>
          </a:xfrm>
          <a:prstGeom prst="rect">
            <a:avLst/>
          </a:prstGeom>
          <a:noFill/>
          <a:ln>
            <a:noFill/>
          </a:ln>
        </p:spPr>
        <p:txBody>
          <a:bodyPr anchorCtr="0" anchor="t" bIns="45700" lIns="45700" spcFirstLastPara="1" rIns="45700" wrap="square" tIns="45700">
            <a:noAutofit/>
          </a:bodyPr>
          <a:lstStyle>
            <a:lvl1pPr indent="-228600" lvl="0" marL="457200" algn="l">
              <a:spcBef>
                <a:spcPts val="700"/>
              </a:spcBef>
              <a:spcAft>
                <a:spcPts val="0"/>
              </a:spcAft>
              <a:buSzPts val="1600"/>
              <a:buFont typeface="Verdana"/>
              <a:buNone/>
              <a:defRPr sz="1600"/>
            </a:lvl1pPr>
            <a:lvl2pPr indent="-228600" lvl="1" marL="914400" algn="l">
              <a:spcBef>
                <a:spcPts val="700"/>
              </a:spcBef>
              <a:spcAft>
                <a:spcPts val="0"/>
              </a:spcAft>
              <a:buSzPts val="1400"/>
              <a:buFont typeface="Verdana"/>
              <a:buNone/>
              <a:defRPr sz="1400"/>
            </a:lvl2pPr>
            <a:lvl3pPr indent="-228600" lvl="2" marL="1371600" algn="l">
              <a:spcBef>
                <a:spcPts val="700"/>
              </a:spcBef>
              <a:spcAft>
                <a:spcPts val="0"/>
              </a:spcAft>
              <a:buSzPts val="1200"/>
              <a:buFont typeface="Verdana"/>
              <a:buNone/>
              <a:defRPr sz="1200"/>
            </a:lvl3pPr>
            <a:lvl4pPr indent="-228600" lvl="3" marL="1828800" algn="l">
              <a:spcBef>
                <a:spcPts val="700"/>
              </a:spcBef>
              <a:spcAft>
                <a:spcPts val="0"/>
              </a:spcAft>
              <a:buSzPts val="1000"/>
              <a:buFont typeface="Verdana"/>
              <a:buNone/>
              <a:defRPr sz="1000"/>
            </a:lvl4pPr>
            <a:lvl5pPr indent="-228600" lvl="4" marL="2286000" algn="l">
              <a:spcBef>
                <a:spcPts val="700"/>
              </a:spcBef>
              <a:spcAft>
                <a:spcPts val="0"/>
              </a:spcAft>
              <a:buSzPts val="1000"/>
              <a:buFont typeface="Verdan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5" name="Google Shape;105;p311"/>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31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12"/>
          <p:cNvSpPr txBox="1"/>
          <p:nvPr>
            <p:ph idx="1" type="body"/>
          </p:nvPr>
        </p:nvSpPr>
        <p:spPr>
          <a:xfrm rot="5400000">
            <a:off x="2052638" y="-266700"/>
            <a:ext cx="5029200" cy="80010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312"/>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313"/>
          <p:cNvSpPr txBox="1"/>
          <p:nvPr>
            <p:ph type="title"/>
          </p:nvPr>
        </p:nvSpPr>
        <p:spPr>
          <a:xfrm rot="5400000">
            <a:off x="4526757" y="2199482"/>
            <a:ext cx="6096000" cy="2001837"/>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13"/>
          <p:cNvSpPr txBox="1"/>
          <p:nvPr>
            <p:ph idx="1" type="body"/>
          </p:nvPr>
        </p:nvSpPr>
        <p:spPr>
          <a:xfrm rot="5400000">
            <a:off x="446088" y="273050"/>
            <a:ext cx="6096000" cy="5854700"/>
          </a:xfrm>
          <a:prstGeom prst="rect">
            <a:avLst/>
          </a:prstGeom>
          <a:noFill/>
          <a:ln>
            <a:noFill/>
          </a:ln>
        </p:spPr>
        <p:txBody>
          <a:bodyPr anchorCtr="0" anchor="t" bIns="45700" lIns="45700" spcFirstLastPara="1" rIns="45700" wrap="square" tIns="45700">
            <a:noAutofit/>
          </a:bodyPr>
          <a:lstStyle>
            <a:lvl1pPr indent="-342900" lvl="0" marL="457200" algn="l">
              <a:spcBef>
                <a:spcPts val="700"/>
              </a:spcBef>
              <a:spcAft>
                <a:spcPts val="0"/>
              </a:spcAft>
              <a:buSzPts val="1800"/>
              <a:buChar char="□"/>
              <a:defRPr/>
            </a:lvl1pPr>
            <a:lvl2pPr indent="-342900" lvl="1" marL="914400" algn="l">
              <a:spcBef>
                <a:spcPts val="700"/>
              </a:spcBef>
              <a:spcAft>
                <a:spcPts val="0"/>
              </a:spcAft>
              <a:buSzPts val="1800"/>
              <a:buChar char="■"/>
              <a:defRPr/>
            </a:lvl2pPr>
            <a:lvl3pPr indent="-342900" lvl="2" marL="1371600" algn="l">
              <a:spcBef>
                <a:spcPts val="700"/>
              </a:spcBef>
              <a:spcAft>
                <a:spcPts val="0"/>
              </a:spcAft>
              <a:buSzPts val="1800"/>
              <a:buChar char="□"/>
              <a:defRPr/>
            </a:lvl3pPr>
            <a:lvl4pPr indent="-342900" lvl="3" marL="1828800" algn="l">
              <a:spcBef>
                <a:spcPts val="700"/>
              </a:spcBef>
              <a:spcAft>
                <a:spcPts val="0"/>
              </a:spcAft>
              <a:buSzPts val="1800"/>
              <a:buChar char="■"/>
              <a:defRPr/>
            </a:lvl4pPr>
            <a:lvl5pPr indent="-342900" lvl="4" marL="2286000" algn="l">
              <a:spcBef>
                <a:spcPts val="7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13"/>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algn="r">
              <a:spcBef>
                <a:spcPts val="0"/>
              </a:spcBef>
              <a:spcAft>
                <a:spcPts val="0"/>
              </a:spcAft>
              <a:buNone/>
              <a:defRPr sz="1200">
                <a:solidFill>
                  <a:srgbClr val="003366"/>
                </a:solidFill>
                <a:latin typeface="Arial"/>
                <a:ea typeface="Arial"/>
                <a:cs typeface="Arial"/>
                <a:sym typeface="Arial"/>
              </a:defRPr>
            </a:lvl1pPr>
            <a:lvl2pPr indent="0" lvl="1" marL="0" algn="r">
              <a:spcBef>
                <a:spcPts val="0"/>
              </a:spcBef>
              <a:spcAft>
                <a:spcPts val="0"/>
              </a:spcAft>
              <a:buNone/>
              <a:defRPr sz="1200">
                <a:solidFill>
                  <a:srgbClr val="003366"/>
                </a:solidFill>
                <a:latin typeface="Arial"/>
                <a:ea typeface="Arial"/>
                <a:cs typeface="Arial"/>
                <a:sym typeface="Arial"/>
              </a:defRPr>
            </a:lvl2pPr>
            <a:lvl3pPr indent="0" lvl="2" marL="0" algn="r">
              <a:spcBef>
                <a:spcPts val="0"/>
              </a:spcBef>
              <a:spcAft>
                <a:spcPts val="0"/>
              </a:spcAft>
              <a:buNone/>
              <a:defRPr sz="1200">
                <a:solidFill>
                  <a:srgbClr val="003366"/>
                </a:solidFill>
                <a:latin typeface="Arial"/>
                <a:ea typeface="Arial"/>
                <a:cs typeface="Arial"/>
                <a:sym typeface="Arial"/>
              </a:defRPr>
            </a:lvl3pPr>
            <a:lvl4pPr indent="0" lvl="3" marL="0" algn="r">
              <a:spcBef>
                <a:spcPts val="0"/>
              </a:spcBef>
              <a:spcAft>
                <a:spcPts val="0"/>
              </a:spcAft>
              <a:buNone/>
              <a:defRPr sz="1200">
                <a:solidFill>
                  <a:srgbClr val="003366"/>
                </a:solidFill>
                <a:latin typeface="Arial"/>
                <a:ea typeface="Arial"/>
                <a:cs typeface="Arial"/>
                <a:sym typeface="Arial"/>
              </a:defRPr>
            </a:lvl4pPr>
            <a:lvl5pPr indent="0" lvl="4" marL="0" algn="r">
              <a:spcBef>
                <a:spcPts val="0"/>
              </a:spcBef>
              <a:spcAft>
                <a:spcPts val="0"/>
              </a:spcAft>
              <a:buNone/>
              <a:defRPr sz="1200">
                <a:solidFill>
                  <a:srgbClr val="003366"/>
                </a:solidFill>
                <a:latin typeface="Arial"/>
                <a:ea typeface="Arial"/>
                <a:cs typeface="Arial"/>
                <a:sym typeface="Arial"/>
              </a:defRPr>
            </a:lvl5pPr>
            <a:lvl6pPr indent="0" lvl="5" marL="0" algn="r">
              <a:spcBef>
                <a:spcPts val="0"/>
              </a:spcBef>
              <a:spcAft>
                <a:spcPts val="0"/>
              </a:spcAft>
              <a:buNone/>
              <a:defRPr sz="1200">
                <a:solidFill>
                  <a:srgbClr val="003366"/>
                </a:solidFill>
                <a:latin typeface="Arial"/>
                <a:ea typeface="Arial"/>
                <a:cs typeface="Arial"/>
                <a:sym typeface="Arial"/>
              </a:defRPr>
            </a:lvl6pPr>
            <a:lvl7pPr indent="0" lvl="6" marL="0" algn="r">
              <a:spcBef>
                <a:spcPts val="0"/>
              </a:spcBef>
              <a:spcAft>
                <a:spcPts val="0"/>
              </a:spcAft>
              <a:buNone/>
              <a:defRPr sz="1200">
                <a:solidFill>
                  <a:srgbClr val="003366"/>
                </a:solidFill>
                <a:latin typeface="Arial"/>
                <a:ea typeface="Arial"/>
                <a:cs typeface="Arial"/>
                <a:sym typeface="Arial"/>
              </a:defRPr>
            </a:lvl7pPr>
            <a:lvl8pPr indent="0" lvl="7" marL="0" algn="r">
              <a:spcBef>
                <a:spcPts val="0"/>
              </a:spcBef>
              <a:spcAft>
                <a:spcPts val="0"/>
              </a:spcAft>
              <a:buNone/>
              <a:defRPr sz="1200">
                <a:solidFill>
                  <a:srgbClr val="003366"/>
                </a:solidFill>
                <a:latin typeface="Arial"/>
                <a:ea typeface="Arial"/>
                <a:cs typeface="Arial"/>
                <a:sym typeface="Arial"/>
              </a:defRPr>
            </a:lvl8pPr>
            <a:lvl9pPr indent="0" lvl="8" mar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5" name="Shape 5"/>
        <p:cNvGrpSpPr/>
        <p:nvPr/>
      </p:nvGrpSpPr>
      <p:grpSpPr>
        <a:xfrm>
          <a:off x="0" y="0"/>
          <a:ext cx="0" cy="0"/>
          <a:chOff x="0" y="0"/>
          <a:chExt cx="0" cy="0"/>
        </a:xfrm>
      </p:grpSpPr>
      <p:grpSp>
        <p:nvGrpSpPr>
          <p:cNvPr id="6" name="Google Shape;6;p300"/>
          <p:cNvGrpSpPr/>
          <p:nvPr/>
        </p:nvGrpSpPr>
        <p:grpSpPr>
          <a:xfrm>
            <a:off x="684213" y="2392363"/>
            <a:ext cx="7772400" cy="111125"/>
            <a:chOff x="-1" y="-1"/>
            <a:chExt cx="7772401" cy="109539"/>
          </a:xfrm>
        </p:grpSpPr>
        <p:sp>
          <p:nvSpPr>
            <p:cNvPr id="7" name="Google Shape;7;p300"/>
            <p:cNvSpPr/>
            <p:nvPr/>
          </p:nvSpPr>
          <p:spPr>
            <a:xfrm>
              <a:off x="-1" y="-1"/>
              <a:ext cx="4803345" cy="109539"/>
            </a:xfrm>
            <a:prstGeom prst="rect">
              <a:avLst/>
            </a:prstGeom>
            <a:solidFill>
              <a:schemeClr val="accent2"/>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cxnSp>
          <p:nvCxnSpPr>
            <p:cNvPr id="8" name="Google Shape;8;p300"/>
            <p:cNvCxnSpPr/>
            <p:nvPr/>
          </p:nvCxnSpPr>
          <p:spPr>
            <a:xfrm>
              <a:off x="-1" y="-1"/>
              <a:ext cx="7772401" cy="1"/>
            </a:xfrm>
            <a:prstGeom prst="straightConnector1">
              <a:avLst/>
            </a:prstGeom>
            <a:noFill/>
            <a:ln cap="flat" cmpd="sng" w="9525">
              <a:solidFill>
                <a:schemeClr val="accent2"/>
              </a:solidFill>
              <a:prstDash val="solid"/>
              <a:round/>
              <a:headEnd len="sm" w="sm" type="none"/>
              <a:tailEnd len="sm" w="sm" type="none"/>
            </a:ln>
          </p:spPr>
        </p:cxnSp>
      </p:grpSp>
      <p:sp>
        <p:nvSpPr>
          <p:cNvPr id="9" name="Google Shape;9;p300"/>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lvl1pPr lvl="0"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1pPr>
            <a:lvl2pPr lvl="1"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2pPr>
            <a:lvl3pPr lvl="2"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3pPr>
            <a:lvl4pPr lvl="3"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4pPr>
            <a:lvl5pPr lvl="4"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5pPr>
            <a:lvl6pPr lvl="5"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6pPr>
            <a:lvl7pPr lvl="6"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7pPr>
            <a:lvl8pPr lvl="7"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8pPr>
            <a:lvl9pPr lvl="8"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9pPr>
          </a:lstStyle>
          <a:p/>
        </p:txBody>
      </p:sp>
      <p:sp>
        <p:nvSpPr>
          <p:cNvPr id="10" name="Google Shape;10;p300"/>
          <p:cNvSpPr txBox="1"/>
          <p:nvPr>
            <p:ph idx="1" type="body"/>
          </p:nvPr>
        </p:nvSpPr>
        <p:spPr>
          <a:xfrm>
            <a:off x="1447800" y="3429000"/>
            <a:ext cx="7010400" cy="1600200"/>
          </a:xfrm>
          <a:prstGeom prst="rect">
            <a:avLst/>
          </a:prstGeom>
          <a:noFill/>
          <a:ln>
            <a:noFill/>
          </a:ln>
        </p:spPr>
        <p:txBody>
          <a:bodyPr anchorCtr="0" anchor="t" bIns="45700" lIns="45700" spcFirstLastPara="1" rIns="45700" wrap="square" tIns="45700">
            <a:noAutofit/>
          </a:bodyPr>
          <a:lstStyle>
            <a:lvl1pPr indent="-419100" lvl="0" marL="4572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1pPr>
            <a:lvl2pPr indent="-419100" lvl="1" marL="9144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2pPr>
            <a:lvl3pPr indent="-419100" lvl="2" marL="13716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3pPr>
            <a:lvl4pPr indent="-419100" lvl="3" marL="18288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4pPr>
            <a:lvl5pPr indent="-419100" lvl="4" marL="22860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11" name="Google Shape;11;p300"/>
          <p:cNvSpPr txBox="1"/>
          <p:nvPr>
            <p:ph idx="12" type="sldNum"/>
          </p:nvPr>
        </p:nvSpPr>
        <p:spPr>
          <a:xfrm>
            <a:off x="8183563" y="6248400"/>
            <a:ext cx="274637" cy="263525"/>
          </a:xfrm>
          <a:prstGeom prst="rect">
            <a:avLst/>
          </a:prstGeom>
          <a:noFill/>
          <a:ln>
            <a:noFill/>
          </a:ln>
        </p:spPr>
        <p:txBody>
          <a:bodyPr anchorCtr="0" anchor="t" bIns="45700" lIns="45700" spcFirstLastPara="1" rIns="45700" wrap="square" tIns="45700">
            <a:noAutofit/>
          </a:bodyPr>
          <a:lstStyle>
            <a:lvl1pPr indent="0" lvl="0" marL="0" marR="0" rtl="0" algn="r">
              <a:spcBef>
                <a:spcPts val="0"/>
              </a:spcBef>
              <a:spcAft>
                <a:spcPts val="0"/>
              </a:spcAft>
              <a:buNone/>
              <a:defRPr b="0" sz="1200" u="none">
                <a:solidFill>
                  <a:srgbClr val="003366"/>
                </a:solidFill>
                <a:latin typeface="Arial"/>
                <a:ea typeface="Arial"/>
                <a:cs typeface="Arial"/>
                <a:sym typeface="Arial"/>
              </a:defRPr>
            </a:lvl1pPr>
            <a:lvl2pPr indent="0" lvl="1" marL="0" marR="0" rtl="0" algn="r">
              <a:spcBef>
                <a:spcPts val="0"/>
              </a:spcBef>
              <a:spcAft>
                <a:spcPts val="0"/>
              </a:spcAft>
              <a:buNone/>
              <a:defRPr b="0" sz="1200" u="none">
                <a:solidFill>
                  <a:srgbClr val="003366"/>
                </a:solidFill>
                <a:latin typeface="Arial"/>
                <a:ea typeface="Arial"/>
                <a:cs typeface="Arial"/>
                <a:sym typeface="Arial"/>
              </a:defRPr>
            </a:lvl2pPr>
            <a:lvl3pPr indent="0" lvl="2" marL="0" marR="0" rtl="0" algn="r">
              <a:spcBef>
                <a:spcPts val="0"/>
              </a:spcBef>
              <a:spcAft>
                <a:spcPts val="0"/>
              </a:spcAft>
              <a:buNone/>
              <a:defRPr b="0" sz="1200" u="none">
                <a:solidFill>
                  <a:srgbClr val="003366"/>
                </a:solidFill>
                <a:latin typeface="Arial"/>
                <a:ea typeface="Arial"/>
                <a:cs typeface="Arial"/>
                <a:sym typeface="Arial"/>
              </a:defRPr>
            </a:lvl3pPr>
            <a:lvl4pPr indent="0" lvl="3" marL="0" marR="0" rtl="0" algn="r">
              <a:spcBef>
                <a:spcPts val="0"/>
              </a:spcBef>
              <a:spcAft>
                <a:spcPts val="0"/>
              </a:spcAft>
              <a:buNone/>
              <a:defRPr b="0" sz="1200" u="none">
                <a:solidFill>
                  <a:srgbClr val="003366"/>
                </a:solidFill>
                <a:latin typeface="Arial"/>
                <a:ea typeface="Arial"/>
                <a:cs typeface="Arial"/>
                <a:sym typeface="Arial"/>
              </a:defRPr>
            </a:lvl4pPr>
            <a:lvl5pPr indent="0" lvl="4" marL="0" marR="0" rtl="0" algn="r">
              <a:spcBef>
                <a:spcPts val="0"/>
              </a:spcBef>
              <a:spcAft>
                <a:spcPts val="0"/>
              </a:spcAft>
              <a:buNone/>
              <a:defRPr b="0" sz="1200" u="none">
                <a:solidFill>
                  <a:srgbClr val="003366"/>
                </a:solidFill>
                <a:latin typeface="Arial"/>
                <a:ea typeface="Arial"/>
                <a:cs typeface="Arial"/>
                <a:sym typeface="Arial"/>
              </a:defRPr>
            </a:lvl5pPr>
            <a:lvl6pPr indent="0" lvl="5" marL="0" marR="0" rtl="0" algn="r">
              <a:spcBef>
                <a:spcPts val="0"/>
              </a:spcBef>
              <a:spcAft>
                <a:spcPts val="0"/>
              </a:spcAft>
              <a:buNone/>
              <a:defRPr b="0" sz="1200" u="none">
                <a:solidFill>
                  <a:srgbClr val="003366"/>
                </a:solidFill>
                <a:latin typeface="Arial"/>
                <a:ea typeface="Arial"/>
                <a:cs typeface="Arial"/>
                <a:sym typeface="Arial"/>
              </a:defRPr>
            </a:lvl6pPr>
            <a:lvl7pPr indent="0" lvl="6" marL="0" marR="0" rtl="0" algn="r">
              <a:spcBef>
                <a:spcPts val="0"/>
              </a:spcBef>
              <a:spcAft>
                <a:spcPts val="0"/>
              </a:spcAft>
              <a:buNone/>
              <a:defRPr b="0" sz="1200" u="none">
                <a:solidFill>
                  <a:srgbClr val="003366"/>
                </a:solidFill>
                <a:latin typeface="Arial"/>
                <a:ea typeface="Arial"/>
                <a:cs typeface="Arial"/>
                <a:sym typeface="Arial"/>
              </a:defRPr>
            </a:lvl7pPr>
            <a:lvl8pPr indent="0" lvl="7" marL="0" marR="0" rtl="0" algn="r">
              <a:spcBef>
                <a:spcPts val="0"/>
              </a:spcBef>
              <a:spcAft>
                <a:spcPts val="0"/>
              </a:spcAft>
              <a:buNone/>
              <a:defRPr b="0" sz="1200" u="none">
                <a:solidFill>
                  <a:srgbClr val="003366"/>
                </a:solidFill>
                <a:latin typeface="Arial"/>
                <a:ea typeface="Arial"/>
                <a:cs typeface="Arial"/>
                <a:sym typeface="Arial"/>
              </a:defRPr>
            </a:lvl8pPr>
            <a:lvl9pPr indent="0" lvl="8" marL="0" marR="0" rtl="0" algn="r">
              <a:spcBef>
                <a:spcPts val="0"/>
              </a:spcBef>
              <a:spcAft>
                <a:spcPts val="0"/>
              </a:spcAft>
              <a:buNone/>
              <a:defRPr b="0" sz="1200" u="none">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59" name="Shape 59"/>
        <p:cNvGrpSpPr/>
        <p:nvPr/>
      </p:nvGrpSpPr>
      <p:grpSpPr>
        <a:xfrm>
          <a:off x="0" y="0"/>
          <a:ext cx="0" cy="0"/>
          <a:chOff x="0" y="0"/>
          <a:chExt cx="0" cy="0"/>
        </a:xfrm>
      </p:grpSpPr>
      <p:grpSp>
        <p:nvGrpSpPr>
          <p:cNvPr id="60" name="Google Shape;60;p302"/>
          <p:cNvGrpSpPr/>
          <p:nvPr/>
        </p:nvGrpSpPr>
        <p:grpSpPr>
          <a:xfrm>
            <a:off x="588963" y="989013"/>
            <a:ext cx="7959725" cy="111125"/>
            <a:chOff x="-1" y="-1"/>
            <a:chExt cx="7958140" cy="109539"/>
          </a:xfrm>
        </p:grpSpPr>
        <p:sp>
          <p:nvSpPr>
            <p:cNvPr id="61" name="Google Shape;61;p302"/>
            <p:cNvSpPr/>
            <p:nvPr/>
          </p:nvSpPr>
          <p:spPr>
            <a:xfrm>
              <a:off x="-1" y="-1"/>
              <a:ext cx="4655512" cy="109539"/>
            </a:xfrm>
            <a:prstGeom prst="rect">
              <a:avLst/>
            </a:prstGeom>
            <a:solidFill>
              <a:schemeClr val="accent2"/>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cxnSp>
          <p:nvCxnSpPr>
            <p:cNvPr id="62" name="Google Shape;62;p302"/>
            <p:cNvCxnSpPr/>
            <p:nvPr/>
          </p:nvCxnSpPr>
          <p:spPr>
            <a:xfrm>
              <a:off x="-1" y="-1"/>
              <a:ext cx="7958140" cy="1"/>
            </a:xfrm>
            <a:prstGeom prst="straightConnector1">
              <a:avLst/>
            </a:prstGeom>
            <a:noFill/>
            <a:ln cap="flat" cmpd="sng" w="9525">
              <a:solidFill>
                <a:schemeClr val="accent2"/>
              </a:solidFill>
              <a:prstDash val="solid"/>
              <a:round/>
              <a:headEnd len="sm" w="sm" type="none"/>
              <a:tailEnd len="sm" w="sm" type="none"/>
            </a:ln>
          </p:spPr>
        </p:cxnSp>
      </p:grpSp>
      <p:cxnSp>
        <p:nvCxnSpPr>
          <p:cNvPr descr="Line 5" id="63" name="Google Shape;63;p302"/>
          <p:cNvCxnSpPr/>
          <p:nvPr/>
        </p:nvCxnSpPr>
        <p:spPr>
          <a:xfrm>
            <a:off x="609600" y="6353175"/>
            <a:ext cx="7924800" cy="0"/>
          </a:xfrm>
          <a:prstGeom prst="straightConnector1">
            <a:avLst/>
          </a:prstGeom>
          <a:noFill/>
          <a:ln cap="flat" cmpd="sng" w="9525">
            <a:solidFill>
              <a:schemeClr val="accent2"/>
            </a:solidFill>
            <a:prstDash val="solid"/>
            <a:round/>
            <a:headEnd len="sm" w="sm" type="none"/>
            <a:tailEnd len="sm" w="sm" type="none"/>
          </a:ln>
        </p:spPr>
      </p:cxnSp>
      <p:sp>
        <p:nvSpPr>
          <p:cNvPr id="64" name="Google Shape;64;p30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lvl1pPr lvl="0"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1pPr>
            <a:lvl2pPr lvl="1"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2pPr>
            <a:lvl3pPr lvl="2"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3pPr>
            <a:lvl4pPr lvl="3"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4pPr>
            <a:lvl5pPr lvl="4"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5pPr>
            <a:lvl6pPr lvl="5"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6pPr>
            <a:lvl7pPr lvl="6"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7pPr>
            <a:lvl8pPr lvl="7"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8pPr>
            <a:lvl9pPr lvl="8" marR="0" rtl="0" algn="l">
              <a:spcBef>
                <a:spcPts val="0"/>
              </a:spcBef>
              <a:spcAft>
                <a:spcPts val="0"/>
              </a:spcAft>
              <a:buSzPts val="1400"/>
              <a:buNone/>
              <a:defRPr b="0" i="0" sz="3200" u="none" cap="none" strike="noStrike">
                <a:solidFill>
                  <a:srgbClr val="003366"/>
                </a:solidFill>
                <a:latin typeface="Verdana"/>
                <a:ea typeface="Verdana"/>
                <a:cs typeface="Verdana"/>
                <a:sym typeface="Verdana"/>
              </a:defRPr>
            </a:lvl9pPr>
          </a:lstStyle>
          <a:p/>
        </p:txBody>
      </p:sp>
      <p:sp>
        <p:nvSpPr>
          <p:cNvPr id="65" name="Google Shape;65;p30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lvl1pPr indent="-419100" lvl="0" marL="4572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1pPr>
            <a:lvl2pPr indent="-419100" lvl="1" marL="9144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2pPr>
            <a:lvl3pPr indent="-419100" lvl="2" marL="13716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3pPr>
            <a:lvl4pPr indent="-419100" lvl="3" marL="18288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4pPr>
            <a:lvl5pPr indent="-419100" lvl="4" marL="2286000" marR="0" rtl="0" algn="l">
              <a:spcBef>
                <a:spcPts val="700"/>
              </a:spcBef>
              <a:spcAft>
                <a:spcPts val="0"/>
              </a:spcAft>
              <a:buClr>
                <a:schemeClr val="accent2"/>
              </a:buClr>
              <a:buSzPts val="3000"/>
              <a:buFont typeface="Verdana"/>
              <a:buChar char="▪"/>
              <a:defRPr b="0" i="0" sz="3000" u="none" cap="none" strike="noStrike">
                <a:solidFill>
                  <a:srgbClr val="003366"/>
                </a:solidFill>
                <a:latin typeface="Verdana"/>
                <a:ea typeface="Verdana"/>
                <a:cs typeface="Verdana"/>
                <a:sym typeface="Verdan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9pPr>
          </a:lstStyle>
          <a:p/>
        </p:txBody>
      </p:sp>
      <p:sp>
        <p:nvSpPr>
          <p:cNvPr id="66" name="Google Shape;66;p302"/>
          <p:cNvSpPr txBox="1"/>
          <p:nvPr>
            <p:ph idx="12" type="sldNum"/>
          </p:nvPr>
        </p:nvSpPr>
        <p:spPr>
          <a:xfrm>
            <a:off x="8259763" y="6400800"/>
            <a:ext cx="274637" cy="263525"/>
          </a:xfrm>
          <a:prstGeom prst="rect">
            <a:avLst/>
          </a:prstGeom>
          <a:noFill/>
          <a:ln>
            <a:noFill/>
          </a:ln>
        </p:spPr>
        <p:txBody>
          <a:bodyPr anchorCtr="0" anchor="t" bIns="45700" lIns="45700" spcFirstLastPara="1" rIns="45700" wrap="square" tIns="45700">
            <a:noAutofit/>
          </a:bodyPr>
          <a:lstStyle>
            <a:lvl1pPr indent="0" lvl="0" marL="0" marR="0" rtl="0" algn="r">
              <a:spcBef>
                <a:spcPts val="0"/>
              </a:spcBef>
              <a:spcAft>
                <a:spcPts val="0"/>
              </a:spcAft>
              <a:buNone/>
              <a:defRPr sz="1200">
                <a:solidFill>
                  <a:srgbClr val="003366"/>
                </a:solidFill>
                <a:latin typeface="Arial"/>
                <a:ea typeface="Arial"/>
                <a:cs typeface="Arial"/>
                <a:sym typeface="Arial"/>
              </a:defRPr>
            </a:lvl1pPr>
            <a:lvl2pPr indent="0" lvl="1" marL="0" marR="0" rtl="0" algn="r">
              <a:spcBef>
                <a:spcPts val="0"/>
              </a:spcBef>
              <a:spcAft>
                <a:spcPts val="0"/>
              </a:spcAft>
              <a:buNone/>
              <a:defRPr sz="1200">
                <a:solidFill>
                  <a:srgbClr val="003366"/>
                </a:solidFill>
                <a:latin typeface="Arial"/>
                <a:ea typeface="Arial"/>
                <a:cs typeface="Arial"/>
                <a:sym typeface="Arial"/>
              </a:defRPr>
            </a:lvl2pPr>
            <a:lvl3pPr indent="0" lvl="2" marL="0" marR="0" rtl="0" algn="r">
              <a:spcBef>
                <a:spcPts val="0"/>
              </a:spcBef>
              <a:spcAft>
                <a:spcPts val="0"/>
              </a:spcAft>
              <a:buNone/>
              <a:defRPr sz="1200">
                <a:solidFill>
                  <a:srgbClr val="003366"/>
                </a:solidFill>
                <a:latin typeface="Arial"/>
                <a:ea typeface="Arial"/>
                <a:cs typeface="Arial"/>
                <a:sym typeface="Arial"/>
              </a:defRPr>
            </a:lvl3pPr>
            <a:lvl4pPr indent="0" lvl="3" marL="0" marR="0" rtl="0" algn="r">
              <a:spcBef>
                <a:spcPts val="0"/>
              </a:spcBef>
              <a:spcAft>
                <a:spcPts val="0"/>
              </a:spcAft>
              <a:buNone/>
              <a:defRPr sz="1200">
                <a:solidFill>
                  <a:srgbClr val="003366"/>
                </a:solidFill>
                <a:latin typeface="Arial"/>
                <a:ea typeface="Arial"/>
                <a:cs typeface="Arial"/>
                <a:sym typeface="Arial"/>
              </a:defRPr>
            </a:lvl4pPr>
            <a:lvl5pPr indent="0" lvl="4" marL="0" marR="0" rtl="0" algn="r">
              <a:spcBef>
                <a:spcPts val="0"/>
              </a:spcBef>
              <a:spcAft>
                <a:spcPts val="0"/>
              </a:spcAft>
              <a:buNone/>
              <a:defRPr sz="1200">
                <a:solidFill>
                  <a:srgbClr val="003366"/>
                </a:solidFill>
                <a:latin typeface="Arial"/>
                <a:ea typeface="Arial"/>
                <a:cs typeface="Arial"/>
                <a:sym typeface="Arial"/>
              </a:defRPr>
            </a:lvl5pPr>
            <a:lvl6pPr indent="0" lvl="5" marL="0" marR="0" rtl="0" algn="r">
              <a:spcBef>
                <a:spcPts val="0"/>
              </a:spcBef>
              <a:spcAft>
                <a:spcPts val="0"/>
              </a:spcAft>
              <a:buNone/>
              <a:defRPr sz="1200">
                <a:solidFill>
                  <a:srgbClr val="003366"/>
                </a:solidFill>
                <a:latin typeface="Arial"/>
                <a:ea typeface="Arial"/>
                <a:cs typeface="Arial"/>
                <a:sym typeface="Arial"/>
              </a:defRPr>
            </a:lvl6pPr>
            <a:lvl7pPr indent="0" lvl="6" marL="0" marR="0" rtl="0" algn="r">
              <a:spcBef>
                <a:spcPts val="0"/>
              </a:spcBef>
              <a:spcAft>
                <a:spcPts val="0"/>
              </a:spcAft>
              <a:buNone/>
              <a:defRPr sz="1200">
                <a:solidFill>
                  <a:srgbClr val="003366"/>
                </a:solidFill>
                <a:latin typeface="Arial"/>
                <a:ea typeface="Arial"/>
                <a:cs typeface="Arial"/>
                <a:sym typeface="Arial"/>
              </a:defRPr>
            </a:lvl7pPr>
            <a:lvl8pPr indent="0" lvl="7" marL="0" marR="0" rtl="0" algn="r">
              <a:spcBef>
                <a:spcPts val="0"/>
              </a:spcBef>
              <a:spcAft>
                <a:spcPts val="0"/>
              </a:spcAft>
              <a:buNone/>
              <a:defRPr sz="1200">
                <a:solidFill>
                  <a:srgbClr val="003366"/>
                </a:solidFill>
                <a:latin typeface="Arial"/>
                <a:ea typeface="Arial"/>
                <a:cs typeface="Arial"/>
                <a:sym typeface="Arial"/>
              </a:defRPr>
            </a:lvl8pPr>
            <a:lvl9pPr indent="0" lvl="8" marL="0" marR="0" rtl="0" algn="r">
              <a:spcBef>
                <a:spcPts val="0"/>
              </a:spcBef>
              <a:spcAft>
                <a:spcPts val="0"/>
              </a:spcAft>
              <a:buNone/>
              <a:defRPr sz="1200">
                <a:solidFill>
                  <a:srgbClr val="00336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1.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3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3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2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3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 Id="rId3" Type="http://schemas.openxmlformats.org/officeDocument/2006/relationships/image" Target="../media/image3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 Id="rId3" Type="http://schemas.openxmlformats.org/officeDocument/2006/relationships/image" Target="../media/image3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7.xml"/><Relationship Id="rId3" Type="http://schemas.openxmlformats.org/officeDocument/2006/relationships/image" Target="../media/image29.png"/><Relationship Id="rId4" Type="http://schemas.openxmlformats.org/officeDocument/2006/relationships/image" Target="../media/image2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 Id="rId3" Type="http://schemas.openxmlformats.org/officeDocument/2006/relationships/image" Target="../media/image41.png"/><Relationship Id="rId4" Type="http://schemas.openxmlformats.org/officeDocument/2006/relationships/image" Target="../media/image29.png"/><Relationship Id="rId5" Type="http://schemas.openxmlformats.org/officeDocument/2006/relationships/image" Target="../media/image2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29.png"/><Relationship Id="rId6" Type="http://schemas.openxmlformats.org/officeDocument/2006/relationships/image" Target="../media/image2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 Id="rId3" Type="http://schemas.openxmlformats.org/officeDocument/2006/relationships/hyperlink" Target="https://www.geeksforgeeks.org/topological-sorting-indegree-based-solution/" TargetMode="External"/><Relationship Id="rId4" Type="http://schemas.openxmlformats.org/officeDocument/2006/relationships/hyperlink" Target="https://www.geeksforgeeks.org/finding-in-and-out-degrees-of-all-vertices-in-a-graph/" TargetMode="Externa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7.xml"/><Relationship Id="rId3" Type="http://schemas.openxmlformats.org/officeDocument/2006/relationships/image" Target="../media/image38.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8.xml"/><Relationship Id="rId3" Type="http://schemas.openxmlformats.org/officeDocument/2006/relationships/image" Target="../media/image44.png"/><Relationship Id="rId4" Type="http://schemas.openxmlformats.org/officeDocument/2006/relationships/image" Target="../media/image3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9.xml"/><Relationship Id="rId3" Type="http://schemas.openxmlformats.org/officeDocument/2006/relationships/image" Target="../media/image44.png"/><Relationship Id="rId4" Type="http://schemas.openxmlformats.org/officeDocument/2006/relationships/image" Target="../media/image3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0.xml"/><Relationship Id="rId3" Type="http://schemas.openxmlformats.org/officeDocument/2006/relationships/image" Target="../media/image44.png"/><Relationship Id="rId4" Type="http://schemas.openxmlformats.org/officeDocument/2006/relationships/image" Target="../media/image38.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4.xml"/><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48.png"/><Relationship Id="rId6" Type="http://schemas.openxmlformats.org/officeDocument/2006/relationships/image" Target="../media/image57.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 Id="rId3" Type="http://schemas.openxmlformats.org/officeDocument/2006/relationships/image" Target="../media/image5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8.xml"/><Relationship Id="rId3" Type="http://schemas.openxmlformats.org/officeDocument/2006/relationships/image" Target="../media/image68.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8.xml"/><Relationship Id="rId3" Type="http://schemas.openxmlformats.org/officeDocument/2006/relationships/image" Target="../media/image5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9.xml"/><Relationship Id="rId3" Type="http://schemas.openxmlformats.org/officeDocument/2006/relationships/image" Target="../media/image5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0.xml"/><Relationship Id="rId3" Type="http://schemas.openxmlformats.org/officeDocument/2006/relationships/image" Target="../media/image46.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1.xml"/><Relationship Id="rId3" Type="http://schemas.openxmlformats.org/officeDocument/2006/relationships/image" Target="../media/image46.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2.xml"/><Relationship Id="rId3" Type="http://schemas.openxmlformats.org/officeDocument/2006/relationships/image" Target="../media/image6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3.xml"/><Relationship Id="rId3" Type="http://schemas.openxmlformats.org/officeDocument/2006/relationships/image" Target="../media/image62.png"/><Relationship Id="rId4" Type="http://schemas.openxmlformats.org/officeDocument/2006/relationships/image" Target="../media/image4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8.xml"/><Relationship Id="rId3" Type="http://schemas.openxmlformats.org/officeDocument/2006/relationships/image" Target="../media/image67.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9.xml"/><Relationship Id="rId3" Type="http://schemas.openxmlformats.org/officeDocument/2006/relationships/image" Target="../media/image67.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2.xml"/><Relationship Id="rId3" Type="http://schemas.openxmlformats.org/officeDocument/2006/relationships/image" Target="../media/image56.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3.xml"/><Relationship Id="rId3" Type="http://schemas.openxmlformats.org/officeDocument/2006/relationships/image" Target="../media/image56.png"/><Relationship Id="rId4" Type="http://schemas.openxmlformats.org/officeDocument/2006/relationships/image" Target="../media/image5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4.xml"/><Relationship Id="rId3" Type="http://schemas.openxmlformats.org/officeDocument/2006/relationships/image" Target="../media/image6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5.xml"/><Relationship Id="rId3" Type="http://schemas.openxmlformats.org/officeDocument/2006/relationships/image" Target="../media/image64.png"/><Relationship Id="rId4" Type="http://schemas.openxmlformats.org/officeDocument/2006/relationships/image" Target="../media/image79.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6.xml"/><Relationship Id="rId3" Type="http://schemas.openxmlformats.org/officeDocument/2006/relationships/image" Target="../media/image58.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7.xml"/><Relationship Id="rId3" Type="http://schemas.openxmlformats.org/officeDocument/2006/relationships/image" Target="../media/image58.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1.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7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5.xml"/><Relationship Id="rId3" Type="http://schemas.openxmlformats.org/officeDocument/2006/relationships/image" Target="../media/image60.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6.xml"/><Relationship Id="rId3" Type="http://schemas.openxmlformats.org/officeDocument/2006/relationships/image" Target="../media/image60.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8.xml"/><Relationship Id="rId3" Type="http://schemas.openxmlformats.org/officeDocument/2006/relationships/image" Target="../media/image60.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8.xml"/><Relationship Id="rId3" Type="http://schemas.openxmlformats.org/officeDocument/2006/relationships/image" Target="../media/image70.png"/><Relationship Id="rId4" Type="http://schemas.openxmlformats.org/officeDocument/2006/relationships/image" Target="../media/image73.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9.xml"/><Relationship Id="rId3" Type="http://schemas.openxmlformats.org/officeDocument/2006/relationships/image" Target="../media/image77.png"/><Relationship Id="rId4" Type="http://schemas.openxmlformats.org/officeDocument/2006/relationships/image" Target="../media/image88.png"/><Relationship Id="rId5" Type="http://schemas.openxmlformats.org/officeDocument/2006/relationships/image" Target="../media/image73.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0.xml"/><Relationship Id="rId3" Type="http://schemas.openxmlformats.org/officeDocument/2006/relationships/image" Target="../media/image78.png"/><Relationship Id="rId4" Type="http://schemas.openxmlformats.org/officeDocument/2006/relationships/image" Target="../media/image70.png"/><Relationship Id="rId5" Type="http://schemas.openxmlformats.org/officeDocument/2006/relationships/image" Target="../media/image73.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1.xml"/><Relationship Id="rId3" Type="http://schemas.openxmlformats.org/officeDocument/2006/relationships/image" Target="../media/image78.png"/><Relationship Id="rId4" Type="http://schemas.openxmlformats.org/officeDocument/2006/relationships/image" Target="../media/image75.png"/><Relationship Id="rId5" Type="http://schemas.openxmlformats.org/officeDocument/2006/relationships/image" Target="../media/image73.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3.xml"/><Relationship Id="rId3" Type="http://schemas.openxmlformats.org/officeDocument/2006/relationships/image" Target="../media/image83.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4.xml"/><Relationship Id="rId3" Type="http://schemas.openxmlformats.org/officeDocument/2006/relationships/image" Target="../media/image74.png"/><Relationship Id="rId4" Type="http://schemas.openxmlformats.org/officeDocument/2006/relationships/image" Target="../media/image83.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5.xml"/><Relationship Id="rId3" Type="http://schemas.openxmlformats.org/officeDocument/2006/relationships/image" Target="../media/image8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6.xml"/><Relationship Id="rId3" Type="http://schemas.openxmlformats.org/officeDocument/2006/relationships/image" Target="../media/image8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7.xml"/><Relationship Id="rId3" Type="http://schemas.openxmlformats.org/officeDocument/2006/relationships/image" Target="../media/image86.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8.xml"/><Relationship Id="rId3" Type="http://schemas.openxmlformats.org/officeDocument/2006/relationships/image" Target="../media/image86.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9.xml"/><Relationship Id="rId3" Type="http://schemas.openxmlformats.org/officeDocument/2006/relationships/image" Target="../media/image89.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8.xml"/><Relationship Id="rId3" Type="http://schemas.openxmlformats.org/officeDocument/2006/relationships/image" Target="../media/image84.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9.xml"/><Relationship Id="rId3" Type="http://schemas.openxmlformats.org/officeDocument/2006/relationships/image" Target="../media/image95.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6.xml"/><Relationship Id="rId3" Type="http://schemas.openxmlformats.org/officeDocument/2006/relationships/image" Target="../media/image87.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7.xml"/><Relationship Id="rId3" Type="http://schemas.openxmlformats.org/officeDocument/2006/relationships/image" Target="../media/image92.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8.xml"/><Relationship Id="rId3" Type="http://schemas.openxmlformats.org/officeDocument/2006/relationships/image" Target="../media/image90.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9.xml"/><Relationship Id="rId3" Type="http://schemas.openxmlformats.org/officeDocument/2006/relationships/image" Target="../media/image9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1.xml"/><Relationship Id="rId3" Type="http://schemas.openxmlformats.org/officeDocument/2006/relationships/image" Target="../media/image94.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6.xml"/><Relationship Id="rId3" Type="http://schemas.openxmlformats.org/officeDocument/2006/relationships/image" Target="../media/image93.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descr="Footer Placeholder 4" id="118" name="Google Shape;118;p1"/>
          <p:cNvSpPr txBox="1"/>
          <p:nvPr/>
        </p:nvSpPr>
        <p:spPr>
          <a:xfrm>
            <a:off x="3168650" y="62484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RVCE</a:t>
            </a:r>
            <a:endParaRPr/>
          </a:p>
        </p:txBody>
      </p:sp>
      <p:sp>
        <p:nvSpPr>
          <p:cNvPr descr="Title 1" id="119" name="Google Shape;119;p1"/>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3600"/>
              <a:t>Course – DBMS</a:t>
            </a:r>
            <a:endParaRPr/>
          </a:p>
        </p:txBody>
      </p:sp>
      <p:sp>
        <p:nvSpPr>
          <p:cNvPr descr="Subtitle 2" id="120" name="Google Shape;120;p1"/>
          <p:cNvSpPr txBox="1"/>
          <p:nvPr>
            <p:ph idx="1" type="body"/>
          </p:nvPr>
        </p:nvSpPr>
        <p:spPr>
          <a:xfrm>
            <a:off x="1447800" y="3429000"/>
            <a:ext cx="7010400" cy="1600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Clr>
                <a:srgbClr val="003366"/>
              </a:buClr>
              <a:buSzPts val="2300"/>
              <a:buFont typeface="Verdana"/>
              <a:buNone/>
            </a:pPr>
            <a:r>
              <a:rPr lang="en-US" sz="2300" u="sng"/>
              <a:t>Course Instructor </a:t>
            </a:r>
            <a:endParaRPr/>
          </a:p>
          <a:p>
            <a:pPr indent="0" lvl="0" marL="0" rtl="0" algn="l">
              <a:spcBef>
                <a:spcPts val="500"/>
              </a:spcBef>
              <a:spcAft>
                <a:spcPts val="0"/>
              </a:spcAft>
              <a:buClr>
                <a:srgbClr val="003366"/>
              </a:buClr>
              <a:buSzPts val="2300"/>
              <a:buFont typeface="Verdana"/>
              <a:buNone/>
            </a:pPr>
            <a:r>
              <a:rPr lang="en-US" sz="2300"/>
              <a:t>	Dr. Karanam Sunil Kumar</a:t>
            </a:r>
            <a:endParaRPr/>
          </a:p>
          <a:p>
            <a:pPr indent="0" lvl="0" marL="0" rtl="0" algn="l">
              <a:spcBef>
                <a:spcPts val="500"/>
              </a:spcBef>
              <a:spcAft>
                <a:spcPts val="0"/>
              </a:spcAft>
              <a:buClr>
                <a:srgbClr val="003366"/>
              </a:buClr>
              <a:buSzPts val="2300"/>
              <a:buFont typeface="Verdana"/>
              <a:buNone/>
            </a:pPr>
            <a:r>
              <a:rPr lang="en-US" sz="2300"/>
              <a:t>	Department of CSE, BMSCE</a:t>
            </a:r>
            <a:endParaRPr/>
          </a:p>
          <a:p>
            <a:pPr indent="0" lvl="0" marL="0" rtl="0" algn="l">
              <a:spcBef>
                <a:spcPts val="300"/>
              </a:spcBef>
              <a:spcAft>
                <a:spcPts val="0"/>
              </a:spcAft>
              <a:buClr>
                <a:srgbClr val="003366"/>
              </a:buClr>
              <a:buSzPts val="1600"/>
              <a:buFont typeface="Verdana"/>
              <a:buNone/>
            </a:pPr>
            <a:r>
              <a:rPr lang="en-US" sz="1600"/>
              <a:t> </a:t>
            </a:r>
            <a:endParaRPr/>
          </a:p>
        </p:txBody>
      </p:sp>
      <p:sp>
        <p:nvSpPr>
          <p:cNvPr descr="Date Placeholder 3" id="121" name="Google Shape;121;p1"/>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22" name="Google Shape;122;p1"/>
          <p:cNvSpPr txBox="1"/>
          <p:nvPr/>
        </p:nvSpPr>
        <p:spPr>
          <a:xfrm>
            <a:off x="8650288" y="6165850"/>
            <a:ext cx="18732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6" id="123" name="Google Shape;123;p1"/>
          <p:cNvPicPr preferRelativeResize="0"/>
          <p:nvPr/>
        </p:nvPicPr>
        <p:blipFill rotWithShape="1">
          <a:blip r:embed="rId3">
            <a:alphaModFix/>
          </a:blip>
          <a:srcRect b="0" l="0" r="0" t="0"/>
          <a:stretch/>
        </p:blipFill>
        <p:spPr>
          <a:xfrm>
            <a:off x="381000" y="5265738"/>
            <a:ext cx="914400" cy="9001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descr="Footer Placeholder 3" id="128" name="Google Shape;128;p2"/>
          <p:cNvSpPr txBox="1"/>
          <p:nvPr/>
        </p:nvSpPr>
        <p:spPr>
          <a:xfrm>
            <a:off x="3168650" y="62484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RVCE</a:t>
            </a:r>
            <a:endParaRPr/>
          </a:p>
        </p:txBody>
      </p:sp>
      <p:sp>
        <p:nvSpPr>
          <p:cNvPr descr="Rectangle 2" id="129" name="Google Shape;129;p2"/>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Instruction to Students</a:t>
            </a:r>
            <a:endParaRPr/>
          </a:p>
        </p:txBody>
      </p:sp>
      <p:sp>
        <p:nvSpPr>
          <p:cNvPr descr="Rectangle 3" id="130" name="Google Shape;130;p2"/>
          <p:cNvSpPr txBox="1"/>
          <p:nvPr>
            <p:ph idx="1" type="body"/>
          </p:nvPr>
        </p:nvSpPr>
        <p:spPr>
          <a:xfrm>
            <a:off x="914400" y="3200400"/>
            <a:ext cx="70104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Apart from the contents presented in the slides students should read through the text book also.</a:t>
            </a:r>
            <a:endParaRPr/>
          </a:p>
        </p:txBody>
      </p:sp>
      <p:sp>
        <p:nvSpPr>
          <p:cNvPr descr="Date Placeholder 1" id="131" name="Google Shape;131;p2"/>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32" name="Google Shape;132;p2"/>
          <p:cNvSpPr txBox="1"/>
          <p:nvPr/>
        </p:nvSpPr>
        <p:spPr>
          <a:xfrm>
            <a:off x="8269288" y="6248400"/>
            <a:ext cx="18732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descr="Footer Placeholder 3" id="137" name="Google Shape;137;p3"/>
          <p:cNvSpPr txBox="1"/>
          <p:nvPr/>
        </p:nvSpPr>
        <p:spPr>
          <a:xfrm>
            <a:off x="3168650" y="62484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RVCE</a:t>
            </a:r>
            <a:endParaRPr/>
          </a:p>
        </p:txBody>
      </p:sp>
      <p:sp>
        <p:nvSpPr>
          <p:cNvPr descr="Rectangle 2" id="138" name="Google Shape;138;p3"/>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Unit 5</a:t>
            </a:r>
            <a:endParaRPr/>
          </a:p>
        </p:txBody>
      </p:sp>
      <p:sp>
        <p:nvSpPr>
          <p:cNvPr descr="Rectangle 3" id="139" name="Google Shape;139;p3"/>
          <p:cNvSpPr txBox="1"/>
          <p:nvPr>
            <p:ph idx="1" type="body"/>
          </p:nvPr>
        </p:nvSpPr>
        <p:spPr>
          <a:xfrm>
            <a:off x="914400" y="3200400"/>
            <a:ext cx="7010400" cy="1600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Clr>
                <a:srgbClr val="003366"/>
              </a:buClr>
              <a:buSzPts val="1400"/>
              <a:buFont typeface="Verdana"/>
              <a:buNone/>
            </a:pPr>
            <a:r>
              <a:rPr lang="en-US" sz="1400"/>
              <a:t>Transaction Processing, Concurrency Control: Introduction to Transaction Processing, Transaction and System Concepts, Desirable Properties of Transactions, Characterizing Schedules Based on Recoverability, Characterizing Schedules Based on Serializability, Two-Phase Locking Techniques for Concurrency Control. Recovery Concepts ,NO-UNDO/REDO Recovery Techniques based on Deferred Update. Recovery Techniques Based on Immediate Update. Shadow Paging, The ARIES Recovery Algorithm.</a:t>
            </a:r>
            <a:endParaRPr/>
          </a:p>
        </p:txBody>
      </p:sp>
      <p:sp>
        <p:nvSpPr>
          <p:cNvPr descr="Date Placeholder 1" id="140" name="Google Shape;140;p3"/>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41" name="Google Shape;141;p3"/>
          <p:cNvSpPr txBox="1"/>
          <p:nvPr/>
        </p:nvSpPr>
        <p:spPr>
          <a:xfrm>
            <a:off x="8269288" y="6248400"/>
            <a:ext cx="18732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descr="Footer Placeholder 3" id="146" name="Google Shape;146;p4"/>
          <p:cNvSpPr txBox="1"/>
          <p:nvPr/>
        </p:nvSpPr>
        <p:spPr>
          <a:xfrm>
            <a:off x="3168650" y="62484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t/>
            </a:r>
            <a:endParaRPr sz="1200">
              <a:solidFill>
                <a:srgbClr val="000000"/>
              </a:solidFill>
              <a:latin typeface="Arial"/>
              <a:ea typeface="Arial"/>
              <a:cs typeface="Arial"/>
              <a:sym typeface="Arial"/>
            </a:endParaRPr>
          </a:p>
        </p:txBody>
      </p:sp>
      <p:sp>
        <p:nvSpPr>
          <p:cNvPr descr="Rectangle 2" id="147" name="Google Shape;147;p4"/>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Why you should Learn Transaction Processing in Database ?</a:t>
            </a:r>
            <a:endParaRPr/>
          </a:p>
        </p:txBody>
      </p:sp>
      <p:sp>
        <p:nvSpPr>
          <p:cNvPr descr="Rectangle 3" id="148" name="Google Shape;148;p4"/>
          <p:cNvSpPr txBox="1"/>
          <p:nvPr>
            <p:ph idx="1" type="body"/>
          </p:nvPr>
        </p:nvSpPr>
        <p:spPr>
          <a:xfrm>
            <a:off x="914400" y="3200400"/>
            <a:ext cx="70104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What is Transaction ?</a:t>
            </a:r>
            <a:endParaRPr/>
          </a:p>
        </p:txBody>
      </p:sp>
      <p:sp>
        <p:nvSpPr>
          <p:cNvPr descr="Date Placeholder 1" id="149" name="Google Shape;149;p4"/>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50" name="Google Shape;150;p4"/>
          <p:cNvSpPr txBox="1"/>
          <p:nvPr/>
        </p:nvSpPr>
        <p:spPr>
          <a:xfrm>
            <a:off x="8269288" y="6248400"/>
            <a:ext cx="18732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descr="Title 1" id="155" name="Google Shape;155;p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156" name="Google Shape;156;p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Example: Bank database application</a:t>
            </a:r>
            <a:endParaRPr/>
          </a:p>
          <a:p>
            <a:pPr indent="-469900" lvl="0" marL="469900" rtl="0" algn="l">
              <a:spcBef>
                <a:spcPts val="400"/>
              </a:spcBef>
              <a:spcAft>
                <a:spcPts val="0"/>
              </a:spcAft>
              <a:buSzPts val="2000"/>
              <a:buFont typeface="Verdana"/>
              <a:buChar char="□"/>
            </a:pPr>
            <a:r>
              <a:rPr lang="en-US" sz="2000"/>
              <a:t>Consider </a:t>
            </a:r>
            <a:r>
              <a:rPr lang="en-US" sz="2000">
                <a:solidFill>
                  <a:srgbClr val="0000FF"/>
                </a:solidFill>
              </a:rPr>
              <a:t>Ram </a:t>
            </a:r>
            <a:r>
              <a:rPr lang="en-US" sz="2000"/>
              <a:t>and </a:t>
            </a:r>
            <a:r>
              <a:rPr lang="en-US" sz="2000">
                <a:solidFill>
                  <a:srgbClr val="FF00FF"/>
                </a:solidFill>
              </a:rPr>
              <a:t>Shyam</a:t>
            </a:r>
            <a:r>
              <a:rPr lang="en-US" sz="2000"/>
              <a:t> has an account in SBI bank at Basavangudi branch. </a:t>
            </a:r>
            <a:endParaRPr/>
          </a:p>
        </p:txBody>
      </p:sp>
      <p:sp>
        <p:nvSpPr>
          <p:cNvPr descr="Date Placeholder 3" id="157" name="Google Shape;157;p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8" name="Google Shape;158;p5"/>
          <p:cNvSpPr txBox="1"/>
          <p:nvPr/>
        </p:nvSpPr>
        <p:spPr>
          <a:xfrm>
            <a:off x="8345488" y="6400800"/>
            <a:ext cx="18891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159" name="Google Shape;159;p5"/>
          <p:cNvPicPr preferRelativeResize="0"/>
          <p:nvPr/>
        </p:nvPicPr>
        <p:blipFill rotWithShape="1">
          <a:blip r:embed="rId3">
            <a:alphaModFix/>
          </a:blip>
          <a:srcRect b="0" l="0" r="0" t="0"/>
          <a:stretch/>
        </p:blipFill>
        <p:spPr>
          <a:xfrm>
            <a:off x="6742113" y="1979613"/>
            <a:ext cx="1582737" cy="992187"/>
          </a:xfrm>
          <a:prstGeom prst="rect">
            <a:avLst/>
          </a:prstGeom>
          <a:noFill/>
          <a:ln>
            <a:noFill/>
          </a:ln>
        </p:spPr>
      </p:pic>
      <p:graphicFrame>
        <p:nvGraphicFramePr>
          <p:cNvPr id="160" name="Google Shape;160;p5"/>
          <p:cNvGraphicFramePr/>
          <p:nvPr/>
        </p:nvGraphicFramePr>
        <p:xfrm>
          <a:off x="1447800" y="2733675"/>
          <a:ext cx="3000000" cy="3000000"/>
        </p:xfrm>
        <a:graphic>
          <a:graphicData uri="http://schemas.openxmlformats.org/drawingml/2006/table">
            <a:tbl>
              <a:tblPr>
                <a:noFill/>
                <a:tableStyleId>{DA31C186-C125-4E34-A739-053F885C22C1}</a:tableStyleId>
              </a:tblPr>
              <a:tblGrid>
                <a:gridCol w="1295400"/>
                <a:gridCol w="1066800"/>
                <a:gridCol w="1676400"/>
              </a:tblGrid>
              <a:tr h="6635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Account Number</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Name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FF00FF"/>
                        </a:buClr>
                        <a:buSzPts val="1800"/>
                        <a:buFont typeface="Verdana"/>
                        <a:buNone/>
                      </a:pPr>
                      <a:r>
                        <a:rPr b="0" i="0" lang="en-US" sz="1800" u="none" cap="none" strike="noStrike">
                          <a:solidFill>
                            <a:srgbClr val="FF00FF"/>
                          </a:solidFill>
                          <a:latin typeface="Verdana"/>
                          <a:ea typeface="Verdana"/>
                          <a:cs typeface="Verdana"/>
                          <a:sym typeface="Verdana"/>
                        </a:rPr>
                        <a:t>Shyam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0" id="161" name="Google Shape;161;p5"/>
          <p:cNvSpPr txBox="1"/>
          <p:nvPr/>
        </p:nvSpPr>
        <p:spPr>
          <a:xfrm>
            <a:off x="1568450" y="2414588"/>
            <a:ext cx="1349375"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descr="Title 1" id="166" name="Google Shape;166;p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167" name="Google Shape;167;p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Example: Bank database application</a:t>
            </a:r>
            <a:endParaRPr/>
          </a:p>
          <a:p>
            <a:pPr indent="-469900" lvl="0" marL="469900" rtl="0" algn="l">
              <a:spcBef>
                <a:spcPts val="400"/>
              </a:spcBef>
              <a:spcAft>
                <a:spcPts val="0"/>
              </a:spcAft>
              <a:buSzPts val="2000"/>
              <a:buFont typeface="Verdana"/>
              <a:buChar char="□"/>
            </a:pPr>
            <a:r>
              <a:rPr lang="en-US" sz="2000"/>
              <a:t>Consider </a:t>
            </a:r>
            <a:r>
              <a:rPr lang="en-US" sz="2000">
                <a:solidFill>
                  <a:srgbClr val="0000FF"/>
                </a:solidFill>
              </a:rPr>
              <a:t>Ram </a:t>
            </a:r>
            <a:r>
              <a:rPr lang="en-US" sz="2000"/>
              <a:t>and </a:t>
            </a:r>
            <a:r>
              <a:rPr lang="en-US" sz="2000">
                <a:solidFill>
                  <a:srgbClr val="FF00FF"/>
                </a:solidFill>
              </a:rPr>
              <a:t>Shyam</a:t>
            </a:r>
            <a:r>
              <a:rPr lang="en-US" sz="2000"/>
              <a:t> has an account in SBI bank at Basvangudi branch. </a:t>
            </a:r>
            <a:endParaRPr/>
          </a:p>
        </p:txBody>
      </p:sp>
      <p:sp>
        <p:nvSpPr>
          <p:cNvPr descr="Date Placeholder 3" id="168" name="Google Shape;168;p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9" name="Google Shape;169;p6"/>
          <p:cNvSpPr txBox="1"/>
          <p:nvPr/>
        </p:nvSpPr>
        <p:spPr>
          <a:xfrm>
            <a:off x="8345488" y="6400800"/>
            <a:ext cx="18891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170" name="Google Shape;170;p6"/>
          <p:cNvPicPr preferRelativeResize="0"/>
          <p:nvPr/>
        </p:nvPicPr>
        <p:blipFill rotWithShape="1">
          <a:blip r:embed="rId3">
            <a:alphaModFix/>
          </a:blip>
          <a:srcRect b="0" l="0" r="0" t="0"/>
          <a:stretch/>
        </p:blipFill>
        <p:spPr>
          <a:xfrm>
            <a:off x="6742113" y="1979613"/>
            <a:ext cx="1582737" cy="992187"/>
          </a:xfrm>
          <a:prstGeom prst="rect">
            <a:avLst/>
          </a:prstGeom>
          <a:noFill/>
          <a:ln>
            <a:noFill/>
          </a:ln>
        </p:spPr>
      </p:pic>
      <p:graphicFrame>
        <p:nvGraphicFramePr>
          <p:cNvPr id="171" name="Google Shape;171;p6"/>
          <p:cNvGraphicFramePr/>
          <p:nvPr/>
        </p:nvGraphicFramePr>
        <p:xfrm>
          <a:off x="1447800" y="2733675"/>
          <a:ext cx="3000000" cy="3000000"/>
        </p:xfrm>
        <a:graphic>
          <a:graphicData uri="http://schemas.openxmlformats.org/drawingml/2006/table">
            <a:tbl>
              <a:tblPr>
                <a:noFill/>
                <a:tableStyleId>{DA31C186-C125-4E34-A739-053F885C22C1}</a:tableStyleId>
              </a:tblPr>
              <a:tblGrid>
                <a:gridCol w="1295400"/>
                <a:gridCol w="1066800"/>
                <a:gridCol w="1676400"/>
              </a:tblGrid>
              <a:tr h="6635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Account Number</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Name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FF00FF"/>
                        </a:buClr>
                        <a:buSzPts val="1800"/>
                        <a:buFont typeface="Verdana"/>
                        <a:buNone/>
                      </a:pPr>
                      <a:r>
                        <a:rPr b="0" i="0" lang="en-US" sz="1800" u="none" cap="none" strike="noStrike">
                          <a:solidFill>
                            <a:srgbClr val="FF00FF"/>
                          </a:solidFill>
                          <a:latin typeface="Verdana"/>
                          <a:ea typeface="Verdana"/>
                          <a:cs typeface="Verdana"/>
                          <a:sym typeface="Verdana"/>
                        </a:rPr>
                        <a:t>Shyam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172" name="Google Shape;172;p6"/>
          <p:cNvSpPr txBox="1"/>
          <p:nvPr/>
        </p:nvSpPr>
        <p:spPr>
          <a:xfrm>
            <a:off x="304800" y="4786313"/>
            <a:ext cx="8543925" cy="855662"/>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C00000"/>
                </a:solidFill>
                <a:latin typeface="Verdana"/>
                <a:ea typeface="Verdana"/>
                <a:cs typeface="Verdana"/>
                <a:sym typeface="Verdana"/>
              </a:rPr>
              <a:t>Transaction:</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Transfer Rs. 100 from Ram account to Shyam account.</a:t>
            </a:r>
            <a:endParaRPr/>
          </a:p>
        </p:txBody>
      </p:sp>
      <p:sp>
        <p:nvSpPr>
          <p:cNvPr descr="TextBox 10" id="173" name="Google Shape;173;p6"/>
          <p:cNvSpPr txBox="1"/>
          <p:nvPr/>
        </p:nvSpPr>
        <p:spPr>
          <a:xfrm>
            <a:off x="1568450" y="2414588"/>
            <a:ext cx="1349375"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descr="Title 1" id="178" name="Google Shape;178;p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179" name="Google Shape;179;p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Example: Bank database application</a:t>
            </a:r>
            <a:endParaRPr/>
          </a:p>
          <a:p>
            <a:pPr indent="-469900" lvl="0" marL="469900" rtl="0" algn="l">
              <a:spcBef>
                <a:spcPts val="400"/>
              </a:spcBef>
              <a:spcAft>
                <a:spcPts val="0"/>
              </a:spcAft>
              <a:buSzPts val="2000"/>
              <a:buFont typeface="Verdana"/>
              <a:buChar char="□"/>
            </a:pPr>
            <a:r>
              <a:rPr lang="en-US" sz="2000"/>
              <a:t>Consider </a:t>
            </a:r>
            <a:r>
              <a:rPr lang="en-US" sz="2000">
                <a:solidFill>
                  <a:srgbClr val="0000FF"/>
                </a:solidFill>
              </a:rPr>
              <a:t>Ram </a:t>
            </a:r>
            <a:r>
              <a:rPr lang="en-US" sz="2000"/>
              <a:t>and </a:t>
            </a:r>
            <a:r>
              <a:rPr lang="en-US" sz="2000">
                <a:solidFill>
                  <a:srgbClr val="FF00FF"/>
                </a:solidFill>
              </a:rPr>
              <a:t>Shyam</a:t>
            </a:r>
            <a:r>
              <a:rPr lang="en-US" sz="2000"/>
              <a:t> has an account in SBI bank at Basvangudi branch. </a:t>
            </a:r>
            <a:endParaRPr/>
          </a:p>
        </p:txBody>
      </p:sp>
      <p:sp>
        <p:nvSpPr>
          <p:cNvPr descr="Date Placeholder 3" id="180" name="Google Shape;180;p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1" name="Google Shape;181;p7"/>
          <p:cNvSpPr txBox="1"/>
          <p:nvPr/>
        </p:nvSpPr>
        <p:spPr>
          <a:xfrm>
            <a:off x="8345488" y="6400800"/>
            <a:ext cx="18891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182" name="Google Shape;182;p7"/>
          <p:cNvPicPr preferRelativeResize="0"/>
          <p:nvPr/>
        </p:nvPicPr>
        <p:blipFill rotWithShape="1">
          <a:blip r:embed="rId3">
            <a:alphaModFix/>
          </a:blip>
          <a:srcRect b="0" l="0" r="0" t="0"/>
          <a:stretch/>
        </p:blipFill>
        <p:spPr>
          <a:xfrm>
            <a:off x="6742113" y="1979613"/>
            <a:ext cx="1582737" cy="992187"/>
          </a:xfrm>
          <a:prstGeom prst="rect">
            <a:avLst/>
          </a:prstGeom>
          <a:noFill/>
          <a:ln>
            <a:noFill/>
          </a:ln>
        </p:spPr>
      </p:pic>
      <p:graphicFrame>
        <p:nvGraphicFramePr>
          <p:cNvPr id="183" name="Google Shape;183;p7"/>
          <p:cNvGraphicFramePr/>
          <p:nvPr/>
        </p:nvGraphicFramePr>
        <p:xfrm>
          <a:off x="1447800" y="2733675"/>
          <a:ext cx="3000000" cy="3000000"/>
        </p:xfrm>
        <a:graphic>
          <a:graphicData uri="http://schemas.openxmlformats.org/drawingml/2006/table">
            <a:tbl>
              <a:tblPr>
                <a:noFill/>
                <a:tableStyleId>{DA31C186-C125-4E34-A739-053F885C22C1}</a:tableStyleId>
              </a:tblPr>
              <a:tblGrid>
                <a:gridCol w="1295400"/>
                <a:gridCol w="1066800"/>
                <a:gridCol w="1676400"/>
              </a:tblGrid>
              <a:tr h="6635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Account Number</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Name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502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FF00FF"/>
                        </a:buClr>
                        <a:buSzPts val="1800"/>
                        <a:buFont typeface="Verdana"/>
                        <a:buNone/>
                      </a:pPr>
                      <a:r>
                        <a:rPr b="0" i="0" lang="en-US" sz="1800" u="none" cap="none" strike="noStrike">
                          <a:solidFill>
                            <a:srgbClr val="FF00FF"/>
                          </a:solidFill>
                          <a:latin typeface="Verdana"/>
                          <a:ea typeface="Verdana"/>
                          <a:cs typeface="Verdana"/>
                          <a:sym typeface="Verdana"/>
                        </a:rPr>
                        <a:t>Shyam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184" name="Google Shape;184;p7"/>
          <p:cNvSpPr txBox="1"/>
          <p:nvPr/>
        </p:nvSpPr>
        <p:spPr>
          <a:xfrm>
            <a:off x="1111250" y="4171950"/>
            <a:ext cx="5794375"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C00000"/>
                </a:solidFill>
                <a:latin typeface="Verdana"/>
                <a:ea typeface="Verdana"/>
                <a:cs typeface="Verdana"/>
                <a:sym typeface="Verdana"/>
              </a:rPr>
              <a:t>Transaction: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Transfer Rs. 100 </a:t>
            </a:r>
            <a:r>
              <a:rPr lang="en-US" sz="1800">
                <a:solidFill>
                  <a:srgbClr val="0000FF"/>
                </a:solidFill>
                <a:latin typeface="Verdana"/>
                <a:ea typeface="Verdana"/>
                <a:cs typeface="Verdana"/>
                <a:sym typeface="Verdana"/>
              </a:rPr>
              <a:t>Ram</a:t>
            </a:r>
            <a:r>
              <a:rPr lang="en-US" sz="1800">
                <a:solidFill>
                  <a:srgbClr val="000000"/>
                </a:solidFill>
                <a:latin typeface="Verdana"/>
                <a:ea typeface="Verdana"/>
                <a:cs typeface="Verdana"/>
                <a:sym typeface="Verdana"/>
              </a:rPr>
              <a:t> account to </a:t>
            </a:r>
            <a:r>
              <a:rPr lang="en-US" sz="1800">
                <a:solidFill>
                  <a:srgbClr val="FF00FF"/>
                </a:solidFill>
                <a:latin typeface="Verdana"/>
                <a:ea typeface="Verdana"/>
                <a:cs typeface="Verdana"/>
                <a:sym typeface="Verdana"/>
              </a:rPr>
              <a:t>Shyam</a:t>
            </a:r>
            <a:r>
              <a:rPr lang="en-US" sz="1800">
                <a:solidFill>
                  <a:srgbClr val="000000"/>
                </a:solidFill>
                <a:latin typeface="Verdana"/>
                <a:ea typeface="Verdana"/>
                <a:cs typeface="Verdana"/>
                <a:sym typeface="Verdana"/>
              </a:rPr>
              <a:t> account.</a:t>
            </a:r>
            <a:endParaRPr/>
          </a:p>
        </p:txBody>
      </p:sp>
      <p:sp>
        <p:nvSpPr>
          <p:cNvPr descr="TextBox 9" id="185" name="Google Shape;185;p7"/>
          <p:cNvSpPr txBox="1"/>
          <p:nvPr/>
        </p:nvSpPr>
        <p:spPr>
          <a:xfrm>
            <a:off x="1331913" y="5105400"/>
            <a:ext cx="5289550" cy="957263"/>
          </a:xfrm>
          <a:prstGeom prst="rect">
            <a:avLst/>
          </a:prstGeom>
          <a:noFill/>
          <a:ln cap="flat" cmpd="sng" w="2857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What are the SQL statement to be executed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to perform the above transaction ?</a:t>
            </a:r>
            <a:endParaRPr/>
          </a:p>
        </p:txBody>
      </p:sp>
      <p:sp>
        <p:nvSpPr>
          <p:cNvPr descr="TextBox 10" id="186" name="Google Shape;186;p7"/>
          <p:cNvSpPr txBox="1"/>
          <p:nvPr/>
        </p:nvSpPr>
        <p:spPr>
          <a:xfrm>
            <a:off x="1568450" y="2414588"/>
            <a:ext cx="1349375"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descr="Title 1" id="191" name="Google Shape;191;p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192" name="Google Shape;192;p8"/>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193" name="Google Shape;193;p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4" name="Google Shape;194;p8"/>
          <p:cNvSpPr txBox="1"/>
          <p:nvPr/>
        </p:nvSpPr>
        <p:spPr>
          <a:xfrm>
            <a:off x="8345488" y="6400800"/>
            <a:ext cx="18891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195" name="Google Shape;195;p8"/>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196" name="Google Shape;196;p8"/>
          <p:cNvSpPr txBox="1"/>
          <p:nvPr/>
        </p:nvSpPr>
        <p:spPr>
          <a:xfrm>
            <a:off x="376238" y="3265488"/>
            <a:ext cx="74723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C00000"/>
                </a:solidFill>
                <a:latin typeface="Verdana"/>
                <a:ea typeface="Verdana"/>
                <a:cs typeface="Verdana"/>
                <a:sym typeface="Verdana"/>
              </a:rPr>
              <a:t>Transaction: </a:t>
            </a:r>
            <a:r>
              <a:rPr lang="en-US" sz="1800">
                <a:solidFill>
                  <a:srgbClr val="000000"/>
                </a:solidFill>
                <a:latin typeface="Verdana"/>
                <a:ea typeface="Verdana"/>
                <a:cs typeface="Verdana"/>
                <a:sym typeface="Verdana"/>
              </a:rPr>
              <a:t>Transfer Rs. 100 </a:t>
            </a:r>
            <a:r>
              <a:rPr lang="en-US" sz="1800">
                <a:solidFill>
                  <a:srgbClr val="0000FF"/>
                </a:solidFill>
                <a:latin typeface="Verdana"/>
                <a:ea typeface="Verdana"/>
                <a:cs typeface="Verdana"/>
                <a:sym typeface="Verdana"/>
              </a:rPr>
              <a:t>Ram</a:t>
            </a:r>
            <a:r>
              <a:rPr lang="en-US" sz="1800">
                <a:solidFill>
                  <a:srgbClr val="000000"/>
                </a:solidFill>
                <a:latin typeface="Verdana"/>
                <a:ea typeface="Verdana"/>
                <a:cs typeface="Verdana"/>
                <a:sym typeface="Verdana"/>
              </a:rPr>
              <a:t> account to </a:t>
            </a:r>
            <a:r>
              <a:rPr lang="en-US" sz="1800">
                <a:solidFill>
                  <a:srgbClr val="FF00FF"/>
                </a:solidFill>
                <a:latin typeface="Verdana"/>
                <a:ea typeface="Verdana"/>
                <a:cs typeface="Verdana"/>
                <a:sym typeface="Verdana"/>
              </a:rPr>
              <a:t>Shyam</a:t>
            </a:r>
            <a:r>
              <a:rPr lang="en-US" sz="1800">
                <a:solidFill>
                  <a:srgbClr val="000000"/>
                </a:solidFill>
                <a:latin typeface="Verdana"/>
                <a:ea typeface="Verdana"/>
                <a:cs typeface="Verdana"/>
                <a:sym typeface="Verdana"/>
              </a:rPr>
              <a:t> account.</a:t>
            </a:r>
            <a:endParaRPr b="1" sz="1800">
              <a:solidFill>
                <a:srgbClr val="C00000"/>
              </a:solidFill>
              <a:latin typeface="Verdana"/>
              <a:ea typeface="Verdana"/>
              <a:cs typeface="Verdana"/>
              <a:sym typeface="Verdana"/>
            </a:endParaRPr>
          </a:p>
        </p:txBody>
      </p:sp>
      <p:sp>
        <p:nvSpPr>
          <p:cNvPr descr="TextBox 9" id="197" name="Google Shape;197;p8"/>
          <p:cNvSpPr txBox="1"/>
          <p:nvPr/>
        </p:nvSpPr>
        <p:spPr>
          <a:xfrm>
            <a:off x="561975" y="4052888"/>
            <a:ext cx="5592763" cy="103505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FF"/>
                </a:solidFill>
                <a:latin typeface="Verdana"/>
                <a:ea typeface="Verdana"/>
                <a:cs typeface="Verdana"/>
                <a:sym typeface="Verdana"/>
              </a:rPr>
              <a:t>update </a:t>
            </a:r>
            <a:r>
              <a:rPr b="1" lang="en-US" sz="20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20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2000">
                <a:solidFill>
                  <a:srgbClr val="0000FF"/>
                </a:solidFill>
                <a:latin typeface="Verdana"/>
                <a:ea typeface="Verdana"/>
                <a:cs typeface="Verdana"/>
                <a:sym typeface="Verdana"/>
              </a:rPr>
              <a:t>where AccountNumber=</a:t>
            </a:r>
            <a:r>
              <a:rPr b="1" lang="en-US" sz="2000">
                <a:solidFill>
                  <a:srgbClr val="0000FF"/>
                </a:solidFill>
                <a:latin typeface="Verdana"/>
                <a:ea typeface="Verdana"/>
                <a:cs typeface="Verdana"/>
                <a:sym typeface="Verdana"/>
              </a:rPr>
              <a:t>501</a:t>
            </a:r>
            <a:r>
              <a:rPr lang="en-US" sz="2000">
                <a:solidFill>
                  <a:srgbClr val="0000FF"/>
                </a:solidFill>
                <a:latin typeface="Verdana"/>
                <a:ea typeface="Verdana"/>
                <a:cs typeface="Verdana"/>
                <a:sym typeface="Verdana"/>
              </a:rPr>
              <a:t>;</a:t>
            </a:r>
            <a:endParaRPr/>
          </a:p>
        </p:txBody>
      </p:sp>
      <p:sp>
        <p:nvSpPr>
          <p:cNvPr descr="TextBox 11" id="198" name="Google Shape;198;p8"/>
          <p:cNvSpPr txBox="1"/>
          <p:nvPr/>
        </p:nvSpPr>
        <p:spPr>
          <a:xfrm>
            <a:off x="276225" y="3733800"/>
            <a:ext cx="40576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Subtract</a:t>
            </a:r>
            <a:r>
              <a:rPr lang="en-US" sz="1600">
                <a:solidFill>
                  <a:srgbClr val="000000"/>
                </a:solidFill>
                <a:latin typeface="Verdana"/>
                <a:ea typeface="Verdana"/>
                <a:cs typeface="Verdana"/>
                <a:sym typeface="Verdana"/>
              </a:rPr>
              <a: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b="1" sz="1600">
              <a:solidFill>
                <a:srgbClr val="FF0000"/>
              </a:solidFill>
              <a:latin typeface="Verdana"/>
              <a:ea typeface="Verdana"/>
              <a:cs typeface="Verdana"/>
              <a:sym typeface="Verdana"/>
            </a:endParaRPr>
          </a:p>
        </p:txBody>
      </p:sp>
      <p:pic>
        <p:nvPicPr>
          <p:cNvPr descr="Picture 2" id="199" name="Google Shape;199;p8"/>
          <p:cNvPicPr preferRelativeResize="0"/>
          <p:nvPr/>
        </p:nvPicPr>
        <p:blipFill rotWithShape="1">
          <a:blip r:embed="rId4">
            <a:alphaModFix/>
          </a:blip>
          <a:srcRect b="0" l="0" r="0" t="0"/>
          <a:stretch/>
        </p:blipFill>
        <p:spPr>
          <a:xfrm>
            <a:off x="479425" y="2055813"/>
            <a:ext cx="3803650" cy="12811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descr="Title 1" id="204" name="Google Shape;204;p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205" name="Google Shape;205;p9"/>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206" name="Google Shape;206;p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07" name="Google Shape;207;p9"/>
          <p:cNvSpPr txBox="1"/>
          <p:nvPr/>
        </p:nvSpPr>
        <p:spPr>
          <a:xfrm>
            <a:off x="8345488" y="6400800"/>
            <a:ext cx="18891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08" name="Google Shape;208;p9"/>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209" name="Google Shape;209;p9"/>
          <p:cNvSpPr txBox="1"/>
          <p:nvPr/>
        </p:nvSpPr>
        <p:spPr>
          <a:xfrm>
            <a:off x="376238" y="3265488"/>
            <a:ext cx="74723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C00000"/>
                </a:solidFill>
                <a:latin typeface="Verdana"/>
                <a:ea typeface="Verdana"/>
                <a:cs typeface="Verdana"/>
                <a:sym typeface="Verdana"/>
              </a:rPr>
              <a:t>Transaction: </a:t>
            </a:r>
            <a:r>
              <a:rPr lang="en-US" sz="1800">
                <a:solidFill>
                  <a:srgbClr val="000000"/>
                </a:solidFill>
                <a:latin typeface="Verdana"/>
                <a:ea typeface="Verdana"/>
                <a:cs typeface="Verdana"/>
                <a:sym typeface="Verdana"/>
              </a:rPr>
              <a:t>Transfer Rs. 100 </a:t>
            </a:r>
            <a:r>
              <a:rPr lang="en-US" sz="1800">
                <a:solidFill>
                  <a:srgbClr val="0000FF"/>
                </a:solidFill>
                <a:latin typeface="Verdana"/>
                <a:ea typeface="Verdana"/>
                <a:cs typeface="Verdana"/>
                <a:sym typeface="Verdana"/>
              </a:rPr>
              <a:t>Ram</a:t>
            </a:r>
            <a:r>
              <a:rPr lang="en-US" sz="1800">
                <a:solidFill>
                  <a:srgbClr val="000000"/>
                </a:solidFill>
                <a:latin typeface="Verdana"/>
                <a:ea typeface="Verdana"/>
                <a:cs typeface="Verdana"/>
                <a:sym typeface="Verdana"/>
              </a:rPr>
              <a:t> account to </a:t>
            </a:r>
            <a:r>
              <a:rPr lang="en-US" sz="1800">
                <a:solidFill>
                  <a:srgbClr val="FF00FF"/>
                </a:solidFill>
                <a:latin typeface="Verdana"/>
                <a:ea typeface="Verdana"/>
                <a:cs typeface="Verdana"/>
                <a:sym typeface="Verdana"/>
              </a:rPr>
              <a:t>Shyam</a:t>
            </a:r>
            <a:r>
              <a:rPr lang="en-US" sz="1800">
                <a:solidFill>
                  <a:srgbClr val="000000"/>
                </a:solidFill>
                <a:latin typeface="Verdana"/>
                <a:ea typeface="Verdana"/>
                <a:cs typeface="Verdana"/>
                <a:sym typeface="Verdana"/>
              </a:rPr>
              <a:t> account.</a:t>
            </a:r>
            <a:endParaRPr b="1" sz="1800">
              <a:solidFill>
                <a:srgbClr val="C00000"/>
              </a:solidFill>
              <a:latin typeface="Verdana"/>
              <a:ea typeface="Verdana"/>
              <a:cs typeface="Verdana"/>
              <a:sym typeface="Verdana"/>
            </a:endParaRPr>
          </a:p>
        </p:txBody>
      </p:sp>
      <p:sp>
        <p:nvSpPr>
          <p:cNvPr descr="TextBox 9" id="210" name="Google Shape;210;p9"/>
          <p:cNvSpPr txBox="1"/>
          <p:nvPr/>
        </p:nvSpPr>
        <p:spPr>
          <a:xfrm>
            <a:off x="561975" y="4052888"/>
            <a:ext cx="3563938" cy="95885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update </a:t>
            </a:r>
            <a:r>
              <a:rPr b="1" lang="en-US" sz="18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where AccountNumber=</a:t>
            </a:r>
            <a:r>
              <a:rPr b="1" lang="en-US" sz="1800">
                <a:solidFill>
                  <a:srgbClr val="0000FF"/>
                </a:solidFill>
                <a:latin typeface="Verdana"/>
                <a:ea typeface="Verdana"/>
                <a:cs typeface="Verdana"/>
                <a:sym typeface="Verdana"/>
              </a:rPr>
              <a:t>501</a:t>
            </a:r>
            <a:r>
              <a:rPr lang="en-US" sz="1800">
                <a:solidFill>
                  <a:srgbClr val="0000FF"/>
                </a:solidFill>
                <a:latin typeface="Verdana"/>
                <a:ea typeface="Verdana"/>
                <a:cs typeface="Verdana"/>
                <a:sym typeface="Verdana"/>
              </a:rPr>
              <a:t>;</a:t>
            </a:r>
            <a:endParaRPr/>
          </a:p>
        </p:txBody>
      </p:sp>
      <p:sp>
        <p:nvSpPr>
          <p:cNvPr descr="TextBox 11" id="211" name="Google Shape;211;p9"/>
          <p:cNvSpPr txBox="1"/>
          <p:nvPr/>
        </p:nvSpPr>
        <p:spPr>
          <a:xfrm>
            <a:off x="276225" y="3733800"/>
            <a:ext cx="40576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Subtract</a:t>
            </a:r>
            <a:r>
              <a:rPr lang="en-US" sz="1600">
                <a:solidFill>
                  <a:srgbClr val="000000"/>
                </a:solidFill>
                <a:latin typeface="Verdana"/>
                <a:ea typeface="Verdana"/>
                <a:cs typeface="Verdana"/>
                <a:sym typeface="Verdana"/>
              </a:rPr>
              <a: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b="1" sz="1600">
              <a:solidFill>
                <a:srgbClr val="FF0000"/>
              </a:solidFill>
              <a:latin typeface="Verdana"/>
              <a:ea typeface="Verdana"/>
              <a:cs typeface="Verdana"/>
              <a:sym typeface="Verdana"/>
            </a:endParaRPr>
          </a:p>
        </p:txBody>
      </p:sp>
      <p:sp>
        <p:nvSpPr>
          <p:cNvPr descr="TextBox 12" id="212" name="Google Shape;212;p9"/>
          <p:cNvSpPr txBox="1"/>
          <p:nvPr/>
        </p:nvSpPr>
        <p:spPr>
          <a:xfrm>
            <a:off x="4784725" y="4073525"/>
            <a:ext cx="3563938" cy="95885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update </a:t>
            </a:r>
            <a:r>
              <a:rPr b="1" lang="en-US" sz="18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where AccountNumber=</a:t>
            </a:r>
            <a:r>
              <a:rPr b="1" lang="en-US" sz="1800">
                <a:solidFill>
                  <a:srgbClr val="0000FF"/>
                </a:solidFill>
                <a:latin typeface="Verdana"/>
                <a:ea typeface="Verdana"/>
                <a:cs typeface="Verdana"/>
                <a:sym typeface="Verdana"/>
              </a:rPr>
              <a:t>502</a:t>
            </a:r>
            <a:r>
              <a:rPr lang="en-US" sz="1800">
                <a:solidFill>
                  <a:srgbClr val="0000FF"/>
                </a:solidFill>
                <a:latin typeface="Verdana"/>
                <a:ea typeface="Verdana"/>
                <a:cs typeface="Verdana"/>
                <a:sym typeface="Verdana"/>
              </a:rPr>
              <a:t>;</a:t>
            </a:r>
            <a:endParaRPr/>
          </a:p>
        </p:txBody>
      </p:sp>
      <p:sp>
        <p:nvSpPr>
          <p:cNvPr descr="TextBox 13" id="213" name="Google Shape;213;p9"/>
          <p:cNvSpPr txBox="1"/>
          <p:nvPr/>
        </p:nvSpPr>
        <p:spPr>
          <a:xfrm>
            <a:off x="4792663" y="3754438"/>
            <a:ext cx="35671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Add</a:t>
            </a:r>
            <a:r>
              <a:rPr lang="en-US" sz="1600">
                <a:solidFill>
                  <a:srgbClr val="000000"/>
                </a:solidFill>
                <a:latin typeface="Verdana"/>
                <a:ea typeface="Verdana"/>
                <a:cs typeface="Verdana"/>
                <a:sym typeface="Verdana"/>
              </a:rPr>
              <a:t>  Rs. 100/-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b="1" sz="1600">
              <a:solidFill>
                <a:srgbClr val="FF0000"/>
              </a:solidFill>
              <a:latin typeface="Verdana"/>
              <a:ea typeface="Verdana"/>
              <a:cs typeface="Verdana"/>
              <a:sym typeface="Verdana"/>
            </a:endParaRPr>
          </a:p>
        </p:txBody>
      </p:sp>
      <p:pic>
        <p:nvPicPr>
          <p:cNvPr descr="Picture 2" id="214" name="Google Shape;214;p9"/>
          <p:cNvPicPr preferRelativeResize="0"/>
          <p:nvPr/>
        </p:nvPicPr>
        <p:blipFill rotWithShape="1">
          <a:blip r:embed="rId4">
            <a:alphaModFix/>
          </a:blip>
          <a:srcRect b="0" l="0" r="0" t="0"/>
          <a:stretch/>
        </p:blipFill>
        <p:spPr>
          <a:xfrm>
            <a:off x="479425" y="2055813"/>
            <a:ext cx="2857500" cy="12811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descr="Footer Placeholder 4" id="219" name="Google Shape;219;p10"/>
          <p:cNvSpPr txBox="1"/>
          <p:nvPr/>
        </p:nvSpPr>
        <p:spPr>
          <a:xfrm>
            <a:off x="3168650" y="64008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BMSCE</a:t>
            </a:r>
            <a:endParaRPr/>
          </a:p>
        </p:txBody>
      </p:sp>
      <p:sp>
        <p:nvSpPr>
          <p:cNvPr descr="Title 1" id="220" name="Google Shape;220;p1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221" name="Google Shape;221;p10"/>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222" name="Google Shape;222;p1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3" name="Google Shape;223;p1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24" name="Google Shape;224;p10"/>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225" name="Google Shape;225;p10"/>
          <p:cNvSpPr txBox="1"/>
          <p:nvPr/>
        </p:nvSpPr>
        <p:spPr>
          <a:xfrm>
            <a:off x="376238" y="3265488"/>
            <a:ext cx="74723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C00000"/>
                </a:solidFill>
                <a:latin typeface="Verdana"/>
                <a:ea typeface="Verdana"/>
                <a:cs typeface="Verdana"/>
                <a:sym typeface="Verdana"/>
              </a:rPr>
              <a:t>Transaction: </a:t>
            </a:r>
            <a:r>
              <a:rPr lang="en-US" sz="1800">
                <a:solidFill>
                  <a:srgbClr val="000000"/>
                </a:solidFill>
                <a:latin typeface="Verdana"/>
                <a:ea typeface="Verdana"/>
                <a:cs typeface="Verdana"/>
                <a:sym typeface="Verdana"/>
              </a:rPr>
              <a:t>Transfer Rs. 100 </a:t>
            </a:r>
            <a:r>
              <a:rPr lang="en-US" sz="1800">
                <a:solidFill>
                  <a:srgbClr val="0000FF"/>
                </a:solidFill>
                <a:latin typeface="Verdana"/>
                <a:ea typeface="Verdana"/>
                <a:cs typeface="Verdana"/>
                <a:sym typeface="Verdana"/>
              </a:rPr>
              <a:t>Ram</a:t>
            </a:r>
            <a:r>
              <a:rPr lang="en-US" sz="1800">
                <a:solidFill>
                  <a:srgbClr val="000000"/>
                </a:solidFill>
                <a:latin typeface="Verdana"/>
                <a:ea typeface="Verdana"/>
                <a:cs typeface="Verdana"/>
                <a:sym typeface="Verdana"/>
              </a:rPr>
              <a:t> account to </a:t>
            </a:r>
            <a:r>
              <a:rPr lang="en-US" sz="1800">
                <a:solidFill>
                  <a:srgbClr val="FF00FF"/>
                </a:solidFill>
                <a:latin typeface="Verdana"/>
                <a:ea typeface="Verdana"/>
                <a:cs typeface="Verdana"/>
                <a:sym typeface="Verdana"/>
              </a:rPr>
              <a:t>Shyam</a:t>
            </a:r>
            <a:r>
              <a:rPr lang="en-US" sz="1800">
                <a:solidFill>
                  <a:srgbClr val="000000"/>
                </a:solidFill>
                <a:latin typeface="Verdana"/>
                <a:ea typeface="Verdana"/>
                <a:cs typeface="Verdana"/>
                <a:sym typeface="Verdana"/>
              </a:rPr>
              <a:t> account.</a:t>
            </a:r>
            <a:endParaRPr b="1" sz="1800">
              <a:solidFill>
                <a:srgbClr val="C00000"/>
              </a:solidFill>
              <a:latin typeface="Verdana"/>
              <a:ea typeface="Verdana"/>
              <a:cs typeface="Verdana"/>
              <a:sym typeface="Verdana"/>
            </a:endParaRPr>
          </a:p>
        </p:txBody>
      </p:sp>
      <p:sp>
        <p:nvSpPr>
          <p:cNvPr descr="TextBox 9" id="226" name="Google Shape;226;p10"/>
          <p:cNvSpPr txBox="1"/>
          <p:nvPr/>
        </p:nvSpPr>
        <p:spPr>
          <a:xfrm>
            <a:off x="561975" y="4052888"/>
            <a:ext cx="3563938" cy="84455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501</a:t>
            </a:r>
            <a:r>
              <a:rPr lang="en-US" sz="1600">
                <a:solidFill>
                  <a:srgbClr val="0000FF"/>
                </a:solidFill>
                <a:latin typeface="Verdana"/>
                <a:ea typeface="Verdana"/>
                <a:cs typeface="Verdana"/>
                <a:sym typeface="Verdana"/>
              </a:rPr>
              <a:t>;</a:t>
            </a:r>
            <a:endParaRPr/>
          </a:p>
        </p:txBody>
      </p:sp>
      <p:sp>
        <p:nvSpPr>
          <p:cNvPr descr="TextBox 11" id="227" name="Google Shape;227;p10"/>
          <p:cNvSpPr txBox="1"/>
          <p:nvPr/>
        </p:nvSpPr>
        <p:spPr>
          <a:xfrm>
            <a:off x="276225" y="3733800"/>
            <a:ext cx="40576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Subtract</a:t>
            </a:r>
            <a:r>
              <a:rPr lang="en-US" sz="1600">
                <a:solidFill>
                  <a:srgbClr val="000000"/>
                </a:solidFill>
                <a:latin typeface="Verdana"/>
                <a:ea typeface="Verdana"/>
                <a:cs typeface="Verdana"/>
                <a:sym typeface="Verdana"/>
              </a:rPr>
              <a: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b="1" sz="1600">
              <a:solidFill>
                <a:srgbClr val="FF0000"/>
              </a:solidFill>
              <a:latin typeface="Verdana"/>
              <a:ea typeface="Verdana"/>
              <a:cs typeface="Verdana"/>
              <a:sym typeface="Verdana"/>
            </a:endParaRPr>
          </a:p>
        </p:txBody>
      </p:sp>
      <p:sp>
        <p:nvSpPr>
          <p:cNvPr descr="TextBox 12" id="228" name="Google Shape;228;p10"/>
          <p:cNvSpPr txBox="1"/>
          <p:nvPr/>
        </p:nvSpPr>
        <p:spPr>
          <a:xfrm>
            <a:off x="4784725" y="4073525"/>
            <a:ext cx="3563938" cy="84455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502</a:t>
            </a:r>
            <a:r>
              <a:rPr lang="en-US" sz="1600">
                <a:solidFill>
                  <a:srgbClr val="0000FF"/>
                </a:solidFill>
                <a:latin typeface="Verdana"/>
                <a:ea typeface="Verdana"/>
                <a:cs typeface="Verdana"/>
                <a:sym typeface="Verdana"/>
              </a:rPr>
              <a:t>;</a:t>
            </a:r>
            <a:endParaRPr/>
          </a:p>
        </p:txBody>
      </p:sp>
      <p:sp>
        <p:nvSpPr>
          <p:cNvPr descr="TextBox 13" id="229" name="Google Shape;229;p10"/>
          <p:cNvSpPr txBox="1"/>
          <p:nvPr/>
        </p:nvSpPr>
        <p:spPr>
          <a:xfrm>
            <a:off x="4792663" y="3754438"/>
            <a:ext cx="35671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Add</a:t>
            </a:r>
            <a:r>
              <a:rPr lang="en-US" sz="1600">
                <a:solidFill>
                  <a:srgbClr val="000000"/>
                </a:solidFill>
                <a:latin typeface="Verdana"/>
                <a:ea typeface="Verdana"/>
                <a:cs typeface="Verdana"/>
                <a:sym typeface="Verdana"/>
              </a:rPr>
              <a:t>  Rs. 100/-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b="1" sz="1600">
              <a:solidFill>
                <a:srgbClr val="FF0000"/>
              </a:solidFill>
              <a:latin typeface="Verdana"/>
              <a:ea typeface="Verdana"/>
              <a:cs typeface="Verdana"/>
              <a:sym typeface="Verdana"/>
            </a:endParaRPr>
          </a:p>
        </p:txBody>
      </p:sp>
      <p:pic>
        <p:nvPicPr>
          <p:cNvPr descr="Picture 2" id="230" name="Google Shape;230;p10"/>
          <p:cNvPicPr preferRelativeResize="0"/>
          <p:nvPr/>
        </p:nvPicPr>
        <p:blipFill rotWithShape="1">
          <a:blip r:embed="rId4">
            <a:alphaModFix/>
          </a:blip>
          <a:srcRect b="0" l="0" r="0" t="0"/>
          <a:stretch/>
        </p:blipFill>
        <p:spPr>
          <a:xfrm>
            <a:off x="479425" y="2055813"/>
            <a:ext cx="2857500" cy="1281112"/>
          </a:xfrm>
          <a:prstGeom prst="rect">
            <a:avLst/>
          </a:prstGeom>
          <a:noFill/>
          <a:ln>
            <a:noFill/>
          </a:ln>
        </p:spPr>
      </p:pic>
      <p:pic>
        <p:nvPicPr>
          <p:cNvPr descr="Picture 3" id="231" name="Google Shape;231;p10"/>
          <p:cNvPicPr preferRelativeResize="0"/>
          <p:nvPr/>
        </p:nvPicPr>
        <p:blipFill rotWithShape="1">
          <a:blip r:embed="rId5">
            <a:alphaModFix/>
          </a:blip>
          <a:srcRect b="0" l="0" r="0" t="0"/>
          <a:stretch/>
        </p:blipFill>
        <p:spPr>
          <a:xfrm>
            <a:off x="2676525" y="5032375"/>
            <a:ext cx="3563938" cy="165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descr="Title 1" id="236" name="Google Shape;236;p1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237" name="Google Shape;237;p11"/>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238" name="Google Shape;238;p1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9" name="Google Shape;239;p11"/>
          <p:cNvSpPr txBox="1"/>
          <p:nvPr/>
        </p:nvSpPr>
        <p:spPr>
          <a:xfrm>
            <a:off x="8270875" y="6400800"/>
            <a:ext cx="26352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40" name="Google Shape;240;p11"/>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241" name="Google Shape;241;p11"/>
          <p:cNvSpPr txBox="1"/>
          <p:nvPr/>
        </p:nvSpPr>
        <p:spPr>
          <a:xfrm>
            <a:off x="376238" y="2954338"/>
            <a:ext cx="66548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C00000"/>
                </a:solidFill>
                <a:latin typeface="Verdana"/>
                <a:ea typeface="Verdana"/>
                <a:cs typeface="Verdana"/>
                <a:sym typeface="Verdana"/>
              </a:rPr>
              <a:t>Transaction: </a:t>
            </a:r>
            <a:r>
              <a:rPr lang="en-US" sz="1600">
                <a:solidFill>
                  <a:srgbClr val="000000"/>
                </a:solidFill>
                <a:latin typeface="Verdana"/>
                <a:ea typeface="Verdana"/>
                <a:cs typeface="Verdana"/>
                <a:sym typeface="Verdana"/>
              </a:rPr>
              <a:t>Transfer Rs. 100 </a:t>
            </a:r>
            <a:r>
              <a:rPr lang="en-US" sz="1600">
                <a:solidFill>
                  <a:srgbClr val="0000FF"/>
                </a:solidFill>
                <a:latin typeface="Verdana"/>
                <a:ea typeface="Verdana"/>
                <a:cs typeface="Verdana"/>
                <a:sym typeface="Verdana"/>
              </a:rPr>
              <a:t>Ram </a:t>
            </a:r>
            <a:r>
              <a:rPr lang="en-US" sz="1600">
                <a:solidFill>
                  <a:srgbClr val="000000"/>
                </a:solidFill>
                <a:latin typeface="Verdana"/>
                <a:ea typeface="Verdana"/>
                <a:cs typeface="Verdana"/>
                <a:sym typeface="Verdana"/>
              </a:rPr>
              <a:t>account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b="1" sz="1600">
              <a:solidFill>
                <a:srgbClr val="C00000"/>
              </a:solidFill>
              <a:latin typeface="Verdana"/>
              <a:ea typeface="Verdana"/>
              <a:cs typeface="Verdana"/>
              <a:sym typeface="Verdana"/>
            </a:endParaRPr>
          </a:p>
        </p:txBody>
      </p:sp>
      <p:sp>
        <p:nvSpPr>
          <p:cNvPr descr="TextBox 9" id="242" name="Google Shape;242;p11"/>
          <p:cNvSpPr txBox="1"/>
          <p:nvPr/>
        </p:nvSpPr>
        <p:spPr>
          <a:xfrm>
            <a:off x="39846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501</a:t>
            </a:r>
            <a:r>
              <a:rPr lang="en-US" sz="1600">
                <a:solidFill>
                  <a:srgbClr val="0000FF"/>
                </a:solidFill>
                <a:latin typeface="Verdana"/>
                <a:ea typeface="Verdana"/>
                <a:cs typeface="Verdana"/>
                <a:sym typeface="Verdana"/>
              </a:rPr>
              <a:t>;</a:t>
            </a:r>
            <a:endParaRPr/>
          </a:p>
        </p:txBody>
      </p:sp>
      <p:sp>
        <p:nvSpPr>
          <p:cNvPr descr="TextBox 11" id="243" name="Google Shape;243;p11"/>
          <p:cNvSpPr txBox="1"/>
          <p:nvPr/>
        </p:nvSpPr>
        <p:spPr>
          <a:xfrm>
            <a:off x="425450" y="3394075"/>
            <a:ext cx="39497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Subtract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a:p>
        </p:txBody>
      </p:sp>
      <p:sp>
        <p:nvSpPr>
          <p:cNvPr descr="TextBox 12" id="244" name="Google Shape;244;p11"/>
          <p:cNvSpPr txBox="1"/>
          <p:nvPr/>
        </p:nvSpPr>
        <p:spPr>
          <a:xfrm>
            <a:off x="544671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502</a:t>
            </a:r>
            <a:r>
              <a:rPr lang="en-US" sz="1600">
                <a:solidFill>
                  <a:srgbClr val="0000FF"/>
                </a:solidFill>
                <a:latin typeface="Verdana"/>
                <a:ea typeface="Verdana"/>
                <a:cs typeface="Verdana"/>
                <a:sym typeface="Verdana"/>
              </a:rPr>
              <a:t>;</a:t>
            </a:r>
            <a:endParaRPr/>
          </a:p>
        </p:txBody>
      </p:sp>
      <p:sp>
        <p:nvSpPr>
          <p:cNvPr descr="TextBox 13" id="245" name="Google Shape;245;p11"/>
          <p:cNvSpPr txBox="1"/>
          <p:nvPr/>
        </p:nvSpPr>
        <p:spPr>
          <a:xfrm>
            <a:off x="5454650" y="3421063"/>
            <a:ext cx="351790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Add  Rs. 100/-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a:p>
        </p:txBody>
      </p:sp>
      <p:pic>
        <p:nvPicPr>
          <p:cNvPr descr="Picture 2" id="246" name="Google Shape;246;p11"/>
          <p:cNvPicPr preferRelativeResize="0"/>
          <p:nvPr/>
        </p:nvPicPr>
        <p:blipFill rotWithShape="1">
          <a:blip r:embed="rId4">
            <a:alphaModFix/>
          </a:blip>
          <a:srcRect b="0" l="0" r="0" t="0"/>
          <a:stretch/>
        </p:blipFill>
        <p:spPr>
          <a:xfrm>
            <a:off x="2266950" y="1773238"/>
            <a:ext cx="2479675" cy="1111250"/>
          </a:xfrm>
          <a:prstGeom prst="rect">
            <a:avLst/>
          </a:prstGeom>
          <a:noFill/>
          <a:ln>
            <a:noFill/>
          </a:ln>
        </p:spPr>
      </p:pic>
      <p:sp>
        <p:nvSpPr>
          <p:cNvPr descr="TextBox 14" id="247" name="Google Shape;247;p11"/>
          <p:cNvSpPr txBox="1"/>
          <p:nvPr/>
        </p:nvSpPr>
        <p:spPr>
          <a:xfrm>
            <a:off x="265113" y="5094288"/>
            <a:ext cx="8337550"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status of </a:t>
            </a:r>
            <a:r>
              <a:rPr b="1" lang="en-US" sz="1600">
                <a:solidFill>
                  <a:srgbClr val="00B050"/>
                </a:solidFill>
                <a:latin typeface="Verdana"/>
                <a:ea typeface="Verdana"/>
                <a:cs typeface="Verdana"/>
                <a:sym typeface="Verdana"/>
              </a:rPr>
              <a:t>ACCOUNTS</a:t>
            </a:r>
            <a:r>
              <a:rPr lang="en-US" sz="1600">
                <a:solidFill>
                  <a:srgbClr val="000000"/>
                </a:solidFill>
                <a:latin typeface="Verdana"/>
                <a:ea typeface="Verdana"/>
                <a:cs typeface="Verdana"/>
                <a:sym typeface="Verdana"/>
              </a:rPr>
              <a:t> table say if </a:t>
            </a:r>
            <a:r>
              <a:rPr b="1" lang="en-US" sz="1600">
                <a:solidFill>
                  <a:srgbClr val="FF0000"/>
                </a:solidFill>
                <a:latin typeface="Verdana"/>
                <a:ea typeface="Verdana"/>
                <a:cs typeface="Verdana"/>
                <a:sym typeface="Verdana"/>
              </a:rPr>
              <a:t>FIRST </a:t>
            </a:r>
            <a:r>
              <a:rPr lang="en-US" sz="1600">
                <a:solidFill>
                  <a:srgbClr val="000000"/>
                </a:solidFill>
                <a:latin typeface="Verdana"/>
                <a:ea typeface="Verdana"/>
                <a:cs typeface="Verdana"/>
                <a:sym typeface="Verdana"/>
              </a:rPr>
              <a:t>Update SQL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statement has been executed  but </a:t>
            </a:r>
            <a:r>
              <a:rPr b="1" lang="en-US" sz="1600">
                <a:solidFill>
                  <a:srgbClr val="FF0000"/>
                </a:solidFill>
                <a:latin typeface="Verdana"/>
                <a:ea typeface="Verdana"/>
                <a:cs typeface="Verdana"/>
                <a:sym typeface="Verdana"/>
              </a:rPr>
              <a:t>SECOND </a:t>
            </a:r>
            <a:r>
              <a:rPr lang="en-US" sz="1600">
                <a:solidFill>
                  <a:srgbClr val="000000"/>
                </a:solidFill>
                <a:latin typeface="Verdana"/>
                <a:ea typeface="Verdana"/>
                <a:cs typeface="Verdana"/>
                <a:sym typeface="Verdana"/>
              </a:rPr>
              <a:t>Update SQL statement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has not been executed </a:t>
            </a:r>
            <a:r>
              <a:rPr lang="en-US" sz="1600">
                <a:solidFill>
                  <a:srgbClr val="000000"/>
                </a:solidFill>
                <a:latin typeface="Verdana"/>
                <a:ea typeface="Verdana"/>
                <a:cs typeface="Verdana"/>
                <a:sym typeface="Verdana"/>
              </a:rPr>
              <a:t>because of  electricity failure on the computer system.</a:t>
            </a:r>
            <a:endParaRPr b="1" sz="1600">
              <a:solidFill>
                <a:srgbClr val="000000"/>
              </a:solidFill>
              <a:latin typeface="Verdana"/>
              <a:ea typeface="Verdana"/>
              <a:cs typeface="Verdana"/>
              <a:sym typeface="Verdana"/>
            </a:endParaRPr>
          </a:p>
        </p:txBody>
      </p:sp>
      <p:sp>
        <p:nvSpPr>
          <p:cNvPr descr="TextBox 7" id="248" name="Google Shape;248;p11"/>
          <p:cNvSpPr txBox="1"/>
          <p:nvPr/>
        </p:nvSpPr>
        <p:spPr>
          <a:xfrm>
            <a:off x="236538" y="4556125"/>
            <a:ext cx="78898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FIRST</a:t>
            </a:r>
            <a:endParaRPr/>
          </a:p>
        </p:txBody>
      </p:sp>
      <p:sp>
        <p:nvSpPr>
          <p:cNvPr descr="TextBox 16" id="249" name="Google Shape;249;p11"/>
          <p:cNvSpPr txBox="1"/>
          <p:nvPr/>
        </p:nvSpPr>
        <p:spPr>
          <a:xfrm>
            <a:off x="7920038" y="4572000"/>
            <a:ext cx="10477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SECOND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descr="Title 1" id="254" name="Google Shape;254;p1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255" name="Google Shape;255;p12"/>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256" name="Google Shape;256;p1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7" name="Google Shape;257;p1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58" name="Google Shape;258;p12"/>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259" name="Google Shape;259;p12"/>
          <p:cNvSpPr txBox="1"/>
          <p:nvPr/>
        </p:nvSpPr>
        <p:spPr>
          <a:xfrm>
            <a:off x="376238" y="2954338"/>
            <a:ext cx="66548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C00000"/>
                </a:solidFill>
                <a:latin typeface="Verdana"/>
                <a:ea typeface="Verdana"/>
                <a:cs typeface="Verdana"/>
                <a:sym typeface="Verdana"/>
              </a:rPr>
              <a:t>Transaction: </a:t>
            </a:r>
            <a:r>
              <a:rPr lang="en-US" sz="1600">
                <a:solidFill>
                  <a:srgbClr val="000000"/>
                </a:solidFill>
                <a:latin typeface="Verdana"/>
                <a:ea typeface="Verdana"/>
                <a:cs typeface="Verdana"/>
                <a:sym typeface="Verdana"/>
              </a:rPr>
              <a:t>Transfer Rs. 100 </a:t>
            </a:r>
            <a:r>
              <a:rPr lang="en-US" sz="1600">
                <a:solidFill>
                  <a:srgbClr val="0000FF"/>
                </a:solidFill>
                <a:latin typeface="Verdana"/>
                <a:ea typeface="Verdana"/>
                <a:cs typeface="Verdana"/>
                <a:sym typeface="Verdana"/>
              </a:rPr>
              <a:t>Ram </a:t>
            </a:r>
            <a:r>
              <a:rPr lang="en-US" sz="1600">
                <a:solidFill>
                  <a:srgbClr val="000000"/>
                </a:solidFill>
                <a:latin typeface="Verdana"/>
                <a:ea typeface="Verdana"/>
                <a:cs typeface="Verdana"/>
                <a:sym typeface="Verdana"/>
              </a:rPr>
              <a:t>account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b="1" sz="1600">
              <a:solidFill>
                <a:srgbClr val="C00000"/>
              </a:solidFill>
              <a:latin typeface="Verdana"/>
              <a:ea typeface="Verdana"/>
              <a:cs typeface="Verdana"/>
              <a:sym typeface="Verdana"/>
            </a:endParaRPr>
          </a:p>
        </p:txBody>
      </p:sp>
      <p:sp>
        <p:nvSpPr>
          <p:cNvPr descr="TextBox 9" id="260" name="Google Shape;260;p12"/>
          <p:cNvSpPr txBox="1"/>
          <p:nvPr/>
        </p:nvSpPr>
        <p:spPr>
          <a:xfrm>
            <a:off x="39846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501</a:t>
            </a:r>
            <a:r>
              <a:rPr lang="en-US" sz="1600">
                <a:solidFill>
                  <a:srgbClr val="0000FF"/>
                </a:solidFill>
                <a:latin typeface="Verdana"/>
                <a:ea typeface="Verdana"/>
                <a:cs typeface="Verdana"/>
                <a:sym typeface="Verdana"/>
              </a:rPr>
              <a:t>;</a:t>
            </a:r>
            <a:endParaRPr/>
          </a:p>
        </p:txBody>
      </p:sp>
      <p:sp>
        <p:nvSpPr>
          <p:cNvPr descr="TextBox 11" id="261" name="Google Shape;261;p12"/>
          <p:cNvSpPr txBox="1"/>
          <p:nvPr/>
        </p:nvSpPr>
        <p:spPr>
          <a:xfrm>
            <a:off x="425450" y="3394075"/>
            <a:ext cx="39497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Subtract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a:p>
        </p:txBody>
      </p:sp>
      <p:sp>
        <p:nvSpPr>
          <p:cNvPr descr="TextBox 12" id="262" name="Google Shape;262;p12"/>
          <p:cNvSpPr txBox="1"/>
          <p:nvPr/>
        </p:nvSpPr>
        <p:spPr>
          <a:xfrm>
            <a:off x="544671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502</a:t>
            </a:r>
            <a:r>
              <a:rPr lang="en-US" sz="1600">
                <a:solidFill>
                  <a:srgbClr val="0000FF"/>
                </a:solidFill>
                <a:latin typeface="Verdana"/>
                <a:ea typeface="Verdana"/>
                <a:cs typeface="Verdana"/>
                <a:sym typeface="Verdana"/>
              </a:rPr>
              <a:t>;</a:t>
            </a:r>
            <a:endParaRPr/>
          </a:p>
        </p:txBody>
      </p:sp>
      <p:sp>
        <p:nvSpPr>
          <p:cNvPr descr="TextBox 13" id="263" name="Google Shape;263;p12"/>
          <p:cNvSpPr txBox="1"/>
          <p:nvPr/>
        </p:nvSpPr>
        <p:spPr>
          <a:xfrm>
            <a:off x="5454650" y="3421063"/>
            <a:ext cx="351790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Add  Rs. 100/-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a:p>
        </p:txBody>
      </p:sp>
      <p:pic>
        <p:nvPicPr>
          <p:cNvPr descr="Picture 2" id="264" name="Google Shape;264;p12"/>
          <p:cNvPicPr preferRelativeResize="0"/>
          <p:nvPr/>
        </p:nvPicPr>
        <p:blipFill rotWithShape="1">
          <a:blip r:embed="rId4">
            <a:alphaModFix/>
          </a:blip>
          <a:srcRect b="0" l="0" r="0" t="0"/>
          <a:stretch/>
        </p:blipFill>
        <p:spPr>
          <a:xfrm>
            <a:off x="2266950" y="1773238"/>
            <a:ext cx="2479675" cy="1111250"/>
          </a:xfrm>
          <a:prstGeom prst="rect">
            <a:avLst/>
          </a:prstGeom>
          <a:noFill/>
          <a:ln>
            <a:noFill/>
          </a:ln>
        </p:spPr>
      </p:pic>
      <p:sp>
        <p:nvSpPr>
          <p:cNvPr descr="TextBox 14" id="265" name="Google Shape;265;p12"/>
          <p:cNvSpPr txBox="1"/>
          <p:nvPr/>
        </p:nvSpPr>
        <p:spPr>
          <a:xfrm>
            <a:off x="373063" y="5018088"/>
            <a:ext cx="8340725"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status of </a:t>
            </a:r>
            <a:r>
              <a:rPr b="1" lang="en-US" sz="1600">
                <a:solidFill>
                  <a:srgbClr val="00B050"/>
                </a:solidFill>
                <a:latin typeface="Verdana"/>
                <a:ea typeface="Verdana"/>
                <a:cs typeface="Verdana"/>
                <a:sym typeface="Verdana"/>
              </a:rPr>
              <a:t>ACCOUNTS</a:t>
            </a:r>
            <a:r>
              <a:rPr lang="en-US" sz="1600">
                <a:solidFill>
                  <a:srgbClr val="000000"/>
                </a:solidFill>
                <a:latin typeface="Verdana"/>
                <a:ea typeface="Verdana"/>
                <a:cs typeface="Verdana"/>
                <a:sym typeface="Verdana"/>
              </a:rPr>
              <a:t> table say if </a:t>
            </a:r>
            <a:r>
              <a:rPr b="1" lang="en-US" sz="1600">
                <a:solidFill>
                  <a:srgbClr val="FF0000"/>
                </a:solidFill>
                <a:latin typeface="Verdana"/>
                <a:ea typeface="Verdana"/>
                <a:cs typeface="Verdana"/>
                <a:sym typeface="Verdana"/>
              </a:rPr>
              <a:t>SECOND </a:t>
            </a:r>
            <a:r>
              <a:rPr lang="en-US" sz="1600">
                <a:solidFill>
                  <a:srgbClr val="000000"/>
                </a:solidFill>
                <a:latin typeface="Verdana"/>
                <a:ea typeface="Verdana"/>
                <a:cs typeface="Verdana"/>
                <a:sym typeface="Verdana"/>
              </a:rPr>
              <a:t>Update SQL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statement has been executed  but </a:t>
            </a:r>
            <a:r>
              <a:rPr b="1" lang="en-US" sz="1600">
                <a:solidFill>
                  <a:srgbClr val="FF0000"/>
                </a:solidFill>
                <a:latin typeface="Verdana"/>
                <a:ea typeface="Verdana"/>
                <a:cs typeface="Verdana"/>
                <a:sym typeface="Verdana"/>
              </a:rPr>
              <a:t>FIRST  </a:t>
            </a:r>
            <a:r>
              <a:rPr lang="en-US" sz="1600">
                <a:solidFill>
                  <a:srgbClr val="000000"/>
                </a:solidFill>
                <a:latin typeface="Verdana"/>
                <a:ea typeface="Verdana"/>
                <a:cs typeface="Verdana"/>
                <a:sym typeface="Verdana"/>
              </a:rPr>
              <a:t>Update SQL statement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has not been executed</a:t>
            </a:r>
            <a:r>
              <a:rPr lang="en-US" sz="1600">
                <a:solidFill>
                  <a:srgbClr val="000000"/>
                </a:solidFill>
                <a:latin typeface="Verdana"/>
                <a:ea typeface="Verdana"/>
                <a:cs typeface="Verdana"/>
                <a:sym typeface="Verdana"/>
              </a:rPr>
              <a:t> because of  electricity failure on the computer system.</a:t>
            </a:r>
            <a:endParaRPr b="1" sz="1600">
              <a:solidFill>
                <a:srgbClr val="000000"/>
              </a:solidFill>
              <a:latin typeface="Verdana"/>
              <a:ea typeface="Verdana"/>
              <a:cs typeface="Verdana"/>
              <a:sym typeface="Verdana"/>
            </a:endParaRPr>
          </a:p>
        </p:txBody>
      </p:sp>
      <p:sp>
        <p:nvSpPr>
          <p:cNvPr descr="TextBox 7" id="266" name="Google Shape;266;p12"/>
          <p:cNvSpPr txBox="1"/>
          <p:nvPr/>
        </p:nvSpPr>
        <p:spPr>
          <a:xfrm>
            <a:off x="236538" y="4556125"/>
            <a:ext cx="78898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FIRST</a:t>
            </a:r>
            <a:endParaRPr/>
          </a:p>
        </p:txBody>
      </p:sp>
      <p:sp>
        <p:nvSpPr>
          <p:cNvPr descr="TextBox 16" id="267" name="Google Shape;267;p12"/>
          <p:cNvSpPr txBox="1"/>
          <p:nvPr/>
        </p:nvSpPr>
        <p:spPr>
          <a:xfrm>
            <a:off x="7920038" y="4572000"/>
            <a:ext cx="10477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SECOND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descr="Title 1" id="272" name="Google Shape;272;p1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Introduction</a:t>
            </a:r>
            <a:endParaRPr/>
          </a:p>
        </p:txBody>
      </p:sp>
      <p:sp>
        <p:nvSpPr>
          <p:cNvPr descr="Content Placeholder 2" id="273" name="Google Shape;273;p13"/>
          <p:cNvSpPr txBox="1"/>
          <p:nvPr>
            <p:ph idx="1" type="body"/>
          </p:nvPr>
        </p:nvSpPr>
        <p:spPr>
          <a:xfrm>
            <a:off x="566738" y="11430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Example: Bank database application</a:t>
            </a:r>
            <a:endParaRPr/>
          </a:p>
          <a:p>
            <a:pPr indent="-469900" lvl="0" marL="469900" rtl="0" algn="l">
              <a:spcBef>
                <a:spcPts val="300"/>
              </a:spcBef>
              <a:spcAft>
                <a:spcPts val="0"/>
              </a:spcAft>
              <a:buSzPts val="1600"/>
              <a:buFont typeface="Verdana"/>
              <a:buChar char="□"/>
            </a:pPr>
            <a:r>
              <a:rPr lang="en-US" sz="1600"/>
              <a:t>Consider </a:t>
            </a:r>
            <a:r>
              <a:rPr lang="en-US" sz="1600">
                <a:solidFill>
                  <a:srgbClr val="0000FF"/>
                </a:solidFill>
              </a:rPr>
              <a:t>Ram </a:t>
            </a:r>
            <a:r>
              <a:rPr lang="en-US" sz="1600"/>
              <a:t>and </a:t>
            </a:r>
            <a:r>
              <a:rPr lang="en-US" sz="1600">
                <a:solidFill>
                  <a:srgbClr val="FF00FF"/>
                </a:solidFill>
              </a:rPr>
              <a:t>Shyam</a:t>
            </a:r>
            <a:r>
              <a:rPr lang="en-US" sz="1600"/>
              <a:t> has an account in SBI bank at Basvangudi branch. </a:t>
            </a:r>
            <a:endParaRPr/>
          </a:p>
        </p:txBody>
      </p:sp>
      <p:sp>
        <p:nvSpPr>
          <p:cNvPr descr="Date Placeholder 3" id="274" name="Google Shape;274;p1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5" name="Google Shape;275;p1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76" name="Google Shape;276;p13"/>
          <p:cNvPicPr preferRelativeResize="0"/>
          <p:nvPr/>
        </p:nvPicPr>
        <p:blipFill rotWithShape="1">
          <a:blip r:embed="rId3">
            <a:alphaModFix/>
          </a:blip>
          <a:srcRect b="0" l="0" r="0" t="0"/>
          <a:stretch/>
        </p:blipFill>
        <p:spPr>
          <a:xfrm>
            <a:off x="6661150" y="1917700"/>
            <a:ext cx="1582738" cy="992188"/>
          </a:xfrm>
          <a:prstGeom prst="rect">
            <a:avLst/>
          </a:prstGeom>
          <a:noFill/>
          <a:ln>
            <a:noFill/>
          </a:ln>
        </p:spPr>
      </p:pic>
      <p:sp>
        <p:nvSpPr>
          <p:cNvPr descr="TextBox 8" id="277" name="Google Shape;277;p13"/>
          <p:cNvSpPr txBox="1"/>
          <p:nvPr/>
        </p:nvSpPr>
        <p:spPr>
          <a:xfrm>
            <a:off x="376238" y="2954338"/>
            <a:ext cx="66548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C00000"/>
                </a:solidFill>
                <a:latin typeface="Verdana"/>
                <a:ea typeface="Verdana"/>
                <a:cs typeface="Verdana"/>
                <a:sym typeface="Verdana"/>
              </a:rPr>
              <a:t>Transaction: </a:t>
            </a:r>
            <a:r>
              <a:rPr lang="en-US" sz="1600">
                <a:solidFill>
                  <a:srgbClr val="000000"/>
                </a:solidFill>
                <a:latin typeface="Verdana"/>
                <a:ea typeface="Verdana"/>
                <a:cs typeface="Verdana"/>
                <a:sym typeface="Verdana"/>
              </a:rPr>
              <a:t>Transfer Rs. 100 </a:t>
            </a:r>
            <a:r>
              <a:rPr lang="en-US" sz="1600">
                <a:solidFill>
                  <a:srgbClr val="0000FF"/>
                </a:solidFill>
                <a:latin typeface="Verdana"/>
                <a:ea typeface="Verdana"/>
                <a:cs typeface="Verdana"/>
                <a:sym typeface="Verdana"/>
              </a:rPr>
              <a:t>Ram </a:t>
            </a:r>
            <a:r>
              <a:rPr lang="en-US" sz="1600">
                <a:solidFill>
                  <a:srgbClr val="000000"/>
                </a:solidFill>
                <a:latin typeface="Verdana"/>
                <a:ea typeface="Verdana"/>
                <a:cs typeface="Verdana"/>
                <a:sym typeface="Verdana"/>
              </a:rPr>
              <a:t>account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b="1" sz="1600">
              <a:solidFill>
                <a:srgbClr val="C00000"/>
              </a:solidFill>
              <a:latin typeface="Verdana"/>
              <a:ea typeface="Verdana"/>
              <a:cs typeface="Verdana"/>
              <a:sym typeface="Verdana"/>
            </a:endParaRPr>
          </a:p>
        </p:txBody>
      </p:sp>
      <p:sp>
        <p:nvSpPr>
          <p:cNvPr descr="TextBox 9" id="278" name="Google Shape;278;p13"/>
          <p:cNvSpPr txBox="1"/>
          <p:nvPr/>
        </p:nvSpPr>
        <p:spPr>
          <a:xfrm>
            <a:off x="39846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501</a:t>
            </a:r>
            <a:r>
              <a:rPr lang="en-US" sz="1600">
                <a:solidFill>
                  <a:srgbClr val="0000FF"/>
                </a:solidFill>
                <a:latin typeface="Verdana"/>
                <a:ea typeface="Verdana"/>
                <a:cs typeface="Verdana"/>
                <a:sym typeface="Verdana"/>
              </a:rPr>
              <a:t>;</a:t>
            </a:r>
            <a:endParaRPr/>
          </a:p>
        </p:txBody>
      </p:sp>
      <p:sp>
        <p:nvSpPr>
          <p:cNvPr descr="TextBox 11" id="279" name="Google Shape;279;p13"/>
          <p:cNvSpPr txBox="1"/>
          <p:nvPr/>
        </p:nvSpPr>
        <p:spPr>
          <a:xfrm>
            <a:off x="425450" y="3394075"/>
            <a:ext cx="39497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Subtract Rs. 100/- from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 account</a:t>
            </a:r>
            <a:endParaRPr/>
          </a:p>
        </p:txBody>
      </p:sp>
      <p:sp>
        <p:nvSpPr>
          <p:cNvPr descr="TextBox 12" id="280" name="Google Shape;280;p13"/>
          <p:cNvSpPr txBox="1"/>
          <p:nvPr/>
        </p:nvSpPr>
        <p:spPr>
          <a:xfrm>
            <a:off x="5446713" y="3740150"/>
            <a:ext cx="3563937" cy="844550"/>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Update </a:t>
            </a:r>
            <a:r>
              <a:rPr b="1" lang="en-US" sz="1600">
                <a:solidFill>
                  <a:srgbClr val="00B05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Set Balance =Balance+100</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Where AccountNumber=</a:t>
            </a:r>
            <a:r>
              <a:rPr b="1" lang="en-US" sz="1600">
                <a:solidFill>
                  <a:srgbClr val="0000FF"/>
                </a:solidFill>
                <a:latin typeface="Verdana"/>
                <a:ea typeface="Verdana"/>
                <a:cs typeface="Verdana"/>
                <a:sym typeface="Verdana"/>
              </a:rPr>
              <a:t>502</a:t>
            </a:r>
            <a:r>
              <a:rPr lang="en-US" sz="1600">
                <a:solidFill>
                  <a:srgbClr val="0000FF"/>
                </a:solidFill>
                <a:latin typeface="Verdana"/>
                <a:ea typeface="Verdana"/>
                <a:cs typeface="Verdana"/>
                <a:sym typeface="Verdana"/>
              </a:rPr>
              <a:t>;</a:t>
            </a:r>
            <a:endParaRPr/>
          </a:p>
        </p:txBody>
      </p:sp>
      <p:sp>
        <p:nvSpPr>
          <p:cNvPr descr="TextBox 13" id="281" name="Google Shape;281;p13"/>
          <p:cNvSpPr txBox="1"/>
          <p:nvPr/>
        </p:nvSpPr>
        <p:spPr>
          <a:xfrm>
            <a:off x="5454650" y="3421063"/>
            <a:ext cx="351790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Add  Rs. 100/- to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 account</a:t>
            </a:r>
            <a:endParaRPr/>
          </a:p>
        </p:txBody>
      </p:sp>
      <p:pic>
        <p:nvPicPr>
          <p:cNvPr descr="Picture 2" id="282" name="Google Shape;282;p13"/>
          <p:cNvPicPr preferRelativeResize="0"/>
          <p:nvPr/>
        </p:nvPicPr>
        <p:blipFill rotWithShape="1">
          <a:blip r:embed="rId4">
            <a:alphaModFix/>
          </a:blip>
          <a:srcRect b="0" l="0" r="0" t="0"/>
          <a:stretch/>
        </p:blipFill>
        <p:spPr>
          <a:xfrm>
            <a:off x="2266950" y="1773238"/>
            <a:ext cx="2479675" cy="1111250"/>
          </a:xfrm>
          <a:prstGeom prst="rect">
            <a:avLst/>
          </a:prstGeom>
          <a:noFill/>
          <a:ln>
            <a:noFill/>
          </a:ln>
        </p:spPr>
      </p:pic>
      <p:sp>
        <p:nvSpPr>
          <p:cNvPr descr="TextBox 14" id="283" name="Google Shape;283;p13"/>
          <p:cNvSpPr txBox="1"/>
          <p:nvPr/>
        </p:nvSpPr>
        <p:spPr>
          <a:xfrm>
            <a:off x="236538" y="4894263"/>
            <a:ext cx="8799512" cy="1539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CC00CC"/>
                </a:solidFill>
                <a:latin typeface="Verdana"/>
                <a:ea typeface="Verdana"/>
                <a:cs typeface="Verdana"/>
                <a:sym typeface="Verdana"/>
              </a:rPr>
              <a:t>SOLUTION: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Both </a:t>
            </a:r>
            <a:r>
              <a:rPr b="1" lang="en-US" sz="1600">
                <a:solidFill>
                  <a:srgbClr val="FF0000"/>
                </a:solidFill>
                <a:latin typeface="Verdana"/>
                <a:ea typeface="Verdana"/>
                <a:cs typeface="Verdana"/>
                <a:sym typeface="Verdana"/>
              </a:rPr>
              <a:t>FIRST  </a:t>
            </a:r>
            <a:r>
              <a:rPr lang="en-US" sz="1600">
                <a:solidFill>
                  <a:srgbClr val="000000"/>
                </a:solidFill>
                <a:latin typeface="Verdana"/>
                <a:ea typeface="Verdana"/>
                <a:cs typeface="Verdana"/>
                <a:sym typeface="Verdana"/>
              </a:rPr>
              <a:t>and </a:t>
            </a:r>
            <a:r>
              <a:rPr b="1" lang="en-US" sz="1600">
                <a:solidFill>
                  <a:srgbClr val="FF0000"/>
                </a:solidFill>
                <a:latin typeface="Verdana"/>
                <a:ea typeface="Verdana"/>
                <a:cs typeface="Verdana"/>
                <a:sym typeface="Verdana"/>
              </a:rPr>
              <a:t>SECOND </a:t>
            </a:r>
            <a:r>
              <a:rPr lang="en-US" sz="1600">
                <a:solidFill>
                  <a:srgbClr val="000000"/>
                </a:solidFill>
                <a:latin typeface="Verdana"/>
                <a:ea typeface="Verdana"/>
                <a:cs typeface="Verdana"/>
                <a:sym typeface="Verdana"/>
              </a:rPr>
              <a:t>Update SQL statements should be executed successfully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for transaction to complete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In situations when any one of the UPDATE SQL  statements i.e., </a:t>
            </a:r>
            <a:r>
              <a:rPr b="1" lang="en-US" sz="1600">
                <a:solidFill>
                  <a:srgbClr val="FF0000"/>
                </a:solidFill>
                <a:latin typeface="Verdana"/>
                <a:ea typeface="Verdana"/>
                <a:cs typeface="Verdana"/>
                <a:sym typeface="Verdana"/>
              </a:rPr>
              <a:t>FIRST  </a:t>
            </a:r>
            <a:r>
              <a:rPr b="1" lang="en-US" sz="1600">
                <a:solidFill>
                  <a:srgbClr val="000000"/>
                </a:solidFill>
                <a:latin typeface="Verdana"/>
                <a:ea typeface="Verdana"/>
                <a:cs typeface="Verdana"/>
                <a:sym typeface="Verdana"/>
              </a:rPr>
              <a:t>or</a:t>
            </a:r>
            <a:r>
              <a:rPr lang="en-US" sz="1600">
                <a:solidFill>
                  <a:srgbClr val="000000"/>
                </a:solidFill>
                <a:latin typeface="Verdana"/>
                <a:ea typeface="Verdana"/>
                <a:cs typeface="Verdana"/>
                <a:sym typeface="Verdana"/>
              </a:rPr>
              <a:t> </a:t>
            </a:r>
            <a:r>
              <a:rPr b="1" lang="en-US" sz="1600">
                <a:solidFill>
                  <a:srgbClr val="FF0000"/>
                </a:solidFill>
                <a:latin typeface="Verdana"/>
                <a:ea typeface="Verdana"/>
                <a:cs typeface="Verdana"/>
                <a:sym typeface="Verdana"/>
              </a:rPr>
              <a:t>SECOND</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has been executed then transaction should be </a:t>
            </a:r>
            <a:r>
              <a:rPr b="1" lang="en-US" sz="1600">
                <a:solidFill>
                  <a:srgbClr val="000000"/>
                </a:solidFill>
                <a:latin typeface="Verdana"/>
                <a:ea typeface="Verdana"/>
                <a:cs typeface="Verdana"/>
                <a:sym typeface="Verdana"/>
              </a:rPr>
              <a:t>aborted</a:t>
            </a:r>
            <a:r>
              <a:rPr lang="en-US" sz="1600">
                <a:solidFill>
                  <a:srgbClr val="000000"/>
                </a:solidFill>
                <a:latin typeface="Verdana"/>
                <a:ea typeface="Verdana"/>
                <a:cs typeface="Verdana"/>
                <a:sym typeface="Verdana"/>
              </a:rPr>
              <a:t> i.e., in ACCOUNTS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table Balance column should not be changed</a:t>
            </a:r>
            <a:endParaRPr/>
          </a:p>
        </p:txBody>
      </p:sp>
      <p:sp>
        <p:nvSpPr>
          <p:cNvPr descr="TextBox 7" id="284" name="Google Shape;284;p13"/>
          <p:cNvSpPr txBox="1"/>
          <p:nvPr/>
        </p:nvSpPr>
        <p:spPr>
          <a:xfrm>
            <a:off x="236538" y="4556125"/>
            <a:ext cx="78898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FIRST</a:t>
            </a:r>
            <a:endParaRPr/>
          </a:p>
        </p:txBody>
      </p:sp>
      <p:sp>
        <p:nvSpPr>
          <p:cNvPr descr="TextBox 16" id="285" name="Google Shape;285;p13"/>
          <p:cNvSpPr txBox="1"/>
          <p:nvPr/>
        </p:nvSpPr>
        <p:spPr>
          <a:xfrm>
            <a:off x="7920038" y="4572000"/>
            <a:ext cx="10477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SECOND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descr="Rectangle 2" id="290" name="Google Shape;290;p14"/>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Demonstration</a:t>
            </a:r>
            <a:endParaRPr/>
          </a:p>
        </p:txBody>
      </p:sp>
      <p:sp>
        <p:nvSpPr>
          <p:cNvPr descr="Rectangle 3" id="291" name="Google Shape;291;p14"/>
          <p:cNvSpPr txBox="1"/>
          <p:nvPr>
            <p:ph idx="1" type="body"/>
          </p:nvPr>
        </p:nvSpPr>
        <p:spPr>
          <a:xfrm>
            <a:off x="914400" y="3200400"/>
            <a:ext cx="70104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Placing Transaction in between START TRANSACTION and COMMIT.</a:t>
            </a:r>
            <a:endParaRPr/>
          </a:p>
        </p:txBody>
      </p:sp>
      <p:sp>
        <p:nvSpPr>
          <p:cNvPr descr="Date Placeholder 1" id="292" name="Google Shape;292;p14"/>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293" name="Google Shape;293;p14"/>
          <p:cNvSpPr txBox="1"/>
          <p:nvPr/>
        </p:nvSpPr>
        <p:spPr>
          <a:xfrm>
            <a:off x="8183563" y="6248400"/>
            <a:ext cx="274637"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descr="Title 1" id="298" name="Google Shape;298;p1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299" name="Google Shape;299;p1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0" name="Google Shape;300;p1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301" name="Google Shape;301;p15"/>
          <p:cNvGrpSpPr/>
          <p:nvPr/>
        </p:nvGrpSpPr>
        <p:grpSpPr>
          <a:xfrm>
            <a:off x="712788" y="1284288"/>
            <a:ext cx="7788275" cy="2071687"/>
            <a:chOff x="0" y="-1"/>
            <a:chExt cx="7786742" cy="2071704"/>
          </a:xfrm>
        </p:grpSpPr>
        <p:sp>
          <p:nvSpPr>
            <p:cNvPr id="302" name="Google Shape;302;p15"/>
            <p:cNvSpPr/>
            <p:nvPr/>
          </p:nvSpPr>
          <p:spPr>
            <a:xfrm>
              <a:off x="0" y="-1"/>
              <a:ext cx="7786742" cy="207170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03" name="Google Shape;303;p15"/>
            <p:cNvSpPr txBox="1"/>
            <p:nvPr/>
          </p:nvSpPr>
          <p:spPr>
            <a:xfrm>
              <a:off x="50482" y="4762"/>
              <a:ext cx="7685778" cy="2047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DROP TABLE IF EXISTS accounts;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CREATE TABLE </a:t>
              </a:r>
              <a:r>
                <a:rPr lang="en-US" sz="1800">
                  <a:solidFill>
                    <a:srgbClr val="00B050"/>
                  </a:solidFill>
                  <a:latin typeface="Verdana"/>
                  <a:ea typeface="Verdana"/>
                  <a:cs typeface="Verdana"/>
                  <a:sym typeface="Verdana"/>
                </a:rPr>
                <a:t>accounts</a:t>
              </a:r>
              <a:r>
                <a:rPr lang="en-US" sz="1800">
                  <a:solidFill>
                    <a:srgbClr val="000000"/>
                  </a:solidFill>
                  <a:latin typeface="Verdana"/>
                  <a:ea typeface="Verdana"/>
                  <a:cs typeface="Verdana"/>
                  <a:sym typeface="Verdana"/>
                </a:rPr>
                <a:t> ( AccountNumber INT PRIMARY KEY,  Name VARCHAR(30),  Balance FLOAT)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INSERT INTO accounts VALUES (501, '</a:t>
              </a:r>
              <a:r>
                <a:rPr lang="en-US" sz="1800">
                  <a:solidFill>
                    <a:srgbClr val="0000FF"/>
                  </a:solidFill>
                  <a:latin typeface="Verdana"/>
                  <a:ea typeface="Verdana"/>
                  <a:cs typeface="Verdana"/>
                  <a:sym typeface="Verdana"/>
                </a:rPr>
                <a:t>Ram</a:t>
              </a:r>
              <a:r>
                <a:rPr lang="en-US" sz="1800">
                  <a:solidFill>
                    <a:srgbClr val="000000"/>
                  </a:solidFill>
                  <a:latin typeface="Verdana"/>
                  <a:ea typeface="Verdana"/>
                  <a:cs typeface="Verdana"/>
                  <a:sym typeface="Verdana"/>
                </a:rPr>
                <a:t>', 150.0);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INSERT INTO accounts VALUES (502, '</a:t>
              </a:r>
              <a:r>
                <a:rPr lang="en-US" sz="1800">
                  <a:solidFill>
                    <a:srgbClr val="FF00FF"/>
                  </a:solidFill>
                  <a:latin typeface="Verdana"/>
                  <a:ea typeface="Verdana"/>
                  <a:cs typeface="Verdana"/>
                  <a:sym typeface="Verdana"/>
                </a:rPr>
                <a:t>Shyam</a:t>
              </a:r>
              <a:r>
                <a:rPr lang="en-US" sz="1800">
                  <a:solidFill>
                    <a:srgbClr val="000000"/>
                  </a:solidFill>
                  <a:latin typeface="Verdana"/>
                  <a:ea typeface="Verdana"/>
                  <a:cs typeface="Verdana"/>
                  <a:sym typeface="Verdana"/>
                </a:rPr>
                <a:t>', 100.0);</a:t>
              </a:r>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select * from accounts;</a:t>
              </a:r>
              <a:endParaRPr/>
            </a:p>
          </p:txBody>
        </p:sp>
      </p:grpSp>
      <p:pic>
        <p:nvPicPr>
          <p:cNvPr descr="Picture 2" id="304" name="Google Shape;304;p15"/>
          <p:cNvPicPr preferRelativeResize="0"/>
          <p:nvPr/>
        </p:nvPicPr>
        <p:blipFill rotWithShape="1">
          <a:blip r:embed="rId3">
            <a:alphaModFix/>
          </a:blip>
          <a:srcRect b="0" l="0" r="0" t="0"/>
          <a:stretch/>
        </p:blipFill>
        <p:spPr>
          <a:xfrm>
            <a:off x="998538" y="3714750"/>
            <a:ext cx="2479675" cy="11096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descr="Title 1" id="309" name="Google Shape;309;p1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310" name="Google Shape;310;p1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1" name="Google Shape;311;p1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12" name="Google Shape;312;p16"/>
          <p:cNvPicPr preferRelativeResize="0"/>
          <p:nvPr/>
        </p:nvPicPr>
        <p:blipFill rotWithShape="1">
          <a:blip r:embed="rId3">
            <a:alphaModFix/>
          </a:blip>
          <a:srcRect b="0" l="0" r="0" t="0"/>
          <a:stretch/>
        </p:blipFill>
        <p:spPr>
          <a:xfrm>
            <a:off x="276225" y="3487738"/>
            <a:ext cx="533400" cy="928687"/>
          </a:xfrm>
          <a:prstGeom prst="rect">
            <a:avLst/>
          </a:prstGeom>
          <a:noFill/>
          <a:ln>
            <a:noFill/>
          </a:ln>
        </p:spPr>
      </p:pic>
      <p:sp>
        <p:nvSpPr>
          <p:cNvPr descr="TextBox 9" id="313" name="Google Shape;313;p16"/>
          <p:cNvSpPr txBox="1"/>
          <p:nvPr/>
        </p:nvSpPr>
        <p:spPr>
          <a:xfrm>
            <a:off x="106363" y="4487863"/>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1</a:t>
            </a:r>
            <a:endParaRPr/>
          </a:p>
        </p:txBody>
      </p:sp>
      <p:grpSp>
        <p:nvGrpSpPr>
          <p:cNvPr id="314" name="Google Shape;314;p16"/>
          <p:cNvGrpSpPr/>
          <p:nvPr/>
        </p:nvGrpSpPr>
        <p:grpSpPr>
          <a:xfrm>
            <a:off x="1141413" y="3429000"/>
            <a:ext cx="8001000" cy="1857375"/>
            <a:chOff x="0" y="0"/>
            <a:chExt cx="8001056" cy="1857388"/>
          </a:xfrm>
        </p:grpSpPr>
        <p:sp>
          <p:nvSpPr>
            <p:cNvPr id="315" name="Google Shape;315;p16"/>
            <p:cNvSpPr/>
            <p:nvPr/>
          </p:nvSpPr>
          <p:spPr>
            <a:xfrm>
              <a:off x="0" y="0"/>
              <a:ext cx="8001056" cy="1857388"/>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16" name="Google Shape;316;p16"/>
            <p:cNvSpPr txBox="1"/>
            <p:nvPr/>
          </p:nvSpPr>
          <p:spPr>
            <a:xfrm>
              <a:off x="50482" y="4762"/>
              <a:ext cx="7900092" cy="15773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START TRANSACTION;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Name = '</a:t>
              </a:r>
              <a:r>
                <a:rPr lang="en-US" sz="1600">
                  <a:solidFill>
                    <a:srgbClr val="0000FF"/>
                  </a:solidFill>
                  <a:latin typeface="Verdana"/>
                  <a:ea typeface="Verdana"/>
                  <a:cs typeface="Verdana"/>
                  <a:sym typeface="Verdana"/>
                </a:rPr>
                <a:t>Ram</a:t>
              </a:r>
              <a:r>
                <a:rPr lang="en-US" sz="1600">
                  <a:solidFill>
                    <a:srgbClr val="000000"/>
                  </a:solidFill>
                  <a:latin typeface="Verdana"/>
                  <a:ea typeface="Verdana"/>
                  <a:cs typeface="Verdana"/>
                  <a:sym typeface="Verdana"/>
                </a:rPr>
                <a:t>';</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Name = '</a:t>
              </a:r>
              <a:r>
                <a:rPr lang="en-US" sz="1600">
                  <a:solidFill>
                    <a:srgbClr val="FF00FF"/>
                  </a:solidFill>
                  <a:latin typeface="Verdana"/>
                  <a:ea typeface="Verdana"/>
                  <a:cs typeface="Verdana"/>
                  <a:sym typeface="Verdana"/>
                </a:rPr>
                <a:t>Shyam</a:t>
              </a:r>
              <a:r>
                <a:rPr lang="en-US" sz="1600">
                  <a:solidFill>
                    <a:srgbClr val="000000"/>
                  </a:solidFill>
                  <a:latin typeface="Verdana"/>
                  <a:ea typeface="Verdana"/>
                  <a:cs typeface="Verdana"/>
                  <a:sym typeface="Verdana"/>
                </a:rPr>
                <a:t>';</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select * from accounts;</a:t>
              </a:r>
              <a:endParaRPr/>
            </a:p>
          </p:txBody>
        </p:sp>
      </p:grpSp>
      <p:pic>
        <p:nvPicPr>
          <p:cNvPr descr="Picture 2" id="317" name="Google Shape;317;p16"/>
          <p:cNvPicPr preferRelativeResize="0"/>
          <p:nvPr/>
        </p:nvPicPr>
        <p:blipFill rotWithShape="1">
          <a:blip r:embed="rId4">
            <a:alphaModFix/>
          </a:blip>
          <a:srcRect b="0" l="0" r="0" t="0"/>
          <a:stretch/>
        </p:blipFill>
        <p:spPr>
          <a:xfrm>
            <a:off x="1751013" y="1727200"/>
            <a:ext cx="2232025" cy="1196975"/>
          </a:xfrm>
          <a:prstGeom prst="rect">
            <a:avLst/>
          </a:prstGeom>
          <a:noFill/>
          <a:ln>
            <a:noFill/>
          </a:ln>
        </p:spPr>
      </p:pic>
      <p:sp>
        <p:nvSpPr>
          <p:cNvPr descr="Flowchart: Magnetic Disk 13" id="318" name="Google Shape;318;p16"/>
          <p:cNvSpPr/>
          <p:nvPr/>
        </p:nvSpPr>
        <p:spPr>
          <a:xfrm>
            <a:off x="1403350" y="1027113"/>
            <a:ext cx="2928938" cy="20002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descr="Title 1" id="323" name="Google Shape;323;p1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324" name="Google Shape;324;p1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5" name="Google Shape;325;p1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26" name="Google Shape;326;p17"/>
          <p:cNvPicPr preferRelativeResize="0"/>
          <p:nvPr/>
        </p:nvPicPr>
        <p:blipFill rotWithShape="1">
          <a:blip r:embed="rId3">
            <a:alphaModFix/>
          </a:blip>
          <a:srcRect b="0" l="0" r="0" t="0"/>
          <a:stretch/>
        </p:blipFill>
        <p:spPr>
          <a:xfrm>
            <a:off x="204788" y="3201988"/>
            <a:ext cx="533400" cy="928687"/>
          </a:xfrm>
          <a:prstGeom prst="rect">
            <a:avLst/>
          </a:prstGeom>
          <a:noFill/>
          <a:ln>
            <a:noFill/>
          </a:ln>
        </p:spPr>
      </p:pic>
      <p:sp>
        <p:nvSpPr>
          <p:cNvPr descr="TextBox 9" id="327" name="Google Shape;327;p17"/>
          <p:cNvSpPr txBox="1"/>
          <p:nvPr/>
        </p:nvSpPr>
        <p:spPr>
          <a:xfrm>
            <a:off x="34925" y="4202113"/>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1</a:t>
            </a:r>
            <a:endParaRPr/>
          </a:p>
        </p:txBody>
      </p:sp>
      <p:grpSp>
        <p:nvGrpSpPr>
          <p:cNvPr id="328" name="Google Shape;328;p17"/>
          <p:cNvGrpSpPr/>
          <p:nvPr/>
        </p:nvGrpSpPr>
        <p:grpSpPr>
          <a:xfrm>
            <a:off x="927100" y="3141663"/>
            <a:ext cx="7502525" cy="1573212"/>
            <a:chOff x="0" y="-1"/>
            <a:chExt cx="7501022" cy="1571638"/>
          </a:xfrm>
        </p:grpSpPr>
        <p:sp>
          <p:nvSpPr>
            <p:cNvPr id="329" name="Google Shape;329;p17"/>
            <p:cNvSpPr/>
            <p:nvPr/>
          </p:nvSpPr>
          <p:spPr>
            <a:xfrm>
              <a:off x="0" y="-1"/>
              <a:ext cx="7501022" cy="1571638"/>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30" name="Google Shape;330;p17"/>
            <p:cNvSpPr txBox="1"/>
            <p:nvPr/>
          </p:nvSpPr>
          <p:spPr>
            <a:xfrm>
              <a:off x="50482" y="4762"/>
              <a:ext cx="7400058" cy="1539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START TRANSACTION;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'Ram';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'Shyam';</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a:t>
              </a:r>
              <a:endParaRPr/>
            </a:p>
          </p:txBody>
        </p:sp>
      </p:grpSp>
      <p:pic>
        <p:nvPicPr>
          <p:cNvPr descr="Picture 2" id="331" name="Google Shape;331;p17"/>
          <p:cNvPicPr preferRelativeResize="0"/>
          <p:nvPr/>
        </p:nvPicPr>
        <p:blipFill rotWithShape="1">
          <a:blip r:embed="rId4">
            <a:alphaModFix/>
          </a:blip>
          <a:srcRect b="0" l="0" r="0" t="0"/>
          <a:stretch/>
        </p:blipFill>
        <p:spPr>
          <a:xfrm>
            <a:off x="1498600" y="1784350"/>
            <a:ext cx="2000250" cy="896938"/>
          </a:xfrm>
          <a:prstGeom prst="rect">
            <a:avLst/>
          </a:prstGeom>
          <a:noFill/>
          <a:ln>
            <a:noFill/>
          </a:ln>
        </p:spPr>
      </p:pic>
      <p:sp>
        <p:nvSpPr>
          <p:cNvPr descr="Flowchart: Magnetic Disk 13" id="332" name="Google Shape;332;p17"/>
          <p:cNvSpPr/>
          <p:nvPr/>
        </p:nvSpPr>
        <p:spPr>
          <a:xfrm>
            <a:off x="1284288" y="1141413"/>
            <a:ext cx="2357437" cy="17859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4" id="333" name="Google Shape;333;p17"/>
          <p:cNvPicPr preferRelativeResize="0"/>
          <p:nvPr/>
        </p:nvPicPr>
        <p:blipFill rotWithShape="1">
          <a:blip r:embed="rId5">
            <a:alphaModFix/>
          </a:blip>
          <a:srcRect b="0" l="0" r="0" t="0"/>
          <a:stretch/>
        </p:blipFill>
        <p:spPr>
          <a:xfrm>
            <a:off x="212725" y="5000625"/>
            <a:ext cx="457200" cy="822325"/>
          </a:xfrm>
          <a:prstGeom prst="rect">
            <a:avLst/>
          </a:prstGeom>
          <a:noFill/>
          <a:ln>
            <a:noFill/>
          </a:ln>
        </p:spPr>
      </p:pic>
      <p:sp>
        <p:nvSpPr>
          <p:cNvPr descr="TextBox 14" id="334" name="Google Shape;334;p17"/>
          <p:cNvSpPr txBox="1"/>
          <p:nvPr/>
        </p:nvSpPr>
        <p:spPr>
          <a:xfrm>
            <a:off x="187325" y="5786438"/>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2</a:t>
            </a:r>
            <a:endParaRPr/>
          </a:p>
        </p:txBody>
      </p:sp>
      <p:grpSp>
        <p:nvGrpSpPr>
          <p:cNvPr id="335" name="Google Shape;335;p17"/>
          <p:cNvGrpSpPr/>
          <p:nvPr/>
        </p:nvGrpSpPr>
        <p:grpSpPr>
          <a:xfrm>
            <a:off x="1212850" y="5214938"/>
            <a:ext cx="2643188" cy="642937"/>
            <a:chOff x="0" y="-1"/>
            <a:chExt cx="2643206" cy="642944"/>
          </a:xfrm>
        </p:grpSpPr>
        <p:sp>
          <p:nvSpPr>
            <p:cNvPr id="336" name="Google Shape;336;p17"/>
            <p:cNvSpPr/>
            <p:nvPr/>
          </p:nvSpPr>
          <p:spPr>
            <a:xfrm>
              <a:off x="0" y="-1"/>
              <a:ext cx="2643206" cy="64294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p:txBody>
        </p:sp>
        <p:sp>
          <p:nvSpPr>
            <p:cNvPr id="337" name="Google Shape;337;p17"/>
            <p:cNvSpPr txBox="1"/>
            <p:nvPr/>
          </p:nvSpPr>
          <p:spPr>
            <a:xfrm>
              <a:off x="50482" y="4762"/>
              <a:ext cx="2542242" cy="5740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select * from accounts;</a:t>
              </a:r>
              <a:endParaRPr/>
            </a:p>
          </p:txBody>
        </p:sp>
      </p:grpSp>
      <p:sp>
        <p:nvSpPr>
          <p:cNvPr descr="TextBox 18" id="338" name="Google Shape;338;p17"/>
          <p:cNvSpPr txBox="1"/>
          <p:nvPr/>
        </p:nvSpPr>
        <p:spPr>
          <a:xfrm>
            <a:off x="3830638" y="1498600"/>
            <a:ext cx="1801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Bank database</a:t>
            </a:r>
            <a:endParaRPr/>
          </a:p>
        </p:txBody>
      </p:sp>
      <p:sp>
        <p:nvSpPr>
          <p:cNvPr descr="TextBox 19" id="339" name="Google Shape;339;p17"/>
          <p:cNvSpPr txBox="1"/>
          <p:nvPr/>
        </p:nvSpPr>
        <p:spPr>
          <a:xfrm>
            <a:off x="4402138" y="5072063"/>
            <a:ext cx="4157662" cy="1208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C0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What will be the balance of Ram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and Shyam when User 2 executes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Select statement on accounts table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descr="Title 1" id="344" name="Google Shape;344;p1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345" name="Google Shape;345;p1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6" name="Google Shape;346;p1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47" name="Google Shape;347;p18"/>
          <p:cNvPicPr preferRelativeResize="0"/>
          <p:nvPr/>
        </p:nvPicPr>
        <p:blipFill rotWithShape="1">
          <a:blip r:embed="rId3">
            <a:alphaModFix/>
          </a:blip>
          <a:srcRect b="0" l="0" r="0" t="0"/>
          <a:stretch/>
        </p:blipFill>
        <p:spPr>
          <a:xfrm>
            <a:off x="204788" y="3201988"/>
            <a:ext cx="533400" cy="928687"/>
          </a:xfrm>
          <a:prstGeom prst="rect">
            <a:avLst/>
          </a:prstGeom>
          <a:noFill/>
          <a:ln>
            <a:noFill/>
          </a:ln>
        </p:spPr>
      </p:pic>
      <p:sp>
        <p:nvSpPr>
          <p:cNvPr descr="TextBox 9" id="348" name="Google Shape;348;p18"/>
          <p:cNvSpPr txBox="1"/>
          <p:nvPr/>
        </p:nvSpPr>
        <p:spPr>
          <a:xfrm>
            <a:off x="34925" y="4202113"/>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1</a:t>
            </a:r>
            <a:endParaRPr/>
          </a:p>
        </p:txBody>
      </p:sp>
      <p:grpSp>
        <p:nvGrpSpPr>
          <p:cNvPr id="349" name="Google Shape;349;p18"/>
          <p:cNvGrpSpPr/>
          <p:nvPr/>
        </p:nvGrpSpPr>
        <p:grpSpPr>
          <a:xfrm>
            <a:off x="927100" y="3141663"/>
            <a:ext cx="7859713" cy="1358900"/>
            <a:chOff x="-1" y="0"/>
            <a:chExt cx="7858182" cy="1357902"/>
          </a:xfrm>
        </p:grpSpPr>
        <p:sp>
          <p:nvSpPr>
            <p:cNvPr id="350" name="Google Shape;350;p18"/>
            <p:cNvSpPr/>
            <p:nvPr/>
          </p:nvSpPr>
          <p:spPr>
            <a:xfrm>
              <a:off x="-1" y="0"/>
              <a:ext cx="7858182" cy="135790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51" name="Google Shape;351;p18"/>
            <p:cNvSpPr txBox="1"/>
            <p:nvPr/>
          </p:nvSpPr>
          <p:spPr>
            <a:xfrm>
              <a:off x="50482" y="4762"/>
              <a:ext cx="7757216" cy="12979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START TRANSACTION;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'Ram';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'Shyam';</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a:t>
              </a:r>
              <a:endParaRPr/>
            </a:p>
          </p:txBody>
        </p:sp>
      </p:grpSp>
      <p:pic>
        <p:nvPicPr>
          <p:cNvPr descr="Picture 2" id="352" name="Google Shape;352;p18"/>
          <p:cNvPicPr preferRelativeResize="0"/>
          <p:nvPr/>
        </p:nvPicPr>
        <p:blipFill rotWithShape="1">
          <a:blip r:embed="rId4">
            <a:alphaModFix/>
          </a:blip>
          <a:srcRect b="0" l="0" r="0" t="0"/>
          <a:stretch/>
        </p:blipFill>
        <p:spPr>
          <a:xfrm>
            <a:off x="1498600" y="1784350"/>
            <a:ext cx="2000250" cy="896938"/>
          </a:xfrm>
          <a:prstGeom prst="rect">
            <a:avLst/>
          </a:prstGeom>
          <a:noFill/>
          <a:ln>
            <a:noFill/>
          </a:ln>
        </p:spPr>
      </p:pic>
      <p:sp>
        <p:nvSpPr>
          <p:cNvPr descr="Flowchart: Magnetic Disk 13" id="353" name="Google Shape;353;p18"/>
          <p:cNvSpPr/>
          <p:nvPr/>
        </p:nvSpPr>
        <p:spPr>
          <a:xfrm>
            <a:off x="1284288" y="1141413"/>
            <a:ext cx="2357437" cy="17859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4" id="354" name="Google Shape;354;p18"/>
          <p:cNvPicPr preferRelativeResize="0"/>
          <p:nvPr/>
        </p:nvPicPr>
        <p:blipFill rotWithShape="1">
          <a:blip r:embed="rId5">
            <a:alphaModFix/>
          </a:blip>
          <a:srcRect b="0" l="0" r="0" t="0"/>
          <a:stretch/>
        </p:blipFill>
        <p:spPr>
          <a:xfrm>
            <a:off x="212725" y="5000625"/>
            <a:ext cx="457200" cy="822325"/>
          </a:xfrm>
          <a:prstGeom prst="rect">
            <a:avLst/>
          </a:prstGeom>
          <a:noFill/>
          <a:ln>
            <a:noFill/>
          </a:ln>
        </p:spPr>
      </p:pic>
      <p:sp>
        <p:nvSpPr>
          <p:cNvPr descr="TextBox 14" id="355" name="Google Shape;355;p18"/>
          <p:cNvSpPr txBox="1"/>
          <p:nvPr/>
        </p:nvSpPr>
        <p:spPr>
          <a:xfrm>
            <a:off x="187325" y="5786438"/>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2</a:t>
            </a:r>
            <a:endParaRPr/>
          </a:p>
        </p:txBody>
      </p:sp>
      <p:grpSp>
        <p:nvGrpSpPr>
          <p:cNvPr id="356" name="Google Shape;356;p18"/>
          <p:cNvGrpSpPr/>
          <p:nvPr/>
        </p:nvGrpSpPr>
        <p:grpSpPr>
          <a:xfrm>
            <a:off x="1212850" y="5214938"/>
            <a:ext cx="2643188" cy="642937"/>
            <a:chOff x="0" y="-1"/>
            <a:chExt cx="2643206" cy="642944"/>
          </a:xfrm>
        </p:grpSpPr>
        <p:sp>
          <p:nvSpPr>
            <p:cNvPr id="357" name="Google Shape;357;p18"/>
            <p:cNvSpPr/>
            <p:nvPr/>
          </p:nvSpPr>
          <p:spPr>
            <a:xfrm>
              <a:off x="0" y="-1"/>
              <a:ext cx="2643206" cy="64294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p:txBody>
        </p:sp>
        <p:sp>
          <p:nvSpPr>
            <p:cNvPr id="358" name="Google Shape;358;p18"/>
            <p:cNvSpPr txBox="1"/>
            <p:nvPr/>
          </p:nvSpPr>
          <p:spPr>
            <a:xfrm>
              <a:off x="50482" y="4762"/>
              <a:ext cx="2542242" cy="5740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select * from accounts;</a:t>
              </a:r>
              <a:endParaRPr/>
            </a:p>
          </p:txBody>
        </p:sp>
      </p:grpSp>
      <p:sp>
        <p:nvSpPr>
          <p:cNvPr descr="TextBox 18" id="359" name="Google Shape;359;p18"/>
          <p:cNvSpPr txBox="1"/>
          <p:nvPr/>
        </p:nvSpPr>
        <p:spPr>
          <a:xfrm>
            <a:off x="3830638" y="1498600"/>
            <a:ext cx="1801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Bank database</a:t>
            </a:r>
            <a:endParaRPr/>
          </a:p>
        </p:txBody>
      </p:sp>
      <p:pic>
        <p:nvPicPr>
          <p:cNvPr descr="Picture 3" id="360" name="Google Shape;360;p18"/>
          <p:cNvPicPr preferRelativeResize="0"/>
          <p:nvPr/>
        </p:nvPicPr>
        <p:blipFill rotWithShape="1">
          <a:blip r:embed="rId6">
            <a:alphaModFix/>
          </a:blip>
          <a:srcRect b="0" l="0" r="0" t="0"/>
          <a:stretch/>
        </p:blipFill>
        <p:spPr>
          <a:xfrm>
            <a:off x="4198938" y="4746625"/>
            <a:ext cx="3508375" cy="1571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descr="Title 1" id="365" name="Google Shape;365;p1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366" name="Google Shape;366;p1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7" name="Google Shape;367;p1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68" name="Google Shape;368;p19"/>
          <p:cNvPicPr preferRelativeResize="0"/>
          <p:nvPr/>
        </p:nvPicPr>
        <p:blipFill rotWithShape="1">
          <a:blip r:embed="rId3">
            <a:alphaModFix/>
          </a:blip>
          <a:srcRect b="0" l="0" r="0" t="0"/>
          <a:stretch/>
        </p:blipFill>
        <p:spPr>
          <a:xfrm>
            <a:off x="204788" y="3201988"/>
            <a:ext cx="533400" cy="928687"/>
          </a:xfrm>
          <a:prstGeom prst="rect">
            <a:avLst/>
          </a:prstGeom>
          <a:noFill/>
          <a:ln>
            <a:noFill/>
          </a:ln>
        </p:spPr>
      </p:pic>
      <p:sp>
        <p:nvSpPr>
          <p:cNvPr descr="TextBox 9" id="369" name="Google Shape;369;p19"/>
          <p:cNvSpPr txBox="1"/>
          <p:nvPr/>
        </p:nvSpPr>
        <p:spPr>
          <a:xfrm>
            <a:off x="34925" y="4143375"/>
            <a:ext cx="8509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1</a:t>
            </a:r>
            <a:endParaRPr/>
          </a:p>
        </p:txBody>
      </p:sp>
      <p:grpSp>
        <p:nvGrpSpPr>
          <p:cNvPr id="370" name="Google Shape;370;p19"/>
          <p:cNvGrpSpPr/>
          <p:nvPr/>
        </p:nvGrpSpPr>
        <p:grpSpPr>
          <a:xfrm>
            <a:off x="927100" y="3008313"/>
            <a:ext cx="7859713" cy="1319212"/>
            <a:chOff x="-1" y="-1"/>
            <a:chExt cx="7858182" cy="1318556"/>
          </a:xfrm>
        </p:grpSpPr>
        <p:sp>
          <p:nvSpPr>
            <p:cNvPr id="371" name="Google Shape;371;p19"/>
            <p:cNvSpPr/>
            <p:nvPr/>
          </p:nvSpPr>
          <p:spPr>
            <a:xfrm>
              <a:off x="-1" y="-1"/>
              <a:ext cx="7858182" cy="131855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72" name="Google Shape;372;p19"/>
            <p:cNvSpPr txBox="1"/>
            <p:nvPr/>
          </p:nvSpPr>
          <p:spPr>
            <a:xfrm>
              <a:off x="50482" y="4762"/>
              <a:ext cx="7757216" cy="12979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START TRANSACTION;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'Ram';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'Shyam';</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a:t>
              </a:r>
              <a:endParaRPr/>
            </a:p>
          </p:txBody>
        </p:sp>
      </p:grpSp>
      <p:pic>
        <p:nvPicPr>
          <p:cNvPr descr="Picture 2" id="373" name="Google Shape;373;p19"/>
          <p:cNvPicPr preferRelativeResize="0"/>
          <p:nvPr/>
        </p:nvPicPr>
        <p:blipFill rotWithShape="1">
          <a:blip r:embed="rId4">
            <a:alphaModFix/>
          </a:blip>
          <a:srcRect b="0" l="0" r="0" t="0"/>
          <a:stretch/>
        </p:blipFill>
        <p:spPr>
          <a:xfrm>
            <a:off x="1498600" y="1784350"/>
            <a:ext cx="2000250" cy="896938"/>
          </a:xfrm>
          <a:prstGeom prst="rect">
            <a:avLst/>
          </a:prstGeom>
          <a:noFill/>
          <a:ln>
            <a:noFill/>
          </a:ln>
        </p:spPr>
      </p:pic>
      <p:sp>
        <p:nvSpPr>
          <p:cNvPr descr="Flowchart: Magnetic Disk 13" id="374" name="Google Shape;374;p19"/>
          <p:cNvSpPr/>
          <p:nvPr/>
        </p:nvSpPr>
        <p:spPr>
          <a:xfrm>
            <a:off x="1284288" y="1141413"/>
            <a:ext cx="2357437" cy="17859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4" id="375" name="Google Shape;375;p19"/>
          <p:cNvPicPr preferRelativeResize="0"/>
          <p:nvPr/>
        </p:nvPicPr>
        <p:blipFill rotWithShape="1">
          <a:blip r:embed="rId5">
            <a:alphaModFix/>
          </a:blip>
          <a:srcRect b="0" l="0" r="0" t="0"/>
          <a:stretch/>
        </p:blipFill>
        <p:spPr>
          <a:xfrm>
            <a:off x="255588" y="5000625"/>
            <a:ext cx="457200" cy="822325"/>
          </a:xfrm>
          <a:prstGeom prst="rect">
            <a:avLst/>
          </a:prstGeom>
          <a:noFill/>
          <a:ln>
            <a:noFill/>
          </a:ln>
        </p:spPr>
      </p:pic>
      <p:sp>
        <p:nvSpPr>
          <p:cNvPr descr="TextBox 14" id="376" name="Google Shape;376;p19"/>
          <p:cNvSpPr txBox="1"/>
          <p:nvPr/>
        </p:nvSpPr>
        <p:spPr>
          <a:xfrm>
            <a:off x="187325" y="5786438"/>
            <a:ext cx="8509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 2</a:t>
            </a:r>
            <a:endParaRPr/>
          </a:p>
        </p:txBody>
      </p:sp>
      <p:grpSp>
        <p:nvGrpSpPr>
          <p:cNvPr id="377" name="Google Shape;377;p19"/>
          <p:cNvGrpSpPr/>
          <p:nvPr/>
        </p:nvGrpSpPr>
        <p:grpSpPr>
          <a:xfrm>
            <a:off x="1133475" y="5143500"/>
            <a:ext cx="2643188" cy="642938"/>
            <a:chOff x="0" y="-1"/>
            <a:chExt cx="2643206" cy="642944"/>
          </a:xfrm>
        </p:grpSpPr>
        <p:sp>
          <p:nvSpPr>
            <p:cNvPr id="378" name="Google Shape;378;p19"/>
            <p:cNvSpPr/>
            <p:nvPr/>
          </p:nvSpPr>
          <p:spPr>
            <a:xfrm>
              <a:off x="0" y="-1"/>
              <a:ext cx="2643206" cy="64294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p:txBody>
        </p:sp>
        <p:sp>
          <p:nvSpPr>
            <p:cNvPr id="379" name="Google Shape;379;p19"/>
            <p:cNvSpPr txBox="1"/>
            <p:nvPr/>
          </p:nvSpPr>
          <p:spPr>
            <a:xfrm>
              <a:off x="50482" y="4762"/>
              <a:ext cx="2542242" cy="5740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select * from accounts;</a:t>
              </a:r>
              <a:endParaRPr/>
            </a:p>
          </p:txBody>
        </p:sp>
      </p:grpSp>
      <p:sp>
        <p:nvSpPr>
          <p:cNvPr descr="TextBox 18" id="380" name="Google Shape;380;p19"/>
          <p:cNvSpPr txBox="1"/>
          <p:nvPr/>
        </p:nvSpPr>
        <p:spPr>
          <a:xfrm>
            <a:off x="3830638" y="1498600"/>
            <a:ext cx="1801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Bank database</a:t>
            </a:r>
            <a:endParaRPr/>
          </a:p>
        </p:txBody>
      </p:sp>
      <p:sp>
        <p:nvSpPr>
          <p:cNvPr descr="TextBox 19" id="381" name="Google Shape;381;p19"/>
          <p:cNvSpPr txBox="1"/>
          <p:nvPr/>
        </p:nvSpPr>
        <p:spPr>
          <a:xfrm>
            <a:off x="4092575" y="4498975"/>
            <a:ext cx="4778375" cy="1768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C0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What will be the balance of Ram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and Shyam when User2 executes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Select statement on accounts table after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User1 has executed the set statements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mentioned above for him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descr="Title 1" id="386" name="Google Shape;386;p2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Demonstration</a:t>
            </a:r>
            <a:endParaRPr/>
          </a:p>
        </p:txBody>
      </p:sp>
      <p:sp>
        <p:nvSpPr>
          <p:cNvPr descr="Date Placeholder 3" id="387" name="Google Shape;387;p2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8" name="Google Shape;388;p2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89" name="Google Shape;389;p20"/>
          <p:cNvPicPr preferRelativeResize="0"/>
          <p:nvPr/>
        </p:nvPicPr>
        <p:blipFill rotWithShape="1">
          <a:blip r:embed="rId3">
            <a:alphaModFix/>
          </a:blip>
          <a:srcRect b="0" l="0" r="0" t="0"/>
          <a:stretch/>
        </p:blipFill>
        <p:spPr>
          <a:xfrm>
            <a:off x="204788" y="3201988"/>
            <a:ext cx="533400" cy="928687"/>
          </a:xfrm>
          <a:prstGeom prst="rect">
            <a:avLst/>
          </a:prstGeom>
          <a:noFill/>
          <a:ln>
            <a:noFill/>
          </a:ln>
        </p:spPr>
      </p:pic>
      <p:sp>
        <p:nvSpPr>
          <p:cNvPr descr="TextBox 9" id="390" name="Google Shape;390;p20"/>
          <p:cNvSpPr txBox="1"/>
          <p:nvPr/>
        </p:nvSpPr>
        <p:spPr>
          <a:xfrm>
            <a:off x="34925" y="4202113"/>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grpSp>
        <p:nvGrpSpPr>
          <p:cNvPr id="391" name="Google Shape;391;p20"/>
          <p:cNvGrpSpPr/>
          <p:nvPr/>
        </p:nvGrpSpPr>
        <p:grpSpPr>
          <a:xfrm>
            <a:off x="927100" y="3141663"/>
            <a:ext cx="7931150" cy="1358900"/>
            <a:chOff x="-1" y="0"/>
            <a:chExt cx="7929620" cy="1357322"/>
          </a:xfrm>
        </p:grpSpPr>
        <p:sp>
          <p:nvSpPr>
            <p:cNvPr id="392" name="Google Shape;392;p20"/>
            <p:cNvSpPr/>
            <p:nvPr/>
          </p:nvSpPr>
          <p:spPr>
            <a:xfrm>
              <a:off x="-1" y="0"/>
              <a:ext cx="7929620" cy="135732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393" name="Google Shape;393;p20"/>
            <p:cNvSpPr txBox="1"/>
            <p:nvPr/>
          </p:nvSpPr>
          <p:spPr>
            <a:xfrm>
              <a:off x="50482" y="4762"/>
              <a:ext cx="7828654" cy="12979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START TRANSACTION;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'Ram';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 accounts SET balance = balance + 100 WHERE owner = 'Shyam';</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a:t>
              </a:r>
              <a:endParaRPr/>
            </a:p>
          </p:txBody>
        </p:sp>
      </p:grpSp>
      <p:pic>
        <p:nvPicPr>
          <p:cNvPr descr="Picture 2" id="394" name="Google Shape;394;p20"/>
          <p:cNvPicPr preferRelativeResize="0"/>
          <p:nvPr/>
        </p:nvPicPr>
        <p:blipFill rotWithShape="1">
          <a:blip r:embed="rId4">
            <a:alphaModFix/>
          </a:blip>
          <a:srcRect b="0" l="0" r="0" t="0"/>
          <a:stretch/>
        </p:blipFill>
        <p:spPr>
          <a:xfrm>
            <a:off x="1600200" y="1755775"/>
            <a:ext cx="2000250" cy="1028700"/>
          </a:xfrm>
          <a:prstGeom prst="rect">
            <a:avLst/>
          </a:prstGeom>
          <a:noFill/>
          <a:ln>
            <a:noFill/>
          </a:ln>
        </p:spPr>
      </p:pic>
      <p:sp>
        <p:nvSpPr>
          <p:cNvPr descr="Flowchart: Magnetic Disk 13" id="395" name="Google Shape;395;p20"/>
          <p:cNvSpPr/>
          <p:nvPr/>
        </p:nvSpPr>
        <p:spPr>
          <a:xfrm>
            <a:off x="1284288" y="1141413"/>
            <a:ext cx="2357437" cy="17859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4" id="396" name="Google Shape;396;p20"/>
          <p:cNvPicPr preferRelativeResize="0"/>
          <p:nvPr/>
        </p:nvPicPr>
        <p:blipFill rotWithShape="1">
          <a:blip r:embed="rId5">
            <a:alphaModFix/>
          </a:blip>
          <a:srcRect b="0" l="0" r="0" t="0"/>
          <a:stretch/>
        </p:blipFill>
        <p:spPr>
          <a:xfrm>
            <a:off x="212725" y="5000625"/>
            <a:ext cx="457200" cy="822325"/>
          </a:xfrm>
          <a:prstGeom prst="rect">
            <a:avLst/>
          </a:prstGeom>
          <a:noFill/>
          <a:ln>
            <a:noFill/>
          </a:ln>
        </p:spPr>
      </p:pic>
      <p:sp>
        <p:nvSpPr>
          <p:cNvPr descr="TextBox 14" id="397" name="Google Shape;397;p20"/>
          <p:cNvSpPr txBox="1"/>
          <p:nvPr/>
        </p:nvSpPr>
        <p:spPr>
          <a:xfrm>
            <a:off x="187325" y="5786438"/>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grpSp>
        <p:nvGrpSpPr>
          <p:cNvPr id="398" name="Google Shape;398;p20"/>
          <p:cNvGrpSpPr/>
          <p:nvPr/>
        </p:nvGrpSpPr>
        <p:grpSpPr>
          <a:xfrm>
            <a:off x="825500" y="5041900"/>
            <a:ext cx="2643188" cy="642938"/>
            <a:chOff x="0" y="-1"/>
            <a:chExt cx="2643206" cy="642944"/>
          </a:xfrm>
        </p:grpSpPr>
        <p:sp>
          <p:nvSpPr>
            <p:cNvPr id="399" name="Google Shape;399;p20"/>
            <p:cNvSpPr/>
            <p:nvPr/>
          </p:nvSpPr>
          <p:spPr>
            <a:xfrm>
              <a:off x="0" y="-1"/>
              <a:ext cx="2643206" cy="64294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p:txBody>
        </p:sp>
        <p:sp>
          <p:nvSpPr>
            <p:cNvPr id="400" name="Google Shape;400;p20"/>
            <p:cNvSpPr txBox="1"/>
            <p:nvPr/>
          </p:nvSpPr>
          <p:spPr>
            <a:xfrm>
              <a:off x="50482" y="4762"/>
              <a:ext cx="2542242" cy="5740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Use bank;</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select * from accounts;</a:t>
              </a:r>
              <a:endParaRPr/>
            </a:p>
          </p:txBody>
        </p:sp>
      </p:grpSp>
      <p:sp>
        <p:nvSpPr>
          <p:cNvPr descr="TextBox 18" id="401" name="Google Shape;401;p20"/>
          <p:cNvSpPr txBox="1"/>
          <p:nvPr/>
        </p:nvSpPr>
        <p:spPr>
          <a:xfrm>
            <a:off x="3705225" y="1689100"/>
            <a:ext cx="1800225"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Bank database</a:t>
            </a:r>
            <a:endParaRPr/>
          </a:p>
        </p:txBody>
      </p:sp>
      <p:pic>
        <p:nvPicPr>
          <p:cNvPr descr="Picture 2" id="402" name="Google Shape;402;p20"/>
          <p:cNvPicPr preferRelativeResize="0"/>
          <p:nvPr/>
        </p:nvPicPr>
        <p:blipFill rotWithShape="1">
          <a:blip r:embed="rId4">
            <a:alphaModFix/>
          </a:blip>
          <a:srcRect b="0" l="0" r="0" t="0"/>
          <a:stretch/>
        </p:blipFill>
        <p:spPr>
          <a:xfrm>
            <a:off x="3624263" y="4657725"/>
            <a:ext cx="2233612" cy="1452563"/>
          </a:xfrm>
          <a:prstGeom prst="rect">
            <a:avLst/>
          </a:prstGeom>
          <a:noFill/>
          <a:ln>
            <a:noFill/>
          </a:ln>
        </p:spPr>
      </p:pic>
      <p:sp>
        <p:nvSpPr>
          <p:cNvPr descr="TextBox 17" id="403" name="Google Shape;403;p20"/>
          <p:cNvSpPr txBox="1"/>
          <p:nvPr/>
        </p:nvSpPr>
        <p:spPr>
          <a:xfrm>
            <a:off x="6064250" y="4794250"/>
            <a:ext cx="3189288" cy="1387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Changes done by User1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Will not be seen by User2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User1 has not completed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the transaction i.e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COMMIT statement</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has not been executed by User1</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descr="Title 1" id="408" name="Google Shape;408;p2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a:t>
            </a:r>
            <a:endParaRPr/>
          </a:p>
        </p:txBody>
      </p:sp>
      <p:sp>
        <p:nvSpPr>
          <p:cNvPr descr="Content Placeholder 2" id="409" name="Google Shape;409;p2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5138" lvl="0" marL="465138" rtl="0" algn="l">
              <a:spcBef>
                <a:spcPts val="0"/>
              </a:spcBef>
              <a:spcAft>
                <a:spcPts val="0"/>
              </a:spcAft>
              <a:buSzPts val="1500"/>
              <a:buFont typeface="Noto Sans Symbols"/>
              <a:buNone/>
            </a:pPr>
            <a:r>
              <a:rPr lang="en-US" sz="1500"/>
              <a:t>Example: </a:t>
            </a:r>
            <a:r>
              <a:rPr lang="en-US" sz="1500">
                <a:solidFill>
                  <a:srgbClr val="C00000"/>
                </a:solidFill>
              </a:rPr>
              <a:t>Transaction: </a:t>
            </a:r>
            <a:r>
              <a:rPr lang="en-US" sz="1500"/>
              <a:t>Transfer Rs. 100 from Ram account to Shyam account.</a:t>
            </a:r>
            <a:endParaRPr/>
          </a:p>
          <a:p>
            <a:pPr indent="-465138" lvl="0" marL="465138" rtl="0" algn="l">
              <a:spcBef>
                <a:spcPts val="0"/>
              </a:spcBef>
              <a:spcAft>
                <a:spcPts val="0"/>
              </a:spcAft>
              <a:buSzPts val="1500"/>
              <a:buFont typeface="Noto Sans Symbols"/>
              <a:buNone/>
            </a:pPr>
            <a:r>
              <a:t/>
            </a:r>
            <a:endParaRPr sz="1500"/>
          </a:p>
          <a:p>
            <a:pPr indent="-465138" lvl="0" marL="465138" rtl="0" algn="l">
              <a:spcBef>
                <a:spcPts val="0"/>
              </a:spcBef>
              <a:spcAft>
                <a:spcPts val="0"/>
              </a:spcAft>
              <a:buSzPts val="1500"/>
              <a:buFont typeface="Noto Sans Symbols"/>
              <a:buNone/>
            </a:pPr>
            <a:r>
              <a:rPr lang="en-US" sz="1500"/>
              <a:t>UPDATE accounts SET balance = balance - 100 WHERE owner = '</a:t>
            </a:r>
            <a:r>
              <a:rPr lang="en-US" sz="1500">
                <a:solidFill>
                  <a:srgbClr val="0000FF"/>
                </a:solidFill>
              </a:rPr>
              <a:t>Ram</a:t>
            </a:r>
            <a:r>
              <a:rPr lang="en-US" sz="1500"/>
              <a:t>';</a:t>
            </a:r>
            <a:endParaRPr/>
          </a:p>
          <a:p>
            <a:pPr indent="-465138" lvl="0" marL="465138" rtl="0" algn="l">
              <a:spcBef>
                <a:spcPts val="0"/>
              </a:spcBef>
              <a:spcAft>
                <a:spcPts val="0"/>
              </a:spcAft>
              <a:buSzPts val="1500"/>
              <a:buFont typeface="Noto Sans Symbols"/>
              <a:buNone/>
            </a:pPr>
            <a:r>
              <a:rPr lang="en-US" sz="1500"/>
              <a:t>UPDATE accounts SET balance = balance + 100 WHERE owner = '</a:t>
            </a:r>
            <a:r>
              <a:rPr lang="en-US" sz="1500">
                <a:solidFill>
                  <a:srgbClr val="FF00FF"/>
                </a:solidFill>
              </a:rPr>
              <a:t>Shyam</a:t>
            </a:r>
            <a:r>
              <a:rPr lang="en-US" sz="1500"/>
              <a:t>';</a:t>
            </a:r>
            <a:endParaRPr/>
          </a:p>
          <a:p>
            <a:pPr indent="-369888" lvl="0" marL="465138" rtl="0" algn="l">
              <a:spcBef>
                <a:spcPts val="700"/>
              </a:spcBef>
              <a:spcAft>
                <a:spcPts val="0"/>
              </a:spcAft>
              <a:buSzPts val="1500"/>
              <a:buFont typeface="Verdana"/>
              <a:buNone/>
            </a:pPr>
            <a:r>
              <a:t/>
            </a:r>
            <a:endParaRPr sz="1500"/>
          </a:p>
          <a:p>
            <a:pPr indent="-465138" lvl="0" marL="465138" rtl="0" algn="l">
              <a:spcBef>
                <a:spcPts val="300"/>
              </a:spcBef>
              <a:spcAft>
                <a:spcPts val="0"/>
              </a:spcAft>
              <a:buSzPts val="1300"/>
              <a:buFont typeface="Noto Sans Symbols"/>
              <a:buNone/>
            </a:pPr>
            <a:r>
              <a:rPr lang="en-US" sz="1300"/>
              <a:t>Above two Update statements  must run, or neither must run. You cannot  have the </a:t>
            </a:r>
            <a:endParaRPr/>
          </a:p>
          <a:p>
            <a:pPr indent="-465138" lvl="0" marL="465138" rtl="0" algn="l">
              <a:spcBef>
                <a:spcPts val="300"/>
              </a:spcBef>
              <a:spcAft>
                <a:spcPts val="0"/>
              </a:spcAft>
              <a:buSzPts val="1300"/>
              <a:buFont typeface="Noto Sans Symbols"/>
              <a:buNone/>
            </a:pPr>
            <a:r>
              <a:rPr lang="en-US" sz="1300"/>
              <a:t>money being transferred out of one person's account, and then  'disappearing' if for </a:t>
            </a:r>
            <a:endParaRPr/>
          </a:p>
          <a:p>
            <a:pPr indent="-465138" lvl="0" marL="465138" rtl="0" algn="l">
              <a:spcBef>
                <a:spcPts val="300"/>
              </a:spcBef>
              <a:spcAft>
                <a:spcPts val="0"/>
              </a:spcAft>
              <a:buSzPts val="1300"/>
              <a:buFont typeface="Noto Sans Symbols"/>
              <a:buNone/>
            </a:pPr>
            <a:r>
              <a:rPr lang="en-US" sz="1300"/>
              <a:t>some reason the second query fails. Both these queries form one </a:t>
            </a:r>
            <a:r>
              <a:rPr i="1" lang="en-US" sz="1300"/>
              <a:t>transaction</a:t>
            </a:r>
            <a:r>
              <a:rPr lang="en-US" sz="1300"/>
              <a:t>. </a:t>
            </a:r>
            <a:endParaRPr/>
          </a:p>
          <a:p>
            <a:pPr indent="-465138" lvl="0" marL="465138" rtl="0" algn="l">
              <a:spcBef>
                <a:spcPts val="700"/>
              </a:spcBef>
              <a:spcAft>
                <a:spcPts val="0"/>
              </a:spcAft>
              <a:buSzPts val="1500"/>
              <a:buFont typeface="Noto Sans Symbols"/>
              <a:buNone/>
            </a:pPr>
            <a:r>
              <a:t/>
            </a:r>
            <a:endParaRPr sz="1500"/>
          </a:p>
          <a:p>
            <a:pPr indent="-465138" lvl="0" marL="465138" rtl="0" algn="l">
              <a:spcBef>
                <a:spcPts val="400"/>
              </a:spcBef>
              <a:spcAft>
                <a:spcPts val="0"/>
              </a:spcAft>
              <a:buSzPts val="1700"/>
              <a:buFont typeface="Noto Sans Symbols"/>
              <a:buNone/>
            </a:pPr>
            <a:r>
              <a:rPr lang="en-US" sz="1700">
                <a:solidFill>
                  <a:srgbClr val="FF6600"/>
                </a:solidFill>
              </a:rPr>
              <a:t>A transaction is simply a number of individual queries that are </a:t>
            </a:r>
            <a:endParaRPr/>
          </a:p>
          <a:p>
            <a:pPr indent="-465138" lvl="0" marL="465138" rtl="0" algn="l">
              <a:spcBef>
                <a:spcPts val="400"/>
              </a:spcBef>
              <a:spcAft>
                <a:spcPts val="0"/>
              </a:spcAft>
              <a:buSzPts val="1700"/>
              <a:buFont typeface="Noto Sans Symbols"/>
              <a:buNone/>
            </a:pPr>
            <a:r>
              <a:rPr lang="en-US" sz="1700">
                <a:solidFill>
                  <a:srgbClr val="FF6600"/>
                </a:solidFill>
              </a:rPr>
              <a:t>grouped together in between </a:t>
            </a:r>
            <a:r>
              <a:rPr b="1" lang="en-US" sz="1700">
                <a:solidFill>
                  <a:srgbClr val="FF6600"/>
                </a:solidFill>
              </a:rPr>
              <a:t>START TRANSACTION</a:t>
            </a:r>
            <a:r>
              <a:rPr lang="en-US" sz="1700">
                <a:solidFill>
                  <a:srgbClr val="FF6600"/>
                </a:solidFill>
              </a:rPr>
              <a:t> and </a:t>
            </a:r>
            <a:endParaRPr/>
          </a:p>
          <a:p>
            <a:pPr indent="-465138" lvl="0" marL="465138" rtl="0" algn="l">
              <a:spcBef>
                <a:spcPts val="400"/>
              </a:spcBef>
              <a:spcAft>
                <a:spcPts val="0"/>
              </a:spcAft>
              <a:buSzPts val="1700"/>
              <a:buFont typeface="Noto Sans Symbols"/>
              <a:buNone/>
            </a:pPr>
            <a:r>
              <a:rPr b="1" lang="en-US" sz="1700">
                <a:solidFill>
                  <a:srgbClr val="FF6600"/>
                </a:solidFill>
              </a:rPr>
              <a:t>COMMIT  </a:t>
            </a:r>
            <a:r>
              <a:rPr lang="en-US" sz="1700">
                <a:solidFill>
                  <a:srgbClr val="FF6600"/>
                </a:solidFill>
              </a:rPr>
              <a:t>statement.</a:t>
            </a:r>
            <a:endParaRPr/>
          </a:p>
          <a:p>
            <a:pPr indent="-465138" lvl="0" marL="465138" rtl="0" algn="l">
              <a:spcBef>
                <a:spcPts val="700"/>
              </a:spcBef>
              <a:spcAft>
                <a:spcPts val="0"/>
              </a:spcAft>
              <a:buSzPts val="1500"/>
              <a:buFont typeface="Noto Sans Symbols"/>
              <a:buNone/>
            </a:pPr>
            <a:r>
              <a:t/>
            </a:r>
            <a:endParaRPr b="1" sz="1500"/>
          </a:p>
          <a:p>
            <a:pPr indent="-465138" lvl="0" marL="465138" rtl="0" algn="l">
              <a:spcBef>
                <a:spcPts val="300"/>
              </a:spcBef>
              <a:spcAft>
                <a:spcPts val="0"/>
              </a:spcAft>
              <a:buSzPts val="1500"/>
              <a:buFont typeface="Noto Sans Symbols"/>
              <a:buNone/>
            </a:pPr>
            <a:r>
              <a:rPr b="1" lang="en-US" sz="1500"/>
              <a:t>START TRANSACTION</a:t>
            </a:r>
            <a:endParaRPr/>
          </a:p>
          <a:p>
            <a:pPr indent="-465138" lvl="0" marL="465138" rtl="0" algn="l">
              <a:spcBef>
                <a:spcPts val="0"/>
              </a:spcBef>
              <a:spcAft>
                <a:spcPts val="0"/>
              </a:spcAft>
              <a:buSzPts val="1500"/>
              <a:buFont typeface="Noto Sans Symbols"/>
              <a:buNone/>
            </a:pPr>
            <a:r>
              <a:rPr lang="en-US" sz="1500"/>
              <a:t>UPDATE accounts SET balance = balance - 100 WHERE owner = '</a:t>
            </a:r>
            <a:r>
              <a:rPr lang="en-US" sz="1500">
                <a:solidFill>
                  <a:srgbClr val="0000FF"/>
                </a:solidFill>
              </a:rPr>
              <a:t>Ram</a:t>
            </a:r>
            <a:r>
              <a:rPr lang="en-US" sz="1500"/>
              <a:t>';</a:t>
            </a:r>
            <a:endParaRPr/>
          </a:p>
          <a:p>
            <a:pPr indent="-465138" lvl="0" marL="465138" rtl="0" algn="l">
              <a:spcBef>
                <a:spcPts val="0"/>
              </a:spcBef>
              <a:spcAft>
                <a:spcPts val="0"/>
              </a:spcAft>
              <a:buSzPts val="1500"/>
              <a:buFont typeface="Noto Sans Symbols"/>
              <a:buNone/>
            </a:pPr>
            <a:r>
              <a:rPr lang="en-US" sz="1500"/>
              <a:t>UPDATE accounts SET balance = balance + 100 WHERE owner = '</a:t>
            </a:r>
            <a:r>
              <a:rPr lang="en-US" sz="1500">
                <a:solidFill>
                  <a:srgbClr val="FF00FF"/>
                </a:solidFill>
              </a:rPr>
              <a:t>Shyam</a:t>
            </a:r>
            <a:r>
              <a:rPr lang="en-US" sz="1500"/>
              <a:t>';</a:t>
            </a:r>
            <a:endParaRPr/>
          </a:p>
          <a:p>
            <a:pPr indent="-465138" lvl="0" marL="465138" rtl="0" algn="l">
              <a:spcBef>
                <a:spcPts val="300"/>
              </a:spcBef>
              <a:spcAft>
                <a:spcPts val="0"/>
              </a:spcAft>
              <a:buSzPts val="1500"/>
              <a:buFont typeface="Noto Sans Symbols"/>
              <a:buNone/>
            </a:pPr>
            <a:r>
              <a:rPr b="1" lang="en-US" sz="1500"/>
              <a:t>COMMIT</a:t>
            </a:r>
            <a:endParaRPr/>
          </a:p>
        </p:txBody>
      </p:sp>
      <p:sp>
        <p:nvSpPr>
          <p:cNvPr descr="Date Placeholder 3" id="410" name="Google Shape;410;p2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11" name="Google Shape;411;p2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descr="Title 1" id="416" name="Google Shape;416;p2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 Basic Definition</a:t>
            </a:r>
            <a:endParaRPr/>
          </a:p>
        </p:txBody>
      </p:sp>
      <p:sp>
        <p:nvSpPr>
          <p:cNvPr descr="Content Placeholder 2" id="417" name="Google Shape;417;p2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77825" lvl="0" marL="377825" rtl="0" algn="l">
              <a:spcBef>
                <a:spcPts val="0"/>
              </a:spcBef>
              <a:spcAft>
                <a:spcPts val="0"/>
              </a:spcAft>
              <a:buSzPts val="2000"/>
              <a:buFont typeface="Verdana"/>
              <a:buChar char="□"/>
            </a:pPr>
            <a:r>
              <a:rPr lang="en-US" sz="2000"/>
              <a:t>A </a:t>
            </a:r>
            <a:r>
              <a:rPr b="1" lang="en-US" sz="2000" u="sng"/>
              <a:t>transaction (“TXN”) </a:t>
            </a:r>
            <a:r>
              <a:rPr lang="en-US" sz="2000"/>
              <a:t>is a sequence of one or more </a:t>
            </a:r>
            <a:r>
              <a:rPr b="1" i="1" lang="en-US" sz="2000"/>
              <a:t>operations</a:t>
            </a:r>
            <a:r>
              <a:rPr lang="en-US" sz="2000"/>
              <a:t> (reads or writes) which reflects </a:t>
            </a:r>
            <a:r>
              <a:rPr b="1" i="1" lang="en-US" sz="2000"/>
              <a:t>a single real-world transition</a:t>
            </a:r>
            <a:r>
              <a:rPr lang="en-US" sz="2000"/>
              <a:t>.</a:t>
            </a:r>
            <a:endParaRPr/>
          </a:p>
          <a:p>
            <a:pPr indent="-377825" lvl="0" marL="377825" rtl="0" algn="l">
              <a:spcBef>
                <a:spcPts val="400"/>
              </a:spcBef>
              <a:spcAft>
                <a:spcPts val="0"/>
              </a:spcAft>
              <a:buSzPts val="2000"/>
              <a:buFont typeface="Verdana"/>
              <a:buChar char="□"/>
            </a:pPr>
            <a:r>
              <a:rPr lang="en-US" sz="2000"/>
              <a:t>In the real world, a TXN either happened completely or not at all</a:t>
            </a:r>
            <a:endParaRPr/>
          </a:p>
          <a:p>
            <a:pPr indent="-377825" lvl="0" marL="377825" rtl="0" algn="l">
              <a:lnSpc>
                <a:spcPct val="80000"/>
              </a:lnSpc>
              <a:spcBef>
                <a:spcPts val="400"/>
              </a:spcBef>
              <a:spcAft>
                <a:spcPts val="0"/>
              </a:spcAft>
              <a:buSzPts val="2000"/>
              <a:buFont typeface="Verdana"/>
              <a:buChar char="□"/>
            </a:pPr>
            <a:r>
              <a:rPr lang="en-US" sz="2000" u="sng"/>
              <a:t>Examples:</a:t>
            </a:r>
            <a:endParaRPr/>
          </a:p>
          <a:p>
            <a:pPr indent="-377825" lvl="0" marL="377825" rtl="0" algn="l">
              <a:lnSpc>
                <a:spcPct val="80000"/>
              </a:lnSpc>
              <a:spcBef>
                <a:spcPts val="400"/>
              </a:spcBef>
              <a:spcAft>
                <a:spcPts val="0"/>
              </a:spcAft>
              <a:buSzPts val="2000"/>
              <a:buFont typeface="Arial"/>
              <a:buChar char="•"/>
            </a:pPr>
            <a:r>
              <a:rPr lang="en-US" sz="2000"/>
              <a:t>Transfer money between accounts</a:t>
            </a:r>
            <a:endParaRPr/>
          </a:p>
          <a:p>
            <a:pPr indent="-377825" lvl="0" marL="377825" rtl="0" algn="l">
              <a:lnSpc>
                <a:spcPct val="80000"/>
              </a:lnSpc>
              <a:spcBef>
                <a:spcPts val="400"/>
              </a:spcBef>
              <a:spcAft>
                <a:spcPts val="0"/>
              </a:spcAft>
              <a:buSzPts val="2000"/>
              <a:buFont typeface="Arial"/>
              <a:buChar char="•"/>
            </a:pPr>
            <a:r>
              <a:rPr lang="en-US" sz="2000"/>
              <a:t>Purchase a group of products</a:t>
            </a:r>
            <a:endParaRPr/>
          </a:p>
          <a:p>
            <a:pPr indent="-377825" lvl="0" marL="377825" rtl="0" algn="l">
              <a:lnSpc>
                <a:spcPct val="80000"/>
              </a:lnSpc>
              <a:spcBef>
                <a:spcPts val="400"/>
              </a:spcBef>
              <a:spcAft>
                <a:spcPts val="0"/>
              </a:spcAft>
              <a:buSzPts val="2000"/>
              <a:buFont typeface="Arial"/>
              <a:buChar char="•"/>
            </a:pPr>
            <a:r>
              <a:rPr lang="en-US" sz="2000"/>
              <a:t>Register for a class (either waitlist or allocated)</a:t>
            </a:r>
            <a:endParaRPr/>
          </a:p>
        </p:txBody>
      </p:sp>
      <p:sp>
        <p:nvSpPr>
          <p:cNvPr descr="Date Placeholder 3" id="418" name="Google Shape;418;p2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19" name="Google Shape;419;p2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3" id="420" name="Google Shape;420;p22"/>
          <p:cNvSpPr/>
          <p:nvPr/>
        </p:nvSpPr>
        <p:spPr>
          <a:xfrm>
            <a:off x="569913" y="4572000"/>
            <a:ext cx="8072437" cy="1065213"/>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START TRANSACTION</a:t>
            </a:r>
            <a:endParaRPr/>
          </a:p>
          <a:p>
            <a:pPr indent="0" lvl="0" marL="0" marR="0" rtl="0" algn="l">
              <a:spcBef>
                <a:spcPts val="0"/>
              </a:spcBef>
              <a:spcAft>
                <a:spcPts val="0"/>
              </a:spcAft>
              <a:buNone/>
            </a:pPr>
            <a:r>
              <a:rPr lang="en-US" sz="1600">
                <a:solidFill>
                  <a:srgbClr val="000000"/>
                </a:solidFill>
                <a:latin typeface="Arial"/>
                <a:ea typeface="Arial"/>
                <a:cs typeface="Arial"/>
                <a:sym typeface="Arial"/>
              </a:rPr>
              <a:t>	</a:t>
            </a:r>
            <a:r>
              <a:rPr lang="en-US" sz="1600">
                <a:solidFill>
                  <a:schemeClr val="accent2"/>
                </a:solidFill>
                <a:latin typeface="Arial"/>
                <a:ea typeface="Arial"/>
                <a:cs typeface="Arial"/>
                <a:sym typeface="Arial"/>
              </a:rPr>
              <a:t>UPDATE</a:t>
            </a:r>
            <a:r>
              <a:rPr lang="en-US" sz="1600">
                <a:solidFill>
                  <a:srgbClr val="000000"/>
                </a:solidFill>
                <a:latin typeface="Arial"/>
                <a:ea typeface="Arial"/>
                <a:cs typeface="Arial"/>
                <a:sym typeface="Arial"/>
              </a:rPr>
              <a:t> Product </a:t>
            </a:r>
            <a:r>
              <a:rPr lang="en-US" sz="1600">
                <a:solidFill>
                  <a:schemeClr val="accent2"/>
                </a:solidFill>
                <a:latin typeface="Arial"/>
                <a:ea typeface="Arial"/>
                <a:cs typeface="Arial"/>
                <a:sym typeface="Arial"/>
              </a:rPr>
              <a:t>SET</a:t>
            </a:r>
            <a:r>
              <a:rPr lang="en-US" sz="1600">
                <a:solidFill>
                  <a:srgbClr val="000000"/>
                </a:solidFill>
                <a:latin typeface="Arial"/>
                <a:ea typeface="Arial"/>
                <a:cs typeface="Arial"/>
                <a:sym typeface="Arial"/>
              </a:rPr>
              <a:t> Price = Price – 1.99 </a:t>
            </a:r>
            <a:r>
              <a:rPr lang="en-US" sz="1600">
                <a:solidFill>
                  <a:schemeClr val="accent2"/>
                </a:solidFill>
                <a:latin typeface="Arial"/>
                <a:ea typeface="Arial"/>
                <a:cs typeface="Arial"/>
                <a:sym typeface="Arial"/>
              </a:rPr>
              <a:t>WHERE</a:t>
            </a:r>
            <a:r>
              <a:rPr lang="en-US" sz="1600">
                <a:solidFill>
                  <a:srgbClr val="000000"/>
                </a:solidFill>
                <a:latin typeface="Arial"/>
                <a:ea typeface="Arial"/>
                <a:cs typeface="Arial"/>
                <a:sym typeface="Arial"/>
              </a:rPr>
              <a:t> pname = ‘Gizmo’</a:t>
            </a:r>
            <a:endParaRPr/>
          </a:p>
          <a:p>
            <a:pPr indent="0" lvl="0" marL="0" marR="0" rtl="0" algn="l">
              <a:spcBef>
                <a:spcPts val="0"/>
              </a:spcBef>
              <a:spcAft>
                <a:spcPts val="0"/>
              </a:spcAft>
              <a:buNone/>
            </a:pPr>
            <a:r>
              <a:rPr lang="en-US" sz="1600">
                <a:solidFill>
                  <a:schemeClr val="accent2"/>
                </a:solidFill>
                <a:latin typeface="Arial"/>
                <a:ea typeface="Arial"/>
                <a:cs typeface="Arial"/>
                <a:sym typeface="Arial"/>
              </a:rPr>
              <a:t>COMMIT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descr="Slide Number Placeholder 5" id="425" name="Google Shape;425;p2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2" id="426" name="Google Shape;426;p2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in SQL</a:t>
            </a:r>
            <a:endParaRPr/>
          </a:p>
        </p:txBody>
      </p:sp>
      <p:sp>
        <p:nvSpPr>
          <p:cNvPr descr="Rectangle 3" id="427" name="Google Shape;427;p2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800"/>
              <a:buFont typeface="Verdana"/>
              <a:buChar char="□"/>
            </a:pPr>
            <a:r>
              <a:rPr lang="en-US" sz="2800"/>
              <a:t>In “ad-hoc” SQL:</a:t>
            </a:r>
            <a:endParaRPr/>
          </a:p>
          <a:p>
            <a:pPr indent="-438150" lvl="1" marL="908050" rtl="0" algn="l">
              <a:spcBef>
                <a:spcPts val="500"/>
              </a:spcBef>
              <a:spcAft>
                <a:spcPts val="0"/>
              </a:spcAft>
              <a:buSzPts val="2400"/>
              <a:buFont typeface="Verdana"/>
              <a:buChar char="■"/>
            </a:pPr>
            <a:r>
              <a:rPr lang="en-US" sz="2400"/>
              <a:t>Default: each statement = one transaction</a:t>
            </a:r>
            <a:endParaRPr sz="2600"/>
          </a:p>
          <a:p>
            <a:pPr indent="-285750" lvl="1" marL="908050" rtl="0" algn="l">
              <a:spcBef>
                <a:spcPts val="600"/>
              </a:spcBef>
              <a:spcAft>
                <a:spcPts val="0"/>
              </a:spcAft>
              <a:buSzPts val="2400"/>
              <a:buFont typeface="Verdana"/>
              <a:buNone/>
            </a:pPr>
            <a:r>
              <a:t/>
            </a:r>
            <a:endParaRPr sz="2400"/>
          </a:p>
          <a:p>
            <a:pPr indent="-469900" lvl="0" marL="469900" rtl="0" algn="l">
              <a:spcBef>
                <a:spcPts val="600"/>
              </a:spcBef>
              <a:spcAft>
                <a:spcPts val="0"/>
              </a:spcAft>
              <a:buSzPts val="2800"/>
              <a:buFont typeface="Verdana"/>
              <a:buChar char="□"/>
            </a:pPr>
            <a:r>
              <a:rPr lang="en-US" sz="2800"/>
              <a:t>In a program, multiple statements can be grouped together as a transaction:</a:t>
            </a:r>
            <a:endParaRPr/>
          </a:p>
        </p:txBody>
      </p:sp>
      <p:sp>
        <p:nvSpPr>
          <p:cNvPr descr="Rectangle 3" id="428" name="Google Shape;428;p23"/>
          <p:cNvSpPr/>
          <p:nvPr/>
        </p:nvSpPr>
        <p:spPr>
          <a:xfrm>
            <a:off x="712788" y="3922713"/>
            <a:ext cx="7488237" cy="154940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chemeClr val="accent2"/>
                </a:solidFill>
                <a:latin typeface="Arial"/>
                <a:ea typeface="Arial"/>
                <a:cs typeface="Arial"/>
                <a:sym typeface="Arial"/>
              </a:rPr>
              <a:t>START TRANSACTION</a:t>
            </a:r>
            <a:endParaRPr/>
          </a:p>
          <a:p>
            <a:pPr indent="0" lvl="0" marL="0" marR="0" rtl="0" algn="l">
              <a:spcBef>
                <a:spcPts val="0"/>
              </a:spcBef>
              <a:spcAft>
                <a:spcPts val="0"/>
              </a:spcAft>
              <a:buNone/>
            </a:pPr>
            <a:r>
              <a:rPr lang="en-US" sz="1600">
                <a:solidFill>
                  <a:schemeClr val="accent2"/>
                </a:solidFill>
                <a:latin typeface="Arial"/>
                <a:ea typeface="Arial"/>
                <a:cs typeface="Arial"/>
                <a:sym typeface="Arial"/>
              </a:rPr>
              <a:t>	UPDATE</a:t>
            </a:r>
            <a:r>
              <a:rPr lang="en-US" sz="1600">
                <a:solidFill>
                  <a:srgbClr val="000000"/>
                </a:solidFill>
                <a:latin typeface="Arial"/>
                <a:ea typeface="Arial"/>
                <a:cs typeface="Arial"/>
                <a:sym typeface="Arial"/>
              </a:rPr>
              <a:t> Bank </a:t>
            </a:r>
            <a:r>
              <a:rPr lang="en-US" sz="1600">
                <a:solidFill>
                  <a:schemeClr val="accent2"/>
                </a:solidFill>
                <a:latin typeface="Arial"/>
                <a:ea typeface="Arial"/>
                <a:cs typeface="Arial"/>
                <a:sym typeface="Arial"/>
              </a:rPr>
              <a:t>SET</a:t>
            </a:r>
            <a:r>
              <a:rPr lang="en-US" sz="1600">
                <a:solidFill>
                  <a:srgbClr val="000000"/>
                </a:solidFill>
                <a:latin typeface="Arial"/>
                <a:ea typeface="Arial"/>
                <a:cs typeface="Arial"/>
                <a:sym typeface="Arial"/>
              </a:rPr>
              <a:t> amount = amount – 100 </a:t>
            </a:r>
            <a:r>
              <a:rPr lang="en-US" sz="1600">
                <a:solidFill>
                  <a:schemeClr val="accent2"/>
                </a:solidFill>
                <a:latin typeface="Arial"/>
                <a:ea typeface="Arial"/>
                <a:cs typeface="Arial"/>
                <a:sym typeface="Arial"/>
              </a:rPr>
              <a:t>WHERE</a:t>
            </a:r>
            <a:r>
              <a:rPr lang="en-US" sz="1600">
                <a:solidFill>
                  <a:srgbClr val="000000"/>
                </a:solidFill>
                <a:latin typeface="Arial"/>
                <a:ea typeface="Arial"/>
                <a:cs typeface="Arial"/>
                <a:sym typeface="Arial"/>
              </a:rPr>
              <a:t> Name = ‘Ram’</a:t>
            </a:r>
            <a:endParaRPr sz="1600">
              <a:solidFill>
                <a:schemeClr val="accent2"/>
              </a:solidFill>
              <a:latin typeface="Arial"/>
              <a:ea typeface="Arial"/>
              <a:cs typeface="Arial"/>
              <a:sym typeface="Arial"/>
            </a:endParaRPr>
          </a:p>
          <a:p>
            <a:pPr indent="0" lvl="0" marL="0" marR="0" rtl="0" algn="l">
              <a:spcBef>
                <a:spcPts val="0"/>
              </a:spcBef>
              <a:spcAft>
                <a:spcPts val="0"/>
              </a:spcAft>
              <a:buNone/>
            </a:pPr>
            <a:r>
              <a:rPr lang="en-US" sz="1600">
                <a:solidFill>
                  <a:schemeClr val="accent2"/>
                </a:solidFill>
                <a:latin typeface="Arial"/>
                <a:ea typeface="Arial"/>
                <a:cs typeface="Arial"/>
                <a:sym typeface="Arial"/>
              </a:rPr>
              <a:t>	UPDATE</a:t>
            </a:r>
            <a:r>
              <a:rPr lang="en-US" sz="1600">
                <a:solidFill>
                  <a:srgbClr val="000000"/>
                </a:solidFill>
                <a:latin typeface="Arial"/>
                <a:ea typeface="Arial"/>
                <a:cs typeface="Arial"/>
                <a:sym typeface="Arial"/>
              </a:rPr>
              <a:t> Bank </a:t>
            </a:r>
            <a:r>
              <a:rPr lang="en-US" sz="1600">
                <a:solidFill>
                  <a:schemeClr val="accent2"/>
                </a:solidFill>
                <a:latin typeface="Arial"/>
                <a:ea typeface="Arial"/>
                <a:cs typeface="Arial"/>
                <a:sym typeface="Arial"/>
              </a:rPr>
              <a:t>SET</a:t>
            </a:r>
            <a:r>
              <a:rPr lang="en-US" sz="1600">
                <a:solidFill>
                  <a:srgbClr val="000000"/>
                </a:solidFill>
                <a:latin typeface="Arial"/>
                <a:ea typeface="Arial"/>
                <a:cs typeface="Arial"/>
                <a:sym typeface="Arial"/>
              </a:rPr>
              <a:t> amount = amount + 100 </a:t>
            </a:r>
            <a:r>
              <a:rPr lang="en-US" sz="1600">
                <a:solidFill>
                  <a:schemeClr val="accent2"/>
                </a:solidFill>
                <a:latin typeface="Arial"/>
                <a:ea typeface="Arial"/>
                <a:cs typeface="Arial"/>
                <a:sym typeface="Arial"/>
              </a:rPr>
              <a:t>WHERE</a:t>
            </a:r>
            <a:r>
              <a:rPr lang="en-US" sz="1600">
                <a:solidFill>
                  <a:srgbClr val="000000"/>
                </a:solidFill>
                <a:latin typeface="Arial"/>
                <a:ea typeface="Arial"/>
                <a:cs typeface="Arial"/>
                <a:sym typeface="Arial"/>
              </a:rPr>
              <a:t> Name = ‘Shyam’</a:t>
            </a:r>
            <a:endParaRPr/>
          </a:p>
          <a:p>
            <a:pPr indent="0" lvl="0" marL="0" marR="0" rtl="0" algn="l">
              <a:spcBef>
                <a:spcPts val="0"/>
              </a:spcBef>
              <a:spcAft>
                <a:spcPts val="0"/>
              </a:spcAft>
              <a:buNone/>
            </a:pPr>
            <a:r>
              <a:rPr lang="en-US" sz="1600">
                <a:solidFill>
                  <a:schemeClr val="accent2"/>
                </a:solidFill>
                <a:latin typeface="Arial"/>
                <a:ea typeface="Arial"/>
                <a:cs typeface="Arial"/>
                <a:sym typeface="Arial"/>
              </a:rPr>
              <a:t>COMMIT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descr="Title 1" id="433" name="Google Shape;433;p2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Model of Transaction</a:t>
            </a:r>
            <a:endParaRPr/>
          </a:p>
        </p:txBody>
      </p:sp>
      <p:sp>
        <p:nvSpPr>
          <p:cNvPr descr="Content Placeholder 2" id="434" name="Google Shape;434;p24"/>
          <p:cNvSpPr txBox="1"/>
          <p:nvPr>
            <p:ph idx="1" type="body"/>
          </p:nvPr>
        </p:nvSpPr>
        <p:spPr>
          <a:xfrm>
            <a:off x="457200" y="1065213"/>
            <a:ext cx="8077200" cy="3221037"/>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800"/>
              <a:buFont typeface="Noto Sans Symbols"/>
              <a:buNone/>
            </a:pPr>
            <a:r>
              <a:rPr lang="en-US" sz="2800"/>
              <a:t>In this course of DBMS (21CS3PCDBM), we assume that the database only sees </a:t>
            </a:r>
            <a:r>
              <a:rPr b="1" lang="en-US" sz="2800" u="sng"/>
              <a:t>reads and writes to data</a:t>
            </a:r>
            <a:endParaRPr/>
          </a:p>
          <a:p>
            <a:pPr indent="-438150" lvl="1" marL="908050" rtl="0" algn="l">
              <a:spcBef>
                <a:spcPts val="500"/>
              </a:spcBef>
              <a:spcAft>
                <a:spcPts val="0"/>
              </a:spcAft>
              <a:buSzPts val="2400"/>
              <a:buFont typeface="Verdana"/>
              <a:buChar char="■"/>
            </a:pPr>
            <a:r>
              <a:rPr lang="en-US" sz="2400"/>
              <a:t>User may do much more</a:t>
            </a:r>
            <a:endParaRPr sz="2600"/>
          </a:p>
          <a:p>
            <a:pPr indent="-438150" lvl="1" marL="908050" rtl="0" algn="l">
              <a:spcBef>
                <a:spcPts val="500"/>
              </a:spcBef>
              <a:spcAft>
                <a:spcPts val="0"/>
              </a:spcAft>
              <a:buSzPts val="2400"/>
              <a:buFont typeface="Verdana"/>
              <a:buChar char="■"/>
            </a:pPr>
            <a:r>
              <a:rPr lang="en-US" sz="2400"/>
              <a:t>In real systems, databases do have more information /operations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descr="Footer Placeholder 4" id="439" name="Google Shape;439;p25"/>
          <p:cNvSpPr txBox="1"/>
          <p:nvPr/>
        </p:nvSpPr>
        <p:spPr>
          <a:xfrm>
            <a:off x="3168650" y="64008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BMSCE</a:t>
            </a:r>
            <a:endParaRPr/>
          </a:p>
        </p:txBody>
      </p:sp>
      <p:sp>
        <p:nvSpPr>
          <p:cNvPr descr="Title 1" id="440" name="Google Shape;440;p2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Content Placeholder 2" id="441" name="Google Shape;441;p2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1" marL="469900" rtl="0" algn="l">
              <a:spcBef>
                <a:spcPts val="0"/>
              </a:spcBef>
              <a:spcAft>
                <a:spcPts val="0"/>
              </a:spcAft>
              <a:buSzPts val="2600"/>
              <a:buFont typeface="Verdana"/>
              <a:buChar char="□"/>
            </a:pPr>
            <a:r>
              <a:rPr lang="en-US" sz="2600"/>
              <a:t>read_item(X): Reads a database item named X into a program variable. To simplify our notation, we assume that the program variable is also named X.</a:t>
            </a:r>
            <a:endParaRPr/>
          </a:p>
          <a:p>
            <a:pPr indent="-469900" lvl="1" marL="469900" rtl="0" algn="l">
              <a:spcBef>
                <a:spcPts val="600"/>
              </a:spcBef>
              <a:spcAft>
                <a:spcPts val="0"/>
              </a:spcAft>
              <a:buSzPts val="2600"/>
              <a:buFont typeface="Verdana"/>
              <a:buChar char="□"/>
            </a:pPr>
            <a:r>
              <a:rPr lang="en-US" sz="2600"/>
              <a:t>write_item(X): Writes the value of program variable X into the database item named X.</a:t>
            </a:r>
            <a:endParaRPr/>
          </a:p>
        </p:txBody>
      </p:sp>
      <p:sp>
        <p:nvSpPr>
          <p:cNvPr descr="Date Placeholder 3" id="442" name="Google Shape;442;p2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43" name="Google Shape;443;p2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descr="Title 1" id="448" name="Google Shape;448;p2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Content Placeholder 2" id="449" name="Google Shape;449;p2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lnSpc>
                <a:spcPct val="80000"/>
              </a:lnSpc>
              <a:spcBef>
                <a:spcPts val="0"/>
              </a:spcBef>
              <a:spcAft>
                <a:spcPts val="0"/>
              </a:spcAft>
              <a:buSzPts val="1800"/>
              <a:buFont typeface="Noto Sans Symbols"/>
              <a:buNone/>
            </a:pPr>
            <a:r>
              <a:rPr lang="en-US" sz="1800"/>
              <a:t>READ AND WRITE OPERATIONS:</a:t>
            </a:r>
            <a:endParaRPr/>
          </a:p>
          <a:p>
            <a:pPr indent="-469900" lvl="0" marL="469900" rtl="0" algn="l">
              <a:lnSpc>
                <a:spcPct val="80000"/>
              </a:lnSpc>
              <a:spcBef>
                <a:spcPts val="400"/>
              </a:spcBef>
              <a:spcAft>
                <a:spcPts val="0"/>
              </a:spcAft>
              <a:buSzPts val="1800"/>
              <a:buFont typeface="Verdana"/>
              <a:buChar char="□"/>
            </a:pPr>
            <a:r>
              <a:rPr lang="en-US" sz="1800"/>
              <a:t>Basic unit of data transfer from the disk to the computer main memory is one block. In general, a data item (what is read or written) will be the field of some record in the database, although it may be a larger unit such as a record or even a whole block.</a:t>
            </a:r>
            <a:endParaRPr/>
          </a:p>
          <a:p>
            <a:pPr indent="-469900" lvl="0" marL="469900" rtl="0" algn="l">
              <a:lnSpc>
                <a:spcPct val="80000"/>
              </a:lnSpc>
              <a:spcBef>
                <a:spcPts val="400"/>
              </a:spcBef>
              <a:spcAft>
                <a:spcPts val="0"/>
              </a:spcAft>
              <a:buSzPts val="1800"/>
              <a:buFont typeface="Verdana"/>
              <a:buChar char="□"/>
            </a:pPr>
            <a:r>
              <a:rPr lang="en-US" sz="1800"/>
              <a:t>read_item(X) command includes the following steps:</a:t>
            </a:r>
            <a:endParaRPr/>
          </a:p>
          <a:p>
            <a:pPr indent="-438150" lvl="1" marL="908050" rtl="0" algn="l">
              <a:lnSpc>
                <a:spcPct val="80000"/>
              </a:lnSpc>
              <a:spcBef>
                <a:spcPts val="400"/>
              </a:spcBef>
              <a:spcAft>
                <a:spcPts val="0"/>
              </a:spcAft>
              <a:buSzPts val="1800"/>
              <a:buFont typeface="Verdana"/>
              <a:buChar char="■"/>
            </a:pPr>
            <a:r>
              <a:rPr lang="en-US" sz="1800"/>
              <a:t>Find the address of the disk block that contains item X.</a:t>
            </a:r>
            <a:endParaRPr sz="2600"/>
          </a:p>
          <a:p>
            <a:pPr indent="-438150" lvl="1" marL="908050" rtl="0" algn="l">
              <a:lnSpc>
                <a:spcPct val="80000"/>
              </a:lnSpc>
              <a:spcBef>
                <a:spcPts val="400"/>
              </a:spcBef>
              <a:spcAft>
                <a:spcPts val="0"/>
              </a:spcAft>
              <a:buSzPts val="1800"/>
              <a:buFont typeface="Verdana"/>
              <a:buChar char="■"/>
            </a:pPr>
            <a:r>
              <a:rPr lang="en-US" sz="1800"/>
              <a:t>Copy that disk block into a buffer in main memory (if that disk block is not already in some main memory buffer).</a:t>
            </a:r>
            <a:endParaRPr sz="2600"/>
          </a:p>
          <a:p>
            <a:pPr indent="-438150" lvl="1" marL="908050" rtl="0" algn="l">
              <a:lnSpc>
                <a:spcPct val="80000"/>
              </a:lnSpc>
              <a:spcBef>
                <a:spcPts val="400"/>
              </a:spcBef>
              <a:spcAft>
                <a:spcPts val="0"/>
              </a:spcAft>
              <a:buSzPts val="1800"/>
              <a:buFont typeface="Verdana"/>
              <a:buChar char="■"/>
            </a:pPr>
            <a:r>
              <a:rPr lang="en-US" sz="1800"/>
              <a:t>Copy item X from the buffer to the program variable named X.   </a:t>
            </a:r>
            <a:endParaRPr/>
          </a:p>
        </p:txBody>
      </p:sp>
      <p:sp>
        <p:nvSpPr>
          <p:cNvPr descr="Date Placeholder 3" id="450" name="Google Shape;450;p2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51" name="Google Shape;451;p2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descr="Title 1" id="456" name="Google Shape;456;p2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 Operations</a:t>
            </a:r>
            <a:endParaRPr/>
          </a:p>
        </p:txBody>
      </p:sp>
      <p:sp>
        <p:nvSpPr>
          <p:cNvPr descr="Date Placeholder 3" id="457" name="Google Shape;457;p2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58" name="Google Shape;458;p2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459" name="Google Shape;459;p27"/>
          <p:cNvSpPr txBox="1"/>
          <p:nvPr/>
        </p:nvSpPr>
        <p:spPr>
          <a:xfrm>
            <a:off x="615950" y="1355725"/>
            <a:ext cx="7080250" cy="396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Example of transaction Read Operation: </a:t>
            </a:r>
            <a:r>
              <a:rPr lang="en-US" sz="2000">
                <a:solidFill>
                  <a:srgbClr val="FF0000"/>
                </a:solidFill>
                <a:latin typeface="Verdana"/>
                <a:ea typeface="Verdana"/>
                <a:cs typeface="Verdana"/>
                <a:sym typeface="Verdana"/>
              </a:rPr>
              <a:t>read</a:t>
            </a:r>
            <a:r>
              <a:rPr lang="en-US" sz="2000">
                <a:solidFill>
                  <a:srgbClr val="000000"/>
                </a:solidFill>
                <a:latin typeface="Verdana"/>
                <a:ea typeface="Verdana"/>
                <a:cs typeface="Verdana"/>
                <a:sym typeface="Verdana"/>
              </a:rPr>
              <a:t>(balance)</a:t>
            </a:r>
            <a:endParaRPr/>
          </a:p>
        </p:txBody>
      </p:sp>
      <p:sp>
        <p:nvSpPr>
          <p:cNvPr descr="TextBox 7" id="460" name="Google Shape;460;p27"/>
          <p:cNvSpPr txBox="1"/>
          <p:nvPr/>
        </p:nvSpPr>
        <p:spPr>
          <a:xfrm>
            <a:off x="1355725" y="1855788"/>
            <a:ext cx="5465763" cy="5334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800">
                <a:solidFill>
                  <a:srgbClr val="000000"/>
                </a:solidFill>
                <a:latin typeface="Verdana"/>
                <a:ea typeface="Verdana"/>
                <a:cs typeface="Verdana"/>
                <a:sym typeface="Verdana"/>
              </a:rPr>
              <a:t>select balance from </a:t>
            </a:r>
            <a:r>
              <a:rPr lang="en-US" sz="2800">
                <a:solidFill>
                  <a:srgbClr val="33CC33"/>
                </a:solidFill>
                <a:latin typeface="Verdana"/>
                <a:ea typeface="Verdana"/>
                <a:cs typeface="Verdana"/>
                <a:sym typeface="Verdana"/>
              </a:rPr>
              <a:t>accounts</a:t>
            </a:r>
            <a:r>
              <a:rPr lang="en-US" sz="2800">
                <a:solidFill>
                  <a:srgbClr val="000000"/>
                </a:solidFill>
                <a:latin typeface="Verdana"/>
                <a:ea typeface="Verdana"/>
                <a:cs typeface="Verdana"/>
                <a:sym typeface="Verdana"/>
              </a:rPr>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descr="Title 1" id="465" name="Google Shape;465;p2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 Operations</a:t>
            </a:r>
            <a:endParaRPr/>
          </a:p>
        </p:txBody>
      </p:sp>
      <p:sp>
        <p:nvSpPr>
          <p:cNvPr descr="Date Placeholder 3" id="466" name="Google Shape;466;p2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67" name="Google Shape;467;p2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468" name="Google Shape;468;p28"/>
          <p:cNvSpPr txBox="1"/>
          <p:nvPr/>
        </p:nvSpPr>
        <p:spPr>
          <a:xfrm>
            <a:off x="615950" y="1355725"/>
            <a:ext cx="63833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Read Operation: </a:t>
            </a:r>
            <a:r>
              <a:rPr lang="en-US" sz="1800">
                <a:solidFill>
                  <a:srgbClr val="FF0000"/>
                </a:solidFill>
                <a:latin typeface="Verdana"/>
                <a:ea typeface="Verdana"/>
                <a:cs typeface="Verdana"/>
                <a:sym typeface="Verdana"/>
              </a:rPr>
              <a:t>read</a:t>
            </a:r>
            <a:r>
              <a:rPr lang="en-US" sz="1800">
                <a:solidFill>
                  <a:srgbClr val="000000"/>
                </a:solidFill>
                <a:latin typeface="Verdana"/>
                <a:ea typeface="Verdana"/>
                <a:cs typeface="Verdana"/>
                <a:sym typeface="Verdana"/>
              </a:rPr>
              <a:t>(balance)</a:t>
            </a:r>
            <a:endParaRPr/>
          </a:p>
        </p:txBody>
      </p:sp>
      <p:sp>
        <p:nvSpPr>
          <p:cNvPr descr="TextBox 7" id="469" name="Google Shape;469;p28"/>
          <p:cNvSpPr txBox="1"/>
          <p:nvPr/>
        </p:nvSpPr>
        <p:spPr>
          <a:xfrm>
            <a:off x="1355725" y="1855788"/>
            <a:ext cx="3554413"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select balance from </a:t>
            </a:r>
            <a:r>
              <a:rPr lang="en-US" sz="1800">
                <a:solidFill>
                  <a:srgbClr val="33CC33"/>
                </a:solidFill>
                <a:latin typeface="Verdana"/>
                <a:ea typeface="Verdana"/>
                <a:cs typeface="Verdana"/>
                <a:sym typeface="Verdana"/>
              </a:rPr>
              <a:t>accounts</a:t>
            </a:r>
            <a:r>
              <a:rPr lang="en-US" sz="1800">
                <a:solidFill>
                  <a:srgbClr val="000000"/>
                </a:solidFill>
                <a:latin typeface="Verdana"/>
                <a:ea typeface="Verdana"/>
                <a:cs typeface="Verdana"/>
                <a:sym typeface="Verdana"/>
              </a:rPr>
              <a:t>;</a:t>
            </a:r>
            <a:endParaRPr/>
          </a:p>
        </p:txBody>
      </p:sp>
      <p:sp>
        <p:nvSpPr>
          <p:cNvPr descr="Flowchart: Magnetic Disk 9" id="470" name="Google Shape;470;p28"/>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471" name="Google Shape;471;p28"/>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472" name="Google Shape;472;p28"/>
          <p:cNvSpPr/>
          <p:nvPr/>
        </p:nvSpPr>
        <p:spPr>
          <a:xfrm>
            <a:off x="5429250" y="3616325"/>
            <a:ext cx="2286000" cy="1455738"/>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473" name="Google Shape;473;p28"/>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474" name="Google Shape;474;p28"/>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475" name="Google Shape;475;p28"/>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pic>
        <p:nvPicPr>
          <p:cNvPr descr="Picture 4" id="476" name="Google Shape;476;p28"/>
          <p:cNvPicPr preferRelativeResize="0"/>
          <p:nvPr/>
        </p:nvPicPr>
        <p:blipFill rotWithShape="1">
          <a:blip r:embed="rId3">
            <a:alphaModFix/>
          </a:blip>
          <a:srcRect b="0" l="0" r="0" t="0"/>
          <a:stretch/>
        </p:blipFill>
        <p:spPr>
          <a:xfrm>
            <a:off x="5500688" y="3697288"/>
            <a:ext cx="2143125" cy="1254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descr="Title 1" id="481" name="Google Shape;481;p2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 Operations</a:t>
            </a:r>
            <a:endParaRPr/>
          </a:p>
        </p:txBody>
      </p:sp>
      <p:sp>
        <p:nvSpPr>
          <p:cNvPr descr="Date Placeholder 3" id="482" name="Google Shape;482;p2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483" name="Google Shape;483;p2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484" name="Google Shape;484;p29"/>
          <p:cNvSpPr txBox="1"/>
          <p:nvPr/>
        </p:nvSpPr>
        <p:spPr>
          <a:xfrm>
            <a:off x="615950" y="1355725"/>
            <a:ext cx="63833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Read Operation: </a:t>
            </a:r>
            <a:r>
              <a:rPr lang="en-US" sz="1800">
                <a:solidFill>
                  <a:srgbClr val="FF0000"/>
                </a:solidFill>
                <a:latin typeface="Verdana"/>
                <a:ea typeface="Verdana"/>
                <a:cs typeface="Verdana"/>
                <a:sym typeface="Verdana"/>
              </a:rPr>
              <a:t>read</a:t>
            </a:r>
            <a:r>
              <a:rPr lang="en-US" sz="1800">
                <a:solidFill>
                  <a:srgbClr val="000000"/>
                </a:solidFill>
                <a:latin typeface="Verdana"/>
                <a:ea typeface="Verdana"/>
                <a:cs typeface="Verdana"/>
                <a:sym typeface="Verdana"/>
              </a:rPr>
              <a:t>(balance)</a:t>
            </a:r>
            <a:endParaRPr/>
          </a:p>
        </p:txBody>
      </p:sp>
      <p:sp>
        <p:nvSpPr>
          <p:cNvPr descr="TextBox 7" id="485" name="Google Shape;485;p29"/>
          <p:cNvSpPr txBox="1"/>
          <p:nvPr/>
        </p:nvSpPr>
        <p:spPr>
          <a:xfrm>
            <a:off x="1355725" y="1855788"/>
            <a:ext cx="3554413"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select balance from </a:t>
            </a:r>
            <a:r>
              <a:rPr lang="en-US" sz="1800">
                <a:solidFill>
                  <a:srgbClr val="33CC33"/>
                </a:solidFill>
                <a:latin typeface="Verdana"/>
                <a:ea typeface="Verdana"/>
                <a:cs typeface="Verdana"/>
                <a:sym typeface="Verdana"/>
              </a:rPr>
              <a:t>accounts</a:t>
            </a:r>
            <a:r>
              <a:rPr lang="en-US" sz="1800">
                <a:solidFill>
                  <a:srgbClr val="000000"/>
                </a:solidFill>
                <a:latin typeface="Verdana"/>
                <a:ea typeface="Verdana"/>
                <a:cs typeface="Verdana"/>
                <a:sym typeface="Verdana"/>
              </a:rPr>
              <a:t>;</a:t>
            </a:r>
            <a:endParaRPr/>
          </a:p>
        </p:txBody>
      </p:sp>
      <p:sp>
        <p:nvSpPr>
          <p:cNvPr descr="Flowchart: Magnetic Disk 9" id="486" name="Google Shape;486;p29"/>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487" name="Google Shape;487;p29"/>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488" name="Google Shape;488;p29"/>
          <p:cNvSpPr/>
          <p:nvPr/>
        </p:nvSpPr>
        <p:spPr>
          <a:xfrm>
            <a:off x="5429250" y="4143375"/>
            <a:ext cx="2286000" cy="928688"/>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489" name="Google Shape;489;p29"/>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490" name="Google Shape;490;p29"/>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491" name="Google Shape;491;p29"/>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Rectangle 19" id="492" name="Google Shape;492;p29"/>
          <p:cNvSpPr/>
          <p:nvPr/>
        </p:nvSpPr>
        <p:spPr>
          <a:xfrm>
            <a:off x="1641475" y="3141663"/>
            <a:ext cx="1500188" cy="3001962"/>
          </a:xfrm>
          <a:prstGeom prst="rect">
            <a:avLst/>
          </a:pr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493" name="Google Shape;493;p29"/>
          <p:cNvSpPr txBox="1"/>
          <p:nvPr/>
        </p:nvSpPr>
        <p:spPr>
          <a:xfrm>
            <a:off x="1641475" y="39290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a:t>
            </a:r>
            <a:endParaRPr/>
          </a:p>
        </p:txBody>
      </p:sp>
      <p:pic>
        <p:nvPicPr>
          <p:cNvPr descr="Picture 4" id="494" name="Google Shape;494;p29"/>
          <p:cNvPicPr preferRelativeResize="0"/>
          <p:nvPr/>
        </p:nvPicPr>
        <p:blipFill rotWithShape="1">
          <a:blip r:embed="rId3">
            <a:alphaModFix/>
          </a:blip>
          <a:srcRect b="0" l="0" r="0" t="0"/>
          <a:stretch/>
        </p:blipFill>
        <p:spPr>
          <a:xfrm>
            <a:off x="5500688" y="4214813"/>
            <a:ext cx="2143125" cy="736600"/>
          </a:xfrm>
          <a:prstGeom prst="rect">
            <a:avLst/>
          </a:prstGeom>
          <a:noFill/>
          <a:ln>
            <a:noFill/>
          </a:ln>
        </p:spPr>
      </p:pic>
      <p:cxnSp>
        <p:nvCxnSpPr>
          <p:cNvPr descr="Straight Arrow Connector 25" id="495" name="Google Shape;495;p29"/>
          <p:cNvCxnSpPr/>
          <p:nvPr/>
        </p:nvCxnSpPr>
        <p:spPr>
          <a:xfrm rot="10800000">
            <a:off x="3141663" y="4113213"/>
            <a:ext cx="2216150" cy="601662"/>
          </a:xfrm>
          <a:prstGeom prst="straightConnector1">
            <a:avLst/>
          </a:prstGeom>
          <a:noFill/>
          <a:ln cap="flat" cmpd="sng" w="9525">
            <a:solidFill>
              <a:srgbClr val="000000"/>
            </a:solidFill>
            <a:prstDash val="solid"/>
            <a:round/>
            <a:headEnd len="sm" w="sm" type="none"/>
            <a:tailEnd len="med" w="med" type="triangle"/>
          </a:ln>
        </p:spPr>
      </p:cxnSp>
      <p:sp>
        <p:nvSpPr>
          <p:cNvPr descr="TextBox 26" id="496" name="Google Shape;496;p29"/>
          <p:cNvSpPr txBox="1"/>
          <p:nvPr/>
        </p:nvSpPr>
        <p:spPr>
          <a:xfrm>
            <a:off x="3473450" y="4000500"/>
            <a:ext cx="13255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2</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Disk block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 of</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Main memory</a:t>
            </a:r>
            <a:endParaRPr/>
          </a:p>
        </p:txBody>
      </p:sp>
      <p:sp>
        <p:nvSpPr>
          <p:cNvPr descr="TextBox 27" id="497" name="Google Shape;497;p29"/>
          <p:cNvSpPr txBox="1"/>
          <p:nvPr/>
        </p:nvSpPr>
        <p:spPr>
          <a:xfrm>
            <a:off x="1633538" y="2784475"/>
            <a:ext cx="167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Main memory</a:t>
            </a:r>
            <a:endParaRPr/>
          </a:p>
        </p:txBody>
      </p:sp>
      <p:sp>
        <p:nvSpPr>
          <p:cNvPr descr="TextBox 40" id="498" name="Google Shape;498;p29"/>
          <p:cNvSpPr txBox="1"/>
          <p:nvPr/>
        </p:nvSpPr>
        <p:spPr>
          <a:xfrm>
            <a:off x="2044700" y="3571875"/>
            <a:ext cx="7858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buffer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descr="Title 1" id="503" name="Google Shape;503;p3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 Operations</a:t>
            </a:r>
            <a:endParaRPr/>
          </a:p>
        </p:txBody>
      </p:sp>
      <p:sp>
        <p:nvSpPr>
          <p:cNvPr descr="Date Placeholder 3" id="504" name="Google Shape;504;p3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505" name="Google Shape;505;p3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506" name="Google Shape;506;p30"/>
          <p:cNvSpPr txBox="1"/>
          <p:nvPr/>
        </p:nvSpPr>
        <p:spPr>
          <a:xfrm>
            <a:off x="615950" y="1355725"/>
            <a:ext cx="63833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Read Operation: </a:t>
            </a:r>
            <a:r>
              <a:rPr lang="en-US" sz="1800">
                <a:solidFill>
                  <a:srgbClr val="FF0000"/>
                </a:solidFill>
                <a:latin typeface="Verdana"/>
                <a:ea typeface="Verdana"/>
                <a:cs typeface="Verdana"/>
                <a:sym typeface="Verdana"/>
              </a:rPr>
              <a:t>read</a:t>
            </a:r>
            <a:r>
              <a:rPr lang="en-US" sz="1800">
                <a:solidFill>
                  <a:srgbClr val="000000"/>
                </a:solidFill>
                <a:latin typeface="Verdana"/>
                <a:ea typeface="Verdana"/>
                <a:cs typeface="Verdana"/>
                <a:sym typeface="Verdana"/>
              </a:rPr>
              <a:t>(balance)</a:t>
            </a:r>
            <a:endParaRPr/>
          </a:p>
        </p:txBody>
      </p:sp>
      <p:sp>
        <p:nvSpPr>
          <p:cNvPr descr="TextBox 7" id="507" name="Google Shape;507;p30"/>
          <p:cNvSpPr txBox="1"/>
          <p:nvPr/>
        </p:nvSpPr>
        <p:spPr>
          <a:xfrm>
            <a:off x="1355725" y="1855788"/>
            <a:ext cx="3554413"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select balance from </a:t>
            </a:r>
            <a:r>
              <a:rPr lang="en-US" sz="1800">
                <a:solidFill>
                  <a:srgbClr val="33CC33"/>
                </a:solidFill>
                <a:latin typeface="Verdana"/>
                <a:ea typeface="Verdana"/>
                <a:cs typeface="Verdana"/>
                <a:sym typeface="Verdana"/>
              </a:rPr>
              <a:t>accounts</a:t>
            </a:r>
            <a:r>
              <a:rPr lang="en-US" sz="1800">
                <a:solidFill>
                  <a:srgbClr val="000000"/>
                </a:solidFill>
                <a:latin typeface="Verdana"/>
                <a:ea typeface="Verdana"/>
                <a:cs typeface="Verdana"/>
                <a:sym typeface="Verdana"/>
              </a:rPr>
              <a:t>;</a:t>
            </a:r>
            <a:endParaRPr/>
          </a:p>
        </p:txBody>
      </p:sp>
      <p:sp>
        <p:nvSpPr>
          <p:cNvPr descr="Flowchart: Magnetic Disk 9" id="508" name="Google Shape;508;p30"/>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509" name="Google Shape;509;p30"/>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510" name="Google Shape;510;p30"/>
          <p:cNvSpPr/>
          <p:nvPr/>
        </p:nvSpPr>
        <p:spPr>
          <a:xfrm>
            <a:off x="5429250" y="4143375"/>
            <a:ext cx="2286000" cy="928688"/>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511" name="Google Shape;511;p30"/>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512" name="Google Shape;512;p30"/>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513" name="Google Shape;513;p30"/>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Rectangle 19" id="514" name="Google Shape;514;p30"/>
          <p:cNvSpPr/>
          <p:nvPr/>
        </p:nvSpPr>
        <p:spPr>
          <a:xfrm>
            <a:off x="1641475" y="3141663"/>
            <a:ext cx="1500188" cy="3001962"/>
          </a:xfrm>
          <a:prstGeom prst="rect">
            <a:avLst/>
          </a:pr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515" name="Google Shape;515;p30"/>
          <p:cNvSpPr txBox="1"/>
          <p:nvPr/>
        </p:nvSpPr>
        <p:spPr>
          <a:xfrm>
            <a:off x="1641475" y="39290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a:t>
            </a:r>
            <a:endParaRPr/>
          </a:p>
        </p:txBody>
      </p:sp>
      <p:pic>
        <p:nvPicPr>
          <p:cNvPr descr="Picture 4" id="516" name="Google Shape;516;p30"/>
          <p:cNvPicPr preferRelativeResize="0"/>
          <p:nvPr/>
        </p:nvPicPr>
        <p:blipFill rotWithShape="1">
          <a:blip r:embed="rId3">
            <a:alphaModFix/>
          </a:blip>
          <a:srcRect b="0" l="0" r="0" t="0"/>
          <a:stretch/>
        </p:blipFill>
        <p:spPr>
          <a:xfrm>
            <a:off x="5500688" y="4214813"/>
            <a:ext cx="2143125" cy="736600"/>
          </a:xfrm>
          <a:prstGeom prst="rect">
            <a:avLst/>
          </a:prstGeom>
          <a:noFill/>
          <a:ln>
            <a:noFill/>
          </a:ln>
        </p:spPr>
      </p:pic>
      <p:cxnSp>
        <p:nvCxnSpPr>
          <p:cNvPr descr="Straight Arrow Connector 25" id="517" name="Google Shape;517;p30"/>
          <p:cNvCxnSpPr/>
          <p:nvPr/>
        </p:nvCxnSpPr>
        <p:spPr>
          <a:xfrm rot="10800000">
            <a:off x="3141663" y="4113213"/>
            <a:ext cx="2216150" cy="601662"/>
          </a:xfrm>
          <a:prstGeom prst="straightConnector1">
            <a:avLst/>
          </a:prstGeom>
          <a:noFill/>
          <a:ln cap="flat" cmpd="sng" w="9525">
            <a:solidFill>
              <a:srgbClr val="000000"/>
            </a:solidFill>
            <a:prstDash val="solid"/>
            <a:round/>
            <a:headEnd len="sm" w="sm" type="none"/>
            <a:tailEnd len="med" w="med" type="triangle"/>
          </a:ln>
        </p:spPr>
      </p:cxnSp>
      <p:sp>
        <p:nvSpPr>
          <p:cNvPr descr="TextBox 26" id="518" name="Google Shape;518;p30"/>
          <p:cNvSpPr txBox="1"/>
          <p:nvPr/>
        </p:nvSpPr>
        <p:spPr>
          <a:xfrm>
            <a:off x="3473450" y="4000500"/>
            <a:ext cx="13255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2</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Disk block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 of</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Main memory</a:t>
            </a:r>
            <a:endParaRPr/>
          </a:p>
        </p:txBody>
      </p:sp>
      <p:sp>
        <p:nvSpPr>
          <p:cNvPr descr="TextBox 27" id="519" name="Google Shape;519;p30"/>
          <p:cNvSpPr txBox="1"/>
          <p:nvPr/>
        </p:nvSpPr>
        <p:spPr>
          <a:xfrm>
            <a:off x="1633538" y="2784475"/>
            <a:ext cx="167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Main memory</a:t>
            </a:r>
            <a:endParaRPr/>
          </a:p>
        </p:txBody>
      </p:sp>
      <p:sp>
        <p:nvSpPr>
          <p:cNvPr descr="TextBox 28" id="520" name="Google Shape;520;p30"/>
          <p:cNvSpPr txBox="1"/>
          <p:nvPr/>
        </p:nvSpPr>
        <p:spPr>
          <a:xfrm>
            <a:off x="1641475" y="5143500"/>
            <a:ext cx="1500188" cy="3794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a:t>
            </a:r>
            <a:endParaRPr/>
          </a:p>
        </p:txBody>
      </p:sp>
      <p:cxnSp>
        <p:nvCxnSpPr>
          <p:cNvPr descr="Shape 30" id="521" name="Google Shape;521;p30"/>
          <p:cNvCxnSpPr>
            <a:stCxn id="515" idx="0"/>
            <a:endCxn id="520" idx="0"/>
          </p:cNvCxnSpPr>
          <p:nvPr/>
        </p:nvCxnSpPr>
        <p:spPr>
          <a:xfrm>
            <a:off x="2391569" y="3929063"/>
            <a:ext cx="0" cy="1214400"/>
          </a:xfrm>
          <a:prstGeom prst="straightConnector1">
            <a:avLst/>
          </a:prstGeom>
          <a:noFill/>
          <a:ln cap="flat" cmpd="sng" w="9525">
            <a:solidFill>
              <a:srgbClr val="000000"/>
            </a:solidFill>
            <a:prstDash val="solid"/>
            <a:round/>
            <a:headEnd len="sm" w="sm" type="none"/>
            <a:tailEnd len="med" w="med" type="triangle"/>
          </a:ln>
        </p:spPr>
      </p:cxnSp>
      <p:sp>
        <p:nvSpPr>
          <p:cNvPr descr="TextBox 38" id="522" name="Google Shape;522;p30"/>
          <p:cNvSpPr txBox="1"/>
          <p:nvPr/>
        </p:nvSpPr>
        <p:spPr>
          <a:xfrm>
            <a:off x="3187700" y="5143500"/>
            <a:ext cx="1843088" cy="5730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balance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Program variable</a:t>
            </a:r>
            <a:endParaRPr/>
          </a:p>
        </p:txBody>
      </p:sp>
      <p:sp>
        <p:nvSpPr>
          <p:cNvPr descr="TextBox 39" id="523" name="Google Shape;523;p30"/>
          <p:cNvSpPr txBox="1"/>
          <p:nvPr/>
        </p:nvSpPr>
        <p:spPr>
          <a:xfrm>
            <a:off x="211138" y="4214813"/>
            <a:ext cx="1033462" cy="1385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3</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from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buffer to</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variable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TextBox 40" id="524" name="Google Shape;524;p30"/>
          <p:cNvSpPr txBox="1"/>
          <p:nvPr/>
        </p:nvSpPr>
        <p:spPr>
          <a:xfrm>
            <a:off x="2044700" y="3571875"/>
            <a:ext cx="7858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buffer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descr="Title 1" id="529" name="Google Shape;529;p3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Content Placeholder 2" id="530" name="Google Shape;530;p3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lnSpc>
                <a:spcPct val="80000"/>
              </a:lnSpc>
              <a:spcBef>
                <a:spcPts val="0"/>
              </a:spcBef>
              <a:spcAft>
                <a:spcPts val="0"/>
              </a:spcAft>
              <a:buSzPts val="2400"/>
              <a:buFont typeface="Noto Sans Symbols"/>
              <a:buNone/>
            </a:pPr>
            <a:r>
              <a:rPr lang="en-US" sz="2400"/>
              <a:t>READ AND WRITE OPERATIONS (contd.):</a:t>
            </a:r>
            <a:endParaRPr/>
          </a:p>
          <a:p>
            <a:pPr indent="-469900" lvl="0" marL="469900" rtl="0" algn="l">
              <a:lnSpc>
                <a:spcPct val="80000"/>
              </a:lnSpc>
              <a:spcBef>
                <a:spcPts val="500"/>
              </a:spcBef>
              <a:spcAft>
                <a:spcPts val="0"/>
              </a:spcAft>
              <a:buSzPts val="2400"/>
              <a:buFont typeface="Verdana"/>
              <a:buChar char="□"/>
            </a:pPr>
            <a:r>
              <a:rPr b="1" lang="en-US" sz="2400"/>
              <a:t>write_item(X</a:t>
            </a:r>
            <a:r>
              <a:rPr lang="en-US" sz="2400"/>
              <a:t>) command includes the following steps:</a:t>
            </a:r>
            <a:endParaRPr/>
          </a:p>
          <a:p>
            <a:pPr indent="-438150" lvl="1" marL="908050" rtl="0" algn="l">
              <a:lnSpc>
                <a:spcPct val="80000"/>
              </a:lnSpc>
              <a:spcBef>
                <a:spcPts val="500"/>
              </a:spcBef>
              <a:spcAft>
                <a:spcPts val="0"/>
              </a:spcAft>
              <a:buSzPts val="2100"/>
              <a:buFont typeface="Verdana"/>
              <a:buChar char="■"/>
            </a:pPr>
            <a:r>
              <a:rPr lang="en-US" sz="2100"/>
              <a:t>Find the address of the disk block that contains item X.</a:t>
            </a:r>
            <a:endParaRPr sz="2600"/>
          </a:p>
          <a:p>
            <a:pPr indent="-438150" lvl="1" marL="908050" rtl="0" algn="l">
              <a:lnSpc>
                <a:spcPct val="80000"/>
              </a:lnSpc>
              <a:spcBef>
                <a:spcPts val="500"/>
              </a:spcBef>
              <a:spcAft>
                <a:spcPts val="0"/>
              </a:spcAft>
              <a:buSzPts val="2100"/>
              <a:buFont typeface="Verdana"/>
              <a:buChar char="■"/>
            </a:pPr>
            <a:r>
              <a:rPr lang="en-US" sz="2100"/>
              <a:t>Copy that disk block into a buffer in main memory (if that disk block is not already in some main memory buffer).</a:t>
            </a:r>
            <a:endParaRPr sz="2600"/>
          </a:p>
          <a:p>
            <a:pPr indent="-438150" lvl="1" marL="908050" rtl="0" algn="l">
              <a:lnSpc>
                <a:spcPct val="80000"/>
              </a:lnSpc>
              <a:spcBef>
                <a:spcPts val="500"/>
              </a:spcBef>
              <a:spcAft>
                <a:spcPts val="0"/>
              </a:spcAft>
              <a:buSzPts val="2100"/>
              <a:buFont typeface="Verdana"/>
              <a:buChar char="■"/>
            </a:pPr>
            <a:r>
              <a:rPr lang="en-US" sz="2100"/>
              <a:t>Copy item X from the program variable named X into its correct location in the buffer.</a:t>
            </a:r>
            <a:endParaRPr sz="2600"/>
          </a:p>
          <a:p>
            <a:pPr indent="-438150" lvl="1" marL="908050" rtl="0" algn="l">
              <a:lnSpc>
                <a:spcPct val="80000"/>
              </a:lnSpc>
              <a:spcBef>
                <a:spcPts val="500"/>
              </a:spcBef>
              <a:spcAft>
                <a:spcPts val="0"/>
              </a:spcAft>
              <a:buSzPts val="2100"/>
              <a:buFont typeface="Verdana"/>
              <a:buChar char="■"/>
            </a:pPr>
            <a:r>
              <a:rPr lang="en-US" sz="2100"/>
              <a:t>Store the updated block from the buffer back to disk (either immediately or at some later point in time). </a:t>
            </a:r>
            <a:endParaRPr/>
          </a:p>
        </p:txBody>
      </p:sp>
      <p:sp>
        <p:nvSpPr>
          <p:cNvPr descr="Date Placeholder 3" id="531" name="Google Shape;531;p3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532" name="Google Shape;532;p3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descr="Title 1" id="537" name="Google Shape;537;p3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Date Placeholder 3" id="538" name="Google Shape;538;p3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539" name="Google Shape;539;p3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540" name="Google Shape;540;p32"/>
          <p:cNvSpPr txBox="1"/>
          <p:nvPr/>
        </p:nvSpPr>
        <p:spPr>
          <a:xfrm>
            <a:off x="615950" y="1355725"/>
            <a:ext cx="64468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write Operation: </a:t>
            </a:r>
            <a:r>
              <a:rPr lang="en-US" sz="1800">
                <a:solidFill>
                  <a:srgbClr val="FF0000"/>
                </a:solidFill>
                <a:latin typeface="Verdana"/>
                <a:ea typeface="Verdana"/>
                <a:cs typeface="Verdana"/>
                <a:sym typeface="Verdana"/>
              </a:rPr>
              <a:t>write</a:t>
            </a:r>
            <a:r>
              <a:rPr lang="en-US" sz="1800">
                <a:solidFill>
                  <a:srgbClr val="000000"/>
                </a:solidFill>
                <a:latin typeface="Verdana"/>
                <a:ea typeface="Verdana"/>
                <a:cs typeface="Verdana"/>
                <a:sym typeface="Verdana"/>
              </a:rPr>
              <a:t>(balance)</a:t>
            </a:r>
            <a:endParaRPr/>
          </a:p>
        </p:txBody>
      </p:sp>
      <p:sp>
        <p:nvSpPr>
          <p:cNvPr descr="TextBox 7" id="541" name="Google Shape;541;p32"/>
          <p:cNvSpPr txBox="1"/>
          <p:nvPr/>
        </p:nvSpPr>
        <p:spPr>
          <a:xfrm>
            <a:off x="284163" y="1784350"/>
            <a:ext cx="7553325"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Update </a:t>
            </a:r>
            <a:r>
              <a:rPr lang="en-US" sz="1800">
                <a:solidFill>
                  <a:srgbClr val="33CC33"/>
                </a:solidFill>
                <a:latin typeface="Verdana"/>
                <a:ea typeface="Verdana"/>
                <a:cs typeface="Verdana"/>
                <a:sym typeface="Verdana"/>
              </a:rPr>
              <a:t>accounts  </a:t>
            </a:r>
            <a:r>
              <a:rPr lang="en-US" sz="1800">
                <a:solidFill>
                  <a:srgbClr val="000000"/>
                </a:solidFill>
                <a:latin typeface="Verdana"/>
                <a:ea typeface="Verdana"/>
                <a:cs typeface="Verdana"/>
                <a:sym typeface="Verdana"/>
              </a:rPr>
              <a:t>set balance=balance-100 where Name=‘Ram’;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descr="Title 1" id="546" name="Google Shape;546;p3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Date Placeholder 3" id="547" name="Google Shape;547;p3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548" name="Google Shape;548;p3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549" name="Google Shape;549;p33"/>
          <p:cNvSpPr txBox="1"/>
          <p:nvPr/>
        </p:nvSpPr>
        <p:spPr>
          <a:xfrm>
            <a:off x="615950" y="1355725"/>
            <a:ext cx="64468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write Operation: </a:t>
            </a:r>
            <a:r>
              <a:rPr lang="en-US" sz="1800">
                <a:solidFill>
                  <a:srgbClr val="FF0000"/>
                </a:solidFill>
                <a:latin typeface="Verdana"/>
                <a:ea typeface="Verdana"/>
                <a:cs typeface="Verdana"/>
                <a:sym typeface="Verdana"/>
              </a:rPr>
              <a:t>write</a:t>
            </a:r>
            <a:r>
              <a:rPr lang="en-US" sz="1800">
                <a:solidFill>
                  <a:srgbClr val="000000"/>
                </a:solidFill>
                <a:latin typeface="Verdana"/>
                <a:ea typeface="Verdana"/>
                <a:cs typeface="Verdana"/>
                <a:sym typeface="Verdana"/>
              </a:rPr>
              <a:t>(balance)</a:t>
            </a:r>
            <a:endParaRPr/>
          </a:p>
        </p:txBody>
      </p:sp>
      <p:sp>
        <p:nvSpPr>
          <p:cNvPr descr="TextBox 7" id="550" name="Google Shape;550;p33"/>
          <p:cNvSpPr txBox="1"/>
          <p:nvPr/>
        </p:nvSpPr>
        <p:spPr>
          <a:xfrm>
            <a:off x="284163" y="1784350"/>
            <a:ext cx="7553325"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Update </a:t>
            </a:r>
            <a:r>
              <a:rPr lang="en-US" sz="1800">
                <a:solidFill>
                  <a:srgbClr val="33CC33"/>
                </a:solidFill>
                <a:latin typeface="Verdana"/>
                <a:ea typeface="Verdana"/>
                <a:cs typeface="Verdana"/>
                <a:sym typeface="Verdana"/>
              </a:rPr>
              <a:t>accounts  </a:t>
            </a:r>
            <a:r>
              <a:rPr lang="en-US" sz="1800">
                <a:solidFill>
                  <a:srgbClr val="000000"/>
                </a:solidFill>
                <a:latin typeface="Verdana"/>
                <a:ea typeface="Verdana"/>
                <a:cs typeface="Verdana"/>
                <a:sym typeface="Verdana"/>
              </a:rPr>
              <a:t>set balance=balance-100 where Name=‘Ram’;</a:t>
            </a:r>
            <a:endParaRPr/>
          </a:p>
        </p:txBody>
      </p:sp>
      <p:sp>
        <p:nvSpPr>
          <p:cNvPr descr="Flowchart: Magnetic Disk 9" id="551" name="Google Shape;551;p33"/>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552" name="Google Shape;552;p33"/>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553" name="Google Shape;553;p33"/>
          <p:cNvSpPr/>
          <p:nvPr/>
        </p:nvSpPr>
        <p:spPr>
          <a:xfrm>
            <a:off x="5429250" y="3675063"/>
            <a:ext cx="2286000" cy="1397000"/>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554" name="Google Shape;554;p33"/>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555" name="Google Shape;555;p33"/>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556" name="Google Shape;556;p33"/>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Rectangle 19" id="557" name="Google Shape;557;p33"/>
          <p:cNvSpPr/>
          <p:nvPr/>
        </p:nvSpPr>
        <p:spPr>
          <a:xfrm>
            <a:off x="1641475" y="3141663"/>
            <a:ext cx="1500188" cy="3001962"/>
          </a:xfrm>
          <a:prstGeom prst="rect">
            <a:avLst/>
          </a:pr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558" name="Google Shape;558;p33"/>
          <p:cNvSpPr txBox="1"/>
          <p:nvPr/>
        </p:nvSpPr>
        <p:spPr>
          <a:xfrm>
            <a:off x="1641475" y="39290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a:t>
            </a:r>
            <a:endParaRPr/>
          </a:p>
        </p:txBody>
      </p:sp>
      <p:pic>
        <p:nvPicPr>
          <p:cNvPr descr="Picture 4" id="559" name="Google Shape;559;p33"/>
          <p:cNvPicPr preferRelativeResize="0"/>
          <p:nvPr/>
        </p:nvPicPr>
        <p:blipFill rotWithShape="1">
          <a:blip r:embed="rId3">
            <a:alphaModFix/>
          </a:blip>
          <a:srcRect b="0" l="0" r="0" t="0"/>
          <a:stretch/>
        </p:blipFill>
        <p:spPr>
          <a:xfrm>
            <a:off x="5500688" y="3840163"/>
            <a:ext cx="2143125" cy="1111250"/>
          </a:xfrm>
          <a:prstGeom prst="rect">
            <a:avLst/>
          </a:prstGeom>
          <a:noFill/>
          <a:ln>
            <a:noFill/>
          </a:ln>
        </p:spPr>
      </p:pic>
      <p:cxnSp>
        <p:nvCxnSpPr>
          <p:cNvPr descr="Straight Arrow Connector 25" id="560" name="Google Shape;560;p33"/>
          <p:cNvCxnSpPr/>
          <p:nvPr/>
        </p:nvCxnSpPr>
        <p:spPr>
          <a:xfrm rot="10800000">
            <a:off x="3141663" y="4113213"/>
            <a:ext cx="2216150" cy="601662"/>
          </a:xfrm>
          <a:prstGeom prst="straightConnector1">
            <a:avLst/>
          </a:prstGeom>
          <a:noFill/>
          <a:ln cap="flat" cmpd="sng" w="9525">
            <a:solidFill>
              <a:srgbClr val="000000"/>
            </a:solidFill>
            <a:prstDash val="solid"/>
            <a:round/>
            <a:headEnd len="sm" w="sm" type="none"/>
            <a:tailEnd len="med" w="med" type="triangle"/>
          </a:ln>
        </p:spPr>
      </p:cxnSp>
      <p:sp>
        <p:nvSpPr>
          <p:cNvPr descr="TextBox 26" id="561" name="Google Shape;561;p33"/>
          <p:cNvSpPr txBox="1"/>
          <p:nvPr/>
        </p:nvSpPr>
        <p:spPr>
          <a:xfrm>
            <a:off x="3473450" y="4000500"/>
            <a:ext cx="13255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2</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Disk block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 of</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Main memory</a:t>
            </a:r>
            <a:endParaRPr/>
          </a:p>
        </p:txBody>
      </p:sp>
      <p:sp>
        <p:nvSpPr>
          <p:cNvPr descr="TextBox 27" id="562" name="Google Shape;562;p33"/>
          <p:cNvSpPr txBox="1"/>
          <p:nvPr/>
        </p:nvSpPr>
        <p:spPr>
          <a:xfrm>
            <a:off x="1633538" y="2784475"/>
            <a:ext cx="167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Main memory</a:t>
            </a:r>
            <a:endParaRPr/>
          </a:p>
        </p:txBody>
      </p:sp>
      <p:sp>
        <p:nvSpPr>
          <p:cNvPr descr="TextBox 28" id="563" name="Google Shape;563;p33"/>
          <p:cNvSpPr txBox="1"/>
          <p:nvPr/>
        </p:nvSpPr>
        <p:spPr>
          <a:xfrm>
            <a:off x="1641475" y="56435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150 -100</a:t>
            </a:r>
            <a:endParaRPr/>
          </a:p>
        </p:txBody>
      </p:sp>
      <p:cxnSp>
        <p:nvCxnSpPr>
          <p:cNvPr descr="Shape 30" id="564" name="Google Shape;564;p33"/>
          <p:cNvCxnSpPr>
            <a:stCxn id="558" idx="0"/>
            <a:endCxn id="563" idx="0"/>
          </p:cNvCxnSpPr>
          <p:nvPr/>
        </p:nvCxnSpPr>
        <p:spPr>
          <a:xfrm>
            <a:off x="2391569" y="3929063"/>
            <a:ext cx="0" cy="1714500"/>
          </a:xfrm>
          <a:prstGeom prst="straightConnector1">
            <a:avLst/>
          </a:prstGeom>
          <a:noFill/>
          <a:ln cap="flat" cmpd="sng" w="9525">
            <a:solidFill>
              <a:srgbClr val="000000"/>
            </a:solidFill>
            <a:prstDash val="solid"/>
            <a:round/>
            <a:headEnd len="sm" w="sm" type="none"/>
            <a:tailEnd len="med" w="med" type="triangle"/>
          </a:ln>
        </p:spPr>
      </p:cxnSp>
      <p:sp>
        <p:nvSpPr>
          <p:cNvPr descr="TextBox 38" id="565" name="Google Shape;565;p33"/>
          <p:cNvSpPr txBox="1"/>
          <p:nvPr/>
        </p:nvSpPr>
        <p:spPr>
          <a:xfrm>
            <a:off x="3187700" y="5630863"/>
            <a:ext cx="1843088" cy="573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balance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Program variable</a:t>
            </a:r>
            <a:endParaRPr/>
          </a:p>
        </p:txBody>
      </p:sp>
      <p:sp>
        <p:nvSpPr>
          <p:cNvPr descr="TextBox 39" id="566" name="Google Shape;566;p33"/>
          <p:cNvSpPr txBox="1"/>
          <p:nvPr/>
        </p:nvSpPr>
        <p:spPr>
          <a:xfrm>
            <a:off x="211138" y="4214813"/>
            <a:ext cx="1033462" cy="1385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3</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from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buffer to</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variable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TextBox 40" id="567" name="Google Shape;567;p33"/>
          <p:cNvSpPr txBox="1"/>
          <p:nvPr/>
        </p:nvSpPr>
        <p:spPr>
          <a:xfrm>
            <a:off x="2044700" y="3571875"/>
            <a:ext cx="7858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buffer</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descr="Title 1" id="572" name="Google Shape;572;p3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Date Placeholder 3" id="573" name="Google Shape;573;p3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574" name="Google Shape;574;p3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575" name="Google Shape;575;p34"/>
          <p:cNvSpPr txBox="1"/>
          <p:nvPr/>
        </p:nvSpPr>
        <p:spPr>
          <a:xfrm>
            <a:off x="615950" y="1355725"/>
            <a:ext cx="64468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write Operation: </a:t>
            </a:r>
            <a:r>
              <a:rPr lang="en-US" sz="1800">
                <a:solidFill>
                  <a:srgbClr val="FF0000"/>
                </a:solidFill>
                <a:latin typeface="Verdana"/>
                <a:ea typeface="Verdana"/>
                <a:cs typeface="Verdana"/>
                <a:sym typeface="Verdana"/>
              </a:rPr>
              <a:t>write</a:t>
            </a:r>
            <a:r>
              <a:rPr lang="en-US" sz="1800">
                <a:solidFill>
                  <a:srgbClr val="000000"/>
                </a:solidFill>
                <a:latin typeface="Verdana"/>
                <a:ea typeface="Verdana"/>
                <a:cs typeface="Verdana"/>
                <a:sym typeface="Verdana"/>
              </a:rPr>
              <a:t>(balance)</a:t>
            </a:r>
            <a:endParaRPr/>
          </a:p>
        </p:txBody>
      </p:sp>
      <p:sp>
        <p:nvSpPr>
          <p:cNvPr descr="TextBox 7" id="576" name="Google Shape;576;p34"/>
          <p:cNvSpPr txBox="1"/>
          <p:nvPr/>
        </p:nvSpPr>
        <p:spPr>
          <a:xfrm>
            <a:off x="284163" y="1784350"/>
            <a:ext cx="7553325"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Update </a:t>
            </a:r>
            <a:r>
              <a:rPr lang="en-US" sz="1800">
                <a:solidFill>
                  <a:srgbClr val="33CC33"/>
                </a:solidFill>
                <a:latin typeface="Verdana"/>
                <a:ea typeface="Verdana"/>
                <a:cs typeface="Verdana"/>
                <a:sym typeface="Verdana"/>
              </a:rPr>
              <a:t>accounts  </a:t>
            </a:r>
            <a:r>
              <a:rPr lang="en-US" sz="1800">
                <a:solidFill>
                  <a:srgbClr val="000000"/>
                </a:solidFill>
                <a:latin typeface="Verdana"/>
                <a:ea typeface="Verdana"/>
                <a:cs typeface="Verdana"/>
                <a:sym typeface="Verdana"/>
              </a:rPr>
              <a:t>set balance=balance-100 where Name=‘Ram’;</a:t>
            </a:r>
            <a:endParaRPr/>
          </a:p>
        </p:txBody>
      </p:sp>
      <p:sp>
        <p:nvSpPr>
          <p:cNvPr descr="Flowchart: Magnetic Disk 9" id="577" name="Google Shape;577;p34"/>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578" name="Google Shape;578;p34"/>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579" name="Google Shape;579;p34"/>
          <p:cNvSpPr/>
          <p:nvPr/>
        </p:nvSpPr>
        <p:spPr>
          <a:xfrm>
            <a:off x="5429250" y="4143375"/>
            <a:ext cx="2286000" cy="928688"/>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580" name="Google Shape;580;p34"/>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581" name="Google Shape;581;p34"/>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582" name="Google Shape;582;p34"/>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Rectangle 19" id="583" name="Google Shape;583;p34"/>
          <p:cNvSpPr/>
          <p:nvPr/>
        </p:nvSpPr>
        <p:spPr>
          <a:xfrm>
            <a:off x="1641475" y="3141663"/>
            <a:ext cx="1500188" cy="3001962"/>
          </a:xfrm>
          <a:prstGeom prst="rect">
            <a:avLst/>
          </a:pr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584" name="Google Shape;584;p34"/>
          <p:cNvSpPr txBox="1"/>
          <p:nvPr/>
        </p:nvSpPr>
        <p:spPr>
          <a:xfrm>
            <a:off x="1641475" y="39290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150 50</a:t>
            </a:r>
            <a:endParaRPr/>
          </a:p>
        </p:txBody>
      </p:sp>
      <p:sp>
        <p:nvSpPr>
          <p:cNvPr descr="TextBox 27" id="585" name="Google Shape;585;p34"/>
          <p:cNvSpPr txBox="1"/>
          <p:nvPr/>
        </p:nvSpPr>
        <p:spPr>
          <a:xfrm>
            <a:off x="1633538" y="2784475"/>
            <a:ext cx="167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Main memory</a:t>
            </a:r>
            <a:endParaRPr/>
          </a:p>
        </p:txBody>
      </p:sp>
      <p:sp>
        <p:nvSpPr>
          <p:cNvPr descr="TextBox 28" id="586" name="Google Shape;586;p34"/>
          <p:cNvSpPr txBox="1"/>
          <p:nvPr/>
        </p:nvSpPr>
        <p:spPr>
          <a:xfrm>
            <a:off x="1641475" y="56435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150 -100</a:t>
            </a:r>
            <a:endParaRPr/>
          </a:p>
        </p:txBody>
      </p:sp>
      <p:cxnSp>
        <p:nvCxnSpPr>
          <p:cNvPr descr="Shape 30" id="587" name="Google Shape;587;p34"/>
          <p:cNvCxnSpPr>
            <a:stCxn id="584" idx="0"/>
            <a:endCxn id="586" idx="0"/>
          </p:cNvCxnSpPr>
          <p:nvPr/>
        </p:nvCxnSpPr>
        <p:spPr>
          <a:xfrm>
            <a:off x="2391569" y="3929063"/>
            <a:ext cx="0" cy="1714500"/>
          </a:xfrm>
          <a:prstGeom prst="straightConnector1">
            <a:avLst/>
          </a:prstGeom>
          <a:noFill/>
          <a:ln cap="flat" cmpd="sng" w="9525">
            <a:solidFill>
              <a:srgbClr val="000000"/>
            </a:solidFill>
            <a:prstDash val="solid"/>
            <a:round/>
            <a:headEnd len="sm" w="sm" type="none"/>
            <a:tailEnd len="med" w="med" type="triangle"/>
          </a:ln>
        </p:spPr>
      </p:cxnSp>
      <p:sp>
        <p:nvSpPr>
          <p:cNvPr descr="TextBox 38" id="588" name="Google Shape;588;p34"/>
          <p:cNvSpPr txBox="1"/>
          <p:nvPr/>
        </p:nvSpPr>
        <p:spPr>
          <a:xfrm>
            <a:off x="3187700" y="5630863"/>
            <a:ext cx="2060575"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balance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Program variable</a:t>
            </a:r>
            <a:endParaRPr/>
          </a:p>
        </p:txBody>
      </p:sp>
      <p:sp>
        <p:nvSpPr>
          <p:cNvPr descr="TextBox 39" id="589" name="Google Shape;589;p34"/>
          <p:cNvSpPr txBox="1"/>
          <p:nvPr/>
        </p:nvSpPr>
        <p:spPr>
          <a:xfrm>
            <a:off x="211138" y="4214813"/>
            <a:ext cx="1033462" cy="1385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3</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from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buffer to</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variable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TextBox 40" id="590" name="Google Shape;590;p34"/>
          <p:cNvSpPr txBox="1"/>
          <p:nvPr/>
        </p:nvSpPr>
        <p:spPr>
          <a:xfrm>
            <a:off x="2044700" y="3571875"/>
            <a:ext cx="7858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buffer</a:t>
            </a:r>
            <a:endParaRPr/>
          </a:p>
        </p:txBody>
      </p:sp>
      <p:cxnSp>
        <p:nvCxnSpPr>
          <p:cNvPr descr="Straight Arrow Connector 34" id="591" name="Google Shape;591;p34"/>
          <p:cNvCxnSpPr/>
          <p:nvPr/>
        </p:nvCxnSpPr>
        <p:spPr>
          <a:xfrm flipH="1" rot="10800000">
            <a:off x="1854200" y="4298950"/>
            <a:ext cx="1588" cy="1344613"/>
          </a:xfrm>
          <a:prstGeom prst="straightConnector1">
            <a:avLst/>
          </a:prstGeom>
          <a:noFill/>
          <a:ln cap="flat" cmpd="sng" w="9525">
            <a:solidFill>
              <a:srgbClr val="000000"/>
            </a:solidFill>
            <a:prstDash val="solid"/>
            <a:round/>
            <a:headEnd len="sm" w="sm" type="none"/>
            <a:tailEnd len="med" w="med" type="triangle"/>
          </a:ln>
        </p:spPr>
      </p:cxnSp>
      <p:sp>
        <p:nvSpPr>
          <p:cNvPr descr="TextBox 35" id="592" name="Google Shape;592;p34"/>
          <p:cNvSpPr txBox="1"/>
          <p:nvPr/>
        </p:nvSpPr>
        <p:spPr>
          <a:xfrm>
            <a:off x="1827213" y="4500563"/>
            <a:ext cx="1627187" cy="954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4</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 variable</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a:t>
            </a:r>
            <a:endParaRPr/>
          </a:p>
        </p:txBody>
      </p:sp>
      <p:pic>
        <p:nvPicPr>
          <p:cNvPr descr="Picture 2" id="593" name="Google Shape;593;p34"/>
          <p:cNvPicPr preferRelativeResize="0"/>
          <p:nvPr/>
        </p:nvPicPr>
        <p:blipFill rotWithShape="1">
          <a:blip r:embed="rId3">
            <a:alphaModFix/>
          </a:blip>
          <a:srcRect b="0" l="0" r="0" t="0"/>
          <a:stretch/>
        </p:blipFill>
        <p:spPr>
          <a:xfrm>
            <a:off x="5564188" y="4214813"/>
            <a:ext cx="2079625" cy="714375"/>
          </a:xfrm>
          <a:prstGeom prst="rect">
            <a:avLst/>
          </a:prstGeom>
          <a:noFill/>
          <a:ln>
            <a:noFill/>
          </a:ln>
        </p:spPr>
      </p:pic>
      <p:cxnSp>
        <p:nvCxnSpPr>
          <p:cNvPr descr="Straight Arrow Connector 2" id="594" name="Google Shape;594;p34"/>
          <p:cNvCxnSpPr/>
          <p:nvPr/>
        </p:nvCxnSpPr>
        <p:spPr>
          <a:xfrm rot="10800000">
            <a:off x="3141663" y="4113213"/>
            <a:ext cx="2216150" cy="601662"/>
          </a:xfrm>
          <a:prstGeom prst="straightConnector1">
            <a:avLst/>
          </a:prstGeom>
          <a:noFill/>
          <a:ln cap="flat" cmpd="sng" w="9525">
            <a:solidFill>
              <a:srgbClr val="000000"/>
            </a:solidFill>
            <a:prstDash val="solid"/>
            <a:round/>
            <a:headEnd len="sm" w="sm" type="none"/>
            <a:tailEnd len="med" w="med" type="triangle"/>
          </a:ln>
        </p:spPr>
      </p:cxnSp>
      <p:sp>
        <p:nvSpPr>
          <p:cNvPr descr="TextBox 8" id="595" name="Google Shape;595;p34"/>
          <p:cNvSpPr txBox="1"/>
          <p:nvPr/>
        </p:nvSpPr>
        <p:spPr>
          <a:xfrm>
            <a:off x="3594100" y="4000500"/>
            <a:ext cx="13255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2</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Disk block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 of</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Main memory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descr="Title 1" id="600" name="Google Shape;600;p3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Model of Transaction: Read-Write Operations</a:t>
            </a:r>
            <a:endParaRPr/>
          </a:p>
        </p:txBody>
      </p:sp>
      <p:sp>
        <p:nvSpPr>
          <p:cNvPr descr="Date Placeholder 3" id="601" name="Google Shape;601;p3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602" name="Google Shape;602;p3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603" name="Google Shape;603;p35"/>
          <p:cNvSpPr txBox="1"/>
          <p:nvPr/>
        </p:nvSpPr>
        <p:spPr>
          <a:xfrm>
            <a:off x="615950" y="1355725"/>
            <a:ext cx="64468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Example of transaction write Operation: </a:t>
            </a:r>
            <a:r>
              <a:rPr lang="en-US" sz="1800">
                <a:solidFill>
                  <a:srgbClr val="FF0000"/>
                </a:solidFill>
                <a:latin typeface="Verdana"/>
                <a:ea typeface="Verdana"/>
                <a:cs typeface="Verdana"/>
                <a:sym typeface="Verdana"/>
              </a:rPr>
              <a:t>write</a:t>
            </a:r>
            <a:r>
              <a:rPr lang="en-US" sz="1800">
                <a:solidFill>
                  <a:srgbClr val="000000"/>
                </a:solidFill>
                <a:latin typeface="Verdana"/>
                <a:ea typeface="Verdana"/>
                <a:cs typeface="Verdana"/>
                <a:sym typeface="Verdana"/>
              </a:rPr>
              <a:t>(balance)</a:t>
            </a:r>
            <a:endParaRPr/>
          </a:p>
        </p:txBody>
      </p:sp>
      <p:sp>
        <p:nvSpPr>
          <p:cNvPr descr="TextBox 7" id="604" name="Google Shape;604;p35"/>
          <p:cNvSpPr txBox="1"/>
          <p:nvPr/>
        </p:nvSpPr>
        <p:spPr>
          <a:xfrm>
            <a:off x="284163" y="1784350"/>
            <a:ext cx="7553325" cy="3810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Update </a:t>
            </a:r>
            <a:r>
              <a:rPr lang="en-US" sz="1800">
                <a:solidFill>
                  <a:srgbClr val="33CC33"/>
                </a:solidFill>
                <a:latin typeface="Verdana"/>
                <a:ea typeface="Verdana"/>
                <a:cs typeface="Verdana"/>
                <a:sym typeface="Verdana"/>
              </a:rPr>
              <a:t>accounts  </a:t>
            </a:r>
            <a:r>
              <a:rPr lang="en-US" sz="1800">
                <a:solidFill>
                  <a:srgbClr val="000000"/>
                </a:solidFill>
                <a:latin typeface="Verdana"/>
                <a:ea typeface="Verdana"/>
                <a:cs typeface="Verdana"/>
                <a:sym typeface="Verdana"/>
              </a:rPr>
              <a:t>set balance=balance-100 where Name=‘Ram’;</a:t>
            </a:r>
            <a:endParaRPr/>
          </a:p>
        </p:txBody>
      </p:sp>
      <p:sp>
        <p:nvSpPr>
          <p:cNvPr descr="Flowchart: Magnetic Disk 9" id="605" name="Google Shape;605;p35"/>
          <p:cNvSpPr/>
          <p:nvPr/>
        </p:nvSpPr>
        <p:spPr>
          <a:xfrm>
            <a:off x="5357813" y="2284413"/>
            <a:ext cx="2357437" cy="371633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606" name="Google Shape;606;p35"/>
          <p:cNvSpPr txBox="1"/>
          <p:nvPr/>
        </p:nvSpPr>
        <p:spPr>
          <a:xfrm>
            <a:off x="5902325" y="2713038"/>
            <a:ext cx="12271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Hard Disk</a:t>
            </a:r>
            <a:endParaRPr/>
          </a:p>
        </p:txBody>
      </p:sp>
      <p:sp>
        <p:nvSpPr>
          <p:cNvPr descr="Rectangle 13" id="607" name="Google Shape;607;p35"/>
          <p:cNvSpPr/>
          <p:nvPr/>
        </p:nvSpPr>
        <p:spPr>
          <a:xfrm>
            <a:off x="5429250" y="3768725"/>
            <a:ext cx="2286000" cy="1303338"/>
          </a:xfrm>
          <a:prstGeom prst="rect">
            <a:avLst/>
          </a:prstGeom>
          <a:noFill/>
          <a:ln cap="flat" cmpd="sng" w="28575">
            <a:solidFill>
              <a:srgbClr val="FF99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608" name="Google Shape;608;p35"/>
          <p:cNvSpPr txBox="1"/>
          <p:nvPr/>
        </p:nvSpPr>
        <p:spPr>
          <a:xfrm>
            <a:off x="7831138" y="4214813"/>
            <a:ext cx="1096962"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Block of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Memory</a:t>
            </a:r>
            <a:endParaRPr/>
          </a:p>
        </p:txBody>
      </p:sp>
      <p:cxnSp>
        <p:nvCxnSpPr>
          <p:cNvPr descr="Straight Arrow Connector 16" id="609" name="Google Shape;609;p35"/>
          <p:cNvCxnSpPr/>
          <p:nvPr/>
        </p:nvCxnSpPr>
        <p:spPr>
          <a:xfrm>
            <a:off x="3998913" y="2212975"/>
            <a:ext cx="1358900" cy="2216150"/>
          </a:xfrm>
          <a:prstGeom prst="straightConnector1">
            <a:avLst/>
          </a:prstGeom>
          <a:noFill/>
          <a:ln cap="flat" cmpd="sng" w="9525">
            <a:solidFill>
              <a:srgbClr val="000000"/>
            </a:solidFill>
            <a:prstDash val="solid"/>
            <a:round/>
            <a:headEnd len="sm" w="sm" type="none"/>
            <a:tailEnd len="med" w="med" type="triangle"/>
          </a:ln>
        </p:spPr>
      </p:cxnSp>
      <p:sp>
        <p:nvSpPr>
          <p:cNvPr descr="TextBox 18" id="610" name="Google Shape;610;p35"/>
          <p:cNvSpPr txBox="1"/>
          <p:nvPr/>
        </p:nvSpPr>
        <p:spPr>
          <a:xfrm>
            <a:off x="3813175" y="2330450"/>
            <a:ext cx="1566863" cy="11699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1</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Find address</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Of the disk</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Block containing</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Rectangle 19" id="611" name="Google Shape;611;p35"/>
          <p:cNvSpPr/>
          <p:nvPr/>
        </p:nvSpPr>
        <p:spPr>
          <a:xfrm>
            <a:off x="1641475" y="3141663"/>
            <a:ext cx="1500188" cy="3001962"/>
          </a:xfrm>
          <a:prstGeom prst="rect">
            <a:avLst/>
          </a:pr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612" name="Google Shape;612;p35"/>
          <p:cNvSpPr txBox="1"/>
          <p:nvPr/>
        </p:nvSpPr>
        <p:spPr>
          <a:xfrm>
            <a:off x="1641475" y="39290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150 50</a:t>
            </a:r>
            <a:endParaRPr/>
          </a:p>
        </p:txBody>
      </p:sp>
      <p:sp>
        <p:nvSpPr>
          <p:cNvPr descr="TextBox 27" id="613" name="Google Shape;613;p35"/>
          <p:cNvSpPr txBox="1"/>
          <p:nvPr/>
        </p:nvSpPr>
        <p:spPr>
          <a:xfrm>
            <a:off x="1633538" y="2784475"/>
            <a:ext cx="167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Main memory</a:t>
            </a:r>
            <a:endParaRPr/>
          </a:p>
        </p:txBody>
      </p:sp>
      <p:sp>
        <p:nvSpPr>
          <p:cNvPr descr="TextBox 28" id="614" name="Google Shape;614;p35"/>
          <p:cNvSpPr txBox="1"/>
          <p:nvPr/>
        </p:nvSpPr>
        <p:spPr>
          <a:xfrm>
            <a:off x="1641475" y="5643563"/>
            <a:ext cx="1500188" cy="3794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150 -100</a:t>
            </a:r>
            <a:endParaRPr/>
          </a:p>
        </p:txBody>
      </p:sp>
      <p:cxnSp>
        <p:nvCxnSpPr>
          <p:cNvPr descr="Shape 30" id="615" name="Google Shape;615;p35"/>
          <p:cNvCxnSpPr>
            <a:stCxn id="612" idx="0"/>
            <a:endCxn id="614" idx="0"/>
          </p:cNvCxnSpPr>
          <p:nvPr/>
        </p:nvCxnSpPr>
        <p:spPr>
          <a:xfrm>
            <a:off x="2391569" y="3929063"/>
            <a:ext cx="0" cy="1714500"/>
          </a:xfrm>
          <a:prstGeom prst="straightConnector1">
            <a:avLst/>
          </a:prstGeom>
          <a:noFill/>
          <a:ln cap="flat" cmpd="sng" w="9525">
            <a:solidFill>
              <a:srgbClr val="000000"/>
            </a:solidFill>
            <a:prstDash val="solid"/>
            <a:round/>
            <a:headEnd len="sm" w="sm" type="none"/>
            <a:tailEnd len="med" w="med" type="triangle"/>
          </a:ln>
        </p:spPr>
      </p:cxnSp>
      <p:sp>
        <p:nvSpPr>
          <p:cNvPr descr="TextBox 38" id="616" name="Google Shape;616;p35"/>
          <p:cNvSpPr txBox="1"/>
          <p:nvPr/>
        </p:nvSpPr>
        <p:spPr>
          <a:xfrm>
            <a:off x="3187700" y="5630863"/>
            <a:ext cx="2060575"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balance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Program variable</a:t>
            </a:r>
            <a:endParaRPr/>
          </a:p>
        </p:txBody>
      </p:sp>
      <p:sp>
        <p:nvSpPr>
          <p:cNvPr descr="TextBox 39" id="617" name="Google Shape;617;p35"/>
          <p:cNvSpPr txBox="1"/>
          <p:nvPr/>
        </p:nvSpPr>
        <p:spPr>
          <a:xfrm>
            <a:off x="211138" y="4214813"/>
            <a:ext cx="1033462" cy="1385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3</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from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buffer to</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variable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balance</a:t>
            </a:r>
            <a:endParaRPr/>
          </a:p>
        </p:txBody>
      </p:sp>
      <p:sp>
        <p:nvSpPr>
          <p:cNvPr descr="TextBox 40" id="618" name="Google Shape;618;p35"/>
          <p:cNvSpPr txBox="1"/>
          <p:nvPr/>
        </p:nvSpPr>
        <p:spPr>
          <a:xfrm>
            <a:off x="2044700" y="3571875"/>
            <a:ext cx="7858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buffer</a:t>
            </a:r>
            <a:endParaRPr/>
          </a:p>
        </p:txBody>
      </p:sp>
      <p:cxnSp>
        <p:nvCxnSpPr>
          <p:cNvPr descr="Straight Arrow Connector 34" id="619" name="Google Shape;619;p35"/>
          <p:cNvCxnSpPr/>
          <p:nvPr/>
        </p:nvCxnSpPr>
        <p:spPr>
          <a:xfrm flipH="1" rot="10800000">
            <a:off x="1854200" y="4298950"/>
            <a:ext cx="1588" cy="1344613"/>
          </a:xfrm>
          <a:prstGeom prst="straightConnector1">
            <a:avLst/>
          </a:prstGeom>
          <a:noFill/>
          <a:ln cap="flat" cmpd="sng" w="9525">
            <a:solidFill>
              <a:srgbClr val="000000"/>
            </a:solidFill>
            <a:prstDash val="solid"/>
            <a:round/>
            <a:headEnd len="sm" w="sm" type="none"/>
            <a:tailEnd len="med" w="med" type="triangle"/>
          </a:ln>
        </p:spPr>
      </p:cxnSp>
      <p:sp>
        <p:nvSpPr>
          <p:cNvPr descr="TextBox 35" id="620" name="Google Shape;620;p35"/>
          <p:cNvSpPr txBox="1"/>
          <p:nvPr/>
        </p:nvSpPr>
        <p:spPr>
          <a:xfrm>
            <a:off x="1901825" y="4500563"/>
            <a:ext cx="1627188" cy="954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4</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Program variable</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into buffer</a:t>
            </a:r>
            <a:endParaRPr/>
          </a:p>
        </p:txBody>
      </p:sp>
      <p:cxnSp>
        <p:nvCxnSpPr>
          <p:cNvPr descr="Straight Arrow Connector 32" id="621" name="Google Shape;621;p35"/>
          <p:cNvCxnSpPr/>
          <p:nvPr/>
        </p:nvCxnSpPr>
        <p:spPr>
          <a:xfrm>
            <a:off x="3141663" y="4286250"/>
            <a:ext cx="2216150" cy="500063"/>
          </a:xfrm>
          <a:prstGeom prst="straightConnector1">
            <a:avLst/>
          </a:prstGeom>
          <a:noFill/>
          <a:ln cap="flat" cmpd="sng" w="9525">
            <a:solidFill>
              <a:srgbClr val="000000"/>
            </a:solidFill>
            <a:prstDash val="solid"/>
            <a:round/>
            <a:headEnd len="sm" w="sm" type="none"/>
            <a:tailEnd len="med" w="med" type="triangle"/>
          </a:ln>
        </p:spPr>
      </p:cxnSp>
      <p:sp>
        <p:nvSpPr>
          <p:cNvPr descr="TextBox 33" id="622" name="Google Shape;622;p35"/>
          <p:cNvSpPr txBox="1"/>
          <p:nvPr/>
        </p:nvSpPr>
        <p:spPr>
          <a:xfrm>
            <a:off x="3473450" y="3929063"/>
            <a:ext cx="1190625" cy="954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FF0000"/>
                </a:solidFill>
                <a:latin typeface="Verdana"/>
                <a:ea typeface="Verdana"/>
                <a:cs typeface="Verdana"/>
                <a:sym typeface="Verdana"/>
              </a:rPr>
              <a:t>Step 5</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Copy </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From buffer</a:t>
            </a:r>
            <a:endParaRPr/>
          </a:p>
          <a:p>
            <a:pPr indent="0" lvl="0" marL="0" marR="0" rtl="0" algn="l">
              <a:spcBef>
                <a:spcPts val="0"/>
              </a:spcBef>
              <a:spcAft>
                <a:spcPts val="0"/>
              </a:spcAft>
              <a:buNone/>
            </a:pPr>
            <a:r>
              <a:rPr lang="en-US" sz="1400">
                <a:solidFill>
                  <a:srgbClr val="CC3300"/>
                </a:solidFill>
                <a:latin typeface="Verdana"/>
                <a:ea typeface="Verdana"/>
                <a:cs typeface="Verdana"/>
                <a:sym typeface="Verdana"/>
              </a:rPr>
              <a:t>To hard disk</a:t>
            </a:r>
            <a:endParaRPr/>
          </a:p>
        </p:txBody>
      </p:sp>
      <p:pic>
        <p:nvPicPr>
          <p:cNvPr descr="Picture 2" id="623" name="Google Shape;623;p35"/>
          <p:cNvPicPr preferRelativeResize="0"/>
          <p:nvPr/>
        </p:nvPicPr>
        <p:blipFill rotWithShape="1">
          <a:blip r:embed="rId3">
            <a:alphaModFix/>
          </a:blip>
          <a:srcRect b="0" l="0" r="0" t="0"/>
          <a:stretch/>
        </p:blipFill>
        <p:spPr>
          <a:xfrm>
            <a:off x="5564188" y="3768725"/>
            <a:ext cx="2079625" cy="116046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descr="Title 1" id="628" name="Google Shape;628;p3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629" name="Google Shape;629;p3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800"/>
              <a:buFont typeface="Noto Sans Symbols"/>
              <a:buNone/>
            </a:pPr>
            <a:r>
              <a:rPr lang="en-US" sz="2800"/>
              <a:t>What is Concurrent Execution ?</a:t>
            </a:r>
            <a:endParaRPr/>
          </a:p>
          <a:p>
            <a:pPr indent="0" lvl="0" marL="0" rtl="0" algn="l">
              <a:spcBef>
                <a:spcPts val="600"/>
              </a:spcBef>
              <a:spcAft>
                <a:spcPts val="0"/>
              </a:spcAft>
              <a:buSzPts val="2800"/>
              <a:buFont typeface="Noto Sans Symbols"/>
              <a:buNone/>
            </a:pPr>
            <a:r>
              <a:rPr lang="en-US" sz="2800"/>
              <a:t>When </a:t>
            </a:r>
            <a:r>
              <a:rPr b="1" lang="en-US" sz="2800"/>
              <a:t>Multiple users </a:t>
            </a:r>
            <a:r>
              <a:rPr lang="en-US" sz="2800"/>
              <a:t>trying to access same database record in an uncontrolled manner.</a:t>
            </a:r>
            <a:endParaRPr/>
          </a:p>
          <a:p>
            <a:pPr indent="0" lvl="0" marL="0" rtl="0" algn="l">
              <a:spcBef>
                <a:spcPts val="700"/>
              </a:spcBef>
              <a:spcAft>
                <a:spcPts val="0"/>
              </a:spcAft>
              <a:buSzPts val="2800"/>
              <a:buFont typeface="Noto Sans Symbols"/>
              <a:buNone/>
            </a:pPr>
            <a:r>
              <a:t/>
            </a:r>
            <a:endParaRPr sz="2800"/>
          </a:p>
          <a:p>
            <a:pPr indent="0" lvl="0" marL="0" rtl="0" algn="l">
              <a:spcBef>
                <a:spcPts val="600"/>
              </a:spcBef>
              <a:spcAft>
                <a:spcPts val="0"/>
              </a:spcAft>
              <a:buSzPts val="2800"/>
              <a:buFont typeface="Noto Sans Symbols"/>
              <a:buNone/>
            </a:pPr>
            <a:r>
              <a:rPr lang="en-US" sz="2800"/>
              <a:t>Problems with Concurrent execution</a:t>
            </a:r>
            <a:endParaRPr/>
          </a:p>
          <a:p>
            <a:pPr indent="-514350" lvl="1" marL="984250" rtl="0" algn="l">
              <a:spcBef>
                <a:spcPts val="500"/>
              </a:spcBef>
              <a:spcAft>
                <a:spcPts val="0"/>
              </a:spcAft>
              <a:buSzPts val="2400"/>
              <a:buFont typeface="Verdana"/>
              <a:buAutoNum type="arabicPeriod"/>
            </a:pPr>
            <a:r>
              <a:rPr lang="en-US" sz="2400"/>
              <a:t>Lost Update Problem</a:t>
            </a:r>
            <a:endParaRPr sz="2600"/>
          </a:p>
          <a:p>
            <a:pPr indent="-514350" lvl="1" marL="984250" rtl="0" algn="l">
              <a:spcBef>
                <a:spcPts val="500"/>
              </a:spcBef>
              <a:spcAft>
                <a:spcPts val="0"/>
              </a:spcAft>
              <a:buSzPts val="2400"/>
              <a:buFont typeface="Verdana"/>
              <a:buAutoNum type="arabicPeriod"/>
            </a:pPr>
            <a:r>
              <a:rPr lang="en-US" sz="2400"/>
              <a:t>Temporary Update (or Dirty Read) Problem </a:t>
            </a:r>
            <a:endParaRPr sz="2600"/>
          </a:p>
          <a:p>
            <a:pPr indent="-514350" lvl="1" marL="984250" rtl="0" algn="l">
              <a:spcBef>
                <a:spcPts val="500"/>
              </a:spcBef>
              <a:spcAft>
                <a:spcPts val="0"/>
              </a:spcAft>
              <a:buSzPts val="2400"/>
              <a:buFont typeface="Verdana"/>
              <a:buAutoNum type="arabicPeriod"/>
            </a:pPr>
            <a:r>
              <a:rPr lang="en-US" sz="2400"/>
              <a:t>Incorrect Summary Problem</a:t>
            </a:r>
            <a:endParaRPr sz="2600"/>
          </a:p>
          <a:p>
            <a:pPr indent="-514350" lvl="1" marL="984250" rtl="0" algn="l">
              <a:spcBef>
                <a:spcPts val="500"/>
              </a:spcBef>
              <a:spcAft>
                <a:spcPts val="0"/>
              </a:spcAft>
              <a:buSzPts val="2400"/>
              <a:buFont typeface="Verdana"/>
              <a:buAutoNum type="arabicPeriod"/>
            </a:pPr>
            <a:r>
              <a:rPr lang="en-US" sz="2400"/>
              <a:t>Unrepeatable Read</a:t>
            </a:r>
            <a:endParaRPr/>
          </a:p>
        </p:txBody>
      </p:sp>
      <p:sp>
        <p:nvSpPr>
          <p:cNvPr descr="Date Placeholder 3" id="630" name="Google Shape;630;p3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631" name="Google Shape;631;p3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descr="Title 1" id="636" name="Google Shape;636;p3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637" name="Google Shape;637;p3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638" name="Google Shape;638;p3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639" name="Google Shape;639;p37"/>
          <p:cNvGraphicFramePr/>
          <p:nvPr/>
        </p:nvGraphicFramePr>
        <p:xfrm>
          <a:off x="762000" y="2459038"/>
          <a:ext cx="3000000" cy="3000000"/>
        </p:xfrm>
        <a:graphic>
          <a:graphicData uri="http://schemas.openxmlformats.org/drawingml/2006/table">
            <a:tbl>
              <a:tblPr>
                <a:noFill/>
                <a:tableStyleId>{DA31C186-C125-4E34-A739-053F885C22C1}</a:tableStyleId>
              </a:tblPr>
              <a:tblGrid>
                <a:gridCol w="1090625"/>
                <a:gridCol w="1200150"/>
                <a:gridCol w="1096950"/>
                <a:gridCol w="1184275"/>
                <a:gridCol w="1196975"/>
                <a:gridCol w="1779600"/>
              </a:tblGrid>
              <a:tr h="536575">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Source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Destination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Train Name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Start 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Start Date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400"/>
                        <a:buFont typeface="Verdana"/>
                        <a:buNone/>
                      </a:pPr>
                      <a:r>
                        <a:rPr b="0" i="0" lang="en-US" sz="1400" u="none" cap="none" strike="noStrike">
                          <a:solidFill>
                            <a:srgbClr val="C00000"/>
                          </a:solidFill>
                          <a:latin typeface="Verdana"/>
                          <a:ea typeface="Verdana"/>
                          <a:cs typeface="Verdana"/>
                          <a:sym typeface="Verdana"/>
                        </a:rPr>
                        <a:t>Number of Seats </a:t>
                      </a:r>
                      <a:br>
                        <a:rPr b="0" i="0" lang="en-US" sz="1400" u="none" cap="none" strike="noStrike">
                          <a:solidFill>
                            <a:srgbClr val="C00000"/>
                          </a:solidFill>
                          <a:latin typeface="Verdana"/>
                          <a:ea typeface="Verdana"/>
                          <a:cs typeface="Verdana"/>
                          <a:sym typeface="Verdana"/>
                        </a:rPr>
                      </a:br>
                      <a:r>
                        <a:rPr b="0" i="0" lang="en-US" sz="1400" u="none" cap="none" strike="noStrike">
                          <a:solidFill>
                            <a:srgbClr val="C00000"/>
                          </a:solidFill>
                          <a:latin typeface="Verdana"/>
                          <a:ea typeface="Verdana"/>
                          <a:cs typeface="Verdana"/>
                          <a:sym typeface="Verdana"/>
                        </a:rPr>
                        <a:t>Reserved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365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Bangalore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Mysore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Tippu</a:t>
                      </a:r>
                      <a:endParaRPr/>
                    </a:p>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Express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15:00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25-3-2016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80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365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Bangalore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Mysore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Chamundi Express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18:15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25-3-2016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70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640" name="Google Shape;640;p37"/>
          <p:cNvSpPr txBox="1"/>
          <p:nvPr/>
        </p:nvSpPr>
        <p:spPr>
          <a:xfrm>
            <a:off x="2754313" y="2081213"/>
            <a:ext cx="289560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Train Reservation Database</a:t>
            </a:r>
            <a:endParaRPr/>
          </a:p>
        </p:txBody>
      </p:sp>
      <p:pic>
        <p:nvPicPr>
          <p:cNvPr descr="Picture 3" id="641" name="Google Shape;641;p37"/>
          <p:cNvPicPr preferRelativeResize="0"/>
          <p:nvPr/>
        </p:nvPicPr>
        <p:blipFill rotWithShape="1">
          <a:blip r:embed="rId3">
            <a:alphaModFix/>
          </a:blip>
          <a:srcRect b="0" l="0" r="0" t="0"/>
          <a:stretch/>
        </p:blipFill>
        <p:spPr>
          <a:xfrm>
            <a:off x="2266950" y="4873625"/>
            <a:ext cx="533400" cy="928688"/>
          </a:xfrm>
          <a:prstGeom prst="rect">
            <a:avLst/>
          </a:prstGeom>
          <a:noFill/>
          <a:ln>
            <a:noFill/>
          </a:ln>
        </p:spPr>
      </p:pic>
      <p:pic>
        <p:nvPicPr>
          <p:cNvPr descr="Picture 4" id="642" name="Google Shape;642;p37"/>
          <p:cNvPicPr preferRelativeResize="0"/>
          <p:nvPr/>
        </p:nvPicPr>
        <p:blipFill rotWithShape="1">
          <a:blip r:embed="rId4">
            <a:alphaModFix/>
          </a:blip>
          <a:srcRect b="0" l="0" r="0" t="0"/>
          <a:stretch/>
        </p:blipFill>
        <p:spPr>
          <a:xfrm>
            <a:off x="6200775" y="5092700"/>
            <a:ext cx="457200" cy="822325"/>
          </a:xfrm>
          <a:prstGeom prst="rect">
            <a:avLst/>
          </a:prstGeom>
          <a:noFill/>
          <a:ln>
            <a:noFill/>
          </a:ln>
        </p:spPr>
      </p:pic>
      <p:sp>
        <p:nvSpPr>
          <p:cNvPr descr="Rectangle 12" id="643" name="Google Shape;643;p37"/>
          <p:cNvSpPr/>
          <p:nvPr/>
        </p:nvSpPr>
        <p:spPr>
          <a:xfrm>
            <a:off x="609600" y="2038350"/>
            <a:ext cx="7921625" cy="2109788"/>
          </a:xfrm>
          <a:prstGeom prst="rect">
            <a:avLst/>
          </a:prstGeom>
          <a:noFill/>
          <a:ln cap="flat" cmpd="sng" w="38100">
            <a:solidFill>
              <a:srgbClr val="00B05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pSp>
        <p:nvGrpSpPr>
          <p:cNvPr id="644" name="Google Shape;644;p37"/>
          <p:cNvGrpSpPr/>
          <p:nvPr/>
        </p:nvGrpSpPr>
        <p:grpSpPr>
          <a:xfrm>
            <a:off x="3198813" y="4491038"/>
            <a:ext cx="2668587" cy="766762"/>
            <a:chOff x="0" y="-1"/>
            <a:chExt cx="2668137" cy="767236"/>
          </a:xfrm>
        </p:grpSpPr>
        <p:sp>
          <p:nvSpPr>
            <p:cNvPr id="645" name="Google Shape;645;p37"/>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646" name="Google Shape;646;p37"/>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sp>
        <p:nvSpPr>
          <p:cNvPr descr="Up Arrow 14" id="647" name="Google Shape;647;p37"/>
          <p:cNvSpPr/>
          <p:nvPr/>
        </p:nvSpPr>
        <p:spPr>
          <a:xfrm>
            <a:off x="4343400" y="4148138"/>
            <a:ext cx="304800" cy="342900"/>
          </a:xfrm>
          <a:custGeom>
            <a:rect b="b" l="l" r="r" t="t"/>
            <a:pathLst>
              <a:path extrusionOk="0" h="21600" w="21600">
                <a:moveTo>
                  <a:pt x="0" y="9626"/>
                </a:moveTo>
                <a:lnTo>
                  <a:pt x="10800" y="0"/>
                </a:lnTo>
                <a:lnTo>
                  <a:pt x="21600" y="9626"/>
                </a:lnTo>
                <a:lnTo>
                  <a:pt x="16200" y="9626"/>
                </a:lnTo>
                <a:lnTo>
                  <a:pt x="16200" y="21600"/>
                </a:lnTo>
                <a:lnTo>
                  <a:pt x="5400" y="21600"/>
                </a:lnTo>
                <a:lnTo>
                  <a:pt x="5400" y="9626"/>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cxnSp>
        <p:nvCxnSpPr>
          <p:cNvPr descr="Straight Arrow Connector 15" id="648" name="Google Shape;648;p37"/>
          <p:cNvCxnSpPr/>
          <p:nvPr/>
        </p:nvCxnSpPr>
        <p:spPr>
          <a:xfrm flipH="1" rot="10800000">
            <a:off x="2708275" y="4795838"/>
            <a:ext cx="490538"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649" name="Google Shape;649;p37"/>
          <p:cNvCxnSpPr/>
          <p:nvPr/>
        </p:nvCxnSpPr>
        <p:spPr>
          <a:xfrm rot="10800000">
            <a:off x="5867400" y="4826000"/>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2" id="650" name="Google Shape;650;p37"/>
          <p:cNvSpPr txBox="1"/>
          <p:nvPr/>
        </p:nvSpPr>
        <p:spPr>
          <a:xfrm>
            <a:off x="739775" y="1339850"/>
            <a:ext cx="5819775"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an example of Train Reservation System</a:t>
            </a:r>
            <a:endParaRPr/>
          </a:p>
        </p:txBody>
      </p:sp>
      <p:sp>
        <p:nvSpPr>
          <p:cNvPr descr="TextBox 17" id="651" name="Google Shape;651;p37"/>
          <p:cNvSpPr txBox="1"/>
          <p:nvPr/>
        </p:nvSpPr>
        <p:spPr>
          <a:xfrm>
            <a:off x="1989138" y="58023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652" name="Google Shape;652;p37"/>
          <p:cNvSpPr txBox="1"/>
          <p:nvPr/>
        </p:nvSpPr>
        <p:spPr>
          <a:xfrm>
            <a:off x="6046788" y="5822950"/>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descr="Title 1" id="657" name="Google Shape;657;p3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658" name="Google Shape;658;p3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659" name="Google Shape;659;p3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660" name="Google Shape;660;p38"/>
          <p:cNvPicPr preferRelativeResize="0"/>
          <p:nvPr/>
        </p:nvPicPr>
        <p:blipFill rotWithShape="1">
          <a:blip r:embed="rId3">
            <a:alphaModFix/>
          </a:blip>
          <a:srcRect b="0" l="0" r="0" t="0"/>
          <a:stretch/>
        </p:blipFill>
        <p:spPr>
          <a:xfrm>
            <a:off x="2243138" y="3560763"/>
            <a:ext cx="533400" cy="928687"/>
          </a:xfrm>
          <a:prstGeom prst="rect">
            <a:avLst/>
          </a:prstGeom>
          <a:noFill/>
          <a:ln>
            <a:noFill/>
          </a:ln>
        </p:spPr>
      </p:pic>
      <p:pic>
        <p:nvPicPr>
          <p:cNvPr descr="Picture 4" id="661" name="Google Shape;661;p38"/>
          <p:cNvPicPr preferRelativeResize="0"/>
          <p:nvPr/>
        </p:nvPicPr>
        <p:blipFill rotWithShape="1">
          <a:blip r:embed="rId4">
            <a:alphaModFix/>
          </a:blip>
          <a:srcRect b="0" l="0" r="0" t="0"/>
          <a:stretch/>
        </p:blipFill>
        <p:spPr>
          <a:xfrm>
            <a:off x="6361113" y="3759200"/>
            <a:ext cx="457200" cy="822325"/>
          </a:xfrm>
          <a:prstGeom prst="rect">
            <a:avLst/>
          </a:prstGeom>
          <a:noFill/>
          <a:ln>
            <a:noFill/>
          </a:ln>
        </p:spPr>
      </p:pic>
      <p:grpSp>
        <p:nvGrpSpPr>
          <p:cNvPr id="662" name="Google Shape;662;p38"/>
          <p:cNvGrpSpPr/>
          <p:nvPr/>
        </p:nvGrpSpPr>
        <p:grpSpPr>
          <a:xfrm>
            <a:off x="3130550" y="3500438"/>
            <a:ext cx="2668588" cy="766762"/>
            <a:chOff x="0" y="-1"/>
            <a:chExt cx="2668137" cy="767236"/>
          </a:xfrm>
        </p:grpSpPr>
        <p:sp>
          <p:nvSpPr>
            <p:cNvPr id="663" name="Google Shape;663;p38"/>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664" name="Google Shape;664;p38"/>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cxnSp>
        <p:nvCxnSpPr>
          <p:cNvPr descr="Straight Arrow Connector 15" id="665" name="Google Shape;665;p38"/>
          <p:cNvCxnSpPr/>
          <p:nvPr/>
        </p:nvCxnSpPr>
        <p:spPr>
          <a:xfrm flipH="1" rot="10800000">
            <a:off x="2601913" y="3803650"/>
            <a:ext cx="490537"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666" name="Google Shape;666;p38"/>
          <p:cNvCxnSpPr/>
          <p:nvPr/>
        </p:nvCxnSpPr>
        <p:spPr>
          <a:xfrm rot="10800000">
            <a:off x="5799138" y="3759200"/>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2" id="667" name="Google Shape;667;p38"/>
          <p:cNvSpPr txBox="1"/>
          <p:nvPr/>
        </p:nvSpPr>
        <p:spPr>
          <a:xfrm>
            <a:off x="515938" y="1155700"/>
            <a:ext cx="582136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an example of Train Reservation System</a:t>
            </a:r>
            <a:endParaRPr/>
          </a:p>
        </p:txBody>
      </p:sp>
      <p:sp>
        <p:nvSpPr>
          <p:cNvPr descr="TextBox 17" id="668" name="Google Shape;668;p38"/>
          <p:cNvSpPr txBox="1"/>
          <p:nvPr/>
        </p:nvSpPr>
        <p:spPr>
          <a:xfrm>
            <a:off x="1304925" y="3840163"/>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669" name="Google Shape;669;p38"/>
          <p:cNvSpPr txBox="1"/>
          <p:nvPr/>
        </p:nvSpPr>
        <p:spPr>
          <a:xfrm>
            <a:off x="6864350" y="3984625"/>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7" id="670" name="Google Shape;670;p38"/>
          <p:cNvSpPr/>
          <p:nvPr/>
        </p:nvSpPr>
        <p:spPr>
          <a:xfrm rot="10598870">
            <a:off x="4273550" y="3149600"/>
            <a:ext cx="322263" cy="360363"/>
          </a:xfrm>
          <a:custGeom>
            <a:rect b="b" l="l" r="r" t="t"/>
            <a:pathLst>
              <a:path extrusionOk="0" h="21600" w="21600">
                <a:moveTo>
                  <a:pt x="0" y="11934"/>
                </a:moveTo>
                <a:lnTo>
                  <a:pt x="5400" y="11934"/>
                </a:lnTo>
                <a:lnTo>
                  <a:pt x="5400" y="0"/>
                </a:lnTo>
                <a:lnTo>
                  <a:pt x="16200" y="0"/>
                </a:lnTo>
                <a:lnTo>
                  <a:pt x="16200" y="11934"/>
                </a:lnTo>
                <a:lnTo>
                  <a:pt x="21600" y="11934"/>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9" id="671" name="Google Shape;671;p38"/>
          <p:cNvSpPr txBox="1"/>
          <p:nvPr/>
        </p:nvSpPr>
        <p:spPr>
          <a:xfrm>
            <a:off x="106363" y="4489450"/>
            <a:ext cx="4699000" cy="7493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cancel</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express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2.Wants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Chamundi</a:t>
            </a:r>
            <a:r>
              <a:rPr lang="en-US" sz="1400">
                <a:solidFill>
                  <a:srgbClr val="000000"/>
                </a:solidFill>
                <a:latin typeface="Verdana"/>
                <a:ea typeface="Verdana"/>
                <a:cs typeface="Verdana"/>
                <a:sym typeface="Verdana"/>
              </a:rPr>
              <a:t> express</a:t>
            </a:r>
            <a:endParaRPr/>
          </a:p>
        </p:txBody>
      </p:sp>
      <p:sp>
        <p:nvSpPr>
          <p:cNvPr descr="TextBox 21" id="672" name="Google Shape;672;p38"/>
          <p:cNvSpPr txBox="1"/>
          <p:nvPr/>
        </p:nvSpPr>
        <p:spPr>
          <a:xfrm>
            <a:off x="5270500" y="4487863"/>
            <a:ext cx="3567113" cy="747712"/>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4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express</a:t>
            </a:r>
            <a:endParaRPr/>
          </a:p>
        </p:txBody>
      </p:sp>
      <p:pic>
        <p:nvPicPr>
          <p:cNvPr descr="Picture 3" id="673" name="Google Shape;673;p38"/>
          <p:cNvPicPr preferRelativeResize="0"/>
          <p:nvPr/>
        </p:nvPicPr>
        <p:blipFill rotWithShape="1">
          <a:blip r:embed="rId5">
            <a:alphaModFix/>
          </a:blip>
          <a:srcRect b="0" l="0" r="0" t="0"/>
          <a:stretch/>
        </p:blipFill>
        <p:spPr>
          <a:xfrm>
            <a:off x="1474788" y="1484313"/>
            <a:ext cx="6240462" cy="16859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descr="Title 1" id="678" name="Google Shape;678;p3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679" name="Google Shape;679;p3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680" name="Google Shape;680;p3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681" name="Google Shape;681;p39"/>
          <p:cNvPicPr preferRelativeResize="0"/>
          <p:nvPr/>
        </p:nvPicPr>
        <p:blipFill rotWithShape="1">
          <a:blip r:embed="rId3">
            <a:alphaModFix/>
          </a:blip>
          <a:srcRect b="0" l="0" r="0" t="0"/>
          <a:stretch/>
        </p:blipFill>
        <p:spPr>
          <a:xfrm>
            <a:off x="2243138" y="3271838"/>
            <a:ext cx="533400" cy="928687"/>
          </a:xfrm>
          <a:prstGeom prst="rect">
            <a:avLst/>
          </a:prstGeom>
          <a:noFill/>
          <a:ln>
            <a:noFill/>
          </a:ln>
        </p:spPr>
      </p:pic>
      <p:pic>
        <p:nvPicPr>
          <p:cNvPr descr="Picture 4" id="682" name="Google Shape;682;p39"/>
          <p:cNvPicPr preferRelativeResize="0"/>
          <p:nvPr/>
        </p:nvPicPr>
        <p:blipFill rotWithShape="1">
          <a:blip r:embed="rId4">
            <a:alphaModFix/>
          </a:blip>
          <a:srcRect b="0" l="0" r="0" t="0"/>
          <a:stretch/>
        </p:blipFill>
        <p:spPr>
          <a:xfrm>
            <a:off x="6361113" y="3470275"/>
            <a:ext cx="457200" cy="822325"/>
          </a:xfrm>
          <a:prstGeom prst="rect">
            <a:avLst/>
          </a:prstGeom>
          <a:noFill/>
          <a:ln>
            <a:noFill/>
          </a:ln>
        </p:spPr>
      </p:pic>
      <p:grpSp>
        <p:nvGrpSpPr>
          <p:cNvPr id="683" name="Google Shape;683;p39"/>
          <p:cNvGrpSpPr/>
          <p:nvPr/>
        </p:nvGrpSpPr>
        <p:grpSpPr>
          <a:xfrm>
            <a:off x="3130550" y="3211513"/>
            <a:ext cx="2668588" cy="766762"/>
            <a:chOff x="0" y="-1"/>
            <a:chExt cx="2668137" cy="767236"/>
          </a:xfrm>
        </p:grpSpPr>
        <p:sp>
          <p:nvSpPr>
            <p:cNvPr id="684" name="Google Shape;684;p39"/>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685" name="Google Shape;685;p39"/>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cxnSp>
        <p:nvCxnSpPr>
          <p:cNvPr descr="Straight Arrow Connector 15" id="686" name="Google Shape;686;p39"/>
          <p:cNvCxnSpPr/>
          <p:nvPr/>
        </p:nvCxnSpPr>
        <p:spPr>
          <a:xfrm flipH="1" rot="10800000">
            <a:off x="2601913" y="3514725"/>
            <a:ext cx="490537"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687" name="Google Shape;687;p39"/>
          <p:cNvCxnSpPr/>
          <p:nvPr/>
        </p:nvCxnSpPr>
        <p:spPr>
          <a:xfrm rot="10800000">
            <a:off x="5799138" y="3470275"/>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2" id="688" name="Google Shape;688;p39"/>
          <p:cNvSpPr txBox="1"/>
          <p:nvPr/>
        </p:nvSpPr>
        <p:spPr>
          <a:xfrm>
            <a:off x="515938" y="1155700"/>
            <a:ext cx="582136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an example of Train Reservation System</a:t>
            </a:r>
            <a:endParaRPr/>
          </a:p>
        </p:txBody>
      </p:sp>
      <p:sp>
        <p:nvSpPr>
          <p:cNvPr descr="TextBox 17" id="689" name="Google Shape;689;p39"/>
          <p:cNvSpPr txBox="1"/>
          <p:nvPr/>
        </p:nvSpPr>
        <p:spPr>
          <a:xfrm>
            <a:off x="1304925" y="3552825"/>
            <a:ext cx="769938"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690" name="Google Shape;690;p39"/>
          <p:cNvSpPr txBox="1"/>
          <p:nvPr/>
        </p:nvSpPr>
        <p:spPr>
          <a:xfrm>
            <a:off x="6864350" y="3697288"/>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7" id="691" name="Google Shape;691;p39"/>
          <p:cNvSpPr/>
          <p:nvPr/>
        </p:nvSpPr>
        <p:spPr>
          <a:xfrm rot="10598870">
            <a:off x="4276725" y="2974975"/>
            <a:ext cx="336550" cy="246063"/>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9" id="692" name="Google Shape;692;p39"/>
          <p:cNvSpPr txBox="1"/>
          <p:nvPr/>
        </p:nvSpPr>
        <p:spPr>
          <a:xfrm>
            <a:off x="106363" y="4200525"/>
            <a:ext cx="4699000" cy="18288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cancel</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express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2.Wants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Chamundi</a:t>
            </a:r>
            <a:r>
              <a:rPr lang="en-US" sz="1400">
                <a:solidFill>
                  <a:srgbClr val="000000"/>
                </a:solidFill>
                <a:latin typeface="Verdana"/>
                <a:ea typeface="Verdana"/>
                <a:cs typeface="Verdana"/>
                <a:sym typeface="Verdana"/>
              </a:rPr>
              <a:t> express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Update reservation set </a:t>
            </a:r>
            <a:r>
              <a:rPr b="1" lang="en-US" sz="1400">
                <a:solidFill>
                  <a:srgbClr val="0000FF"/>
                </a:solidFill>
                <a:latin typeface="Verdana"/>
                <a:ea typeface="Verdana"/>
                <a:cs typeface="Verdana"/>
                <a:sym typeface="Verdana"/>
              </a:rPr>
              <a:t>seats=seats-5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Where TrainName=‘</a:t>
            </a:r>
            <a:r>
              <a:rPr b="1" lang="en-US" sz="1400">
                <a:solidFill>
                  <a:srgbClr val="0000FF"/>
                </a:solidFill>
                <a:latin typeface="Verdana"/>
                <a:ea typeface="Verdana"/>
                <a:cs typeface="Verdana"/>
                <a:sym typeface="Verdana"/>
              </a:rPr>
              <a:t>TippuExpress</a:t>
            </a:r>
            <a:r>
              <a:rPr lang="en-US" sz="1400">
                <a:solidFill>
                  <a:srgbClr val="0000FF"/>
                </a:solidFill>
                <a:latin typeface="Verdana"/>
                <a:ea typeface="Verdana"/>
                <a:cs typeface="Verdana"/>
                <a:sym typeface="Verdana"/>
              </a:rPr>
              <a:t>’;</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Update reservation set </a:t>
            </a:r>
            <a:r>
              <a:rPr b="1" lang="en-US" sz="1400">
                <a:solidFill>
                  <a:srgbClr val="0000FF"/>
                </a:solidFill>
                <a:latin typeface="Verdana"/>
                <a:ea typeface="Verdana"/>
                <a:cs typeface="Verdana"/>
                <a:sym typeface="Verdana"/>
              </a:rPr>
              <a:t>seats=seats+5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Where TrainName=‘</a:t>
            </a:r>
            <a:r>
              <a:rPr b="1" lang="en-US" sz="1400">
                <a:solidFill>
                  <a:srgbClr val="0000FF"/>
                </a:solidFill>
                <a:latin typeface="Verdana"/>
                <a:ea typeface="Verdana"/>
                <a:cs typeface="Verdana"/>
                <a:sym typeface="Verdana"/>
              </a:rPr>
              <a:t>ChamundiExpress</a:t>
            </a:r>
            <a:r>
              <a:rPr lang="en-US" sz="1400">
                <a:solidFill>
                  <a:srgbClr val="0000FF"/>
                </a:solidFill>
                <a:latin typeface="Verdana"/>
                <a:ea typeface="Verdana"/>
                <a:cs typeface="Verdana"/>
                <a:sym typeface="Verdana"/>
              </a:rPr>
              <a:t>’;</a:t>
            </a:r>
            <a:endParaRPr/>
          </a:p>
        </p:txBody>
      </p:sp>
      <p:sp>
        <p:nvSpPr>
          <p:cNvPr descr="TextBox 21" id="693" name="Google Shape;693;p39"/>
          <p:cNvSpPr txBox="1"/>
          <p:nvPr/>
        </p:nvSpPr>
        <p:spPr>
          <a:xfrm>
            <a:off x="5270500" y="4198938"/>
            <a:ext cx="3700463" cy="1397000"/>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4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Express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Update reservation set </a:t>
            </a:r>
            <a:r>
              <a:rPr b="1" lang="en-US" sz="1400">
                <a:solidFill>
                  <a:srgbClr val="CC00CC"/>
                </a:solidFill>
                <a:latin typeface="Verdana"/>
                <a:ea typeface="Verdana"/>
                <a:cs typeface="Verdana"/>
                <a:sym typeface="Verdana"/>
              </a:rPr>
              <a:t>seats=seats+4</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Where TrainName=‘</a:t>
            </a:r>
            <a:r>
              <a:rPr b="1" lang="en-US" sz="1400">
                <a:solidFill>
                  <a:srgbClr val="CC00CC"/>
                </a:solidFill>
                <a:latin typeface="Verdana"/>
                <a:ea typeface="Verdana"/>
                <a:cs typeface="Verdana"/>
                <a:sym typeface="Verdana"/>
              </a:rPr>
              <a:t>TippuExpress</a:t>
            </a:r>
            <a:r>
              <a:rPr lang="en-US" sz="1400">
                <a:solidFill>
                  <a:srgbClr val="CC00CC"/>
                </a:solidFill>
                <a:latin typeface="Verdana"/>
                <a:ea typeface="Verdana"/>
                <a:cs typeface="Verdana"/>
                <a:sym typeface="Verdana"/>
              </a:rPr>
              <a:t>’;</a:t>
            </a:r>
            <a:endParaRPr/>
          </a:p>
        </p:txBody>
      </p:sp>
      <p:sp>
        <p:nvSpPr>
          <p:cNvPr descr="TextBox 20" id="694" name="Google Shape;694;p39"/>
          <p:cNvSpPr txBox="1"/>
          <p:nvPr/>
        </p:nvSpPr>
        <p:spPr>
          <a:xfrm>
            <a:off x="6635750" y="2028825"/>
            <a:ext cx="1395413"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reservation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table</a:t>
            </a:r>
            <a:endParaRPr/>
          </a:p>
        </p:txBody>
      </p:sp>
      <p:pic>
        <p:nvPicPr>
          <p:cNvPr descr="Picture 2" id="695" name="Google Shape;695;p39"/>
          <p:cNvPicPr preferRelativeResize="0"/>
          <p:nvPr/>
        </p:nvPicPr>
        <p:blipFill rotWithShape="1">
          <a:blip r:embed="rId5">
            <a:alphaModFix/>
          </a:blip>
          <a:srcRect b="0" l="0" r="0" t="0"/>
          <a:stretch/>
        </p:blipFill>
        <p:spPr>
          <a:xfrm>
            <a:off x="1571625" y="1570038"/>
            <a:ext cx="5100638" cy="13779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descr="Title 1" id="700" name="Google Shape;700;p4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701" name="Google Shape;701;p4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02" name="Google Shape;702;p4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703" name="Google Shape;703;p40"/>
          <p:cNvPicPr preferRelativeResize="0"/>
          <p:nvPr/>
        </p:nvPicPr>
        <p:blipFill rotWithShape="1">
          <a:blip r:embed="rId3">
            <a:alphaModFix/>
          </a:blip>
          <a:srcRect b="0" l="0" r="0" t="0"/>
          <a:stretch/>
        </p:blipFill>
        <p:spPr>
          <a:xfrm>
            <a:off x="2243138" y="2843213"/>
            <a:ext cx="533400" cy="930275"/>
          </a:xfrm>
          <a:prstGeom prst="rect">
            <a:avLst/>
          </a:prstGeom>
          <a:noFill/>
          <a:ln>
            <a:noFill/>
          </a:ln>
        </p:spPr>
      </p:pic>
      <p:pic>
        <p:nvPicPr>
          <p:cNvPr descr="Picture 4" id="704" name="Google Shape;704;p40"/>
          <p:cNvPicPr preferRelativeResize="0"/>
          <p:nvPr/>
        </p:nvPicPr>
        <p:blipFill rotWithShape="1">
          <a:blip r:embed="rId4">
            <a:alphaModFix/>
          </a:blip>
          <a:srcRect b="0" l="0" r="0" t="0"/>
          <a:stretch/>
        </p:blipFill>
        <p:spPr>
          <a:xfrm>
            <a:off x="6361113" y="3041650"/>
            <a:ext cx="457200" cy="822325"/>
          </a:xfrm>
          <a:prstGeom prst="rect">
            <a:avLst/>
          </a:prstGeom>
          <a:noFill/>
          <a:ln>
            <a:noFill/>
          </a:ln>
        </p:spPr>
      </p:pic>
      <p:grpSp>
        <p:nvGrpSpPr>
          <p:cNvPr id="705" name="Google Shape;705;p40"/>
          <p:cNvGrpSpPr/>
          <p:nvPr/>
        </p:nvGrpSpPr>
        <p:grpSpPr>
          <a:xfrm>
            <a:off x="3130550" y="2782888"/>
            <a:ext cx="2668588" cy="766762"/>
            <a:chOff x="0" y="-1"/>
            <a:chExt cx="2668137" cy="767236"/>
          </a:xfrm>
        </p:grpSpPr>
        <p:sp>
          <p:nvSpPr>
            <p:cNvPr id="706" name="Google Shape;706;p40"/>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707" name="Google Shape;707;p40"/>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cxnSp>
        <p:nvCxnSpPr>
          <p:cNvPr descr="Straight Arrow Connector 15" id="708" name="Google Shape;708;p40"/>
          <p:cNvCxnSpPr/>
          <p:nvPr/>
        </p:nvCxnSpPr>
        <p:spPr>
          <a:xfrm flipH="1" rot="10800000">
            <a:off x="2601913" y="3086100"/>
            <a:ext cx="490537"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709" name="Google Shape;709;p40"/>
          <p:cNvCxnSpPr/>
          <p:nvPr/>
        </p:nvCxnSpPr>
        <p:spPr>
          <a:xfrm rot="10800000">
            <a:off x="5799138" y="3041650"/>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17" id="710" name="Google Shape;710;p40"/>
          <p:cNvSpPr txBox="1"/>
          <p:nvPr/>
        </p:nvSpPr>
        <p:spPr>
          <a:xfrm>
            <a:off x="1304925" y="3124200"/>
            <a:ext cx="769938"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711" name="Google Shape;711;p40"/>
          <p:cNvSpPr txBox="1"/>
          <p:nvPr/>
        </p:nvSpPr>
        <p:spPr>
          <a:xfrm>
            <a:off x="6864350" y="3268663"/>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7" id="712" name="Google Shape;712;p40"/>
          <p:cNvSpPr/>
          <p:nvPr/>
        </p:nvSpPr>
        <p:spPr>
          <a:xfrm rot="10598870">
            <a:off x="4276725" y="2546350"/>
            <a:ext cx="336550" cy="246063"/>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9" id="713" name="Google Shape;713;p40"/>
          <p:cNvSpPr txBox="1"/>
          <p:nvPr/>
        </p:nvSpPr>
        <p:spPr>
          <a:xfrm>
            <a:off x="106363" y="3771900"/>
            <a:ext cx="4699000" cy="22606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cancel</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express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2.Wants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5 seats on </a:t>
            </a:r>
            <a:r>
              <a:rPr b="1" lang="en-US" sz="1400">
                <a:solidFill>
                  <a:srgbClr val="000000"/>
                </a:solidFill>
                <a:latin typeface="Verdana"/>
                <a:ea typeface="Verdana"/>
                <a:cs typeface="Verdana"/>
                <a:sym typeface="Verdana"/>
              </a:rPr>
              <a:t>Chamundi</a:t>
            </a:r>
            <a:r>
              <a:rPr lang="en-US" sz="1400">
                <a:solidFill>
                  <a:srgbClr val="000000"/>
                </a:solidFill>
                <a:latin typeface="Verdana"/>
                <a:ea typeface="Verdana"/>
                <a:cs typeface="Verdana"/>
                <a:sym typeface="Verdana"/>
              </a:rPr>
              <a:t> express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TippuSeats=TippuSeats-5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Read(ChamundiSeats)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ChamundiSeats=ChamundiSeats+5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Write(ChamundiSeats)</a:t>
            </a:r>
            <a:endParaRPr/>
          </a:p>
        </p:txBody>
      </p:sp>
      <p:sp>
        <p:nvSpPr>
          <p:cNvPr descr="TextBox 21" id="714" name="Google Shape;714;p40"/>
          <p:cNvSpPr txBox="1"/>
          <p:nvPr/>
        </p:nvSpPr>
        <p:spPr>
          <a:xfrm>
            <a:off x="5270500" y="3770313"/>
            <a:ext cx="3567113" cy="1612900"/>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1.Wants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4 seats on </a:t>
            </a: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Express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TippuSeats=TippuSeats+4</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Write(TippuSeats)</a:t>
            </a:r>
            <a:endParaRPr/>
          </a:p>
        </p:txBody>
      </p:sp>
      <p:pic>
        <p:nvPicPr>
          <p:cNvPr descr="Picture 2" id="715" name="Google Shape;715;p40"/>
          <p:cNvPicPr preferRelativeResize="0"/>
          <p:nvPr/>
        </p:nvPicPr>
        <p:blipFill rotWithShape="1">
          <a:blip r:embed="rId5">
            <a:alphaModFix/>
          </a:blip>
          <a:srcRect b="0" l="0" r="0" t="0"/>
          <a:stretch/>
        </p:blipFill>
        <p:spPr>
          <a:xfrm>
            <a:off x="1917700" y="1189038"/>
            <a:ext cx="5102225" cy="13795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descr="Title 1" id="720" name="Google Shape;720;p4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721" name="Google Shape;721;p4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22" name="Google Shape;722;p4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723" name="Google Shape;723;p41"/>
          <p:cNvPicPr preferRelativeResize="0"/>
          <p:nvPr/>
        </p:nvPicPr>
        <p:blipFill rotWithShape="1">
          <a:blip r:embed="rId3">
            <a:alphaModFix/>
          </a:blip>
          <a:srcRect b="0" l="0" r="0" t="0"/>
          <a:stretch/>
        </p:blipFill>
        <p:spPr>
          <a:xfrm>
            <a:off x="2243138" y="2843213"/>
            <a:ext cx="533400" cy="930275"/>
          </a:xfrm>
          <a:prstGeom prst="rect">
            <a:avLst/>
          </a:prstGeom>
          <a:noFill/>
          <a:ln>
            <a:noFill/>
          </a:ln>
        </p:spPr>
      </p:pic>
      <p:pic>
        <p:nvPicPr>
          <p:cNvPr descr="Picture 4" id="724" name="Google Shape;724;p41"/>
          <p:cNvPicPr preferRelativeResize="0"/>
          <p:nvPr/>
        </p:nvPicPr>
        <p:blipFill rotWithShape="1">
          <a:blip r:embed="rId4">
            <a:alphaModFix/>
          </a:blip>
          <a:srcRect b="0" l="0" r="0" t="0"/>
          <a:stretch/>
        </p:blipFill>
        <p:spPr>
          <a:xfrm>
            <a:off x="6361113" y="3041650"/>
            <a:ext cx="457200" cy="822325"/>
          </a:xfrm>
          <a:prstGeom prst="rect">
            <a:avLst/>
          </a:prstGeom>
          <a:noFill/>
          <a:ln>
            <a:noFill/>
          </a:ln>
        </p:spPr>
      </p:pic>
      <p:grpSp>
        <p:nvGrpSpPr>
          <p:cNvPr id="725" name="Google Shape;725;p41"/>
          <p:cNvGrpSpPr/>
          <p:nvPr/>
        </p:nvGrpSpPr>
        <p:grpSpPr>
          <a:xfrm>
            <a:off x="3130550" y="2782888"/>
            <a:ext cx="2668588" cy="766762"/>
            <a:chOff x="0" y="-1"/>
            <a:chExt cx="2668137" cy="767236"/>
          </a:xfrm>
        </p:grpSpPr>
        <p:sp>
          <p:nvSpPr>
            <p:cNvPr id="726" name="Google Shape;726;p41"/>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727" name="Google Shape;727;p41"/>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cxnSp>
        <p:nvCxnSpPr>
          <p:cNvPr descr="Straight Arrow Connector 15" id="728" name="Google Shape;728;p41"/>
          <p:cNvCxnSpPr/>
          <p:nvPr/>
        </p:nvCxnSpPr>
        <p:spPr>
          <a:xfrm flipH="1" rot="10800000">
            <a:off x="2601913" y="3086100"/>
            <a:ext cx="490537"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729" name="Google Shape;729;p41"/>
          <p:cNvCxnSpPr/>
          <p:nvPr/>
        </p:nvCxnSpPr>
        <p:spPr>
          <a:xfrm rot="10800000">
            <a:off x="5799138" y="3041650"/>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17" id="730" name="Google Shape;730;p41"/>
          <p:cNvSpPr txBox="1"/>
          <p:nvPr/>
        </p:nvSpPr>
        <p:spPr>
          <a:xfrm>
            <a:off x="1304925" y="3124200"/>
            <a:ext cx="769938"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731" name="Google Shape;731;p41"/>
          <p:cNvSpPr txBox="1"/>
          <p:nvPr/>
        </p:nvSpPr>
        <p:spPr>
          <a:xfrm>
            <a:off x="6864350" y="3268663"/>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7" id="732" name="Google Shape;732;p41"/>
          <p:cNvSpPr/>
          <p:nvPr/>
        </p:nvSpPr>
        <p:spPr>
          <a:xfrm rot="10598870">
            <a:off x="4276725" y="2546350"/>
            <a:ext cx="336550" cy="246063"/>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9" id="733" name="Google Shape;733;p41"/>
          <p:cNvSpPr txBox="1"/>
          <p:nvPr/>
        </p:nvSpPr>
        <p:spPr>
          <a:xfrm>
            <a:off x="106363" y="3771900"/>
            <a:ext cx="3313112" cy="16129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Transaction1</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TippuSeats=TippuSeats-5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Read(ChamundiSeats)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ChamundiSeats=ChamundiSeats+5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Write(ChamundiSeats)</a:t>
            </a:r>
            <a:endParaRPr/>
          </a:p>
        </p:txBody>
      </p:sp>
      <p:sp>
        <p:nvSpPr>
          <p:cNvPr descr="TextBox 21" id="734" name="Google Shape;734;p41"/>
          <p:cNvSpPr txBox="1"/>
          <p:nvPr/>
        </p:nvSpPr>
        <p:spPr>
          <a:xfrm>
            <a:off x="5270500" y="3770313"/>
            <a:ext cx="2495550" cy="965200"/>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Transaction2</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TippuSeats=TippuSeats+4</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Write(TippuSeats)</a:t>
            </a:r>
            <a:endParaRPr/>
          </a:p>
        </p:txBody>
      </p:sp>
      <p:sp>
        <p:nvSpPr>
          <p:cNvPr descr="TextBox 2" id="735" name="Google Shape;735;p41"/>
          <p:cNvSpPr txBox="1"/>
          <p:nvPr/>
        </p:nvSpPr>
        <p:spPr>
          <a:xfrm>
            <a:off x="795338" y="5354638"/>
            <a:ext cx="7300912" cy="10572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FF0000"/>
                </a:solidFill>
                <a:latin typeface="Verdana"/>
                <a:ea typeface="Verdana"/>
                <a:cs typeface="Verdana"/>
                <a:sym typeface="Verdana"/>
              </a:rPr>
              <a:t>Question</a:t>
            </a:r>
            <a:endParaRPr/>
          </a:p>
          <a:p>
            <a:pPr indent="0" lvl="0" marL="0" marR="0" rtl="0" algn="ctr">
              <a:spcBef>
                <a:spcPts val="0"/>
              </a:spcBef>
              <a:spcAft>
                <a:spcPts val="0"/>
              </a:spcAft>
              <a:buNone/>
            </a:pPr>
            <a:r>
              <a:rPr lang="en-US" sz="1600">
                <a:solidFill>
                  <a:srgbClr val="000000"/>
                </a:solidFill>
                <a:latin typeface="Verdana"/>
                <a:ea typeface="Verdana"/>
                <a:cs typeface="Verdana"/>
                <a:sym typeface="Verdana"/>
              </a:rPr>
              <a:t>What will be the total number of seats on Tippu express and</a:t>
            </a:r>
            <a:endParaRPr/>
          </a:p>
          <a:p>
            <a:pPr indent="0" lvl="0" marL="0" marR="0" rtl="0" algn="ctr">
              <a:spcBef>
                <a:spcPts val="0"/>
              </a:spcBef>
              <a:spcAft>
                <a:spcPts val="0"/>
              </a:spcAft>
              <a:buNone/>
            </a:pPr>
            <a:r>
              <a:rPr lang="en-US" sz="1600">
                <a:solidFill>
                  <a:srgbClr val="000000"/>
                </a:solidFill>
                <a:latin typeface="Verdana"/>
                <a:ea typeface="Verdana"/>
                <a:cs typeface="Verdana"/>
                <a:sym typeface="Verdana"/>
              </a:rPr>
              <a:t>Chamundi express if first User1 executes Transaction1 and then User2</a:t>
            </a:r>
            <a:endParaRPr/>
          </a:p>
          <a:p>
            <a:pPr indent="0" lvl="0" marL="0" marR="0" rtl="0" algn="ctr">
              <a:spcBef>
                <a:spcPts val="0"/>
              </a:spcBef>
              <a:spcAft>
                <a:spcPts val="0"/>
              </a:spcAft>
              <a:buNone/>
            </a:pPr>
            <a:r>
              <a:rPr lang="en-US" sz="1600">
                <a:solidFill>
                  <a:srgbClr val="000000"/>
                </a:solidFill>
                <a:latin typeface="Verdana"/>
                <a:ea typeface="Verdana"/>
                <a:cs typeface="Verdana"/>
                <a:sym typeface="Verdana"/>
              </a:rPr>
              <a:t>Executes Transaction2</a:t>
            </a:r>
            <a:endParaRPr/>
          </a:p>
        </p:txBody>
      </p:sp>
      <p:pic>
        <p:nvPicPr>
          <p:cNvPr descr="Picture 2" id="736" name="Google Shape;736;p41"/>
          <p:cNvPicPr preferRelativeResize="0"/>
          <p:nvPr/>
        </p:nvPicPr>
        <p:blipFill rotWithShape="1">
          <a:blip r:embed="rId5">
            <a:alphaModFix/>
          </a:blip>
          <a:srcRect b="0" l="0" r="0" t="0"/>
          <a:stretch/>
        </p:blipFill>
        <p:spPr>
          <a:xfrm>
            <a:off x="1957388" y="1195388"/>
            <a:ext cx="5062537" cy="1368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descr="Title 1" id="741" name="Google Shape;741;p4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300"/>
              <a:t>To Understand problems with concurrent executions</a:t>
            </a:r>
            <a:endParaRPr/>
          </a:p>
        </p:txBody>
      </p:sp>
      <p:sp>
        <p:nvSpPr>
          <p:cNvPr descr="Date Placeholder 3" id="742" name="Google Shape;742;p4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43" name="Google Shape;743;p4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744" name="Google Shape;744;p42"/>
          <p:cNvPicPr preferRelativeResize="0"/>
          <p:nvPr/>
        </p:nvPicPr>
        <p:blipFill rotWithShape="1">
          <a:blip r:embed="rId3">
            <a:alphaModFix/>
          </a:blip>
          <a:srcRect b="0" l="0" r="0" t="0"/>
          <a:stretch/>
        </p:blipFill>
        <p:spPr>
          <a:xfrm>
            <a:off x="2243138" y="2843213"/>
            <a:ext cx="533400" cy="930275"/>
          </a:xfrm>
          <a:prstGeom prst="rect">
            <a:avLst/>
          </a:prstGeom>
          <a:noFill/>
          <a:ln>
            <a:noFill/>
          </a:ln>
        </p:spPr>
      </p:pic>
      <p:pic>
        <p:nvPicPr>
          <p:cNvPr descr="Picture 4" id="745" name="Google Shape;745;p42"/>
          <p:cNvPicPr preferRelativeResize="0"/>
          <p:nvPr/>
        </p:nvPicPr>
        <p:blipFill rotWithShape="1">
          <a:blip r:embed="rId4">
            <a:alphaModFix/>
          </a:blip>
          <a:srcRect b="0" l="0" r="0" t="0"/>
          <a:stretch/>
        </p:blipFill>
        <p:spPr>
          <a:xfrm>
            <a:off x="6361113" y="3041650"/>
            <a:ext cx="457200" cy="822325"/>
          </a:xfrm>
          <a:prstGeom prst="rect">
            <a:avLst/>
          </a:prstGeom>
          <a:noFill/>
          <a:ln>
            <a:noFill/>
          </a:ln>
        </p:spPr>
      </p:pic>
      <p:grpSp>
        <p:nvGrpSpPr>
          <p:cNvPr id="746" name="Google Shape;746;p42"/>
          <p:cNvGrpSpPr/>
          <p:nvPr/>
        </p:nvGrpSpPr>
        <p:grpSpPr>
          <a:xfrm>
            <a:off x="3130550" y="2782888"/>
            <a:ext cx="2668588" cy="766762"/>
            <a:chOff x="0" y="-1"/>
            <a:chExt cx="2668137" cy="767236"/>
          </a:xfrm>
        </p:grpSpPr>
        <p:sp>
          <p:nvSpPr>
            <p:cNvPr id="747" name="Google Shape;747;p42"/>
            <p:cNvSpPr/>
            <p:nvPr/>
          </p:nvSpPr>
          <p:spPr>
            <a:xfrm>
              <a:off x="0" y="-1"/>
              <a:ext cx="2668137" cy="767236"/>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748" name="Google Shape;748;p42"/>
            <p:cNvSpPr txBox="1"/>
            <p:nvPr/>
          </p:nvSpPr>
          <p:spPr>
            <a:xfrm>
              <a:off x="64770" y="19049"/>
              <a:ext cx="2538598"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Booking/Cancellation Software </a:t>
              </a:r>
              <a:endParaRPr/>
            </a:p>
          </p:txBody>
        </p:sp>
      </p:grpSp>
      <p:cxnSp>
        <p:nvCxnSpPr>
          <p:cNvPr descr="Straight Arrow Connector 15" id="749" name="Google Shape;749;p42"/>
          <p:cNvCxnSpPr/>
          <p:nvPr/>
        </p:nvCxnSpPr>
        <p:spPr>
          <a:xfrm flipH="1" rot="10800000">
            <a:off x="2601913" y="3086100"/>
            <a:ext cx="490537" cy="38100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6" id="750" name="Google Shape;750;p42"/>
          <p:cNvCxnSpPr/>
          <p:nvPr/>
        </p:nvCxnSpPr>
        <p:spPr>
          <a:xfrm rot="10800000">
            <a:off x="5799138" y="3041650"/>
            <a:ext cx="561975" cy="266700"/>
          </a:xfrm>
          <a:prstGeom prst="straightConnector1">
            <a:avLst/>
          </a:prstGeom>
          <a:noFill/>
          <a:ln cap="flat" cmpd="sng" w="38100">
            <a:solidFill>
              <a:srgbClr val="00B050"/>
            </a:solidFill>
            <a:prstDash val="solid"/>
            <a:round/>
            <a:headEnd len="sm" w="sm" type="none"/>
            <a:tailEnd len="med" w="med" type="triangle"/>
          </a:ln>
        </p:spPr>
      </p:cxnSp>
      <p:sp>
        <p:nvSpPr>
          <p:cNvPr descr="TextBox 17" id="751" name="Google Shape;751;p42"/>
          <p:cNvSpPr txBox="1"/>
          <p:nvPr/>
        </p:nvSpPr>
        <p:spPr>
          <a:xfrm>
            <a:off x="1304925" y="3124200"/>
            <a:ext cx="769938"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8" id="752" name="Google Shape;752;p42"/>
          <p:cNvSpPr txBox="1"/>
          <p:nvPr/>
        </p:nvSpPr>
        <p:spPr>
          <a:xfrm>
            <a:off x="6864350" y="3268663"/>
            <a:ext cx="769938"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7" id="753" name="Google Shape;753;p42"/>
          <p:cNvSpPr/>
          <p:nvPr/>
        </p:nvSpPr>
        <p:spPr>
          <a:xfrm rot="10598870">
            <a:off x="4276725" y="2546350"/>
            <a:ext cx="336550" cy="246063"/>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9" id="754" name="Google Shape;754;p42"/>
          <p:cNvSpPr txBox="1"/>
          <p:nvPr/>
        </p:nvSpPr>
        <p:spPr>
          <a:xfrm>
            <a:off x="106363" y="3771900"/>
            <a:ext cx="3313112" cy="16129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Transaction1</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TippuSeats=TippuSeats-5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Read(ChamundiSeats)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ChamundiSeats=ChamundiSeats+5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Write(ChamundiSeats)</a:t>
            </a:r>
            <a:endParaRPr/>
          </a:p>
        </p:txBody>
      </p:sp>
      <p:sp>
        <p:nvSpPr>
          <p:cNvPr descr="TextBox 21" id="755" name="Google Shape;755;p42"/>
          <p:cNvSpPr txBox="1"/>
          <p:nvPr/>
        </p:nvSpPr>
        <p:spPr>
          <a:xfrm>
            <a:off x="5270500" y="3770313"/>
            <a:ext cx="2495550" cy="965200"/>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Transaction2</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TippuSeats=TippuSeats+4</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Write(TippuSeats)</a:t>
            </a:r>
            <a:endParaRPr/>
          </a:p>
        </p:txBody>
      </p:sp>
      <p:sp>
        <p:nvSpPr>
          <p:cNvPr descr="TextBox 2" id="756" name="Google Shape;756;p42"/>
          <p:cNvSpPr txBox="1"/>
          <p:nvPr/>
        </p:nvSpPr>
        <p:spPr>
          <a:xfrm>
            <a:off x="2935288" y="5354638"/>
            <a:ext cx="3021012" cy="8159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FF0000"/>
                </a:solidFill>
                <a:latin typeface="Verdana"/>
                <a:ea typeface="Verdana"/>
                <a:cs typeface="Verdana"/>
                <a:sym typeface="Verdana"/>
              </a:rPr>
              <a:t>Answer</a:t>
            </a:r>
            <a:endParaRPr/>
          </a:p>
          <a:p>
            <a:pPr indent="0" lvl="0" marL="0" marR="0" rtl="0" algn="ctr">
              <a:spcBef>
                <a:spcPts val="0"/>
              </a:spcBef>
              <a:spcAft>
                <a:spcPts val="0"/>
              </a:spcAft>
              <a:buNone/>
            </a:pPr>
            <a:r>
              <a:rPr lang="en-US" sz="1600">
                <a:solidFill>
                  <a:srgbClr val="000000"/>
                </a:solidFill>
                <a:latin typeface="Verdana"/>
                <a:ea typeface="Verdana"/>
                <a:cs typeface="Verdana"/>
                <a:sym typeface="Verdana"/>
              </a:rPr>
              <a:t>Tippu express seats: 79</a:t>
            </a:r>
            <a:endParaRPr/>
          </a:p>
          <a:p>
            <a:pPr indent="0" lvl="0" marL="0" marR="0" rtl="0" algn="ctr">
              <a:spcBef>
                <a:spcPts val="0"/>
              </a:spcBef>
              <a:spcAft>
                <a:spcPts val="0"/>
              </a:spcAft>
              <a:buNone/>
            </a:pPr>
            <a:r>
              <a:rPr lang="en-US" sz="1600">
                <a:solidFill>
                  <a:srgbClr val="000000"/>
                </a:solidFill>
                <a:latin typeface="Verdana"/>
                <a:ea typeface="Verdana"/>
                <a:cs typeface="Verdana"/>
                <a:sym typeface="Verdana"/>
              </a:rPr>
              <a:t>Chamundi express seats: 75</a:t>
            </a:r>
            <a:endParaRPr/>
          </a:p>
        </p:txBody>
      </p:sp>
      <p:pic>
        <p:nvPicPr>
          <p:cNvPr descr="Picture 3" id="757" name="Google Shape;757;p42"/>
          <p:cNvPicPr preferRelativeResize="0"/>
          <p:nvPr/>
        </p:nvPicPr>
        <p:blipFill rotWithShape="1">
          <a:blip r:embed="rId5">
            <a:alphaModFix/>
          </a:blip>
          <a:srcRect b="0" l="0" r="0" t="0"/>
          <a:stretch/>
        </p:blipFill>
        <p:spPr>
          <a:xfrm>
            <a:off x="1835150" y="1123950"/>
            <a:ext cx="5184775" cy="140176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descr="Title 1" id="762" name="Google Shape;762;p4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Non-interleaved vs Interleaved transactions</a:t>
            </a:r>
            <a:endParaRPr/>
          </a:p>
        </p:txBody>
      </p:sp>
      <p:sp>
        <p:nvSpPr>
          <p:cNvPr descr="Date Placeholder 3" id="763" name="Google Shape;763;p4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64" name="Google Shape;764;p4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765" name="Google Shape;765;p43"/>
          <p:cNvGrpSpPr/>
          <p:nvPr/>
        </p:nvGrpSpPr>
        <p:grpSpPr>
          <a:xfrm>
            <a:off x="231776" y="1809750"/>
            <a:ext cx="3417887" cy="2565400"/>
            <a:chOff x="0" y="0"/>
            <a:chExt cx="3417923" cy="2565003"/>
          </a:xfrm>
        </p:grpSpPr>
        <p:sp>
          <p:nvSpPr>
            <p:cNvPr descr="TextBox 6" id="766" name="Google Shape;766;p43"/>
            <p:cNvSpPr txBox="1"/>
            <p:nvPr/>
          </p:nvSpPr>
          <p:spPr>
            <a:xfrm>
              <a:off x="0" y="0"/>
              <a:ext cx="3313545" cy="1612265"/>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Transaction1</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TippuSeats=TippuSeats-5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Write(TippuSeats)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Read(ChamundiSeats)</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ChamundiSeats=ChamundiSeats+5</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Write(ChamundiSeats)</a:t>
              </a:r>
              <a:endParaRPr/>
            </a:p>
          </p:txBody>
        </p:sp>
        <p:sp>
          <p:nvSpPr>
            <p:cNvPr descr="TextBox 7" id="767" name="Google Shape;767;p43"/>
            <p:cNvSpPr txBox="1"/>
            <p:nvPr/>
          </p:nvSpPr>
          <p:spPr>
            <a:xfrm>
              <a:off x="6967" y="1600437"/>
              <a:ext cx="3410956" cy="964566"/>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Transaction2</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Read(TippuSeats)</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TippuSeats=TippuSeats+4</a:t>
              </a:r>
              <a:endParaRPr/>
            </a:p>
            <a:p>
              <a:pPr indent="0" lvl="0" marL="0" marR="0" rtl="0" algn="l">
                <a:spcBef>
                  <a:spcPts val="0"/>
                </a:spcBef>
                <a:spcAft>
                  <a:spcPts val="0"/>
                </a:spcAft>
                <a:buNone/>
              </a:pPr>
              <a:r>
                <a:rPr lang="en-US" sz="1400">
                  <a:solidFill>
                    <a:srgbClr val="CC00CC"/>
                  </a:solidFill>
                  <a:latin typeface="Verdana"/>
                  <a:ea typeface="Verdana"/>
                  <a:cs typeface="Verdana"/>
                  <a:sym typeface="Verdana"/>
                </a:rPr>
                <a:t>Write(TippuSeats)</a:t>
              </a:r>
              <a:endParaRPr/>
            </a:p>
          </p:txBody>
        </p:sp>
      </p:grpSp>
      <p:pic>
        <p:nvPicPr>
          <p:cNvPr descr="Picture 2" id="768" name="Google Shape;768;p43"/>
          <p:cNvPicPr preferRelativeResize="0"/>
          <p:nvPr/>
        </p:nvPicPr>
        <p:blipFill rotWithShape="1">
          <a:blip r:embed="rId3">
            <a:alphaModFix/>
          </a:blip>
          <a:srcRect b="0" l="0" r="0" t="0"/>
          <a:stretch/>
        </p:blipFill>
        <p:spPr>
          <a:xfrm>
            <a:off x="3922713" y="3297238"/>
            <a:ext cx="5119687" cy="2003425"/>
          </a:xfrm>
          <a:prstGeom prst="rect">
            <a:avLst/>
          </a:prstGeom>
          <a:noFill/>
          <a:ln>
            <a:noFill/>
          </a:ln>
        </p:spPr>
      </p:pic>
      <p:sp>
        <p:nvSpPr>
          <p:cNvPr descr="TextBox 9" id="769" name="Google Shape;769;p43"/>
          <p:cNvSpPr txBox="1"/>
          <p:nvPr/>
        </p:nvSpPr>
        <p:spPr>
          <a:xfrm>
            <a:off x="276225" y="1227138"/>
            <a:ext cx="82518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Non-interleaved transaction (or Serial transaction)</a:t>
            </a:r>
            <a:r>
              <a:rPr lang="en-US" sz="1600">
                <a:solidFill>
                  <a:srgbClr val="000000"/>
                </a:solidFill>
                <a:latin typeface="Verdana"/>
                <a:ea typeface="Verdana"/>
                <a:cs typeface="Verdana"/>
                <a:sym typeface="Verdana"/>
              </a:rPr>
              <a:t>: In this case first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completely transaction T1 gets executed and then transaction T2 gets executed</a:t>
            </a:r>
            <a:endParaRPr/>
          </a:p>
        </p:txBody>
      </p:sp>
      <p:sp>
        <p:nvSpPr>
          <p:cNvPr descr="TextBox 11" id="770" name="Google Shape;770;p43"/>
          <p:cNvSpPr txBox="1"/>
          <p:nvPr/>
        </p:nvSpPr>
        <p:spPr>
          <a:xfrm>
            <a:off x="2660650" y="5222875"/>
            <a:ext cx="6413500"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Interleaved transaction (or Non-Serial or Concurrent):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First, Part of Transaction T1 gets executed,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second Transaction T2 gets executed  and third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remaining part of transaction T1 gets executed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descr="Title 1" id="775" name="Google Shape;775;p4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a:t>Lost Update Problem: Example</a:t>
            </a:r>
            <a:endParaRPr/>
          </a:p>
        </p:txBody>
      </p:sp>
      <p:sp>
        <p:nvSpPr>
          <p:cNvPr descr="Date Placeholder 3" id="776" name="Google Shape;776;p4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77" name="Google Shape;777;p4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778" name="Google Shape;778;p44"/>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779" name="Google Shape;779;p44"/>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780" name="Google Shape;780;p44"/>
          <p:cNvGrpSpPr/>
          <p:nvPr/>
        </p:nvGrpSpPr>
        <p:grpSpPr>
          <a:xfrm>
            <a:off x="3222625" y="2667000"/>
            <a:ext cx="3268663" cy="612775"/>
            <a:chOff x="-1" y="0"/>
            <a:chExt cx="3268876" cy="613318"/>
          </a:xfrm>
        </p:grpSpPr>
        <p:sp>
          <p:nvSpPr>
            <p:cNvPr id="781" name="Google Shape;781;p44"/>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782" name="Google Shape;782;p44"/>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783" name="Google Shape;783;p44"/>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784" name="Google Shape;784;p44"/>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785" name="Google Shape;785;p44"/>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786" name="Google Shape;786;p44"/>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787" name="Google Shape;787;p44"/>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788" name="Google Shape;788;p44"/>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graphicFrame>
        <p:nvGraphicFramePr>
          <p:cNvPr id="789" name="Google Shape;789;p44"/>
          <p:cNvGraphicFramePr/>
          <p:nvPr/>
        </p:nvGraphicFramePr>
        <p:xfrm>
          <a:off x="830263" y="3429000"/>
          <a:ext cx="3000000" cy="3000000"/>
        </p:xfrm>
        <a:graphic>
          <a:graphicData uri="http://schemas.openxmlformats.org/drawingml/2006/table">
            <a:tbl>
              <a:tblPr>
                <a:noFill/>
                <a:tableStyleId>{DA31C186-C125-4E34-A739-053F885C22C1}</a:tableStyleId>
              </a:tblPr>
              <a:tblGrid>
                <a:gridCol w="4368800"/>
                <a:gridCol w="341787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193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TippuSeats=TippuSeats-5</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ChamundiSeats=ChamundiSeats+5</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Read(TippuSeats)	 TippuSeats=TippuSeats+4</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Write(TippuSeats)</a:t>
                      </a:r>
                      <a:endParaRPr b="0" i="0" sz="18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descr="Title 1" id="794" name="Google Shape;794;p4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795" name="Google Shape;795;p4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514350" lvl="0" marL="514350" rtl="0" algn="l">
              <a:spcBef>
                <a:spcPts val="0"/>
              </a:spcBef>
              <a:spcAft>
                <a:spcPts val="0"/>
              </a:spcAft>
              <a:buSzPts val="3000"/>
              <a:buFont typeface="Verdana"/>
              <a:buAutoNum type="arabicPeriod"/>
            </a:pPr>
            <a:r>
              <a:rPr lang="en-US"/>
              <a:t>Lost Update Problem</a:t>
            </a:r>
            <a:endParaRPr/>
          </a:p>
          <a:p>
            <a:pPr indent="0" lvl="1" marL="0" rtl="0" algn="l">
              <a:spcBef>
                <a:spcPts val="500"/>
              </a:spcBef>
              <a:spcAft>
                <a:spcPts val="0"/>
              </a:spcAft>
              <a:buSzPts val="2400"/>
              <a:buFont typeface="Noto Sans Symbols"/>
              <a:buNone/>
            </a:pPr>
            <a:r>
              <a:rPr lang="en-US" sz="2400"/>
              <a:t>This occurs when two transactions that access the same database items have their operations interleaved in a way that makes the value of some database item incorrect. </a:t>
            </a:r>
            <a:endParaRPr/>
          </a:p>
        </p:txBody>
      </p:sp>
      <p:sp>
        <p:nvSpPr>
          <p:cNvPr descr="Date Placeholder 3" id="796" name="Google Shape;796;p4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797" name="Google Shape;797;p4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descr="Title 1" id="802" name="Google Shape;802;p4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a:t>Lost Update Problem: Example</a:t>
            </a:r>
            <a:endParaRPr/>
          </a:p>
        </p:txBody>
      </p:sp>
      <p:sp>
        <p:nvSpPr>
          <p:cNvPr descr="Date Placeholder 3" id="803" name="Google Shape;803;p4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04" name="Google Shape;804;p4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805" name="Google Shape;805;p46"/>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806" name="Google Shape;806;p46"/>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807" name="Google Shape;807;p46"/>
          <p:cNvGrpSpPr/>
          <p:nvPr/>
        </p:nvGrpSpPr>
        <p:grpSpPr>
          <a:xfrm>
            <a:off x="3222625" y="2667000"/>
            <a:ext cx="3268663" cy="612775"/>
            <a:chOff x="-1" y="0"/>
            <a:chExt cx="3268876" cy="613318"/>
          </a:xfrm>
        </p:grpSpPr>
        <p:sp>
          <p:nvSpPr>
            <p:cNvPr id="808" name="Google Shape;808;p46"/>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809" name="Google Shape;809;p46"/>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810" name="Google Shape;810;p46"/>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811" name="Google Shape;811;p46"/>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812" name="Google Shape;812;p46"/>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813" name="Google Shape;813;p46"/>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814" name="Google Shape;814;p46"/>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815" name="Google Shape;815;p46"/>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pic>
        <p:nvPicPr>
          <p:cNvPr descr="Picture 2" id="816" name="Google Shape;816;p46"/>
          <p:cNvPicPr preferRelativeResize="0"/>
          <p:nvPr/>
        </p:nvPicPr>
        <p:blipFill rotWithShape="1">
          <a:blip r:embed="rId6">
            <a:alphaModFix/>
          </a:blip>
          <a:srcRect b="0" l="0" r="0" t="0"/>
          <a:stretch/>
        </p:blipFill>
        <p:spPr>
          <a:xfrm>
            <a:off x="2197100" y="3355975"/>
            <a:ext cx="5351463" cy="2093913"/>
          </a:xfrm>
          <a:prstGeom prst="rect">
            <a:avLst/>
          </a:prstGeom>
          <a:noFill/>
          <a:ln>
            <a:noFill/>
          </a:ln>
        </p:spPr>
      </p:pic>
      <p:sp>
        <p:nvSpPr>
          <p:cNvPr descr="TextBox 24" id="817" name="Google Shape;817;p46"/>
          <p:cNvSpPr txBox="1"/>
          <p:nvPr/>
        </p:nvSpPr>
        <p:spPr>
          <a:xfrm>
            <a:off x="439738" y="5372100"/>
            <a:ext cx="8143875"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total number of seats on Tippu express and</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after execution of the above set Transaction statements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descr="Title 1" id="822" name="Google Shape;822;p4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sz="2400"/>
              <a:t>Lost Update Problem: We are Loosing update</a:t>
            </a:r>
            <a:endParaRPr/>
          </a:p>
        </p:txBody>
      </p:sp>
      <p:sp>
        <p:nvSpPr>
          <p:cNvPr descr="Date Placeholder 3" id="823" name="Google Shape;823;p4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24" name="Google Shape;824;p4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825" name="Google Shape;825;p47"/>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826" name="Google Shape;826;p47"/>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827" name="Google Shape;827;p47"/>
          <p:cNvGrpSpPr/>
          <p:nvPr/>
        </p:nvGrpSpPr>
        <p:grpSpPr>
          <a:xfrm>
            <a:off x="3222625" y="2667000"/>
            <a:ext cx="3268663" cy="612775"/>
            <a:chOff x="-1" y="0"/>
            <a:chExt cx="3268876" cy="613318"/>
          </a:xfrm>
        </p:grpSpPr>
        <p:sp>
          <p:nvSpPr>
            <p:cNvPr id="828" name="Google Shape;828;p47"/>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829" name="Google Shape;829;p47"/>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830" name="Google Shape;830;p47"/>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831" name="Google Shape;831;p47"/>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832" name="Google Shape;832;p47"/>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833" name="Google Shape;833;p47"/>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834" name="Google Shape;834;p47"/>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835" name="Google Shape;835;p47"/>
          <p:cNvPicPr preferRelativeResize="0"/>
          <p:nvPr/>
        </p:nvPicPr>
        <p:blipFill rotWithShape="1">
          <a:blip r:embed="rId5">
            <a:alphaModFix/>
          </a:blip>
          <a:srcRect b="0" l="0" r="0" t="0"/>
          <a:stretch/>
        </p:blipFill>
        <p:spPr>
          <a:xfrm>
            <a:off x="2197100" y="3355975"/>
            <a:ext cx="5351463" cy="2093913"/>
          </a:xfrm>
          <a:prstGeom prst="rect">
            <a:avLst/>
          </a:prstGeom>
          <a:noFill/>
          <a:ln>
            <a:noFill/>
          </a:ln>
        </p:spPr>
      </p:pic>
      <p:sp>
        <p:nvSpPr>
          <p:cNvPr descr="TextBox 16" id="836" name="Google Shape;836;p47"/>
          <p:cNvSpPr txBox="1"/>
          <p:nvPr/>
        </p:nvSpPr>
        <p:spPr>
          <a:xfrm>
            <a:off x="223838" y="5303838"/>
            <a:ext cx="6392862" cy="1055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Answer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 express seats: 84  &lt;- </a:t>
            </a:r>
            <a:r>
              <a:rPr b="1" lang="en-US" sz="1600">
                <a:solidFill>
                  <a:srgbClr val="000000"/>
                </a:solidFill>
                <a:latin typeface="Verdana"/>
                <a:ea typeface="Verdana"/>
                <a:cs typeface="Verdana"/>
                <a:sym typeface="Verdana"/>
              </a:rPr>
              <a:t>INCORRECT</a:t>
            </a:r>
            <a:endParaRPr/>
          </a:p>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seats: 75</a:t>
            </a:r>
            <a:r>
              <a:rPr b="1" lang="en-US" sz="1600">
                <a:solidFill>
                  <a:srgbClr val="000000"/>
                </a:solidFill>
                <a:latin typeface="Verdana"/>
                <a:ea typeface="Verdana"/>
                <a:cs typeface="Verdana"/>
                <a:sym typeface="Verdana"/>
              </a:rPr>
              <a:t>             </a:t>
            </a:r>
            <a:endParaRPr sz="1600">
              <a:solidFill>
                <a:srgbClr val="000000"/>
              </a:solidFill>
              <a:latin typeface="Verdana"/>
              <a:ea typeface="Verdana"/>
              <a:cs typeface="Verdana"/>
              <a:sym typeface="Verdana"/>
            </a:endParaRPr>
          </a:p>
        </p:txBody>
      </p:sp>
      <p:pic>
        <p:nvPicPr>
          <p:cNvPr descr="Picture 2" id="837" name="Google Shape;837;p47"/>
          <p:cNvPicPr preferRelativeResize="0"/>
          <p:nvPr/>
        </p:nvPicPr>
        <p:blipFill rotWithShape="1">
          <a:blip r:embed="rId6">
            <a:alphaModFix/>
          </a:blip>
          <a:srcRect b="0" l="0" r="0" t="0"/>
          <a:stretch/>
        </p:blipFill>
        <p:spPr>
          <a:xfrm>
            <a:off x="1954213" y="1012825"/>
            <a:ext cx="5208587" cy="1408113"/>
          </a:xfrm>
          <a:prstGeom prst="rect">
            <a:avLst/>
          </a:prstGeom>
          <a:noFill/>
          <a:ln>
            <a:noFill/>
          </a:ln>
        </p:spPr>
      </p:pic>
      <p:sp>
        <p:nvSpPr>
          <p:cNvPr descr="TextBox 2" id="838" name="Google Shape;838;p47"/>
          <p:cNvSpPr txBox="1"/>
          <p:nvPr/>
        </p:nvSpPr>
        <p:spPr>
          <a:xfrm>
            <a:off x="4724400" y="5568950"/>
            <a:ext cx="3446463" cy="533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Update made by one Transaction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is overridden by another Transaction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descr="Title 1" id="843" name="Google Shape;843;p4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844" name="Google Shape;844;p4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SzPts val="2400"/>
              <a:buFont typeface="Noto Sans Symbols"/>
              <a:buNone/>
            </a:pPr>
            <a:r>
              <a:rPr lang="en-US" sz="2400"/>
              <a:t>2. The Dirty Read (or Temporary Update) Problem </a:t>
            </a:r>
            <a:endParaRPr/>
          </a:p>
          <a:p>
            <a:pPr indent="-438150" lvl="1" marL="908050" rtl="0" algn="l">
              <a:lnSpc>
                <a:spcPct val="80000"/>
              </a:lnSpc>
              <a:spcBef>
                <a:spcPts val="400"/>
              </a:spcBef>
              <a:spcAft>
                <a:spcPts val="0"/>
              </a:spcAft>
              <a:buSzPts val="2000"/>
              <a:buFont typeface="Verdana"/>
              <a:buChar char="■"/>
            </a:pPr>
            <a:r>
              <a:rPr lang="en-US" sz="2000"/>
              <a:t>This occurs when one transaction updates a database item and then the transaction fails for some reason.</a:t>
            </a:r>
            <a:endParaRPr sz="2600"/>
          </a:p>
          <a:p>
            <a:pPr indent="-438150" lvl="1" marL="908050" rtl="0" algn="l">
              <a:lnSpc>
                <a:spcPct val="80000"/>
              </a:lnSpc>
              <a:spcBef>
                <a:spcPts val="400"/>
              </a:spcBef>
              <a:spcAft>
                <a:spcPts val="0"/>
              </a:spcAft>
              <a:buSzPts val="2000"/>
              <a:buFont typeface="Verdana"/>
              <a:buChar char="■"/>
            </a:pPr>
            <a:r>
              <a:rPr lang="en-US" sz="2000"/>
              <a:t>The updated item is accessed by another transaction before it is changed back to its original value. </a:t>
            </a:r>
            <a:endParaRPr/>
          </a:p>
        </p:txBody>
      </p:sp>
      <p:sp>
        <p:nvSpPr>
          <p:cNvPr descr="Date Placeholder 3" id="845" name="Google Shape;845;p4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46" name="Google Shape;846;p4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descr="Title 1" id="851" name="Google Shape;851;p4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sz="2400"/>
              <a:t>Dirty Read (or Temporary Update ) Problem</a:t>
            </a:r>
            <a:endParaRPr/>
          </a:p>
        </p:txBody>
      </p:sp>
      <p:sp>
        <p:nvSpPr>
          <p:cNvPr descr="Date Placeholder 3" id="852" name="Google Shape;852;p4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53" name="Google Shape;853;p4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854" name="Google Shape;854;p49"/>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855" name="Google Shape;855;p49"/>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856" name="Google Shape;856;p49"/>
          <p:cNvGrpSpPr/>
          <p:nvPr/>
        </p:nvGrpSpPr>
        <p:grpSpPr>
          <a:xfrm>
            <a:off x="3222625" y="2667000"/>
            <a:ext cx="3268663" cy="612775"/>
            <a:chOff x="-1" y="0"/>
            <a:chExt cx="3268876" cy="613318"/>
          </a:xfrm>
        </p:grpSpPr>
        <p:sp>
          <p:nvSpPr>
            <p:cNvPr id="857" name="Google Shape;857;p49"/>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858" name="Google Shape;858;p49"/>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859" name="Google Shape;859;p49"/>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860" name="Google Shape;860;p49"/>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861" name="Google Shape;861;p49"/>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862" name="Google Shape;862;p49"/>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863" name="Google Shape;863;p49"/>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864" name="Google Shape;864;p49"/>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graphicFrame>
        <p:nvGraphicFramePr>
          <p:cNvPr id="865" name="Google Shape;865;p49"/>
          <p:cNvGraphicFramePr/>
          <p:nvPr/>
        </p:nvGraphicFramePr>
        <p:xfrm>
          <a:off x="830263" y="3429000"/>
          <a:ext cx="3000000" cy="3000000"/>
        </p:xfrm>
        <a:graphic>
          <a:graphicData uri="http://schemas.openxmlformats.org/drawingml/2006/table">
            <a:tbl>
              <a:tblPr>
                <a:noFill/>
                <a:tableStyleId>{DA31C186-C125-4E34-A739-053F885C22C1}</a:tableStyleId>
              </a:tblPr>
              <a:tblGrid>
                <a:gridCol w="4368800"/>
                <a:gridCol w="341787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6193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TippuSeats=TippuSeats-5</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UNDO or FAIL or ROLLBack</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ChamundiSeats=ChamundiSeats+5</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Read(TippuSeats)	 TippuSeats=TippuSeats+4</a:t>
                      </a:r>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Write(TippuSeats)</a:t>
                      </a:r>
                      <a:endParaRPr b="0" i="0" sz="18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descr="Title 1" id="870" name="Google Shape;870;p5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sz="2400"/>
              <a:t>Dirty Read (or Temporary Update ) Problem</a:t>
            </a:r>
            <a:endParaRPr/>
          </a:p>
        </p:txBody>
      </p:sp>
      <p:sp>
        <p:nvSpPr>
          <p:cNvPr descr="Date Placeholder 3" id="871" name="Google Shape;871;p5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72" name="Google Shape;872;p5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873" name="Google Shape;873;p50"/>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874" name="Google Shape;874;p50"/>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875" name="Google Shape;875;p50"/>
          <p:cNvGrpSpPr/>
          <p:nvPr/>
        </p:nvGrpSpPr>
        <p:grpSpPr>
          <a:xfrm>
            <a:off x="3222625" y="2667000"/>
            <a:ext cx="3268663" cy="612775"/>
            <a:chOff x="-1" y="0"/>
            <a:chExt cx="3268876" cy="613318"/>
          </a:xfrm>
        </p:grpSpPr>
        <p:sp>
          <p:nvSpPr>
            <p:cNvPr id="876" name="Google Shape;876;p50"/>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877" name="Google Shape;877;p50"/>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878" name="Google Shape;878;p50"/>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879" name="Google Shape;879;p50"/>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880" name="Google Shape;880;p50"/>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881" name="Google Shape;881;p50"/>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882" name="Google Shape;882;p50"/>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883" name="Google Shape;883;p50"/>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pic>
        <p:nvPicPr>
          <p:cNvPr descr="Picture 2" id="884" name="Google Shape;884;p50"/>
          <p:cNvPicPr preferRelativeResize="0"/>
          <p:nvPr/>
        </p:nvPicPr>
        <p:blipFill rotWithShape="1">
          <a:blip r:embed="rId6">
            <a:alphaModFix/>
          </a:blip>
          <a:srcRect b="0" l="0" r="0" t="0"/>
          <a:stretch/>
        </p:blipFill>
        <p:spPr>
          <a:xfrm>
            <a:off x="2297113" y="3284538"/>
            <a:ext cx="5267325" cy="2060575"/>
          </a:xfrm>
          <a:prstGeom prst="rect">
            <a:avLst/>
          </a:prstGeom>
          <a:noFill/>
          <a:ln>
            <a:noFill/>
          </a:ln>
        </p:spPr>
      </p:pic>
      <p:sp>
        <p:nvSpPr>
          <p:cNvPr descr="TextBox 16" id="885" name="Google Shape;885;p50"/>
          <p:cNvSpPr txBox="1"/>
          <p:nvPr/>
        </p:nvSpPr>
        <p:spPr>
          <a:xfrm>
            <a:off x="439738" y="5227638"/>
            <a:ext cx="8143875"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total number of seats on Tippu express and</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after execution of the above set Transaction statements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descr="Title 1" id="890" name="Google Shape;890;p5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sz="2400"/>
              <a:t>Dirty Read (or Temporary Update ) Problem</a:t>
            </a:r>
            <a:endParaRPr/>
          </a:p>
        </p:txBody>
      </p:sp>
      <p:sp>
        <p:nvSpPr>
          <p:cNvPr descr="Date Placeholder 3" id="891" name="Google Shape;891;p5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892" name="Google Shape;892;p5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893" name="Google Shape;893;p51"/>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894" name="Google Shape;894;p51"/>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895" name="Google Shape;895;p51"/>
          <p:cNvGrpSpPr/>
          <p:nvPr/>
        </p:nvGrpSpPr>
        <p:grpSpPr>
          <a:xfrm>
            <a:off x="3222625" y="2667000"/>
            <a:ext cx="3268663" cy="612775"/>
            <a:chOff x="-1" y="0"/>
            <a:chExt cx="3268876" cy="613318"/>
          </a:xfrm>
        </p:grpSpPr>
        <p:sp>
          <p:nvSpPr>
            <p:cNvPr id="896" name="Google Shape;896;p51"/>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897" name="Google Shape;897;p51"/>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898" name="Google Shape;898;p51"/>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899" name="Google Shape;899;p51"/>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900" name="Google Shape;900;p51"/>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901" name="Google Shape;901;p51"/>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902" name="Google Shape;902;p51"/>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903" name="Google Shape;903;p51"/>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pic>
        <p:nvPicPr>
          <p:cNvPr descr="Picture 2" id="904" name="Google Shape;904;p51"/>
          <p:cNvPicPr preferRelativeResize="0"/>
          <p:nvPr/>
        </p:nvPicPr>
        <p:blipFill rotWithShape="1">
          <a:blip r:embed="rId6">
            <a:alphaModFix/>
          </a:blip>
          <a:srcRect b="0" l="0" r="0" t="0"/>
          <a:stretch/>
        </p:blipFill>
        <p:spPr>
          <a:xfrm>
            <a:off x="2297113" y="3284538"/>
            <a:ext cx="5267325" cy="2060575"/>
          </a:xfrm>
          <a:prstGeom prst="rect">
            <a:avLst/>
          </a:prstGeom>
          <a:noFill/>
          <a:ln>
            <a:noFill/>
          </a:ln>
        </p:spPr>
      </p:pic>
      <p:sp>
        <p:nvSpPr>
          <p:cNvPr descr="TextBox 18" id="905" name="Google Shape;905;p51"/>
          <p:cNvSpPr txBox="1"/>
          <p:nvPr/>
        </p:nvSpPr>
        <p:spPr>
          <a:xfrm>
            <a:off x="80963" y="5303838"/>
            <a:ext cx="6391275" cy="1055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Answer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 express seats: 80  &lt;- </a:t>
            </a:r>
            <a:r>
              <a:rPr b="1" lang="en-US" sz="1600">
                <a:solidFill>
                  <a:srgbClr val="000000"/>
                </a:solidFill>
                <a:latin typeface="Verdana"/>
                <a:ea typeface="Verdana"/>
                <a:cs typeface="Verdana"/>
                <a:sym typeface="Verdana"/>
              </a:rPr>
              <a:t>INCORRECT</a:t>
            </a:r>
            <a:endParaRPr/>
          </a:p>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seats: 75</a:t>
            </a:r>
            <a:r>
              <a:rPr b="1" lang="en-US" sz="1600">
                <a:solidFill>
                  <a:srgbClr val="000000"/>
                </a:solidFill>
                <a:latin typeface="Verdana"/>
                <a:ea typeface="Verdana"/>
                <a:cs typeface="Verdana"/>
                <a:sym typeface="Verdana"/>
              </a:rPr>
              <a:t>             </a:t>
            </a:r>
            <a:endParaRPr sz="1600">
              <a:solidFill>
                <a:srgbClr val="000000"/>
              </a:solidFill>
              <a:latin typeface="Verdana"/>
              <a:ea typeface="Verdana"/>
              <a:cs typeface="Verdana"/>
              <a:sym typeface="Verdana"/>
            </a:endParaRPr>
          </a:p>
        </p:txBody>
      </p:sp>
      <p:sp>
        <p:nvSpPr>
          <p:cNvPr descr="TextBox 2" id="906" name="Google Shape;906;p51"/>
          <p:cNvSpPr txBox="1"/>
          <p:nvPr/>
        </p:nvSpPr>
        <p:spPr>
          <a:xfrm>
            <a:off x="4403725" y="5445125"/>
            <a:ext cx="4694238" cy="5730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“Dirty read” / Reading uncommitted data</a:t>
            </a:r>
            <a:endParaRPr/>
          </a:p>
          <a:p>
            <a:pPr indent="0" lvl="0" marL="0" marR="0" rtl="0" algn="l">
              <a:spcBef>
                <a:spcPts val="0"/>
              </a:spcBef>
              <a:spcAft>
                <a:spcPts val="0"/>
              </a:spcAft>
              <a:buNone/>
            </a:pPr>
            <a:r>
              <a:rPr i="1" lang="en-US" sz="1600">
                <a:solidFill>
                  <a:srgbClr val="000000"/>
                </a:solidFill>
                <a:latin typeface="Verdana"/>
                <a:ea typeface="Verdana"/>
                <a:cs typeface="Verdana"/>
                <a:sym typeface="Verdana"/>
              </a:rPr>
              <a:t>Occurring with / because of a </a:t>
            </a:r>
            <a:r>
              <a:rPr b="1" i="1" lang="en-US" sz="1600">
                <a:solidFill>
                  <a:srgbClr val="000000"/>
                </a:solidFill>
                <a:latin typeface="Verdana"/>
                <a:ea typeface="Verdana"/>
                <a:cs typeface="Verdana"/>
                <a:sym typeface="Verdana"/>
              </a:rPr>
              <a:t>write conflict</a:t>
            </a:r>
            <a:endParaRPr i="1" sz="1600">
              <a:solidFill>
                <a:srgbClr val="000000"/>
              </a:solidFill>
              <a:latin typeface="Verdana"/>
              <a:ea typeface="Verdana"/>
              <a:cs typeface="Verdana"/>
              <a:sym typeface="Verdan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descr="Title 1" id="911" name="Google Shape;911;p5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514350" lvl="0" marL="514350" rtl="0" algn="l">
              <a:spcBef>
                <a:spcPts val="0"/>
              </a:spcBef>
              <a:spcAft>
                <a:spcPts val="0"/>
              </a:spcAft>
              <a:buNone/>
            </a:pPr>
            <a:r>
              <a:rPr lang="en-US" sz="2400"/>
              <a:t>Example</a:t>
            </a:r>
            <a:endParaRPr/>
          </a:p>
        </p:txBody>
      </p:sp>
      <p:sp>
        <p:nvSpPr>
          <p:cNvPr descr="Date Placeholder 3" id="912" name="Google Shape;912;p5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13" name="Google Shape;913;p5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914" name="Google Shape;914;p52"/>
          <p:cNvPicPr preferRelativeResize="0"/>
          <p:nvPr/>
        </p:nvPicPr>
        <p:blipFill rotWithShape="1">
          <a:blip r:embed="rId3">
            <a:alphaModFix/>
          </a:blip>
          <a:srcRect b="0" l="0" r="0" t="0"/>
          <a:stretch/>
        </p:blipFill>
        <p:spPr>
          <a:xfrm>
            <a:off x="2206625" y="2347913"/>
            <a:ext cx="533400" cy="930275"/>
          </a:xfrm>
          <a:prstGeom prst="rect">
            <a:avLst/>
          </a:prstGeom>
          <a:noFill/>
          <a:ln>
            <a:noFill/>
          </a:ln>
        </p:spPr>
      </p:pic>
      <p:pic>
        <p:nvPicPr>
          <p:cNvPr descr="Picture 4" id="915" name="Google Shape;915;p52"/>
          <p:cNvPicPr preferRelativeResize="0"/>
          <p:nvPr/>
        </p:nvPicPr>
        <p:blipFill rotWithShape="1">
          <a:blip r:embed="rId4">
            <a:alphaModFix/>
          </a:blip>
          <a:srcRect b="0" l="0" r="0" t="0"/>
          <a:stretch/>
        </p:blipFill>
        <p:spPr>
          <a:xfrm>
            <a:off x="7091363" y="2460625"/>
            <a:ext cx="457200" cy="823913"/>
          </a:xfrm>
          <a:prstGeom prst="rect">
            <a:avLst/>
          </a:prstGeom>
          <a:noFill/>
          <a:ln>
            <a:noFill/>
          </a:ln>
        </p:spPr>
      </p:pic>
      <p:grpSp>
        <p:nvGrpSpPr>
          <p:cNvPr id="916" name="Google Shape;916;p52"/>
          <p:cNvGrpSpPr/>
          <p:nvPr/>
        </p:nvGrpSpPr>
        <p:grpSpPr>
          <a:xfrm>
            <a:off x="3222625" y="2667000"/>
            <a:ext cx="3268663" cy="612775"/>
            <a:chOff x="-1" y="0"/>
            <a:chExt cx="3268876" cy="613318"/>
          </a:xfrm>
        </p:grpSpPr>
        <p:sp>
          <p:nvSpPr>
            <p:cNvPr id="917" name="Google Shape;917;p52"/>
            <p:cNvSpPr/>
            <p:nvPr/>
          </p:nvSpPr>
          <p:spPr>
            <a:xfrm>
              <a:off x="-1" y="0"/>
              <a:ext cx="3268876" cy="613318"/>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918" name="Google Shape;918;p52"/>
            <p:cNvSpPr txBox="1"/>
            <p:nvPr/>
          </p:nvSpPr>
          <p:spPr>
            <a:xfrm>
              <a:off x="64769" y="19050"/>
              <a:ext cx="3139336" cy="574041"/>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Cancellation Software </a:t>
              </a:r>
              <a:endParaRPr/>
            </a:p>
          </p:txBody>
        </p:sp>
      </p:grpSp>
      <p:cxnSp>
        <p:nvCxnSpPr>
          <p:cNvPr descr="Straight Arrow Connector 9" id="919" name="Google Shape;919;p52"/>
          <p:cNvCxnSpPr/>
          <p:nvPr/>
        </p:nvCxnSpPr>
        <p:spPr>
          <a:xfrm>
            <a:off x="2627313" y="3013075"/>
            <a:ext cx="555625" cy="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920" name="Google Shape;920;p52"/>
          <p:cNvCxnSpPr/>
          <p:nvPr/>
        </p:nvCxnSpPr>
        <p:spPr>
          <a:xfrm rot="10800000">
            <a:off x="6491288" y="2917825"/>
            <a:ext cx="6000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921" name="Google Shape;921;p52"/>
          <p:cNvSpPr txBox="1"/>
          <p:nvPr/>
        </p:nvSpPr>
        <p:spPr>
          <a:xfrm>
            <a:off x="1395413" y="2911475"/>
            <a:ext cx="76993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922" name="Google Shape;922;p52"/>
          <p:cNvSpPr txBox="1"/>
          <p:nvPr/>
        </p:nvSpPr>
        <p:spPr>
          <a:xfrm>
            <a:off x="7821613" y="2652713"/>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3" id="923" name="Google Shape;923;p52"/>
          <p:cNvSpPr/>
          <p:nvPr/>
        </p:nvSpPr>
        <p:spPr>
          <a:xfrm rot="10598870">
            <a:off x="4368800" y="2430463"/>
            <a:ext cx="336550" cy="2460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2" id="924" name="Google Shape;924;p52"/>
          <p:cNvPicPr preferRelativeResize="0"/>
          <p:nvPr/>
        </p:nvPicPr>
        <p:blipFill rotWithShape="1">
          <a:blip r:embed="rId5">
            <a:alphaModFix/>
          </a:blip>
          <a:srcRect b="0" l="0" r="0" t="0"/>
          <a:stretch/>
        </p:blipFill>
        <p:spPr>
          <a:xfrm>
            <a:off x="1957388" y="1052513"/>
            <a:ext cx="5062537" cy="1368425"/>
          </a:xfrm>
          <a:prstGeom prst="rect">
            <a:avLst/>
          </a:prstGeom>
          <a:noFill/>
          <a:ln>
            <a:noFill/>
          </a:ln>
        </p:spPr>
      </p:pic>
      <p:pic>
        <p:nvPicPr>
          <p:cNvPr descr="Picture 2" id="925" name="Google Shape;925;p52"/>
          <p:cNvPicPr preferRelativeResize="0"/>
          <p:nvPr/>
        </p:nvPicPr>
        <p:blipFill rotWithShape="1">
          <a:blip r:embed="rId6">
            <a:alphaModFix/>
          </a:blip>
          <a:srcRect b="0" l="0" r="0" t="0"/>
          <a:stretch/>
        </p:blipFill>
        <p:spPr>
          <a:xfrm>
            <a:off x="2297113" y="3284538"/>
            <a:ext cx="5267325" cy="2060575"/>
          </a:xfrm>
          <a:prstGeom prst="rect">
            <a:avLst/>
          </a:prstGeom>
          <a:noFill/>
          <a:ln>
            <a:noFill/>
          </a:ln>
        </p:spPr>
      </p:pic>
      <p:sp>
        <p:nvSpPr>
          <p:cNvPr descr="TextBox 18" id="926" name="Google Shape;926;p52"/>
          <p:cNvSpPr txBox="1"/>
          <p:nvPr/>
        </p:nvSpPr>
        <p:spPr>
          <a:xfrm>
            <a:off x="80963" y="5303838"/>
            <a:ext cx="6391275" cy="1055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Answer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 express seats: 80  &lt;- </a:t>
            </a:r>
            <a:r>
              <a:rPr b="1" lang="en-US" sz="1600">
                <a:solidFill>
                  <a:srgbClr val="000000"/>
                </a:solidFill>
                <a:latin typeface="Verdana"/>
                <a:ea typeface="Verdana"/>
                <a:cs typeface="Verdana"/>
                <a:sym typeface="Verdana"/>
              </a:rPr>
              <a:t>INCORRECT</a:t>
            </a:r>
            <a:endParaRPr/>
          </a:p>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seats: 75</a:t>
            </a:r>
            <a:r>
              <a:rPr b="1" lang="en-US" sz="1600">
                <a:solidFill>
                  <a:srgbClr val="000000"/>
                </a:solidFill>
                <a:latin typeface="Verdana"/>
                <a:ea typeface="Verdana"/>
                <a:cs typeface="Verdana"/>
                <a:sym typeface="Verdana"/>
              </a:rPr>
              <a:t>             </a:t>
            </a:r>
            <a:endParaRPr sz="1600">
              <a:solidFill>
                <a:srgbClr val="000000"/>
              </a:solidFill>
              <a:latin typeface="Verdana"/>
              <a:ea typeface="Verdana"/>
              <a:cs typeface="Verdana"/>
              <a:sym typeface="Verdana"/>
            </a:endParaRPr>
          </a:p>
        </p:txBody>
      </p:sp>
      <p:sp>
        <p:nvSpPr>
          <p:cNvPr descr="TextBox 2" id="927" name="Google Shape;927;p52"/>
          <p:cNvSpPr txBox="1"/>
          <p:nvPr/>
        </p:nvSpPr>
        <p:spPr>
          <a:xfrm>
            <a:off x="4403725" y="5445125"/>
            <a:ext cx="4694238" cy="5730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“Dirty read” / Reading uncommitted data</a:t>
            </a:r>
            <a:endParaRPr/>
          </a:p>
          <a:p>
            <a:pPr indent="0" lvl="0" marL="0" marR="0" rtl="0" algn="l">
              <a:spcBef>
                <a:spcPts val="0"/>
              </a:spcBef>
              <a:spcAft>
                <a:spcPts val="0"/>
              </a:spcAft>
              <a:buNone/>
            </a:pPr>
            <a:r>
              <a:rPr i="1" lang="en-US" sz="1600">
                <a:solidFill>
                  <a:srgbClr val="000000"/>
                </a:solidFill>
                <a:latin typeface="Verdana"/>
                <a:ea typeface="Verdana"/>
                <a:cs typeface="Verdana"/>
                <a:sym typeface="Verdana"/>
              </a:rPr>
              <a:t>Occurring with / because of a </a:t>
            </a:r>
            <a:r>
              <a:rPr b="1" i="1" lang="en-US" sz="1600">
                <a:solidFill>
                  <a:srgbClr val="000000"/>
                </a:solidFill>
                <a:latin typeface="Verdana"/>
                <a:ea typeface="Verdana"/>
                <a:cs typeface="Verdana"/>
                <a:sym typeface="Verdana"/>
              </a:rPr>
              <a:t>write conflict</a:t>
            </a:r>
            <a:endParaRPr i="1" sz="1600">
              <a:solidFill>
                <a:srgbClr val="000000"/>
              </a:solidFill>
              <a:latin typeface="Verdana"/>
              <a:ea typeface="Verdana"/>
              <a:cs typeface="Verdana"/>
              <a:sym typeface="Verdan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descr="Title 1" id="932" name="Google Shape;932;p5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933" name="Google Shape;933;p5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2400"/>
              <a:buFont typeface="Verdana"/>
              <a:buChar char="□"/>
            </a:pPr>
            <a:r>
              <a:rPr lang="en-US" sz="2400"/>
              <a:t>What is Concurrent Execution ?</a:t>
            </a:r>
            <a:endParaRPr/>
          </a:p>
          <a:p>
            <a:pPr indent="-234950" lvl="0" marL="234950" rtl="0" algn="l">
              <a:spcBef>
                <a:spcPts val="500"/>
              </a:spcBef>
              <a:spcAft>
                <a:spcPts val="0"/>
              </a:spcAft>
              <a:buSzPts val="2400"/>
              <a:buFont typeface="Noto Sans Symbols"/>
              <a:buNone/>
            </a:pPr>
            <a:r>
              <a:rPr lang="en-US" sz="2400"/>
              <a:t>When Multiple users trying to access same database record in an uncontrolled manner.</a:t>
            </a:r>
            <a:endParaRPr/>
          </a:p>
          <a:p>
            <a:pPr indent="-234950" lvl="0" marL="234950" rtl="0" algn="l">
              <a:spcBef>
                <a:spcPts val="700"/>
              </a:spcBef>
              <a:spcAft>
                <a:spcPts val="0"/>
              </a:spcAft>
              <a:buSzPts val="2400"/>
              <a:buFont typeface="Noto Sans Symbols"/>
              <a:buNone/>
            </a:pPr>
            <a:r>
              <a:t/>
            </a:r>
            <a:endParaRPr sz="2400"/>
          </a:p>
          <a:p>
            <a:pPr indent="-234950" lvl="0" marL="234950" rtl="0" algn="l">
              <a:spcBef>
                <a:spcPts val="500"/>
              </a:spcBef>
              <a:spcAft>
                <a:spcPts val="0"/>
              </a:spcAft>
              <a:buSzPts val="2400"/>
              <a:buFont typeface="Verdana"/>
              <a:buChar char="□"/>
            </a:pPr>
            <a:r>
              <a:rPr lang="en-US" sz="2400"/>
              <a:t>Problems with Concurrent execution</a:t>
            </a:r>
            <a:endParaRPr/>
          </a:p>
          <a:p>
            <a:pPr indent="-514350" lvl="1" marL="984250" rtl="0" algn="l">
              <a:spcBef>
                <a:spcPts val="400"/>
              </a:spcBef>
              <a:spcAft>
                <a:spcPts val="0"/>
              </a:spcAft>
              <a:buSzPts val="2000"/>
              <a:buFont typeface="Verdana"/>
              <a:buAutoNum type="arabicPeriod"/>
            </a:pPr>
            <a:r>
              <a:rPr b="1" lang="en-US" sz="2000"/>
              <a:t>Lost Update Problem</a:t>
            </a:r>
            <a:endParaRPr b="1" sz="2600"/>
          </a:p>
          <a:p>
            <a:pPr indent="-514350" lvl="1" marL="984250" rtl="0" algn="l">
              <a:spcBef>
                <a:spcPts val="400"/>
              </a:spcBef>
              <a:spcAft>
                <a:spcPts val="0"/>
              </a:spcAft>
              <a:buSzPts val="2000"/>
              <a:buFont typeface="Verdana"/>
              <a:buAutoNum type="arabicPeriod"/>
            </a:pPr>
            <a:r>
              <a:rPr b="1" lang="en-US" sz="2000"/>
              <a:t>Temporary Update (or Dirty Read) Problem </a:t>
            </a:r>
            <a:endParaRPr b="1" sz="2600"/>
          </a:p>
          <a:p>
            <a:pPr indent="-514350" lvl="1" marL="984250" rtl="0" algn="l">
              <a:spcBef>
                <a:spcPts val="400"/>
              </a:spcBef>
              <a:spcAft>
                <a:spcPts val="0"/>
              </a:spcAft>
              <a:buSzPts val="2000"/>
              <a:buFont typeface="Verdana"/>
              <a:buAutoNum type="arabicPeriod"/>
            </a:pPr>
            <a:r>
              <a:rPr lang="en-US" sz="2000"/>
              <a:t>Incorrect Summary Problem</a:t>
            </a:r>
            <a:endParaRPr sz="2600"/>
          </a:p>
          <a:p>
            <a:pPr indent="-514350" lvl="1" marL="984250" rtl="0" algn="l">
              <a:spcBef>
                <a:spcPts val="400"/>
              </a:spcBef>
              <a:spcAft>
                <a:spcPts val="0"/>
              </a:spcAft>
              <a:buSzPts val="2000"/>
              <a:buFont typeface="Verdana"/>
              <a:buAutoNum type="arabicPeriod"/>
            </a:pPr>
            <a:r>
              <a:rPr lang="en-US" sz="2000"/>
              <a:t>Unrepeatable Read</a:t>
            </a:r>
            <a:endParaRPr/>
          </a:p>
        </p:txBody>
      </p:sp>
      <p:sp>
        <p:nvSpPr>
          <p:cNvPr descr="Date Placeholder 3" id="934" name="Google Shape;934;p5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35" name="Google Shape;935;p5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descr="Title 1" id="940" name="Google Shape;940;p5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941" name="Google Shape;941;p5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2400"/>
              <a:buFont typeface="Verdana"/>
              <a:buChar char="□"/>
            </a:pPr>
            <a:r>
              <a:rPr lang="en-US" sz="2400"/>
              <a:t>What is Concurrent Execution ?</a:t>
            </a:r>
            <a:endParaRPr/>
          </a:p>
          <a:p>
            <a:pPr indent="-234950" lvl="0" marL="234950" rtl="0" algn="l">
              <a:spcBef>
                <a:spcPts val="500"/>
              </a:spcBef>
              <a:spcAft>
                <a:spcPts val="0"/>
              </a:spcAft>
              <a:buSzPts val="2400"/>
              <a:buFont typeface="Noto Sans Symbols"/>
              <a:buNone/>
            </a:pPr>
            <a:r>
              <a:rPr lang="en-US" sz="2400"/>
              <a:t>When Multiple users trying to access same database record in an uncontrolled manner.</a:t>
            </a:r>
            <a:endParaRPr/>
          </a:p>
          <a:p>
            <a:pPr indent="-234950" lvl="0" marL="234950" rtl="0" algn="l">
              <a:spcBef>
                <a:spcPts val="700"/>
              </a:spcBef>
              <a:spcAft>
                <a:spcPts val="0"/>
              </a:spcAft>
              <a:buSzPts val="2400"/>
              <a:buFont typeface="Noto Sans Symbols"/>
              <a:buNone/>
            </a:pPr>
            <a:r>
              <a:t/>
            </a:r>
            <a:endParaRPr sz="2400"/>
          </a:p>
          <a:p>
            <a:pPr indent="-234950" lvl="0" marL="234950" rtl="0" algn="l">
              <a:spcBef>
                <a:spcPts val="500"/>
              </a:spcBef>
              <a:spcAft>
                <a:spcPts val="0"/>
              </a:spcAft>
              <a:buSzPts val="2400"/>
              <a:buFont typeface="Verdana"/>
              <a:buChar char="□"/>
            </a:pPr>
            <a:r>
              <a:rPr lang="en-US" sz="2400"/>
              <a:t>Problems with Concurrent execution</a:t>
            </a:r>
            <a:endParaRPr/>
          </a:p>
          <a:p>
            <a:pPr indent="-514350" lvl="1" marL="984250" rtl="0" algn="l">
              <a:spcBef>
                <a:spcPts val="400"/>
              </a:spcBef>
              <a:spcAft>
                <a:spcPts val="0"/>
              </a:spcAft>
              <a:buSzPts val="2000"/>
              <a:buFont typeface="Verdana"/>
              <a:buAutoNum type="arabicPeriod"/>
            </a:pPr>
            <a:r>
              <a:rPr lang="en-US" sz="2000"/>
              <a:t>Lost Update Problem</a:t>
            </a:r>
            <a:endParaRPr sz="2600"/>
          </a:p>
          <a:p>
            <a:pPr indent="-514350" lvl="1" marL="984250" rtl="0" algn="l">
              <a:spcBef>
                <a:spcPts val="400"/>
              </a:spcBef>
              <a:spcAft>
                <a:spcPts val="0"/>
              </a:spcAft>
              <a:buSzPts val="2000"/>
              <a:buFont typeface="Verdana"/>
              <a:buAutoNum type="arabicPeriod"/>
            </a:pPr>
            <a:r>
              <a:rPr lang="en-US" sz="2000"/>
              <a:t>Temporary Update (or Dirty Read) Problem</a:t>
            </a:r>
            <a:r>
              <a:rPr b="1" lang="en-US" sz="2000"/>
              <a:t> </a:t>
            </a:r>
            <a:endParaRPr sz="2600"/>
          </a:p>
          <a:p>
            <a:pPr indent="-514350" lvl="1" marL="984250" rtl="0" algn="l">
              <a:spcBef>
                <a:spcPts val="400"/>
              </a:spcBef>
              <a:spcAft>
                <a:spcPts val="0"/>
              </a:spcAft>
              <a:buSzPts val="2000"/>
              <a:buFont typeface="Verdana"/>
              <a:buAutoNum type="arabicPeriod"/>
            </a:pPr>
            <a:r>
              <a:rPr b="1" lang="en-US" sz="2000"/>
              <a:t>Incorrect Summary Problem</a:t>
            </a:r>
            <a:endParaRPr b="1" sz="2600"/>
          </a:p>
          <a:p>
            <a:pPr indent="-514350" lvl="1" marL="984250" rtl="0" algn="l">
              <a:spcBef>
                <a:spcPts val="400"/>
              </a:spcBef>
              <a:spcAft>
                <a:spcPts val="0"/>
              </a:spcAft>
              <a:buSzPts val="2000"/>
              <a:buFont typeface="Verdana"/>
              <a:buAutoNum type="arabicPeriod"/>
            </a:pPr>
            <a:r>
              <a:rPr lang="en-US" sz="2000"/>
              <a:t>Unrepeatable Read</a:t>
            </a:r>
            <a:endParaRPr/>
          </a:p>
        </p:txBody>
      </p:sp>
      <p:sp>
        <p:nvSpPr>
          <p:cNvPr descr="Date Placeholder 3" id="942" name="Google Shape;942;p5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43" name="Google Shape;943;p5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descr="Title 1" id="948" name="Google Shape;948;p5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Example</a:t>
            </a:r>
            <a:endParaRPr/>
          </a:p>
        </p:txBody>
      </p:sp>
      <p:sp>
        <p:nvSpPr>
          <p:cNvPr descr="Date Placeholder 3" id="949" name="Google Shape;949;p5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50" name="Google Shape;950;p5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951" name="Google Shape;951;p55"/>
          <p:cNvPicPr preferRelativeResize="0"/>
          <p:nvPr/>
        </p:nvPicPr>
        <p:blipFill rotWithShape="1">
          <a:blip r:embed="rId3">
            <a:alphaModFix/>
          </a:blip>
          <a:srcRect b="0" l="0" r="0" t="0"/>
          <a:stretch/>
        </p:blipFill>
        <p:spPr>
          <a:xfrm>
            <a:off x="2097088" y="2400300"/>
            <a:ext cx="341312" cy="593725"/>
          </a:xfrm>
          <a:prstGeom prst="rect">
            <a:avLst/>
          </a:prstGeom>
          <a:noFill/>
          <a:ln>
            <a:noFill/>
          </a:ln>
        </p:spPr>
      </p:pic>
      <p:pic>
        <p:nvPicPr>
          <p:cNvPr descr="Picture 4" id="952" name="Google Shape;952;p55"/>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953" name="Google Shape;953;p55"/>
          <p:cNvCxnSpPr/>
          <p:nvPr/>
        </p:nvCxnSpPr>
        <p:spPr>
          <a:xfrm flipH="1" rot="10800000">
            <a:off x="2438400" y="2460625"/>
            <a:ext cx="1123950" cy="236538"/>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954" name="Google Shape;954;p55"/>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955" name="Google Shape;955;p55"/>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956" name="Google Shape;956;p55"/>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957" name="Google Shape;957;p55"/>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graphicFrame>
        <p:nvGraphicFramePr>
          <p:cNvPr id="958" name="Google Shape;958;p55"/>
          <p:cNvGraphicFramePr/>
          <p:nvPr/>
        </p:nvGraphicFramePr>
        <p:xfrm>
          <a:off x="279400" y="2997200"/>
          <a:ext cx="3000000" cy="3000000"/>
        </p:xfrm>
        <a:graphic>
          <a:graphicData uri="http://schemas.openxmlformats.org/drawingml/2006/table">
            <a:tbl>
              <a:tblPr>
                <a:noFill/>
                <a:tableStyleId>{DA31C186-C125-4E34-A739-053F885C22C1}</a:tableStyleId>
              </a:tblPr>
              <a:tblGrid>
                <a:gridCol w="43688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1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TippuSeats=TippuSeats-5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Read(ChamundiSeats)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ChamundiSeats=ChamundiSeats+5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Write(ChamundiSeats)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959" name="Google Shape;959;p55"/>
          <p:cNvGraphicFramePr/>
          <p:nvPr/>
        </p:nvGraphicFramePr>
        <p:xfrm>
          <a:off x="5364163" y="3159125"/>
          <a:ext cx="3000000" cy="3000000"/>
        </p:xfrm>
        <a:graphic>
          <a:graphicData uri="http://schemas.openxmlformats.org/drawingml/2006/table">
            <a:tbl>
              <a:tblPr>
                <a:noFill/>
                <a:tableStyleId>{DA31C186-C125-4E34-A739-053F885C22C1}</a:tableStyleId>
              </a:tblPr>
              <a:tblGrid>
                <a:gridCol w="341787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01775">
                <a:tc>
                  <a:txBody>
                    <a:bodyPr/>
                    <a:lstStyle/>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sum:=0</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Read(TippuSeats)	</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sum=sum+TippuSeats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descr="Title 1" id="964" name="Google Shape;964;p5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Example</a:t>
            </a:r>
            <a:endParaRPr/>
          </a:p>
        </p:txBody>
      </p:sp>
      <p:sp>
        <p:nvSpPr>
          <p:cNvPr descr="Date Placeholder 3" id="965" name="Google Shape;965;p5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66" name="Google Shape;966;p5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967" name="Google Shape;967;p56"/>
          <p:cNvPicPr preferRelativeResize="0"/>
          <p:nvPr/>
        </p:nvPicPr>
        <p:blipFill rotWithShape="1">
          <a:blip r:embed="rId3">
            <a:alphaModFix/>
          </a:blip>
          <a:srcRect b="0" l="0" r="0" t="0"/>
          <a:stretch/>
        </p:blipFill>
        <p:spPr>
          <a:xfrm>
            <a:off x="2097088" y="2400300"/>
            <a:ext cx="341312" cy="593725"/>
          </a:xfrm>
          <a:prstGeom prst="rect">
            <a:avLst/>
          </a:prstGeom>
          <a:noFill/>
          <a:ln>
            <a:noFill/>
          </a:ln>
        </p:spPr>
      </p:pic>
      <p:pic>
        <p:nvPicPr>
          <p:cNvPr descr="Picture 4" id="968" name="Google Shape;968;p56"/>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969" name="Google Shape;969;p56"/>
          <p:cNvCxnSpPr/>
          <p:nvPr/>
        </p:nvCxnSpPr>
        <p:spPr>
          <a:xfrm flipH="1" rot="10800000">
            <a:off x="2438400" y="2460625"/>
            <a:ext cx="1123950" cy="236538"/>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970" name="Google Shape;970;p56"/>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971" name="Google Shape;971;p56"/>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972" name="Google Shape;972;p56"/>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973" name="Google Shape;973;p56"/>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graphicFrame>
        <p:nvGraphicFramePr>
          <p:cNvPr id="974" name="Google Shape;974;p56"/>
          <p:cNvGraphicFramePr/>
          <p:nvPr/>
        </p:nvGraphicFramePr>
        <p:xfrm>
          <a:off x="279400" y="2997200"/>
          <a:ext cx="3000000" cy="3000000"/>
        </p:xfrm>
        <a:graphic>
          <a:graphicData uri="http://schemas.openxmlformats.org/drawingml/2006/table">
            <a:tbl>
              <a:tblPr>
                <a:noFill/>
                <a:tableStyleId>{DA31C186-C125-4E34-A739-053F885C22C1}</a:tableStyleId>
              </a:tblPr>
              <a:tblGrid>
                <a:gridCol w="43688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1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TippuSeats=TippuSeats-5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Read(ChamundiSeats)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ChamundiSeats=ChamundiSeats+5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Write(ChamundiSeats)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975" name="Google Shape;975;p56"/>
          <p:cNvGraphicFramePr/>
          <p:nvPr/>
        </p:nvGraphicFramePr>
        <p:xfrm>
          <a:off x="5364163" y="3159125"/>
          <a:ext cx="3000000" cy="3000000"/>
        </p:xfrm>
        <a:graphic>
          <a:graphicData uri="http://schemas.openxmlformats.org/drawingml/2006/table">
            <a:tbl>
              <a:tblPr>
                <a:noFill/>
                <a:tableStyleId>{DA31C186-C125-4E34-A739-053F885C22C1}</a:tableStyleId>
              </a:tblPr>
              <a:tblGrid>
                <a:gridCol w="341787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01775">
                <a:tc>
                  <a:txBody>
                    <a:bodyPr/>
                    <a:lstStyle/>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sum:=0</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Read(TippuSeats)	</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sum=sum+TippuSeats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1" id="976" name="Google Shape;976;p56"/>
          <p:cNvSpPr txBox="1"/>
          <p:nvPr/>
        </p:nvSpPr>
        <p:spPr>
          <a:xfrm>
            <a:off x="368300" y="5084763"/>
            <a:ext cx="8405813" cy="12969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Say if first Transaction T1 has been executed first and second Transaction T3 has been executed then,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total number of seats on Tippu express &amp; Chamundi express; and </a:t>
            </a:r>
            <a:r>
              <a:rPr b="1" lang="en-US" sz="1600">
                <a:solidFill>
                  <a:srgbClr val="000000"/>
                </a:solidFill>
                <a:latin typeface="Verdana"/>
                <a:ea typeface="Verdana"/>
                <a:cs typeface="Verdana"/>
                <a:sym typeface="Verdana"/>
              </a:rPr>
              <a:t>sum</a:t>
            </a:r>
            <a:r>
              <a:rPr lang="en-US" sz="1600">
                <a:solidFill>
                  <a:srgbClr val="000000"/>
                </a:solidFill>
                <a:latin typeface="Verdana"/>
                <a:ea typeface="Verdana"/>
                <a:cs typeface="Verdana"/>
                <a:sym typeface="Verdana"/>
              </a:rPr>
              <a:t> value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descr="Title 1" id="981" name="Google Shape;981;p5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Example</a:t>
            </a:r>
            <a:endParaRPr/>
          </a:p>
        </p:txBody>
      </p:sp>
      <p:sp>
        <p:nvSpPr>
          <p:cNvPr descr="Date Placeholder 3" id="982" name="Google Shape;982;p5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983" name="Google Shape;983;p5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984" name="Google Shape;984;p57"/>
          <p:cNvPicPr preferRelativeResize="0"/>
          <p:nvPr/>
        </p:nvPicPr>
        <p:blipFill rotWithShape="1">
          <a:blip r:embed="rId3">
            <a:alphaModFix/>
          </a:blip>
          <a:srcRect b="0" l="0" r="0" t="0"/>
          <a:stretch/>
        </p:blipFill>
        <p:spPr>
          <a:xfrm>
            <a:off x="2097088" y="2400300"/>
            <a:ext cx="341312" cy="593725"/>
          </a:xfrm>
          <a:prstGeom prst="rect">
            <a:avLst/>
          </a:prstGeom>
          <a:noFill/>
          <a:ln>
            <a:noFill/>
          </a:ln>
        </p:spPr>
      </p:pic>
      <p:pic>
        <p:nvPicPr>
          <p:cNvPr descr="Picture 4" id="985" name="Google Shape;985;p57"/>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986" name="Google Shape;986;p57"/>
          <p:cNvCxnSpPr/>
          <p:nvPr/>
        </p:nvCxnSpPr>
        <p:spPr>
          <a:xfrm flipH="1" rot="10800000">
            <a:off x="2438400" y="2460625"/>
            <a:ext cx="1123950" cy="236538"/>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987" name="Google Shape;987;p57"/>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988" name="Google Shape;988;p57"/>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989" name="Google Shape;989;p57"/>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990" name="Google Shape;990;p57"/>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graphicFrame>
        <p:nvGraphicFramePr>
          <p:cNvPr id="991" name="Google Shape;991;p57"/>
          <p:cNvGraphicFramePr/>
          <p:nvPr/>
        </p:nvGraphicFramePr>
        <p:xfrm>
          <a:off x="279400" y="2997200"/>
          <a:ext cx="3000000" cy="3000000"/>
        </p:xfrm>
        <a:graphic>
          <a:graphicData uri="http://schemas.openxmlformats.org/drawingml/2006/table">
            <a:tbl>
              <a:tblPr>
                <a:noFill/>
                <a:tableStyleId>{DA31C186-C125-4E34-A739-053F885C22C1}</a:tableStyleId>
              </a:tblPr>
              <a:tblGrid>
                <a:gridCol w="43688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1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TippuSeats=TippuSeats-5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Write(TippuSeats)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Read(ChamundiSeats)</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ChamundiSeats=ChamundiSeats+5</a:t>
                      </a:r>
                      <a:br>
                        <a:rPr b="0" i="0" lang="en-US" sz="1800" u="none" cap="none" strike="noStrike">
                          <a:solidFill>
                            <a:srgbClr val="0000FF"/>
                          </a:solidFill>
                          <a:latin typeface="Verdana"/>
                          <a:ea typeface="Verdana"/>
                          <a:cs typeface="Verdana"/>
                          <a:sym typeface="Verdana"/>
                        </a:rPr>
                      </a:br>
                      <a:r>
                        <a:rPr b="0" i="0" lang="en-US" sz="1800" u="none" cap="none" strike="noStrike">
                          <a:solidFill>
                            <a:srgbClr val="0000FF"/>
                          </a:solidFill>
                          <a:latin typeface="Verdana"/>
                          <a:ea typeface="Verdana"/>
                          <a:cs typeface="Verdana"/>
                          <a:sym typeface="Verdana"/>
                        </a:rPr>
                        <a:t>Write(ChamundiSeats)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992" name="Google Shape;992;p57"/>
          <p:cNvGraphicFramePr/>
          <p:nvPr/>
        </p:nvGraphicFramePr>
        <p:xfrm>
          <a:off x="5364163" y="3159125"/>
          <a:ext cx="3000000" cy="3000000"/>
        </p:xfrm>
        <a:graphic>
          <a:graphicData uri="http://schemas.openxmlformats.org/drawingml/2006/table">
            <a:tbl>
              <a:tblPr>
                <a:noFill/>
                <a:tableStyleId>{DA31C186-C125-4E34-A739-053F885C22C1}</a:tableStyleId>
              </a:tblPr>
              <a:tblGrid>
                <a:gridCol w="341787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01775">
                <a:tc>
                  <a:txBody>
                    <a:bodyPr/>
                    <a:lstStyle/>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sum:=0</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Read(TippuSeats)	</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sum=sum+TippuSeats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1" id="993" name="Google Shape;993;p57"/>
          <p:cNvSpPr txBox="1"/>
          <p:nvPr/>
        </p:nvSpPr>
        <p:spPr>
          <a:xfrm>
            <a:off x="368300" y="5159375"/>
            <a:ext cx="8405813"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Answer</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 express  seats=75</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seats=75</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sum</a:t>
            </a:r>
            <a:r>
              <a:rPr lang="en-US" sz="1600">
                <a:solidFill>
                  <a:srgbClr val="000000"/>
                </a:solidFill>
                <a:latin typeface="Verdana"/>
                <a:ea typeface="Verdana"/>
                <a:cs typeface="Verdana"/>
                <a:sym typeface="Verdana"/>
              </a:rPr>
              <a:t>=150</a:t>
            </a:r>
            <a:endParaRPr b="1" sz="1600">
              <a:solidFill>
                <a:srgbClr val="000000"/>
              </a:solidFill>
              <a:latin typeface="Verdana"/>
              <a:ea typeface="Verdana"/>
              <a:cs typeface="Verdana"/>
              <a:sym typeface="Verdan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descr="Title 1" id="998" name="Google Shape;998;p5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999" name="Google Shape;999;p5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SzPts val="2400"/>
              <a:buFont typeface="Noto Sans Symbols"/>
              <a:buNone/>
            </a:pPr>
            <a:r>
              <a:rPr lang="en-US" sz="2400"/>
              <a:t>3. The Incorrect Summary Problem</a:t>
            </a:r>
            <a:endParaRPr/>
          </a:p>
          <a:p>
            <a:pPr indent="-438150" lvl="1" marL="908050" rtl="0" algn="l">
              <a:lnSpc>
                <a:spcPct val="80000"/>
              </a:lnSpc>
              <a:spcBef>
                <a:spcPts val="400"/>
              </a:spcBef>
              <a:spcAft>
                <a:spcPts val="0"/>
              </a:spcAft>
              <a:buSzPts val="2000"/>
              <a:buFont typeface="Verdana"/>
              <a:buChar char="■"/>
            </a:pPr>
            <a:r>
              <a:rPr lang="en-US" sz="2000"/>
              <a:t>If one transaction is calculating an aggregate summary function on a number of records while other transactions are updating some of these records, the aggregate function may calculate some values before they are updated and others after they are updated. </a:t>
            </a:r>
            <a:endParaRPr/>
          </a:p>
        </p:txBody>
      </p:sp>
      <p:sp>
        <p:nvSpPr>
          <p:cNvPr descr="Date Placeholder 3" id="1000" name="Google Shape;1000;p5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01" name="Google Shape;1001;p5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descr="Title 1" id="1006" name="Google Shape;1006;p5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Incorrect Summary Problem</a:t>
            </a:r>
            <a:endParaRPr/>
          </a:p>
        </p:txBody>
      </p:sp>
      <p:sp>
        <p:nvSpPr>
          <p:cNvPr descr="Date Placeholder 3" id="1007" name="Google Shape;1007;p5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08" name="Google Shape;1008;p5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1009" name="Google Shape;1009;p59"/>
          <p:cNvPicPr preferRelativeResize="0"/>
          <p:nvPr/>
        </p:nvPicPr>
        <p:blipFill rotWithShape="1">
          <a:blip r:embed="rId3">
            <a:alphaModFix/>
          </a:blip>
          <a:srcRect b="0" l="0" r="0" t="0"/>
          <a:stretch/>
        </p:blipFill>
        <p:spPr>
          <a:xfrm>
            <a:off x="2097088" y="2400300"/>
            <a:ext cx="420687" cy="731838"/>
          </a:xfrm>
          <a:prstGeom prst="rect">
            <a:avLst/>
          </a:prstGeom>
          <a:noFill/>
          <a:ln>
            <a:noFill/>
          </a:ln>
        </p:spPr>
      </p:pic>
      <p:pic>
        <p:nvPicPr>
          <p:cNvPr descr="Picture 4" id="1010" name="Google Shape;1010;p59"/>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1011" name="Google Shape;1011;p59"/>
          <p:cNvCxnSpPr/>
          <p:nvPr/>
        </p:nvCxnSpPr>
        <p:spPr>
          <a:xfrm flipH="1" rot="10800000">
            <a:off x="2463800" y="2460625"/>
            <a:ext cx="1098550" cy="55245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1012" name="Google Shape;1012;p59"/>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1013" name="Google Shape;1013;p59"/>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1014" name="Google Shape;1014;p59"/>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1015" name="Google Shape;1015;p59"/>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graphicFrame>
        <p:nvGraphicFramePr>
          <p:cNvPr id="1016" name="Google Shape;1016;p59"/>
          <p:cNvGraphicFramePr/>
          <p:nvPr/>
        </p:nvGraphicFramePr>
        <p:xfrm>
          <a:off x="673100" y="3141663"/>
          <a:ext cx="3000000" cy="3000000"/>
        </p:xfrm>
        <a:graphic>
          <a:graphicData uri="http://schemas.openxmlformats.org/drawingml/2006/table">
            <a:tbl>
              <a:tblPr>
                <a:noFill/>
                <a:tableStyleId>{DA31C186-C125-4E34-A739-053F885C22C1}</a:tableStyleId>
              </a:tblPr>
              <a:tblGrid>
                <a:gridCol w="4368800"/>
                <a:gridCol w="34179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987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TippuSeats=TippuSeats-5</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ChamundiSeats=ChamundiSeats+5</a:t>
                      </a:r>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Write(ChamundiSeats)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sum:=0</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CC00CC"/>
                        </a:solidFill>
                        <a:latin typeface="Verdana"/>
                        <a:ea typeface="Verdana"/>
                        <a:cs typeface="Verdana"/>
                        <a:sym typeface="Verdana"/>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Read(TippuSeats)	</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sum=sum+TippuSeats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Read(ChamundiSeats)</a:t>
                      </a:r>
                      <a:endParaRPr/>
                    </a:p>
                    <a:p>
                      <a:pPr indent="0" lvl="0" marL="0" marR="0" rtl="0" algn="l">
                        <a:lnSpc>
                          <a:spcPct val="100000"/>
                        </a:lnSpc>
                        <a:spcBef>
                          <a:spcPts val="0"/>
                        </a:spcBef>
                        <a:spcAft>
                          <a:spcPts val="0"/>
                        </a:spcAft>
                        <a:buClr>
                          <a:srgbClr val="333333"/>
                        </a:buClr>
                        <a:buSzPts val="1800"/>
                        <a:buFont typeface="Verdana"/>
                        <a:buNone/>
                      </a:pPr>
                      <a:r>
                        <a:rPr b="0" i="0" lang="en-US" sz="1800" u="none" cap="none" strike="noStrike">
                          <a:solidFill>
                            <a:srgbClr val="333333"/>
                          </a:solidFill>
                          <a:latin typeface="Verdana"/>
                          <a:ea typeface="Verdana"/>
                          <a:cs typeface="Verdana"/>
                          <a:sym typeface="Verdana"/>
                        </a:rPr>
                        <a:t>sum=sum+ChamundiSeats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descr="Title 1" id="1021" name="Google Shape;1021;p6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Incorrect Summary Problem</a:t>
            </a:r>
            <a:endParaRPr/>
          </a:p>
        </p:txBody>
      </p:sp>
      <p:sp>
        <p:nvSpPr>
          <p:cNvPr descr="Date Placeholder 3" id="1022" name="Google Shape;1022;p6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23" name="Google Shape;1023;p6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1024" name="Google Shape;1024;p60"/>
          <p:cNvPicPr preferRelativeResize="0"/>
          <p:nvPr/>
        </p:nvPicPr>
        <p:blipFill rotWithShape="1">
          <a:blip r:embed="rId3">
            <a:alphaModFix/>
          </a:blip>
          <a:srcRect b="0" l="0" r="0" t="0"/>
          <a:stretch/>
        </p:blipFill>
        <p:spPr>
          <a:xfrm>
            <a:off x="2097088" y="2400300"/>
            <a:ext cx="420687" cy="731838"/>
          </a:xfrm>
          <a:prstGeom prst="rect">
            <a:avLst/>
          </a:prstGeom>
          <a:noFill/>
          <a:ln>
            <a:noFill/>
          </a:ln>
        </p:spPr>
      </p:pic>
      <p:pic>
        <p:nvPicPr>
          <p:cNvPr descr="Picture 4" id="1025" name="Google Shape;1025;p60"/>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1026" name="Google Shape;1026;p60"/>
          <p:cNvCxnSpPr/>
          <p:nvPr/>
        </p:nvCxnSpPr>
        <p:spPr>
          <a:xfrm flipH="1" rot="10800000">
            <a:off x="2517775" y="2460625"/>
            <a:ext cx="1044575" cy="306388"/>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1027" name="Google Shape;1027;p60"/>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1028" name="Google Shape;1028;p60"/>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1029" name="Google Shape;1029;p60"/>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1030" name="Google Shape;1030;p60"/>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pic>
        <p:nvPicPr>
          <p:cNvPr descr="Picture 2" id="1031" name="Google Shape;1031;p60"/>
          <p:cNvPicPr preferRelativeResize="0"/>
          <p:nvPr/>
        </p:nvPicPr>
        <p:blipFill rotWithShape="1">
          <a:blip r:embed="rId6">
            <a:alphaModFix/>
          </a:blip>
          <a:srcRect b="0" l="0" r="0" t="0"/>
          <a:stretch/>
        </p:blipFill>
        <p:spPr>
          <a:xfrm>
            <a:off x="2517775" y="3074988"/>
            <a:ext cx="4572000" cy="1949450"/>
          </a:xfrm>
          <a:prstGeom prst="rect">
            <a:avLst/>
          </a:prstGeom>
          <a:noFill/>
          <a:ln>
            <a:noFill/>
          </a:ln>
        </p:spPr>
      </p:pic>
      <p:sp>
        <p:nvSpPr>
          <p:cNvPr descr="TextBox 15" id="1032" name="Google Shape;1032;p60"/>
          <p:cNvSpPr txBox="1"/>
          <p:nvPr/>
        </p:nvSpPr>
        <p:spPr>
          <a:xfrm>
            <a:off x="368300" y="5084763"/>
            <a:ext cx="8405813" cy="814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What will be the total number of seats on Tippu express &amp; Chamundi express; and sum value when above set of transactions statements are executed</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descr="Title 1" id="1037" name="Google Shape;1037;p6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lnSpc>
                <a:spcPct val="80000"/>
              </a:lnSpc>
              <a:spcBef>
                <a:spcPts val="0"/>
              </a:spcBef>
              <a:spcAft>
                <a:spcPts val="0"/>
              </a:spcAft>
              <a:buNone/>
            </a:pPr>
            <a:r>
              <a:rPr lang="en-US" sz="2400"/>
              <a:t>Incorrect Summary Problem</a:t>
            </a:r>
            <a:endParaRPr/>
          </a:p>
        </p:txBody>
      </p:sp>
      <p:sp>
        <p:nvSpPr>
          <p:cNvPr descr="Date Placeholder 3" id="1038" name="Google Shape;1038;p6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39" name="Google Shape;1039;p6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1040" name="Google Shape;1040;p61"/>
          <p:cNvPicPr preferRelativeResize="0"/>
          <p:nvPr/>
        </p:nvPicPr>
        <p:blipFill rotWithShape="1">
          <a:blip r:embed="rId3">
            <a:alphaModFix/>
          </a:blip>
          <a:srcRect b="0" l="0" r="0" t="0"/>
          <a:stretch/>
        </p:blipFill>
        <p:spPr>
          <a:xfrm>
            <a:off x="2097088" y="2400300"/>
            <a:ext cx="420687" cy="731838"/>
          </a:xfrm>
          <a:prstGeom prst="rect">
            <a:avLst/>
          </a:prstGeom>
          <a:noFill/>
          <a:ln>
            <a:noFill/>
          </a:ln>
        </p:spPr>
      </p:pic>
      <p:pic>
        <p:nvPicPr>
          <p:cNvPr descr="Picture 4" id="1041" name="Google Shape;1041;p61"/>
          <p:cNvPicPr preferRelativeResize="0"/>
          <p:nvPr/>
        </p:nvPicPr>
        <p:blipFill rotWithShape="1">
          <a:blip r:embed="rId4">
            <a:alphaModFix/>
          </a:blip>
          <a:srcRect b="0" l="0" r="0" t="0"/>
          <a:stretch/>
        </p:blipFill>
        <p:spPr>
          <a:xfrm>
            <a:off x="6927850" y="2460625"/>
            <a:ext cx="387350" cy="696913"/>
          </a:xfrm>
          <a:prstGeom prst="rect">
            <a:avLst/>
          </a:prstGeom>
          <a:noFill/>
          <a:ln>
            <a:noFill/>
          </a:ln>
        </p:spPr>
      </p:pic>
      <p:cxnSp>
        <p:nvCxnSpPr>
          <p:cNvPr descr="Straight Arrow Connector 9" id="1042" name="Google Shape;1042;p61"/>
          <p:cNvCxnSpPr/>
          <p:nvPr/>
        </p:nvCxnSpPr>
        <p:spPr>
          <a:xfrm flipH="1" rot="10800000">
            <a:off x="2517775" y="2460625"/>
            <a:ext cx="1044575" cy="306388"/>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1043" name="Google Shape;1043;p61"/>
          <p:cNvCxnSpPr/>
          <p:nvPr/>
        </p:nvCxnSpPr>
        <p:spPr>
          <a:xfrm rot="10800000">
            <a:off x="5362575" y="2427288"/>
            <a:ext cx="1565275" cy="382587"/>
          </a:xfrm>
          <a:prstGeom prst="straightConnector1">
            <a:avLst/>
          </a:prstGeom>
          <a:noFill/>
          <a:ln cap="flat" cmpd="sng" w="38100">
            <a:solidFill>
              <a:srgbClr val="00B050"/>
            </a:solidFill>
            <a:prstDash val="solid"/>
            <a:round/>
            <a:headEnd len="sm" w="sm" type="none"/>
            <a:tailEnd len="med" w="med" type="triangle"/>
          </a:ln>
        </p:spPr>
      </p:cxnSp>
      <p:sp>
        <p:nvSpPr>
          <p:cNvPr descr="TextBox 11" id="1044" name="Google Shape;1044;p61"/>
          <p:cNvSpPr txBox="1"/>
          <p:nvPr/>
        </p:nvSpPr>
        <p:spPr>
          <a:xfrm>
            <a:off x="1231900" y="2643188"/>
            <a:ext cx="76993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2" id="1045" name="Google Shape;1045;p61"/>
          <p:cNvSpPr txBox="1"/>
          <p:nvPr/>
        </p:nvSpPr>
        <p:spPr>
          <a:xfrm>
            <a:off x="7370763" y="2625725"/>
            <a:ext cx="76835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User3</a:t>
            </a:r>
            <a:endParaRPr/>
          </a:p>
        </p:txBody>
      </p:sp>
      <p:pic>
        <p:nvPicPr>
          <p:cNvPr descr="Picture 2" id="1046" name="Google Shape;1046;p61"/>
          <p:cNvPicPr preferRelativeResize="0"/>
          <p:nvPr/>
        </p:nvPicPr>
        <p:blipFill rotWithShape="1">
          <a:blip r:embed="rId5">
            <a:alphaModFix/>
          </a:blip>
          <a:srcRect b="0" l="0" r="0" t="0"/>
          <a:stretch/>
        </p:blipFill>
        <p:spPr>
          <a:xfrm>
            <a:off x="1793875" y="1052513"/>
            <a:ext cx="5062538" cy="1366837"/>
          </a:xfrm>
          <a:prstGeom prst="rect">
            <a:avLst/>
          </a:prstGeom>
          <a:noFill/>
          <a:ln>
            <a:noFill/>
          </a:ln>
        </p:spPr>
      </p:pic>
      <p:pic>
        <p:nvPicPr>
          <p:cNvPr descr="Picture 2" id="1047" name="Google Shape;1047;p61"/>
          <p:cNvPicPr preferRelativeResize="0"/>
          <p:nvPr/>
        </p:nvPicPr>
        <p:blipFill rotWithShape="1">
          <a:blip r:embed="rId6">
            <a:alphaModFix/>
          </a:blip>
          <a:srcRect b="0" l="0" r="0" t="0"/>
          <a:stretch/>
        </p:blipFill>
        <p:spPr>
          <a:xfrm>
            <a:off x="2517775" y="3074988"/>
            <a:ext cx="4572000" cy="1949450"/>
          </a:xfrm>
          <a:prstGeom prst="rect">
            <a:avLst/>
          </a:prstGeom>
          <a:noFill/>
          <a:ln>
            <a:noFill/>
          </a:ln>
        </p:spPr>
      </p:pic>
      <p:sp>
        <p:nvSpPr>
          <p:cNvPr descr="TextBox 15" id="1048" name="Google Shape;1048;p61"/>
          <p:cNvSpPr txBox="1"/>
          <p:nvPr/>
        </p:nvSpPr>
        <p:spPr>
          <a:xfrm>
            <a:off x="368300" y="5084763"/>
            <a:ext cx="8405813" cy="12969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FF0000"/>
                </a:solidFill>
                <a:latin typeface="Verdana"/>
                <a:ea typeface="Verdana"/>
                <a:cs typeface="Verdana"/>
                <a:sym typeface="Verdana"/>
              </a:rPr>
              <a:t>Answer</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 express  seats=75</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Chamundi express seats=75</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Sum=145   &lt;- </a:t>
            </a:r>
            <a:r>
              <a:rPr b="1" lang="en-US" sz="1600">
                <a:solidFill>
                  <a:srgbClr val="000000"/>
                </a:solidFill>
                <a:latin typeface="Verdana"/>
                <a:ea typeface="Verdana"/>
                <a:cs typeface="Verdana"/>
                <a:sym typeface="Verdana"/>
              </a:rPr>
              <a:t>INCORRECT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descr="Title 1" id="1053" name="Google Shape;1053;p6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Problems with Concurrent Execution</a:t>
            </a:r>
            <a:endParaRPr/>
          </a:p>
        </p:txBody>
      </p:sp>
      <p:sp>
        <p:nvSpPr>
          <p:cNvPr descr="Content Placeholder 2" id="1054" name="Google Shape;1054;p6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2400"/>
              <a:buFont typeface="Verdana"/>
              <a:buChar char="□"/>
            </a:pPr>
            <a:r>
              <a:rPr lang="en-US" sz="2400"/>
              <a:t>What is Concurrent Execution ?</a:t>
            </a:r>
            <a:endParaRPr/>
          </a:p>
          <a:p>
            <a:pPr indent="-234950" lvl="0" marL="234950" rtl="0" algn="l">
              <a:spcBef>
                <a:spcPts val="500"/>
              </a:spcBef>
              <a:spcAft>
                <a:spcPts val="0"/>
              </a:spcAft>
              <a:buSzPts val="2400"/>
              <a:buFont typeface="Noto Sans Symbols"/>
              <a:buNone/>
            </a:pPr>
            <a:r>
              <a:rPr lang="en-US" sz="2400"/>
              <a:t>When Multiple users trying to access same database record in an uncontrolled manner.</a:t>
            </a:r>
            <a:endParaRPr/>
          </a:p>
          <a:p>
            <a:pPr indent="-234950" lvl="0" marL="234950" rtl="0" algn="l">
              <a:spcBef>
                <a:spcPts val="700"/>
              </a:spcBef>
              <a:spcAft>
                <a:spcPts val="0"/>
              </a:spcAft>
              <a:buSzPts val="2400"/>
              <a:buFont typeface="Noto Sans Symbols"/>
              <a:buNone/>
            </a:pPr>
            <a:r>
              <a:t/>
            </a:r>
            <a:endParaRPr sz="2400"/>
          </a:p>
          <a:p>
            <a:pPr indent="-234950" lvl="0" marL="234950" rtl="0" algn="l">
              <a:spcBef>
                <a:spcPts val="500"/>
              </a:spcBef>
              <a:spcAft>
                <a:spcPts val="0"/>
              </a:spcAft>
              <a:buSzPts val="2400"/>
              <a:buFont typeface="Verdana"/>
              <a:buChar char="□"/>
            </a:pPr>
            <a:r>
              <a:rPr lang="en-US" sz="2400"/>
              <a:t>Problems with Concurrent execution</a:t>
            </a:r>
            <a:endParaRPr/>
          </a:p>
          <a:p>
            <a:pPr indent="-514350" lvl="1" marL="984250" rtl="0" algn="l">
              <a:spcBef>
                <a:spcPts val="400"/>
              </a:spcBef>
              <a:spcAft>
                <a:spcPts val="0"/>
              </a:spcAft>
              <a:buSzPts val="2000"/>
              <a:buFont typeface="Verdana"/>
              <a:buAutoNum type="arabicPeriod"/>
            </a:pPr>
            <a:r>
              <a:rPr lang="en-US" sz="2000"/>
              <a:t>Lost Update Problem</a:t>
            </a:r>
            <a:endParaRPr sz="2600"/>
          </a:p>
          <a:p>
            <a:pPr indent="-514350" lvl="1" marL="984250" rtl="0" algn="l">
              <a:spcBef>
                <a:spcPts val="400"/>
              </a:spcBef>
              <a:spcAft>
                <a:spcPts val="0"/>
              </a:spcAft>
              <a:buSzPts val="2000"/>
              <a:buFont typeface="Verdana"/>
              <a:buAutoNum type="arabicPeriod"/>
            </a:pPr>
            <a:r>
              <a:rPr lang="en-US" sz="2000"/>
              <a:t>Temporary Update (or Dirty Read) Problem</a:t>
            </a:r>
            <a:r>
              <a:rPr b="1" lang="en-US" sz="2000"/>
              <a:t> </a:t>
            </a:r>
            <a:endParaRPr sz="2600"/>
          </a:p>
          <a:p>
            <a:pPr indent="-514350" lvl="1" marL="984250" rtl="0" algn="l">
              <a:spcBef>
                <a:spcPts val="400"/>
              </a:spcBef>
              <a:spcAft>
                <a:spcPts val="0"/>
              </a:spcAft>
              <a:buSzPts val="2000"/>
              <a:buFont typeface="Verdana"/>
              <a:buAutoNum type="arabicPeriod"/>
            </a:pPr>
            <a:r>
              <a:rPr lang="en-US" sz="2000"/>
              <a:t>Incorrect Summary Problem</a:t>
            </a:r>
            <a:endParaRPr sz="2600"/>
          </a:p>
          <a:p>
            <a:pPr indent="-514350" lvl="1" marL="984250" rtl="0" algn="l">
              <a:spcBef>
                <a:spcPts val="400"/>
              </a:spcBef>
              <a:spcAft>
                <a:spcPts val="0"/>
              </a:spcAft>
              <a:buSzPts val="2000"/>
              <a:buFont typeface="Verdana"/>
              <a:buAutoNum type="arabicPeriod"/>
            </a:pPr>
            <a:r>
              <a:rPr b="1" lang="en-US" sz="2000"/>
              <a:t>Unrepeatable Read</a:t>
            </a:r>
            <a:endParaRPr/>
          </a:p>
        </p:txBody>
      </p:sp>
      <p:sp>
        <p:nvSpPr>
          <p:cNvPr descr="Date Placeholder 3" id="1055" name="Google Shape;1055;p6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56" name="Google Shape;1056;p6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descr="Title 1" id="1061" name="Google Shape;1061;p6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Unrepeatable Read</a:t>
            </a:r>
            <a:endParaRPr/>
          </a:p>
        </p:txBody>
      </p:sp>
      <p:sp>
        <p:nvSpPr>
          <p:cNvPr descr="Content Placeholder 2" id="1062" name="Google Shape;1062;p6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400"/>
              <a:buFont typeface="Verdana"/>
              <a:buChar char="□"/>
            </a:pPr>
            <a:r>
              <a:rPr lang="en-US" sz="2400"/>
              <a:t>Unrepeatable Read occurs, if transaction T1 reads an item twice and the item is changed by an another transaction T2 between two reads hence T1 finds two different values on it's two reads.</a:t>
            </a:r>
            <a:endParaRPr/>
          </a:p>
        </p:txBody>
      </p:sp>
      <p:sp>
        <p:nvSpPr>
          <p:cNvPr descr="Date Placeholder 3" id="1063" name="Google Shape;1063;p6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64" name="Google Shape;1064;p6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descr="Title 1" id="1069" name="Google Shape;1069;p6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Unrepeatable Read: Example</a:t>
            </a:r>
            <a:endParaRPr/>
          </a:p>
        </p:txBody>
      </p:sp>
      <p:sp>
        <p:nvSpPr>
          <p:cNvPr descr="Date Placeholder 3" id="1070" name="Google Shape;1070;p6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71" name="Google Shape;1071;p6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072" name="Google Shape;1072;p64"/>
          <p:cNvGraphicFramePr/>
          <p:nvPr/>
        </p:nvGraphicFramePr>
        <p:xfrm>
          <a:off x="900113" y="2636838"/>
          <a:ext cx="3000000" cy="3000000"/>
        </p:xfrm>
        <a:graphic>
          <a:graphicData uri="http://schemas.openxmlformats.org/drawingml/2006/table">
            <a:tbl>
              <a:tblPr>
                <a:noFill/>
                <a:tableStyleId>{DA31C186-C125-4E34-A739-053F885C22C1}</a:tableStyleId>
              </a:tblPr>
              <a:tblGrid>
                <a:gridCol w="3230550"/>
                <a:gridCol w="38989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Transaction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781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FF"/>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Read(TippuSeats)	 TippuSeats=TippuSeats+4</a:t>
                      </a:r>
                      <a:endParaRPr/>
                    </a:p>
                    <a:p>
                      <a:pPr indent="0" lvl="0" marL="0" marR="0" rtl="0" algn="l">
                        <a:lnSpc>
                          <a:spcPct val="100000"/>
                        </a:lnSpc>
                        <a:spcBef>
                          <a:spcPts val="0"/>
                        </a:spcBef>
                        <a:spcAft>
                          <a:spcPts val="0"/>
                        </a:spcAft>
                        <a:buClr>
                          <a:srgbClr val="CC00CC"/>
                        </a:buClr>
                        <a:buSzPts val="1800"/>
                        <a:buFont typeface="Verdana"/>
                        <a:buNone/>
                      </a:pPr>
                      <a:r>
                        <a:rPr b="0" i="0" lang="en-US" sz="1800" u="none" cap="none" strike="noStrike">
                          <a:solidFill>
                            <a:srgbClr val="CC00CC"/>
                          </a:solidFill>
                          <a:latin typeface="Verdana"/>
                          <a:ea typeface="Verdana"/>
                          <a:cs typeface="Verdana"/>
                          <a:sym typeface="Verdana"/>
                        </a:rPr>
                        <a:t>Write(TippuSeats)</a:t>
                      </a:r>
                      <a:endParaRPr b="0" i="0" sz="18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descr="Picture 2" id="1073" name="Google Shape;1073;p64"/>
          <p:cNvPicPr preferRelativeResize="0"/>
          <p:nvPr/>
        </p:nvPicPr>
        <p:blipFill rotWithShape="1">
          <a:blip r:embed="rId3">
            <a:alphaModFix/>
          </a:blip>
          <a:srcRect b="0" l="0" r="0" t="0"/>
          <a:stretch/>
        </p:blipFill>
        <p:spPr>
          <a:xfrm>
            <a:off x="1793875" y="1052513"/>
            <a:ext cx="5062538" cy="1366837"/>
          </a:xfrm>
          <a:prstGeom prst="rect">
            <a:avLst/>
          </a:prstGeom>
          <a:noFill/>
          <a:ln>
            <a:noFill/>
          </a:ln>
        </p:spPr>
      </p:pic>
      <p:sp>
        <p:nvSpPr>
          <p:cNvPr descr="TextBox 8" id="1074" name="Google Shape;1074;p64"/>
          <p:cNvSpPr txBox="1"/>
          <p:nvPr/>
        </p:nvSpPr>
        <p:spPr>
          <a:xfrm>
            <a:off x="512763" y="5011738"/>
            <a:ext cx="8077200" cy="1209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First time when Transaction T1 reads, TippuSeats value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will be 80  but second time when the same Transaction T1</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Reads,  TippuSeats value will be 84. T1 is seeing two different values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for same item TippuSeats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descr="Title 1" id="1079" name="Google Shape;1079;p6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Why Concurrency Control is needed ?</a:t>
            </a:r>
            <a:endParaRPr/>
          </a:p>
        </p:txBody>
      </p:sp>
      <p:sp>
        <p:nvSpPr>
          <p:cNvPr descr="Content Placeholder 2" id="1080" name="Google Shape;1080;p6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82600" lvl="0" marL="514350" rtl="0" algn="l">
              <a:spcBef>
                <a:spcPts val="0"/>
              </a:spcBef>
              <a:spcAft>
                <a:spcPts val="0"/>
              </a:spcAft>
              <a:buSzPts val="2800"/>
              <a:buFont typeface="Noto Sans Symbols"/>
              <a:buNone/>
            </a:pPr>
            <a:r>
              <a:rPr lang="en-US" sz="2800"/>
              <a:t>To avoid following Problems</a:t>
            </a:r>
            <a:endParaRPr/>
          </a:p>
          <a:p>
            <a:pPr indent="-514350" lvl="1" marL="984250" rtl="0" algn="l">
              <a:spcBef>
                <a:spcPts val="500"/>
              </a:spcBef>
              <a:spcAft>
                <a:spcPts val="0"/>
              </a:spcAft>
              <a:buSzPts val="2400"/>
              <a:buFont typeface="Verdana"/>
              <a:buAutoNum type="arabicPeriod"/>
            </a:pPr>
            <a:r>
              <a:rPr lang="en-US" sz="2400"/>
              <a:t>Lost Update Problem</a:t>
            </a:r>
            <a:endParaRPr sz="2600"/>
          </a:p>
          <a:p>
            <a:pPr indent="-514350" lvl="1" marL="984250" rtl="0" algn="l">
              <a:spcBef>
                <a:spcPts val="500"/>
              </a:spcBef>
              <a:spcAft>
                <a:spcPts val="0"/>
              </a:spcAft>
              <a:buSzPts val="2400"/>
              <a:buFont typeface="Verdana"/>
              <a:buAutoNum type="arabicPeriod"/>
            </a:pPr>
            <a:r>
              <a:rPr lang="en-US" sz="2400"/>
              <a:t>Temporary Update (or Dirty Read) Problem </a:t>
            </a:r>
            <a:endParaRPr sz="2600"/>
          </a:p>
          <a:p>
            <a:pPr indent="-514350" lvl="1" marL="984250" rtl="0" algn="l">
              <a:spcBef>
                <a:spcPts val="500"/>
              </a:spcBef>
              <a:spcAft>
                <a:spcPts val="0"/>
              </a:spcAft>
              <a:buSzPts val="2400"/>
              <a:buFont typeface="Verdana"/>
              <a:buAutoNum type="arabicPeriod"/>
            </a:pPr>
            <a:r>
              <a:rPr lang="en-US" sz="2400"/>
              <a:t>Incorrect Summary Problem</a:t>
            </a:r>
            <a:endParaRPr sz="2600"/>
          </a:p>
          <a:p>
            <a:pPr indent="-514350" lvl="1" marL="984250" rtl="0" algn="l">
              <a:spcBef>
                <a:spcPts val="500"/>
              </a:spcBef>
              <a:spcAft>
                <a:spcPts val="0"/>
              </a:spcAft>
              <a:buSzPts val="2400"/>
              <a:buFont typeface="Verdana"/>
              <a:buAutoNum type="arabicPeriod"/>
            </a:pPr>
            <a:r>
              <a:rPr lang="en-US" sz="2400"/>
              <a:t>Unrepeatable Read</a:t>
            </a:r>
            <a:endParaRPr/>
          </a:p>
        </p:txBody>
      </p:sp>
      <p:sp>
        <p:nvSpPr>
          <p:cNvPr descr="Date Placeholder 3" id="1081" name="Google Shape;1081;p6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82" name="Google Shape;1082;p6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descr="Rectangle 2" id="1087" name="Google Shape;1087;p66"/>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Next we  will Understand Schedules</a:t>
            </a:r>
            <a:endParaRPr/>
          </a:p>
        </p:txBody>
      </p:sp>
      <p:sp>
        <p:nvSpPr>
          <p:cNvPr descr="Rectangle 3" id="1088" name="Google Shape;1088;p66"/>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ctr">
              <a:lnSpc>
                <a:spcPct val="80000"/>
              </a:lnSpc>
              <a:spcBef>
                <a:spcPts val="0"/>
              </a:spcBef>
              <a:spcAft>
                <a:spcPts val="0"/>
              </a:spcAft>
              <a:buClr>
                <a:srgbClr val="003366"/>
              </a:buClr>
              <a:buSzPts val="2000"/>
              <a:buFont typeface="Verdana"/>
              <a:buNone/>
            </a:pPr>
            <a:r>
              <a:rPr lang="en-US" sz="2000"/>
              <a:t>Schedule is  a sequence of operations of various transactions</a:t>
            </a:r>
            <a:endParaRPr/>
          </a:p>
        </p:txBody>
      </p:sp>
      <p:sp>
        <p:nvSpPr>
          <p:cNvPr descr="Date Placeholder 1" id="1089" name="Google Shape;1089;p66"/>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090" name="Google Shape;1090;p66"/>
          <p:cNvSpPr txBox="1"/>
          <p:nvPr/>
        </p:nvSpPr>
        <p:spPr>
          <a:xfrm>
            <a:off x="8183563" y="6248400"/>
            <a:ext cx="274637"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descr="Title 1" id="1095" name="Google Shape;1095;p6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 Schedules </a:t>
            </a:r>
            <a:endParaRPr/>
          </a:p>
        </p:txBody>
      </p:sp>
      <p:sp>
        <p:nvSpPr>
          <p:cNvPr descr="Content Placeholder 2" id="1096" name="Google Shape;1096;p6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79375" lvl="0" marL="79375" rtl="0" algn="l">
              <a:spcBef>
                <a:spcPts val="0"/>
              </a:spcBef>
              <a:spcAft>
                <a:spcPts val="0"/>
              </a:spcAft>
              <a:buSzPts val="1500"/>
              <a:buFont typeface="Noto Sans Symbols"/>
              <a:buNone/>
            </a:pPr>
            <a:r>
              <a:rPr lang="en-US" sz="1500"/>
              <a:t>Example to Understand Transaction Schedules</a:t>
            </a:r>
            <a:endParaRPr/>
          </a:p>
          <a:p>
            <a:pPr indent="-79375" lvl="0" marL="79375" rtl="0" algn="l">
              <a:spcBef>
                <a:spcPts val="600"/>
              </a:spcBef>
              <a:spcAft>
                <a:spcPts val="0"/>
              </a:spcAft>
              <a:buSzPts val="1500"/>
              <a:buFont typeface="Noto Sans Symbols"/>
              <a:buNone/>
            </a:pPr>
            <a:r>
              <a:t/>
            </a:r>
            <a:endParaRPr sz="1500"/>
          </a:p>
          <a:p>
            <a:pPr indent="-79375" lvl="0" marL="79375" rtl="0" algn="l">
              <a:spcBef>
                <a:spcPts val="600"/>
              </a:spcBef>
              <a:spcAft>
                <a:spcPts val="0"/>
              </a:spcAft>
              <a:buSzPts val="1500"/>
              <a:buFont typeface="Noto Sans Symbols"/>
              <a:buNone/>
            </a:pPr>
            <a:r>
              <a:t/>
            </a:r>
            <a:endParaRPr sz="1500"/>
          </a:p>
          <a:p>
            <a:pPr indent="-79375" lvl="0" marL="79375" rtl="0" algn="l">
              <a:spcBef>
                <a:spcPts val="600"/>
              </a:spcBef>
              <a:spcAft>
                <a:spcPts val="0"/>
              </a:spcAft>
              <a:buSzPts val="1500"/>
              <a:buFont typeface="Noto Sans Symbols"/>
              <a:buNone/>
            </a:pPr>
            <a:r>
              <a:t/>
            </a:r>
            <a:endParaRPr sz="1500"/>
          </a:p>
          <a:p>
            <a:pPr indent="-79375" lvl="0" marL="79375" rtl="0" algn="l">
              <a:spcBef>
                <a:spcPts val="600"/>
              </a:spcBef>
              <a:spcAft>
                <a:spcPts val="0"/>
              </a:spcAft>
              <a:buSzPts val="1500"/>
              <a:buFont typeface="Noto Sans Symbols"/>
              <a:buNone/>
            </a:pPr>
            <a:r>
              <a:t/>
            </a:r>
            <a:endParaRPr sz="1500"/>
          </a:p>
          <a:p>
            <a:pPr indent="-79375" lvl="0" marL="79375" rtl="0" algn="l">
              <a:spcBef>
                <a:spcPts val="600"/>
              </a:spcBef>
              <a:spcAft>
                <a:spcPts val="0"/>
              </a:spcAft>
              <a:buSzPts val="1500"/>
              <a:buFont typeface="Noto Sans Symbols"/>
              <a:buNone/>
            </a:pPr>
            <a:r>
              <a:t/>
            </a:r>
            <a:endParaRPr sz="1500"/>
          </a:p>
          <a:p>
            <a:pPr indent="-79375" lvl="0" marL="79375" rtl="0" algn="l">
              <a:spcBef>
                <a:spcPts val="600"/>
              </a:spcBef>
              <a:spcAft>
                <a:spcPts val="0"/>
              </a:spcAft>
              <a:buSzPts val="1500"/>
              <a:buFont typeface="Noto Sans Symbols"/>
              <a:buNone/>
            </a:pPr>
            <a:r>
              <a:t/>
            </a:r>
            <a:endParaRPr sz="1500"/>
          </a:p>
          <a:p>
            <a:pPr indent="-79375" lvl="0" marL="79375" rtl="0" algn="l">
              <a:spcBef>
                <a:spcPts val="300"/>
              </a:spcBef>
              <a:spcAft>
                <a:spcPts val="0"/>
              </a:spcAft>
              <a:buSzPts val="1500"/>
              <a:buFont typeface="Noto Sans Symbols"/>
              <a:buNone/>
            </a:pPr>
            <a:r>
              <a:rPr lang="en-US" sz="1500"/>
              <a:t>Consider TWO transactions </a:t>
            </a:r>
            <a:r>
              <a:rPr b="1" lang="en-US" sz="1500">
                <a:solidFill>
                  <a:srgbClr val="0000FF"/>
                </a:solidFill>
              </a:rPr>
              <a:t>T1</a:t>
            </a:r>
            <a:r>
              <a:rPr lang="en-US" sz="1500"/>
              <a:t> and </a:t>
            </a:r>
            <a:r>
              <a:rPr b="1" lang="en-US" sz="1500">
                <a:solidFill>
                  <a:srgbClr val="FF00FF"/>
                </a:solidFill>
              </a:rPr>
              <a:t>T2</a:t>
            </a:r>
            <a:endParaRPr/>
          </a:p>
          <a:p>
            <a:pPr indent="-95250" lvl="0" marL="79375" rtl="0" algn="l">
              <a:spcBef>
                <a:spcPts val="300"/>
              </a:spcBef>
              <a:spcAft>
                <a:spcPts val="0"/>
              </a:spcAft>
              <a:buSzPts val="1500"/>
              <a:buFont typeface="Verdana"/>
              <a:buChar char="□"/>
            </a:pPr>
            <a:r>
              <a:rPr b="1" lang="en-US" sz="1500">
                <a:solidFill>
                  <a:srgbClr val="0000FF"/>
                </a:solidFill>
              </a:rPr>
              <a:t>T1: </a:t>
            </a:r>
            <a:r>
              <a:rPr lang="en-US" sz="1500"/>
              <a:t>Cancel  FIVE seats on Tippu express</a:t>
            </a:r>
            <a:endParaRPr/>
          </a:p>
          <a:p>
            <a:pPr indent="-79375" lvl="0" marL="79375" rtl="0" algn="l">
              <a:spcBef>
                <a:spcPts val="300"/>
              </a:spcBef>
              <a:spcAft>
                <a:spcPts val="0"/>
              </a:spcAft>
              <a:buSzPts val="1500"/>
              <a:buFont typeface="Noto Sans Symbols"/>
              <a:buNone/>
            </a:pPr>
            <a:r>
              <a:rPr lang="en-US" sz="1500">
                <a:solidFill>
                  <a:srgbClr val="0000FF"/>
                </a:solidFill>
              </a:rPr>
              <a:t>Read(TippuSeats)</a:t>
            </a:r>
            <a:endParaRPr/>
          </a:p>
          <a:p>
            <a:pPr indent="-79375" lvl="0" marL="79375" rtl="0" algn="l">
              <a:spcBef>
                <a:spcPts val="300"/>
              </a:spcBef>
              <a:spcAft>
                <a:spcPts val="0"/>
              </a:spcAft>
              <a:buSzPts val="1500"/>
              <a:buFont typeface="Noto Sans Symbols"/>
              <a:buNone/>
            </a:pPr>
            <a:r>
              <a:rPr lang="en-US" sz="1500">
                <a:solidFill>
                  <a:srgbClr val="0000FF"/>
                </a:solidFill>
              </a:rPr>
              <a:t>TippuSeats=TippuSeats-5</a:t>
            </a:r>
            <a:endParaRPr/>
          </a:p>
          <a:p>
            <a:pPr indent="-79375" lvl="0" marL="79375" rtl="0" algn="l">
              <a:spcBef>
                <a:spcPts val="300"/>
              </a:spcBef>
              <a:spcAft>
                <a:spcPts val="0"/>
              </a:spcAft>
              <a:buSzPts val="1500"/>
              <a:buFont typeface="Noto Sans Symbols"/>
              <a:buNone/>
            </a:pPr>
            <a:r>
              <a:rPr lang="en-US" sz="1500">
                <a:solidFill>
                  <a:srgbClr val="0000FF"/>
                </a:solidFill>
              </a:rPr>
              <a:t>Write(TippuSeats)</a:t>
            </a:r>
            <a:endParaRPr/>
          </a:p>
          <a:p>
            <a:pPr indent="0" lvl="0" marL="79375" rtl="0" algn="l">
              <a:spcBef>
                <a:spcPts val="600"/>
              </a:spcBef>
              <a:spcAft>
                <a:spcPts val="0"/>
              </a:spcAft>
              <a:buSzPts val="1500"/>
              <a:buFont typeface="Verdana"/>
              <a:buNone/>
            </a:pPr>
            <a:r>
              <a:t/>
            </a:r>
            <a:endParaRPr sz="1500"/>
          </a:p>
          <a:p>
            <a:pPr indent="-95250" lvl="0" marL="79375" rtl="0" algn="l">
              <a:spcBef>
                <a:spcPts val="300"/>
              </a:spcBef>
              <a:spcAft>
                <a:spcPts val="0"/>
              </a:spcAft>
              <a:buSzPts val="1500"/>
              <a:buFont typeface="Verdana"/>
              <a:buChar char="□"/>
            </a:pPr>
            <a:r>
              <a:rPr b="1" lang="en-US" sz="1500">
                <a:solidFill>
                  <a:srgbClr val="FF00FF"/>
                </a:solidFill>
              </a:rPr>
              <a:t>T2: </a:t>
            </a:r>
            <a:r>
              <a:rPr lang="en-US" sz="1500"/>
              <a:t>Reserve  FOUR seats on Chamundi express</a:t>
            </a:r>
            <a:endParaRPr/>
          </a:p>
          <a:p>
            <a:pPr indent="-79375" lvl="0" marL="79375" rtl="0" algn="l">
              <a:spcBef>
                <a:spcPts val="300"/>
              </a:spcBef>
              <a:spcAft>
                <a:spcPts val="0"/>
              </a:spcAft>
              <a:buSzPts val="1500"/>
              <a:buFont typeface="Noto Sans Symbols"/>
              <a:buNone/>
            </a:pPr>
            <a:r>
              <a:rPr lang="en-US" sz="1500">
                <a:solidFill>
                  <a:srgbClr val="CC00CC"/>
                </a:solidFill>
              </a:rPr>
              <a:t>Read(ChamundiSeats)	 </a:t>
            </a:r>
            <a:endParaRPr/>
          </a:p>
          <a:p>
            <a:pPr indent="-79375" lvl="0" marL="79375" rtl="0" algn="l">
              <a:spcBef>
                <a:spcPts val="300"/>
              </a:spcBef>
              <a:spcAft>
                <a:spcPts val="0"/>
              </a:spcAft>
              <a:buSzPts val="1500"/>
              <a:buFont typeface="Noto Sans Symbols"/>
              <a:buNone/>
            </a:pPr>
            <a:r>
              <a:rPr lang="en-US" sz="1500">
                <a:solidFill>
                  <a:srgbClr val="CC00CC"/>
                </a:solidFill>
              </a:rPr>
              <a:t>ChamundiSeats=ChamundiSeats+4</a:t>
            </a:r>
            <a:endParaRPr/>
          </a:p>
          <a:p>
            <a:pPr indent="-79375" lvl="0" marL="79375" rtl="0" algn="l">
              <a:spcBef>
                <a:spcPts val="0"/>
              </a:spcBef>
              <a:spcAft>
                <a:spcPts val="0"/>
              </a:spcAft>
              <a:buSzPts val="1500"/>
              <a:buFont typeface="Noto Sans Symbols"/>
              <a:buNone/>
            </a:pPr>
            <a:r>
              <a:rPr lang="en-US" sz="1500">
                <a:solidFill>
                  <a:srgbClr val="CC00CC"/>
                </a:solidFill>
              </a:rPr>
              <a:t>Write(ChamundiSeats)</a:t>
            </a:r>
            <a:endParaRPr/>
          </a:p>
        </p:txBody>
      </p:sp>
      <p:sp>
        <p:nvSpPr>
          <p:cNvPr descr="Date Placeholder 3" id="1097" name="Google Shape;1097;p6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098" name="Google Shape;1098;p6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1099" name="Google Shape;1099;p67"/>
          <p:cNvPicPr preferRelativeResize="0"/>
          <p:nvPr/>
        </p:nvPicPr>
        <p:blipFill rotWithShape="1">
          <a:blip r:embed="rId3">
            <a:alphaModFix/>
          </a:blip>
          <a:srcRect b="0" l="0" r="0" t="0"/>
          <a:stretch/>
        </p:blipFill>
        <p:spPr>
          <a:xfrm>
            <a:off x="1114425" y="1628775"/>
            <a:ext cx="5102225" cy="13779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descr="Title 1" id="1104" name="Google Shape;1104;p6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 Schedules</a:t>
            </a:r>
            <a:endParaRPr/>
          </a:p>
        </p:txBody>
      </p:sp>
      <p:sp>
        <p:nvSpPr>
          <p:cNvPr descr="Date Placeholder 3" id="1105" name="Google Shape;1105;p6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06" name="Google Shape;1106;p6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1107" name="Google Shape;1107;p68"/>
          <p:cNvSpPr txBox="1"/>
          <p:nvPr/>
        </p:nvSpPr>
        <p:spPr>
          <a:xfrm>
            <a:off x="179388" y="1628775"/>
            <a:ext cx="4116387" cy="15478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T1:Read(TippuSeats)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T1:TippuSeats=TippuSeats-5 </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T1:Write(TippuSeats) </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T2:Read(ChamundiSeats)	 </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T2:ChamundiSeats=ChamundiSeats+4</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T2:Write(ChamundiSeats)</a:t>
            </a:r>
            <a:endParaRPr/>
          </a:p>
        </p:txBody>
      </p:sp>
      <p:sp>
        <p:nvSpPr>
          <p:cNvPr descr="TextBox 8" id="1108" name="Google Shape;1108;p68"/>
          <p:cNvSpPr txBox="1"/>
          <p:nvPr/>
        </p:nvSpPr>
        <p:spPr>
          <a:xfrm>
            <a:off x="512763" y="1290638"/>
            <a:ext cx="2439987"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1</a:t>
            </a:r>
            <a:r>
              <a:rPr lang="en-US" sz="1800">
                <a:solidFill>
                  <a:srgbClr val="000000"/>
                </a:solidFill>
                <a:latin typeface="Verdana"/>
                <a:ea typeface="Verdana"/>
                <a:cs typeface="Verdana"/>
                <a:sym typeface="Verdana"/>
              </a:rPr>
              <a:t>: </a:t>
            </a:r>
            <a:r>
              <a:rPr lang="en-US" sz="1800">
                <a:solidFill>
                  <a:srgbClr val="0000FF"/>
                </a:solidFill>
                <a:latin typeface="Verdana"/>
                <a:ea typeface="Verdana"/>
                <a:cs typeface="Verdana"/>
                <a:sym typeface="Verdana"/>
              </a:rPr>
              <a:t>T1</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a:t>
            </a:r>
            <a:endParaRPr b="1" sz="1800">
              <a:solidFill>
                <a:srgbClr val="000000"/>
              </a:solidFill>
              <a:latin typeface="Verdana"/>
              <a:ea typeface="Verdana"/>
              <a:cs typeface="Verdana"/>
              <a:sym typeface="Verdana"/>
            </a:endParaRPr>
          </a:p>
        </p:txBody>
      </p:sp>
      <p:sp>
        <p:nvSpPr>
          <p:cNvPr descr="Down Arrow 11" id="1109" name="Google Shape;1109;p68"/>
          <p:cNvSpPr/>
          <p:nvPr/>
        </p:nvSpPr>
        <p:spPr>
          <a:xfrm>
            <a:off x="1403350" y="3284538"/>
            <a:ext cx="431800" cy="719137"/>
          </a:xfrm>
          <a:custGeom>
            <a:rect b="b" l="l" r="r" t="t"/>
            <a:pathLst>
              <a:path extrusionOk="0" h="21600" w="21600">
                <a:moveTo>
                  <a:pt x="0" y="15120"/>
                </a:moveTo>
                <a:lnTo>
                  <a:pt x="5400" y="15120"/>
                </a:lnTo>
                <a:lnTo>
                  <a:pt x="5400" y="0"/>
                </a:lnTo>
                <a:lnTo>
                  <a:pt x="16200" y="0"/>
                </a:lnTo>
                <a:lnTo>
                  <a:pt x="16200" y="15120"/>
                </a:lnTo>
                <a:lnTo>
                  <a:pt x="21600" y="1512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1110" name="Google Shape;1110;p68"/>
          <p:cNvSpPr txBox="1"/>
          <p:nvPr/>
        </p:nvSpPr>
        <p:spPr>
          <a:xfrm>
            <a:off x="1881188" y="3475038"/>
            <a:ext cx="2103437"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Shorthand Notation</a:t>
            </a:r>
            <a:endParaRPr/>
          </a:p>
        </p:txBody>
      </p:sp>
      <p:sp>
        <p:nvSpPr>
          <p:cNvPr descr="TextBox 13" id="1111" name="Google Shape;1111;p68"/>
          <p:cNvSpPr txBox="1"/>
          <p:nvPr/>
        </p:nvSpPr>
        <p:spPr>
          <a:xfrm>
            <a:off x="682625" y="4341813"/>
            <a:ext cx="2071688" cy="406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FF"/>
                </a:solidFill>
                <a:latin typeface="Verdana"/>
                <a:ea typeface="Verdana"/>
                <a:cs typeface="Verdana"/>
                <a:sym typeface="Verdana"/>
              </a:rPr>
              <a:t>R1, W1, </a:t>
            </a:r>
            <a:r>
              <a:rPr lang="en-US" sz="2000">
                <a:solidFill>
                  <a:srgbClr val="FF00FF"/>
                </a:solidFill>
                <a:latin typeface="Verdana"/>
                <a:ea typeface="Verdana"/>
                <a:cs typeface="Verdana"/>
                <a:sym typeface="Verdana"/>
              </a:rPr>
              <a:t>R2,W2</a:t>
            </a:r>
            <a:endParaRPr sz="2000">
              <a:solidFill>
                <a:srgbClr val="0000FF"/>
              </a:solidFill>
              <a:latin typeface="Verdana"/>
              <a:ea typeface="Verdana"/>
              <a:cs typeface="Verdana"/>
              <a:sym typeface="Verdana"/>
            </a:endParaRPr>
          </a:p>
        </p:txBody>
      </p:sp>
      <p:sp>
        <p:nvSpPr>
          <p:cNvPr descr="TextBox 14" id="1112" name="Google Shape;1112;p68"/>
          <p:cNvSpPr txBox="1"/>
          <p:nvPr/>
        </p:nvSpPr>
        <p:spPr>
          <a:xfrm>
            <a:off x="546100" y="4003675"/>
            <a:ext cx="243998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1</a:t>
            </a:r>
            <a:r>
              <a:rPr lang="en-US" sz="1800">
                <a:solidFill>
                  <a:srgbClr val="000000"/>
                </a:solidFill>
                <a:latin typeface="Verdana"/>
                <a:ea typeface="Verdana"/>
                <a:cs typeface="Verdana"/>
                <a:sym typeface="Verdana"/>
              </a:rPr>
              <a:t>: </a:t>
            </a:r>
            <a:r>
              <a:rPr lang="en-US" sz="1800">
                <a:solidFill>
                  <a:srgbClr val="0000FF"/>
                </a:solidFill>
                <a:latin typeface="Verdana"/>
                <a:ea typeface="Verdana"/>
                <a:cs typeface="Verdana"/>
                <a:sym typeface="Verdana"/>
              </a:rPr>
              <a:t>T1</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a:t>
            </a:r>
            <a:endParaRPr b="1" sz="1800">
              <a:solidFill>
                <a:srgbClr val="000000"/>
              </a:solidFill>
              <a:latin typeface="Verdana"/>
              <a:ea typeface="Verdana"/>
              <a:cs typeface="Verdana"/>
              <a:sym typeface="Verdan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descr="Title 1" id="1117" name="Google Shape;1117;p6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 Schedules</a:t>
            </a:r>
            <a:endParaRPr/>
          </a:p>
        </p:txBody>
      </p:sp>
      <p:sp>
        <p:nvSpPr>
          <p:cNvPr descr="Date Placeholder 3" id="1118" name="Google Shape;1118;p6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19" name="Google Shape;1119;p6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1120" name="Google Shape;1120;p69"/>
          <p:cNvSpPr txBox="1"/>
          <p:nvPr/>
        </p:nvSpPr>
        <p:spPr>
          <a:xfrm>
            <a:off x="179388" y="1628775"/>
            <a:ext cx="4116387" cy="15478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T1:Read(TippuSeats)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T1:TippuSeats=TippuSeats-5 </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T1:Write(TippuSeats) </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T2:Read(ChamundiSeats)	 </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T2:ChamundiSeats=ChamundiSeats+4</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T2:Write(ChamundiSeats)</a:t>
            </a:r>
            <a:endParaRPr/>
          </a:p>
        </p:txBody>
      </p:sp>
      <p:sp>
        <p:nvSpPr>
          <p:cNvPr descr="TextBox 8" id="1121" name="Google Shape;1121;p69"/>
          <p:cNvSpPr txBox="1"/>
          <p:nvPr/>
        </p:nvSpPr>
        <p:spPr>
          <a:xfrm>
            <a:off x="512763" y="1290638"/>
            <a:ext cx="2439987"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1</a:t>
            </a:r>
            <a:r>
              <a:rPr lang="en-US" sz="1800">
                <a:solidFill>
                  <a:srgbClr val="000000"/>
                </a:solidFill>
                <a:latin typeface="Verdana"/>
                <a:ea typeface="Verdana"/>
                <a:cs typeface="Verdana"/>
                <a:sym typeface="Verdana"/>
              </a:rPr>
              <a:t>: </a:t>
            </a:r>
            <a:r>
              <a:rPr lang="en-US" sz="1800">
                <a:solidFill>
                  <a:srgbClr val="0000FF"/>
                </a:solidFill>
                <a:latin typeface="Verdana"/>
                <a:ea typeface="Verdana"/>
                <a:cs typeface="Verdana"/>
                <a:sym typeface="Verdana"/>
              </a:rPr>
              <a:t>T1</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a:t>
            </a:r>
            <a:endParaRPr b="1" sz="1800">
              <a:solidFill>
                <a:srgbClr val="000000"/>
              </a:solidFill>
              <a:latin typeface="Verdana"/>
              <a:ea typeface="Verdana"/>
              <a:cs typeface="Verdana"/>
              <a:sym typeface="Verdana"/>
            </a:endParaRPr>
          </a:p>
        </p:txBody>
      </p:sp>
      <p:sp>
        <p:nvSpPr>
          <p:cNvPr descr="TextBox 9" id="1122" name="Google Shape;1122;p69"/>
          <p:cNvSpPr txBox="1"/>
          <p:nvPr/>
        </p:nvSpPr>
        <p:spPr>
          <a:xfrm>
            <a:off x="4733925" y="1612900"/>
            <a:ext cx="4117975" cy="1549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C00CC"/>
                </a:solidFill>
                <a:latin typeface="Verdana"/>
                <a:ea typeface="Verdana"/>
                <a:cs typeface="Verdana"/>
                <a:sym typeface="Verdana"/>
              </a:rPr>
              <a:t>T2:Read(ChamundiSeats)	 </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T2:ChamundiSeats=ChamundiSeats+4</a:t>
            </a:r>
            <a:endParaRPr/>
          </a:p>
          <a:p>
            <a:pPr indent="0" lvl="0" marL="0" marR="0" rtl="0" algn="l">
              <a:spcBef>
                <a:spcPts val="0"/>
              </a:spcBef>
              <a:spcAft>
                <a:spcPts val="0"/>
              </a:spcAft>
              <a:buNone/>
            </a:pPr>
            <a:r>
              <a:rPr lang="en-US" sz="1600">
                <a:solidFill>
                  <a:srgbClr val="CC00CC"/>
                </a:solidFill>
                <a:latin typeface="Verdana"/>
                <a:ea typeface="Verdana"/>
                <a:cs typeface="Verdana"/>
                <a:sym typeface="Verdana"/>
              </a:rPr>
              <a:t>T2:Write(ChamundiSeats)</a:t>
            </a:r>
            <a:endParaRPr sz="1600">
              <a:solidFill>
                <a:srgbClr val="0000FF"/>
              </a:solidFill>
              <a:latin typeface="Verdana"/>
              <a:ea typeface="Verdana"/>
              <a:cs typeface="Verdana"/>
              <a:sym typeface="Verdana"/>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T1:Read(TippuSeats)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T1:TippuSeats=TippuSeats-5 </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T1:Write(TippuSeats) </a:t>
            </a:r>
            <a:endParaRPr/>
          </a:p>
        </p:txBody>
      </p:sp>
      <p:sp>
        <p:nvSpPr>
          <p:cNvPr descr="TextBox 10" id="1123" name="Google Shape;1123;p69"/>
          <p:cNvSpPr txBox="1"/>
          <p:nvPr/>
        </p:nvSpPr>
        <p:spPr>
          <a:xfrm>
            <a:off x="5192713" y="1268413"/>
            <a:ext cx="244157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2</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 </a:t>
            </a:r>
            <a:r>
              <a:rPr lang="en-US" sz="1800">
                <a:solidFill>
                  <a:srgbClr val="0000FF"/>
                </a:solidFill>
                <a:latin typeface="Verdana"/>
                <a:ea typeface="Verdana"/>
                <a:cs typeface="Verdana"/>
                <a:sym typeface="Verdana"/>
              </a:rPr>
              <a:t>T1</a:t>
            </a:r>
            <a:endParaRPr b="1" sz="1800">
              <a:solidFill>
                <a:srgbClr val="000000"/>
              </a:solidFill>
              <a:latin typeface="Verdana"/>
              <a:ea typeface="Verdana"/>
              <a:cs typeface="Verdana"/>
              <a:sym typeface="Verdana"/>
            </a:endParaRPr>
          </a:p>
        </p:txBody>
      </p:sp>
      <p:sp>
        <p:nvSpPr>
          <p:cNvPr descr="Down Arrow 11" id="1124" name="Google Shape;1124;p69"/>
          <p:cNvSpPr/>
          <p:nvPr/>
        </p:nvSpPr>
        <p:spPr>
          <a:xfrm>
            <a:off x="1403350" y="3284538"/>
            <a:ext cx="431800" cy="719137"/>
          </a:xfrm>
          <a:custGeom>
            <a:rect b="b" l="l" r="r" t="t"/>
            <a:pathLst>
              <a:path extrusionOk="0" h="21600" w="21600">
                <a:moveTo>
                  <a:pt x="0" y="15120"/>
                </a:moveTo>
                <a:lnTo>
                  <a:pt x="5400" y="15120"/>
                </a:lnTo>
                <a:lnTo>
                  <a:pt x="5400" y="0"/>
                </a:lnTo>
                <a:lnTo>
                  <a:pt x="16200" y="0"/>
                </a:lnTo>
                <a:lnTo>
                  <a:pt x="16200" y="15120"/>
                </a:lnTo>
                <a:lnTo>
                  <a:pt x="21600" y="1512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1125" name="Google Shape;1125;p69"/>
          <p:cNvSpPr txBox="1"/>
          <p:nvPr/>
        </p:nvSpPr>
        <p:spPr>
          <a:xfrm>
            <a:off x="1881188" y="3475038"/>
            <a:ext cx="2103437"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Shorthand Notation</a:t>
            </a:r>
            <a:endParaRPr/>
          </a:p>
        </p:txBody>
      </p:sp>
      <p:sp>
        <p:nvSpPr>
          <p:cNvPr descr="TextBox 13" id="1126" name="Google Shape;1126;p69"/>
          <p:cNvSpPr txBox="1"/>
          <p:nvPr/>
        </p:nvSpPr>
        <p:spPr>
          <a:xfrm>
            <a:off x="682625" y="4341813"/>
            <a:ext cx="2071688" cy="406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FF"/>
                </a:solidFill>
                <a:latin typeface="Verdana"/>
                <a:ea typeface="Verdana"/>
                <a:cs typeface="Verdana"/>
                <a:sym typeface="Verdana"/>
              </a:rPr>
              <a:t>R1, W1, </a:t>
            </a:r>
            <a:r>
              <a:rPr lang="en-US" sz="2000">
                <a:solidFill>
                  <a:srgbClr val="FF00FF"/>
                </a:solidFill>
                <a:latin typeface="Verdana"/>
                <a:ea typeface="Verdana"/>
                <a:cs typeface="Verdana"/>
                <a:sym typeface="Verdana"/>
              </a:rPr>
              <a:t>R2,W2</a:t>
            </a:r>
            <a:endParaRPr sz="2000">
              <a:solidFill>
                <a:srgbClr val="0000FF"/>
              </a:solidFill>
              <a:latin typeface="Verdana"/>
              <a:ea typeface="Verdana"/>
              <a:cs typeface="Verdana"/>
              <a:sym typeface="Verdana"/>
            </a:endParaRPr>
          </a:p>
        </p:txBody>
      </p:sp>
      <p:sp>
        <p:nvSpPr>
          <p:cNvPr descr="TextBox 14" id="1127" name="Google Shape;1127;p69"/>
          <p:cNvSpPr txBox="1"/>
          <p:nvPr/>
        </p:nvSpPr>
        <p:spPr>
          <a:xfrm>
            <a:off x="546100" y="4003675"/>
            <a:ext cx="2439988"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1</a:t>
            </a:r>
            <a:r>
              <a:rPr lang="en-US" sz="1800">
                <a:solidFill>
                  <a:srgbClr val="000000"/>
                </a:solidFill>
                <a:latin typeface="Verdana"/>
                <a:ea typeface="Verdana"/>
                <a:cs typeface="Verdana"/>
                <a:sym typeface="Verdana"/>
              </a:rPr>
              <a:t>: </a:t>
            </a:r>
            <a:r>
              <a:rPr lang="en-US" sz="1800">
                <a:solidFill>
                  <a:srgbClr val="0000FF"/>
                </a:solidFill>
                <a:latin typeface="Verdana"/>
                <a:ea typeface="Verdana"/>
                <a:cs typeface="Verdana"/>
                <a:sym typeface="Verdana"/>
              </a:rPr>
              <a:t>T1</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a:t>
            </a:r>
            <a:endParaRPr b="1" sz="1800">
              <a:solidFill>
                <a:srgbClr val="000000"/>
              </a:solidFill>
              <a:latin typeface="Verdana"/>
              <a:ea typeface="Verdana"/>
              <a:cs typeface="Verdana"/>
              <a:sym typeface="Verdana"/>
            </a:endParaRPr>
          </a:p>
        </p:txBody>
      </p:sp>
      <p:sp>
        <p:nvSpPr>
          <p:cNvPr descr="Down Arrow 15" id="1128" name="Google Shape;1128;p69"/>
          <p:cNvSpPr/>
          <p:nvPr/>
        </p:nvSpPr>
        <p:spPr>
          <a:xfrm>
            <a:off x="5676900" y="3284538"/>
            <a:ext cx="433388" cy="719137"/>
          </a:xfrm>
          <a:custGeom>
            <a:rect b="b" l="l" r="r" t="t"/>
            <a:pathLst>
              <a:path extrusionOk="0" h="21600" w="21600">
                <a:moveTo>
                  <a:pt x="0" y="15120"/>
                </a:moveTo>
                <a:lnTo>
                  <a:pt x="5400" y="15120"/>
                </a:lnTo>
                <a:lnTo>
                  <a:pt x="5400" y="0"/>
                </a:lnTo>
                <a:lnTo>
                  <a:pt x="16200" y="0"/>
                </a:lnTo>
                <a:lnTo>
                  <a:pt x="16200" y="15120"/>
                </a:lnTo>
                <a:lnTo>
                  <a:pt x="21600" y="1512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6" id="1129" name="Google Shape;1129;p69"/>
          <p:cNvSpPr txBox="1"/>
          <p:nvPr/>
        </p:nvSpPr>
        <p:spPr>
          <a:xfrm>
            <a:off x="6154738" y="3475038"/>
            <a:ext cx="210502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Shorthand Notation</a:t>
            </a:r>
            <a:endParaRPr/>
          </a:p>
        </p:txBody>
      </p:sp>
      <p:sp>
        <p:nvSpPr>
          <p:cNvPr descr="TextBox 17" id="1130" name="Google Shape;1130;p69"/>
          <p:cNvSpPr txBox="1"/>
          <p:nvPr/>
        </p:nvSpPr>
        <p:spPr>
          <a:xfrm>
            <a:off x="4957763" y="4341813"/>
            <a:ext cx="2070100" cy="4064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FF00FF"/>
                </a:solidFill>
                <a:latin typeface="Verdana"/>
                <a:ea typeface="Verdana"/>
                <a:cs typeface="Verdana"/>
                <a:sym typeface="Verdana"/>
              </a:rPr>
              <a:t>R2,W2, </a:t>
            </a:r>
            <a:r>
              <a:rPr lang="en-US" sz="2000">
                <a:solidFill>
                  <a:srgbClr val="0000FF"/>
                </a:solidFill>
                <a:latin typeface="Verdana"/>
                <a:ea typeface="Verdana"/>
                <a:cs typeface="Verdana"/>
                <a:sym typeface="Verdana"/>
              </a:rPr>
              <a:t>R1, W1</a:t>
            </a:r>
            <a:endParaRPr sz="2000">
              <a:solidFill>
                <a:srgbClr val="FF00FF"/>
              </a:solidFill>
              <a:latin typeface="Verdana"/>
              <a:ea typeface="Verdana"/>
              <a:cs typeface="Verdana"/>
              <a:sym typeface="Verdana"/>
            </a:endParaRPr>
          </a:p>
        </p:txBody>
      </p:sp>
      <p:sp>
        <p:nvSpPr>
          <p:cNvPr descr="TextBox 18" id="1131" name="Google Shape;1131;p69"/>
          <p:cNvSpPr txBox="1"/>
          <p:nvPr/>
        </p:nvSpPr>
        <p:spPr>
          <a:xfrm>
            <a:off x="4819650" y="4003675"/>
            <a:ext cx="2441575"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Schedule 2</a:t>
            </a:r>
            <a:r>
              <a:rPr lang="en-US" sz="1800">
                <a:solidFill>
                  <a:srgbClr val="000000"/>
                </a:solidFill>
                <a:latin typeface="Verdana"/>
                <a:ea typeface="Verdana"/>
                <a:cs typeface="Verdana"/>
                <a:sym typeface="Verdana"/>
              </a:rPr>
              <a:t>: </a:t>
            </a:r>
            <a:r>
              <a:rPr lang="en-US" sz="1800">
                <a:solidFill>
                  <a:srgbClr val="FF00FF"/>
                </a:solidFill>
                <a:latin typeface="Verdana"/>
                <a:ea typeface="Verdana"/>
                <a:cs typeface="Verdana"/>
                <a:sym typeface="Verdana"/>
              </a:rPr>
              <a:t>T2, </a:t>
            </a:r>
            <a:r>
              <a:rPr lang="en-US" sz="1800">
                <a:solidFill>
                  <a:srgbClr val="0000FF"/>
                </a:solidFill>
                <a:latin typeface="Verdana"/>
                <a:ea typeface="Verdana"/>
                <a:cs typeface="Verdana"/>
                <a:sym typeface="Verdana"/>
              </a:rPr>
              <a:t>T1</a:t>
            </a:r>
            <a:endParaRPr b="1" sz="1800">
              <a:solidFill>
                <a:srgbClr val="000000"/>
              </a:solidFill>
              <a:latin typeface="Verdana"/>
              <a:ea typeface="Verdana"/>
              <a:cs typeface="Verdana"/>
              <a:sym typeface="Verdan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descr="Title 1" id="1136" name="Google Shape;1136;p7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t>Different Possible Schedules for given set of transactions</a:t>
            </a:r>
            <a:endParaRPr/>
          </a:p>
        </p:txBody>
      </p:sp>
      <p:graphicFrame>
        <p:nvGraphicFramePr>
          <p:cNvPr id="1137" name="Google Shape;1137;p70"/>
          <p:cNvGraphicFramePr/>
          <p:nvPr/>
        </p:nvGraphicFramePr>
        <p:xfrm>
          <a:off x="755650" y="2708275"/>
          <a:ext cx="3000000" cy="3000000"/>
        </p:xfrm>
        <a:graphic>
          <a:graphicData uri="http://schemas.openxmlformats.org/drawingml/2006/table">
            <a:tbl>
              <a:tblPr>
                <a:noFill/>
                <a:tableStyleId>{DA31C186-C125-4E34-A739-053F885C22C1}</a:tableStyleId>
              </a:tblPr>
              <a:tblGrid>
                <a:gridCol w="2319350"/>
                <a:gridCol w="3225800"/>
              </a:tblGrid>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W1, </a:t>
                      </a:r>
                      <a:r>
                        <a:rPr b="0" i="0" lang="en-US" sz="2400" u="none" cap="none" strike="noStrike">
                          <a:solidFill>
                            <a:srgbClr val="FF00FF"/>
                          </a:solidFill>
                          <a:latin typeface="Verdana"/>
                          <a:ea typeface="Verdana"/>
                          <a:cs typeface="Verdana"/>
                          <a:sym typeface="Verdana"/>
                        </a:rPr>
                        <a:t>R2,W2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R2,W2, </a:t>
                      </a:r>
                      <a:r>
                        <a:rPr b="0" i="0" lang="en-US" sz="2400" u="none" cap="none" strike="noStrike">
                          <a:solidFill>
                            <a:srgbClr val="0000FF"/>
                          </a:solidFill>
                          <a:latin typeface="Verdana"/>
                          <a:ea typeface="Verdana"/>
                          <a:cs typeface="Verdana"/>
                          <a:sym typeface="Verdana"/>
                        </a:rPr>
                        <a:t>R1, 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W1,</a:t>
                      </a:r>
                      <a:r>
                        <a:rPr b="0" i="0" lang="en-US" sz="2400" u="none" cap="none" strike="noStrike">
                          <a:solidFill>
                            <a:srgbClr val="FF00FF"/>
                          </a:solidFill>
                          <a:latin typeface="Verdana"/>
                          <a:ea typeface="Verdana"/>
                          <a:cs typeface="Verdana"/>
                          <a:sym typeface="Verdana"/>
                        </a:rPr>
                        <a:t>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W2, </a:t>
                      </a:r>
                      <a:r>
                        <a:rPr b="0" i="0" lang="en-US" sz="2400" u="none" cap="none" strike="noStrike">
                          <a:solidFill>
                            <a:srgbClr val="0000FF"/>
                          </a:solidFill>
                          <a:latin typeface="Verdana"/>
                          <a:ea typeface="Verdana"/>
                          <a:cs typeface="Verdana"/>
                          <a:sym typeface="Verdana"/>
                        </a:rPr>
                        <a:t>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1138" name="Google Shape;1138;p7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39" name="Google Shape;1139;p7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1140" name="Google Shape;1140;p70"/>
          <p:cNvSpPr txBox="1"/>
          <p:nvPr/>
        </p:nvSpPr>
        <p:spPr>
          <a:xfrm>
            <a:off x="368300" y="1195388"/>
            <a:ext cx="8666163"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Two Transactions</a:t>
            </a:r>
            <a:endParaRPr/>
          </a:p>
          <a:p>
            <a:pPr indent="0" lvl="0" marL="0" marR="0" rtl="0" algn="l">
              <a:spcBef>
                <a:spcPts val="0"/>
              </a:spcBef>
              <a:spcAft>
                <a:spcPts val="0"/>
              </a:spcAft>
              <a:buNone/>
            </a:pPr>
            <a:r>
              <a:rPr b="1" lang="en-US" sz="1800">
                <a:solidFill>
                  <a:srgbClr val="0000FF"/>
                </a:solidFill>
                <a:latin typeface="Verdana"/>
                <a:ea typeface="Verdana"/>
                <a:cs typeface="Verdana"/>
                <a:sym typeface="Verdana"/>
              </a:rPr>
              <a:t>T1: </a:t>
            </a:r>
            <a:r>
              <a:rPr lang="en-US" sz="1800">
                <a:solidFill>
                  <a:srgbClr val="000000"/>
                </a:solidFill>
                <a:latin typeface="Verdana"/>
                <a:ea typeface="Verdana"/>
                <a:cs typeface="Verdana"/>
                <a:sym typeface="Verdana"/>
              </a:rPr>
              <a:t>Cancel  FIVE seats on Tippu express (</a:t>
            </a:r>
            <a:r>
              <a:rPr lang="en-US" sz="1800">
                <a:solidFill>
                  <a:srgbClr val="0000FF"/>
                </a:solidFill>
                <a:latin typeface="Verdana"/>
                <a:ea typeface="Verdana"/>
                <a:cs typeface="Verdana"/>
                <a:sym typeface="Verdana"/>
              </a:rPr>
              <a:t>R1, W1)</a:t>
            </a:r>
            <a:endParaRPr b="1" sz="1800">
              <a:solidFill>
                <a:srgbClr val="0000FF"/>
              </a:solidFill>
              <a:latin typeface="Verdana"/>
              <a:ea typeface="Verdana"/>
              <a:cs typeface="Verdana"/>
              <a:sym typeface="Verdana"/>
            </a:endParaRPr>
          </a:p>
          <a:p>
            <a:pPr indent="0" lvl="0" marL="0" marR="0" rtl="0" algn="l">
              <a:spcBef>
                <a:spcPts val="0"/>
              </a:spcBef>
              <a:spcAft>
                <a:spcPts val="0"/>
              </a:spcAft>
              <a:buNone/>
            </a:pPr>
            <a:r>
              <a:rPr b="1" lang="en-US" sz="1800">
                <a:solidFill>
                  <a:srgbClr val="FF00FF"/>
                </a:solidFill>
                <a:latin typeface="Verdana"/>
                <a:ea typeface="Verdana"/>
                <a:cs typeface="Verdana"/>
                <a:sym typeface="Verdana"/>
              </a:rPr>
              <a:t>T2: </a:t>
            </a:r>
            <a:r>
              <a:rPr lang="en-US" sz="1800">
                <a:solidFill>
                  <a:srgbClr val="000000"/>
                </a:solidFill>
                <a:latin typeface="Verdana"/>
                <a:ea typeface="Verdana"/>
                <a:cs typeface="Verdana"/>
                <a:sym typeface="Verdana"/>
              </a:rPr>
              <a:t>Reserve  four seats on Chamundi express (</a:t>
            </a:r>
            <a:r>
              <a:rPr lang="en-US" sz="1800">
                <a:solidFill>
                  <a:srgbClr val="FF00FF"/>
                </a:solidFill>
                <a:latin typeface="Verdana"/>
                <a:ea typeface="Verdana"/>
                <a:cs typeface="Verdana"/>
                <a:sym typeface="Verdana"/>
              </a:rPr>
              <a:t>R2,W2)</a:t>
            </a:r>
            <a:endParaRPr b="1" sz="1800">
              <a:solidFill>
                <a:srgbClr val="FF00FF"/>
              </a:solidFill>
              <a:latin typeface="Verdana"/>
              <a:ea typeface="Verdana"/>
              <a:cs typeface="Verdana"/>
              <a:sym typeface="Verdana"/>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Different possible schedules for the above two transactions are as follows: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descr="Title 1" id="1145" name="Google Shape;1145;p7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 Schedules</a:t>
            </a:r>
            <a:endParaRPr/>
          </a:p>
        </p:txBody>
      </p:sp>
      <p:graphicFrame>
        <p:nvGraphicFramePr>
          <p:cNvPr id="1146" name="Google Shape;1146;p71"/>
          <p:cNvGraphicFramePr/>
          <p:nvPr/>
        </p:nvGraphicFramePr>
        <p:xfrm>
          <a:off x="755650" y="2708275"/>
          <a:ext cx="3000000" cy="3000000"/>
        </p:xfrm>
        <a:graphic>
          <a:graphicData uri="http://schemas.openxmlformats.org/drawingml/2006/table">
            <a:tbl>
              <a:tblPr>
                <a:noFill/>
                <a:tableStyleId>{DA31C186-C125-4E34-A739-053F885C22C1}</a:tableStyleId>
              </a:tblPr>
              <a:tblGrid>
                <a:gridCol w="2319350"/>
                <a:gridCol w="3225800"/>
              </a:tblGrid>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W1, </a:t>
                      </a:r>
                      <a:r>
                        <a:rPr b="0" i="0" lang="en-US" sz="2400" u="none" cap="none" strike="noStrike">
                          <a:solidFill>
                            <a:srgbClr val="FF00FF"/>
                          </a:solidFill>
                          <a:latin typeface="Verdana"/>
                          <a:ea typeface="Verdana"/>
                          <a:cs typeface="Verdana"/>
                          <a:sym typeface="Verdana"/>
                        </a:rPr>
                        <a:t>R2,W2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R2,W2, </a:t>
                      </a:r>
                      <a:r>
                        <a:rPr b="0" i="0" lang="en-US" sz="2400" u="none" cap="none" strike="noStrike">
                          <a:solidFill>
                            <a:srgbClr val="0000FF"/>
                          </a:solidFill>
                          <a:latin typeface="Verdana"/>
                          <a:ea typeface="Verdana"/>
                          <a:cs typeface="Verdana"/>
                          <a:sym typeface="Verdana"/>
                        </a:rPr>
                        <a:t>R1, 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W1,</a:t>
                      </a:r>
                      <a:r>
                        <a:rPr b="0" i="0" lang="en-US" sz="2400" u="none" cap="none" strike="noStrike">
                          <a:solidFill>
                            <a:srgbClr val="FF00FF"/>
                          </a:solidFill>
                          <a:latin typeface="Verdana"/>
                          <a:ea typeface="Verdana"/>
                          <a:cs typeface="Verdana"/>
                          <a:sym typeface="Verdana"/>
                        </a:rPr>
                        <a:t>,W2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W2, </a:t>
                      </a:r>
                      <a:r>
                        <a:rPr b="0" i="0" lang="en-US" sz="2400" u="none" cap="none" strike="noStrike">
                          <a:solidFill>
                            <a:srgbClr val="0000FF"/>
                          </a:solidFill>
                          <a:latin typeface="Verdana"/>
                          <a:ea typeface="Verdana"/>
                          <a:cs typeface="Verdana"/>
                          <a:sym typeface="Verdana"/>
                        </a:rPr>
                        <a:t>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1147" name="Google Shape;1147;p7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48" name="Google Shape;1148;p7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1149" name="Google Shape;1149;p71"/>
          <p:cNvSpPr txBox="1"/>
          <p:nvPr/>
        </p:nvSpPr>
        <p:spPr>
          <a:xfrm>
            <a:off x="512763" y="4705350"/>
            <a:ext cx="7343775"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Following are </a:t>
            </a:r>
            <a:r>
              <a:rPr b="1" lang="en-US" sz="1800">
                <a:solidFill>
                  <a:srgbClr val="000000"/>
                </a:solidFill>
                <a:latin typeface="Verdana"/>
                <a:ea typeface="Verdana"/>
                <a:cs typeface="Verdana"/>
                <a:sym typeface="Verdana"/>
              </a:rPr>
              <a:t>not feasible schedules </a:t>
            </a:r>
            <a:r>
              <a:rPr lang="en-US" sz="1800">
                <a:solidFill>
                  <a:srgbClr val="000000"/>
                </a:solidFill>
                <a:latin typeface="Verdana"/>
                <a:ea typeface="Verdana"/>
                <a:cs typeface="Verdana"/>
                <a:sym typeface="Verdana"/>
              </a:rPr>
              <a:t>because they do not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preserve the order of operations of the individual Transactions </a:t>
            </a:r>
            <a:endParaRPr/>
          </a:p>
        </p:txBody>
      </p:sp>
      <p:sp>
        <p:nvSpPr>
          <p:cNvPr descr="TextBox 9" id="1150" name="Google Shape;1150;p71"/>
          <p:cNvSpPr txBox="1"/>
          <p:nvPr/>
        </p:nvSpPr>
        <p:spPr>
          <a:xfrm>
            <a:off x="628650" y="5362575"/>
            <a:ext cx="2160588" cy="3810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 W1, R1, </a:t>
            </a:r>
            <a:r>
              <a:rPr lang="en-US" sz="1800">
                <a:solidFill>
                  <a:srgbClr val="FF00FF"/>
                </a:solidFill>
                <a:latin typeface="Verdana"/>
                <a:ea typeface="Verdana"/>
                <a:cs typeface="Verdana"/>
                <a:sym typeface="Verdana"/>
              </a:rPr>
              <a:t>W2, R2</a:t>
            </a:r>
            <a:endParaRPr sz="1800">
              <a:solidFill>
                <a:srgbClr val="0000FF"/>
              </a:solidFill>
              <a:latin typeface="Verdana"/>
              <a:ea typeface="Verdana"/>
              <a:cs typeface="Verdana"/>
              <a:sym typeface="Verdana"/>
            </a:endParaRPr>
          </a:p>
        </p:txBody>
      </p:sp>
      <p:sp>
        <p:nvSpPr>
          <p:cNvPr descr="TextBox 10" id="1151" name="Google Shape;1151;p71"/>
          <p:cNvSpPr txBox="1"/>
          <p:nvPr/>
        </p:nvSpPr>
        <p:spPr>
          <a:xfrm>
            <a:off x="3275013" y="5362575"/>
            <a:ext cx="2160587" cy="3810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W2, R2, </a:t>
            </a:r>
            <a:r>
              <a:rPr lang="en-US" sz="1800">
                <a:solidFill>
                  <a:srgbClr val="0000FF"/>
                </a:solidFill>
                <a:latin typeface="Verdana"/>
                <a:ea typeface="Verdana"/>
                <a:cs typeface="Verdana"/>
                <a:sym typeface="Verdana"/>
              </a:rPr>
              <a:t>W1, R1</a:t>
            </a:r>
            <a:endParaRPr sz="1800">
              <a:solidFill>
                <a:srgbClr val="FF00FF"/>
              </a:solidFill>
              <a:latin typeface="Verdana"/>
              <a:ea typeface="Verdana"/>
              <a:cs typeface="Verdana"/>
              <a:sym typeface="Verdana"/>
            </a:endParaRPr>
          </a:p>
        </p:txBody>
      </p:sp>
      <p:sp>
        <p:nvSpPr>
          <p:cNvPr descr="TextBox 11" id="1152" name="Google Shape;1152;p71"/>
          <p:cNvSpPr txBox="1"/>
          <p:nvPr/>
        </p:nvSpPr>
        <p:spPr>
          <a:xfrm>
            <a:off x="368300" y="1195388"/>
            <a:ext cx="8666163"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Two Transactions</a:t>
            </a:r>
            <a:endParaRPr/>
          </a:p>
          <a:p>
            <a:pPr indent="0" lvl="0" marL="0" marR="0" rtl="0" algn="l">
              <a:spcBef>
                <a:spcPts val="0"/>
              </a:spcBef>
              <a:spcAft>
                <a:spcPts val="0"/>
              </a:spcAft>
              <a:buNone/>
            </a:pPr>
            <a:r>
              <a:rPr b="1" lang="en-US" sz="1800">
                <a:solidFill>
                  <a:srgbClr val="0000FF"/>
                </a:solidFill>
                <a:latin typeface="Verdana"/>
                <a:ea typeface="Verdana"/>
                <a:cs typeface="Verdana"/>
                <a:sym typeface="Verdana"/>
              </a:rPr>
              <a:t>T1: </a:t>
            </a:r>
            <a:r>
              <a:rPr lang="en-US" sz="1800">
                <a:solidFill>
                  <a:srgbClr val="000000"/>
                </a:solidFill>
                <a:latin typeface="Verdana"/>
                <a:ea typeface="Verdana"/>
                <a:cs typeface="Verdana"/>
                <a:sym typeface="Verdana"/>
              </a:rPr>
              <a:t>Cancel  FIVE seats on Tippu express (</a:t>
            </a:r>
            <a:r>
              <a:rPr lang="en-US" sz="1800">
                <a:solidFill>
                  <a:srgbClr val="0000FF"/>
                </a:solidFill>
                <a:latin typeface="Verdana"/>
                <a:ea typeface="Verdana"/>
                <a:cs typeface="Verdana"/>
                <a:sym typeface="Verdana"/>
              </a:rPr>
              <a:t>R1, W1)</a:t>
            </a:r>
            <a:endParaRPr b="1" sz="1800">
              <a:solidFill>
                <a:srgbClr val="0000FF"/>
              </a:solidFill>
              <a:latin typeface="Verdana"/>
              <a:ea typeface="Verdana"/>
              <a:cs typeface="Verdana"/>
              <a:sym typeface="Verdana"/>
            </a:endParaRPr>
          </a:p>
          <a:p>
            <a:pPr indent="0" lvl="0" marL="0" marR="0" rtl="0" algn="l">
              <a:spcBef>
                <a:spcPts val="0"/>
              </a:spcBef>
              <a:spcAft>
                <a:spcPts val="0"/>
              </a:spcAft>
              <a:buNone/>
            </a:pPr>
            <a:r>
              <a:rPr b="1" lang="en-US" sz="1800">
                <a:solidFill>
                  <a:srgbClr val="FF00FF"/>
                </a:solidFill>
                <a:latin typeface="Verdana"/>
                <a:ea typeface="Verdana"/>
                <a:cs typeface="Verdana"/>
                <a:sym typeface="Verdana"/>
              </a:rPr>
              <a:t>T2: </a:t>
            </a:r>
            <a:r>
              <a:rPr lang="en-US" sz="1800">
                <a:solidFill>
                  <a:srgbClr val="000000"/>
                </a:solidFill>
                <a:latin typeface="Verdana"/>
                <a:ea typeface="Verdana"/>
                <a:cs typeface="Verdana"/>
                <a:sym typeface="Verdana"/>
              </a:rPr>
              <a:t>Reserve  four seats on Chamundi express (</a:t>
            </a:r>
            <a:r>
              <a:rPr lang="en-US" sz="1800">
                <a:solidFill>
                  <a:srgbClr val="FF00FF"/>
                </a:solidFill>
                <a:latin typeface="Verdana"/>
                <a:ea typeface="Verdana"/>
                <a:cs typeface="Verdana"/>
                <a:sym typeface="Verdana"/>
              </a:rPr>
              <a:t>R2,W2)</a:t>
            </a:r>
            <a:endParaRPr b="1" sz="1800">
              <a:solidFill>
                <a:srgbClr val="FF00FF"/>
              </a:solidFill>
              <a:latin typeface="Verdana"/>
              <a:ea typeface="Verdana"/>
              <a:cs typeface="Verdana"/>
              <a:sym typeface="Verdana"/>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Different possible schedules for the above two transactions are as follows: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descr="Title 1" id="1157" name="Google Shape;1157;p7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 Schedules</a:t>
            </a:r>
            <a:endParaRPr/>
          </a:p>
        </p:txBody>
      </p:sp>
      <p:graphicFrame>
        <p:nvGraphicFramePr>
          <p:cNvPr id="1158" name="Google Shape;1158;p72"/>
          <p:cNvGraphicFramePr/>
          <p:nvPr/>
        </p:nvGraphicFramePr>
        <p:xfrm>
          <a:off x="755650" y="2708275"/>
          <a:ext cx="3000000" cy="3000000"/>
        </p:xfrm>
        <a:graphic>
          <a:graphicData uri="http://schemas.openxmlformats.org/drawingml/2006/table">
            <a:tbl>
              <a:tblPr>
                <a:noFill/>
                <a:tableStyleId>{DA31C186-C125-4E34-A739-053F885C22C1}</a:tableStyleId>
              </a:tblPr>
              <a:tblGrid>
                <a:gridCol w="2319350"/>
                <a:gridCol w="3225800"/>
              </a:tblGrid>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W1, </a:t>
                      </a:r>
                      <a:r>
                        <a:rPr b="0" i="0" lang="en-US" sz="2400" u="none" cap="none" strike="noStrike">
                          <a:solidFill>
                            <a:srgbClr val="FF00FF"/>
                          </a:solidFill>
                          <a:latin typeface="Verdana"/>
                          <a:ea typeface="Verdana"/>
                          <a:cs typeface="Verdana"/>
                          <a:sym typeface="Verdana"/>
                        </a:rPr>
                        <a:t>R2,W2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R2,W2, </a:t>
                      </a:r>
                      <a:r>
                        <a:rPr b="0" i="0" lang="en-US" sz="2400" u="none" cap="none" strike="noStrike">
                          <a:solidFill>
                            <a:srgbClr val="0000FF"/>
                          </a:solidFill>
                          <a:latin typeface="Verdana"/>
                          <a:ea typeface="Verdana"/>
                          <a:cs typeface="Verdana"/>
                          <a:sym typeface="Verdana"/>
                        </a:rPr>
                        <a:t>R1, 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W1,</a:t>
                      </a:r>
                      <a:r>
                        <a:rPr b="0" i="0" lang="en-US" sz="2400" u="none" cap="none" strike="noStrike">
                          <a:solidFill>
                            <a:srgbClr val="FF00FF"/>
                          </a:solidFill>
                          <a:latin typeface="Verdana"/>
                          <a:ea typeface="Verdana"/>
                          <a:cs typeface="Verdana"/>
                          <a:sym typeface="Verdana"/>
                        </a:rPr>
                        <a:t>,W2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W2, </a:t>
                      </a:r>
                      <a:r>
                        <a:rPr b="0" i="0" lang="en-US" sz="2400" u="none" cap="none" strike="noStrike">
                          <a:solidFill>
                            <a:srgbClr val="0000FF"/>
                          </a:solidFill>
                          <a:latin typeface="Verdana"/>
                          <a:ea typeface="Verdana"/>
                          <a:cs typeface="Verdana"/>
                          <a:sym typeface="Verdana"/>
                        </a:rPr>
                        <a:t>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1159" name="Google Shape;1159;p7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60" name="Google Shape;1160;p7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1161" name="Google Shape;1161;p72"/>
          <p:cNvSpPr txBox="1"/>
          <p:nvPr/>
        </p:nvSpPr>
        <p:spPr>
          <a:xfrm>
            <a:off x="512763" y="4705350"/>
            <a:ext cx="7343775"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Following are </a:t>
            </a:r>
            <a:r>
              <a:rPr b="1" lang="en-US" sz="1800">
                <a:solidFill>
                  <a:srgbClr val="000000"/>
                </a:solidFill>
                <a:latin typeface="Verdana"/>
                <a:ea typeface="Verdana"/>
                <a:cs typeface="Verdana"/>
                <a:sym typeface="Verdana"/>
              </a:rPr>
              <a:t>not feasible schedules </a:t>
            </a:r>
            <a:r>
              <a:rPr lang="en-US" sz="1800">
                <a:solidFill>
                  <a:srgbClr val="000000"/>
                </a:solidFill>
                <a:latin typeface="Verdana"/>
                <a:ea typeface="Verdana"/>
                <a:cs typeface="Verdana"/>
                <a:sym typeface="Verdana"/>
              </a:rPr>
              <a:t>because they do not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preserve the order of operations of the individual Transactions </a:t>
            </a:r>
            <a:endParaRPr/>
          </a:p>
        </p:txBody>
      </p:sp>
      <p:sp>
        <p:nvSpPr>
          <p:cNvPr descr="TextBox 9" id="1162" name="Google Shape;1162;p72"/>
          <p:cNvSpPr txBox="1"/>
          <p:nvPr/>
        </p:nvSpPr>
        <p:spPr>
          <a:xfrm>
            <a:off x="490538" y="5362575"/>
            <a:ext cx="2160587" cy="3810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 W1, R1, </a:t>
            </a:r>
            <a:r>
              <a:rPr lang="en-US" sz="1800">
                <a:solidFill>
                  <a:srgbClr val="FF00FF"/>
                </a:solidFill>
                <a:latin typeface="Verdana"/>
                <a:ea typeface="Verdana"/>
                <a:cs typeface="Verdana"/>
                <a:sym typeface="Verdana"/>
              </a:rPr>
              <a:t>W2, R2</a:t>
            </a:r>
            <a:endParaRPr sz="1800">
              <a:solidFill>
                <a:srgbClr val="0000FF"/>
              </a:solidFill>
              <a:latin typeface="Verdana"/>
              <a:ea typeface="Verdana"/>
              <a:cs typeface="Verdana"/>
              <a:sym typeface="Verdana"/>
            </a:endParaRPr>
          </a:p>
        </p:txBody>
      </p:sp>
      <p:sp>
        <p:nvSpPr>
          <p:cNvPr descr="TextBox 10" id="1163" name="Google Shape;1163;p72"/>
          <p:cNvSpPr txBox="1"/>
          <p:nvPr/>
        </p:nvSpPr>
        <p:spPr>
          <a:xfrm>
            <a:off x="3136900" y="5362575"/>
            <a:ext cx="2160588" cy="3810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W2, R2, </a:t>
            </a:r>
            <a:r>
              <a:rPr lang="en-US" sz="1800">
                <a:solidFill>
                  <a:srgbClr val="0000FF"/>
                </a:solidFill>
                <a:latin typeface="Verdana"/>
                <a:ea typeface="Verdana"/>
                <a:cs typeface="Verdana"/>
                <a:sym typeface="Verdana"/>
              </a:rPr>
              <a:t>W1, R1</a:t>
            </a:r>
            <a:endParaRPr sz="1800">
              <a:solidFill>
                <a:srgbClr val="FF00FF"/>
              </a:solidFill>
              <a:latin typeface="Verdana"/>
              <a:ea typeface="Verdana"/>
              <a:cs typeface="Verdana"/>
              <a:sym typeface="Verdana"/>
            </a:endParaRPr>
          </a:p>
        </p:txBody>
      </p:sp>
      <p:sp>
        <p:nvSpPr>
          <p:cNvPr descr="TextBox 11" id="1164" name="Google Shape;1164;p72"/>
          <p:cNvSpPr txBox="1"/>
          <p:nvPr/>
        </p:nvSpPr>
        <p:spPr>
          <a:xfrm>
            <a:off x="368300" y="1195388"/>
            <a:ext cx="8666163"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Two Transactions</a:t>
            </a:r>
            <a:endParaRPr/>
          </a:p>
          <a:p>
            <a:pPr indent="0" lvl="0" marL="0" marR="0" rtl="0" algn="l">
              <a:spcBef>
                <a:spcPts val="0"/>
              </a:spcBef>
              <a:spcAft>
                <a:spcPts val="0"/>
              </a:spcAft>
              <a:buNone/>
            </a:pPr>
            <a:r>
              <a:rPr b="1" lang="en-US" sz="1800">
                <a:solidFill>
                  <a:srgbClr val="0000FF"/>
                </a:solidFill>
                <a:latin typeface="Verdana"/>
                <a:ea typeface="Verdana"/>
                <a:cs typeface="Verdana"/>
                <a:sym typeface="Verdana"/>
              </a:rPr>
              <a:t>T1: </a:t>
            </a:r>
            <a:r>
              <a:rPr lang="en-US" sz="1800">
                <a:solidFill>
                  <a:srgbClr val="000000"/>
                </a:solidFill>
                <a:latin typeface="Verdana"/>
                <a:ea typeface="Verdana"/>
                <a:cs typeface="Verdana"/>
                <a:sym typeface="Verdana"/>
              </a:rPr>
              <a:t>Cancel  FIVE seats on Tippu express (</a:t>
            </a:r>
            <a:r>
              <a:rPr lang="en-US" sz="1800">
                <a:solidFill>
                  <a:srgbClr val="0000FF"/>
                </a:solidFill>
                <a:latin typeface="Verdana"/>
                <a:ea typeface="Verdana"/>
                <a:cs typeface="Verdana"/>
                <a:sym typeface="Verdana"/>
              </a:rPr>
              <a:t>R1, W1)</a:t>
            </a:r>
            <a:endParaRPr b="1" sz="1800">
              <a:solidFill>
                <a:srgbClr val="0000FF"/>
              </a:solidFill>
              <a:latin typeface="Verdana"/>
              <a:ea typeface="Verdana"/>
              <a:cs typeface="Verdana"/>
              <a:sym typeface="Verdana"/>
            </a:endParaRPr>
          </a:p>
          <a:p>
            <a:pPr indent="0" lvl="0" marL="0" marR="0" rtl="0" algn="l">
              <a:spcBef>
                <a:spcPts val="0"/>
              </a:spcBef>
              <a:spcAft>
                <a:spcPts val="0"/>
              </a:spcAft>
              <a:buNone/>
            </a:pPr>
            <a:r>
              <a:rPr b="1" lang="en-US" sz="1800">
                <a:solidFill>
                  <a:srgbClr val="FF00FF"/>
                </a:solidFill>
                <a:latin typeface="Verdana"/>
                <a:ea typeface="Verdana"/>
                <a:cs typeface="Verdana"/>
                <a:sym typeface="Verdana"/>
              </a:rPr>
              <a:t>T2: </a:t>
            </a:r>
            <a:r>
              <a:rPr lang="en-US" sz="1800">
                <a:solidFill>
                  <a:srgbClr val="000000"/>
                </a:solidFill>
                <a:latin typeface="Verdana"/>
                <a:ea typeface="Verdana"/>
                <a:cs typeface="Verdana"/>
                <a:sym typeface="Verdana"/>
              </a:rPr>
              <a:t>Reserve  four seats on Chamundi express (</a:t>
            </a:r>
            <a:r>
              <a:rPr lang="en-US" sz="1800">
                <a:solidFill>
                  <a:srgbClr val="FF00FF"/>
                </a:solidFill>
                <a:latin typeface="Verdana"/>
                <a:ea typeface="Verdana"/>
                <a:cs typeface="Verdana"/>
                <a:sym typeface="Verdana"/>
              </a:rPr>
              <a:t>R2,W2)</a:t>
            </a:r>
            <a:endParaRPr b="1" sz="1800">
              <a:solidFill>
                <a:srgbClr val="FF00FF"/>
              </a:solidFill>
              <a:latin typeface="Verdana"/>
              <a:ea typeface="Verdana"/>
              <a:cs typeface="Verdana"/>
              <a:sym typeface="Verdana"/>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Different possible schedules for the above two transactions are as follows:</a:t>
            </a:r>
            <a:endParaRPr/>
          </a:p>
        </p:txBody>
      </p:sp>
      <p:sp>
        <p:nvSpPr>
          <p:cNvPr descr="TextBox 12" id="1165" name="Google Shape;1165;p72"/>
          <p:cNvSpPr txBox="1"/>
          <p:nvPr/>
        </p:nvSpPr>
        <p:spPr>
          <a:xfrm>
            <a:off x="466725" y="5880100"/>
            <a:ext cx="2160588" cy="3794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 W1, </a:t>
            </a:r>
            <a:r>
              <a:rPr lang="en-US" sz="1800">
                <a:solidFill>
                  <a:srgbClr val="FF00FF"/>
                </a:solidFill>
                <a:latin typeface="Verdana"/>
                <a:ea typeface="Verdana"/>
                <a:cs typeface="Verdana"/>
                <a:sym typeface="Verdana"/>
              </a:rPr>
              <a:t>W2, </a:t>
            </a:r>
            <a:r>
              <a:rPr lang="en-US" sz="1800">
                <a:solidFill>
                  <a:srgbClr val="0000FF"/>
                </a:solidFill>
                <a:latin typeface="Verdana"/>
                <a:ea typeface="Verdana"/>
                <a:cs typeface="Verdana"/>
                <a:sym typeface="Verdana"/>
              </a:rPr>
              <a:t>R1, </a:t>
            </a:r>
            <a:r>
              <a:rPr lang="en-US" sz="1800">
                <a:solidFill>
                  <a:srgbClr val="FF00FF"/>
                </a:solidFill>
                <a:latin typeface="Verdana"/>
                <a:ea typeface="Verdana"/>
                <a:cs typeface="Verdana"/>
                <a:sym typeface="Verdana"/>
              </a:rPr>
              <a:t>R2</a:t>
            </a:r>
            <a:endParaRPr sz="1800">
              <a:solidFill>
                <a:srgbClr val="0000FF"/>
              </a:solidFill>
              <a:latin typeface="Verdana"/>
              <a:ea typeface="Verdana"/>
              <a:cs typeface="Verdana"/>
              <a:sym typeface="Verdana"/>
            </a:endParaRPr>
          </a:p>
        </p:txBody>
      </p:sp>
      <p:sp>
        <p:nvSpPr>
          <p:cNvPr descr="TextBox 13" id="1166" name="Google Shape;1166;p72"/>
          <p:cNvSpPr txBox="1"/>
          <p:nvPr/>
        </p:nvSpPr>
        <p:spPr>
          <a:xfrm>
            <a:off x="3151188" y="5880100"/>
            <a:ext cx="2160587" cy="3794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FF"/>
                </a:solidFill>
                <a:latin typeface="Verdana"/>
                <a:ea typeface="Verdana"/>
                <a:cs typeface="Verdana"/>
                <a:sym typeface="Verdana"/>
              </a:rPr>
              <a:t>W2, </a:t>
            </a:r>
            <a:r>
              <a:rPr lang="en-US" sz="1800">
                <a:solidFill>
                  <a:srgbClr val="0000FF"/>
                </a:solidFill>
                <a:latin typeface="Verdana"/>
                <a:ea typeface="Verdana"/>
                <a:cs typeface="Verdana"/>
                <a:sym typeface="Verdana"/>
              </a:rPr>
              <a:t>W1, </a:t>
            </a:r>
            <a:r>
              <a:rPr lang="en-US" sz="1800">
                <a:solidFill>
                  <a:srgbClr val="FF00FF"/>
                </a:solidFill>
                <a:latin typeface="Verdana"/>
                <a:ea typeface="Verdana"/>
                <a:cs typeface="Verdana"/>
                <a:sym typeface="Verdana"/>
              </a:rPr>
              <a:t>R2, </a:t>
            </a:r>
            <a:r>
              <a:rPr lang="en-US" sz="1800">
                <a:solidFill>
                  <a:srgbClr val="0000FF"/>
                </a:solidFill>
                <a:latin typeface="Verdana"/>
                <a:ea typeface="Verdana"/>
                <a:cs typeface="Verdana"/>
                <a:sym typeface="Verdana"/>
              </a:rPr>
              <a:t>R1</a:t>
            </a:r>
            <a:endParaRPr sz="1800">
              <a:solidFill>
                <a:srgbClr val="FF00FF"/>
              </a:solidFill>
              <a:latin typeface="Verdana"/>
              <a:ea typeface="Verdana"/>
              <a:cs typeface="Verdana"/>
              <a:sym typeface="Verdana"/>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descr="Title 1" id="1171" name="Google Shape;1171;p7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Serial Schedule vs Interleaved Schedule</a:t>
            </a:r>
            <a:endParaRPr/>
          </a:p>
        </p:txBody>
      </p:sp>
      <p:graphicFrame>
        <p:nvGraphicFramePr>
          <p:cNvPr id="1172" name="Google Shape;1172;p73"/>
          <p:cNvGraphicFramePr/>
          <p:nvPr/>
        </p:nvGraphicFramePr>
        <p:xfrm>
          <a:off x="755650" y="2708275"/>
          <a:ext cx="3000000" cy="3000000"/>
        </p:xfrm>
        <a:graphic>
          <a:graphicData uri="http://schemas.openxmlformats.org/drawingml/2006/table">
            <a:tbl>
              <a:tblPr>
                <a:noFill/>
                <a:tableStyleId>{DA31C186-C125-4E34-A739-053F885C22C1}</a:tableStyleId>
              </a:tblPr>
              <a:tblGrid>
                <a:gridCol w="2268550"/>
                <a:gridCol w="3014650"/>
              </a:tblGrid>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W1, </a:t>
                      </a:r>
                      <a:r>
                        <a:rPr b="0" i="0" lang="en-US" sz="2400" u="none" cap="none" strike="noStrike">
                          <a:solidFill>
                            <a:srgbClr val="FF00FF"/>
                          </a:solidFill>
                          <a:latin typeface="Verdana"/>
                          <a:ea typeface="Verdana"/>
                          <a:cs typeface="Verdana"/>
                          <a:sym typeface="Verdana"/>
                        </a:rPr>
                        <a:t>R2,W2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R2,W2, </a:t>
                      </a:r>
                      <a:r>
                        <a:rPr b="0" i="0" lang="en-US" sz="2400" u="none" cap="none" strike="noStrike">
                          <a:solidFill>
                            <a:srgbClr val="0000FF"/>
                          </a:solidFill>
                          <a:latin typeface="Verdana"/>
                          <a:ea typeface="Verdana"/>
                          <a:cs typeface="Verdana"/>
                          <a:sym typeface="Verdana"/>
                        </a:rPr>
                        <a:t>R1, 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2400"/>
                        <a:buFont typeface="Verdana"/>
                        <a:buNone/>
                      </a:pP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W1,</a:t>
                      </a:r>
                      <a:r>
                        <a:rPr b="0" i="0" lang="en-US" sz="2400" u="none" cap="none" strike="noStrike">
                          <a:solidFill>
                            <a:srgbClr val="FF00FF"/>
                          </a:solidFill>
                          <a:latin typeface="Verdana"/>
                          <a:ea typeface="Verdana"/>
                          <a:cs typeface="Verdana"/>
                          <a:sym typeface="Verdana"/>
                        </a:rPr>
                        <a:t>W2</a:t>
                      </a:r>
                      <a:endParaRPr b="0" i="0" sz="24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73075">
                <a:tc>
                  <a:txBody>
                    <a:bodyPr/>
                    <a:lstStyle/>
                    <a:p>
                      <a:pPr indent="0" lvl="0" marL="0" marR="0" rtl="0" algn="l">
                        <a:lnSpc>
                          <a:spcPct val="100000"/>
                        </a:lnSpc>
                        <a:spcBef>
                          <a:spcPts val="0"/>
                        </a:spcBef>
                        <a:spcAft>
                          <a:spcPts val="0"/>
                        </a:spcAft>
                        <a:buClr>
                          <a:srgbClr val="000000"/>
                        </a:buClr>
                        <a:buSzPts val="2400"/>
                        <a:buFont typeface="Verdana"/>
                        <a:buNone/>
                      </a:pPr>
                      <a:r>
                        <a:rPr b="0" i="0" lang="en-US" sz="2400" u="none" cap="none" strike="noStrike">
                          <a:solidFill>
                            <a:srgbClr val="000000"/>
                          </a:solidFill>
                          <a:latin typeface="Verdana"/>
                          <a:ea typeface="Verdana"/>
                          <a:cs typeface="Verdana"/>
                          <a:sym typeface="Verdana"/>
                        </a:rPr>
                        <a:t>Schedule 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FF"/>
                        </a:buClr>
                        <a:buSzPts val="2400"/>
                        <a:buFont typeface="Verdana"/>
                        <a:buNone/>
                      </a:pPr>
                      <a:r>
                        <a:rPr b="0" i="0" lang="en-US" sz="2400" u="none" cap="none" strike="noStrike">
                          <a:solidFill>
                            <a:srgbClr val="FF00FF"/>
                          </a:solidFill>
                          <a:latin typeface="Verdana"/>
                          <a:ea typeface="Verdana"/>
                          <a:cs typeface="Verdana"/>
                          <a:sym typeface="Verdana"/>
                        </a:rPr>
                        <a:t>R2, </a:t>
                      </a:r>
                      <a:r>
                        <a:rPr b="0" i="0" lang="en-US" sz="2400" u="none" cap="none" strike="noStrike">
                          <a:solidFill>
                            <a:srgbClr val="0000FF"/>
                          </a:solidFill>
                          <a:latin typeface="Verdana"/>
                          <a:ea typeface="Verdana"/>
                          <a:cs typeface="Verdana"/>
                          <a:sym typeface="Verdana"/>
                        </a:rPr>
                        <a:t>R1, </a:t>
                      </a:r>
                      <a:r>
                        <a:rPr b="0" i="0" lang="en-US" sz="2400" u="none" cap="none" strike="noStrike">
                          <a:solidFill>
                            <a:srgbClr val="FF00FF"/>
                          </a:solidFill>
                          <a:latin typeface="Verdana"/>
                          <a:ea typeface="Verdana"/>
                          <a:cs typeface="Verdana"/>
                          <a:sym typeface="Verdana"/>
                        </a:rPr>
                        <a:t>W2, </a:t>
                      </a:r>
                      <a:r>
                        <a:rPr b="0" i="0" lang="en-US" sz="2400" u="none" cap="none" strike="noStrike">
                          <a:solidFill>
                            <a:srgbClr val="0000FF"/>
                          </a:solidFill>
                          <a:latin typeface="Verdana"/>
                          <a:ea typeface="Verdana"/>
                          <a:cs typeface="Verdana"/>
                          <a:sym typeface="Verdana"/>
                        </a:rPr>
                        <a:t>W1</a:t>
                      </a:r>
                      <a:endParaRPr b="0" i="0" sz="2400" u="none" cap="none" strike="noStrike">
                        <a:solidFill>
                          <a:srgbClr val="FF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1173" name="Google Shape;1173;p7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74" name="Google Shape;1174;p7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1175" name="Google Shape;1175;p73"/>
          <p:cNvSpPr txBox="1"/>
          <p:nvPr/>
        </p:nvSpPr>
        <p:spPr>
          <a:xfrm>
            <a:off x="584200" y="1195388"/>
            <a:ext cx="8666163" cy="1209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Two Transactions</a:t>
            </a:r>
            <a:endParaRPr/>
          </a:p>
          <a:p>
            <a:pPr indent="0" lvl="0" marL="0" marR="0" rtl="0" algn="l">
              <a:spcBef>
                <a:spcPts val="0"/>
              </a:spcBef>
              <a:spcAft>
                <a:spcPts val="0"/>
              </a:spcAft>
              <a:buNone/>
            </a:pPr>
            <a:r>
              <a:rPr b="1" lang="en-US" sz="1800">
                <a:solidFill>
                  <a:srgbClr val="0000FF"/>
                </a:solidFill>
                <a:latin typeface="Verdana"/>
                <a:ea typeface="Verdana"/>
                <a:cs typeface="Verdana"/>
                <a:sym typeface="Verdana"/>
              </a:rPr>
              <a:t>T1: </a:t>
            </a:r>
            <a:r>
              <a:rPr lang="en-US" sz="1800">
                <a:solidFill>
                  <a:srgbClr val="000000"/>
                </a:solidFill>
                <a:latin typeface="Verdana"/>
                <a:ea typeface="Verdana"/>
                <a:cs typeface="Verdana"/>
                <a:sym typeface="Verdana"/>
              </a:rPr>
              <a:t>Cancel  FIVE seats on Tippu express</a:t>
            </a:r>
            <a:endParaRPr/>
          </a:p>
          <a:p>
            <a:pPr indent="0" lvl="0" marL="0" marR="0" rtl="0" algn="l">
              <a:spcBef>
                <a:spcPts val="0"/>
              </a:spcBef>
              <a:spcAft>
                <a:spcPts val="0"/>
              </a:spcAft>
              <a:buNone/>
            </a:pPr>
            <a:r>
              <a:rPr b="1" lang="en-US" sz="1800">
                <a:solidFill>
                  <a:srgbClr val="FF00FF"/>
                </a:solidFill>
                <a:latin typeface="Verdana"/>
                <a:ea typeface="Verdana"/>
                <a:cs typeface="Verdana"/>
                <a:sym typeface="Verdana"/>
              </a:rPr>
              <a:t>T2: </a:t>
            </a:r>
            <a:r>
              <a:rPr lang="en-US" sz="1800">
                <a:solidFill>
                  <a:srgbClr val="000000"/>
                </a:solidFill>
                <a:latin typeface="Verdana"/>
                <a:ea typeface="Verdana"/>
                <a:cs typeface="Verdana"/>
                <a:sym typeface="Verdana"/>
              </a:rPr>
              <a:t>Reserve  four seats on Chamundi express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Different possible schedules for the above two transactions are as follows:</a:t>
            </a:r>
            <a:endParaRPr/>
          </a:p>
        </p:txBody>
      </p:sp>
      <p:sp>
        <p:nvSpPr>
          <p:cNvPr descr="Right Brace 2" id="1176" name="Google Shape;1176;p73"/>
          <p:cNvSpPr/>
          <p:nvPr/>
        </p:nvSpPr>
        <p:spPr>
          <a:xfrm>
            <a:off x="6037263" y="2708275"/>
            <a:ext cx="261937" cy="920750"/>
          </a:xfrm>
          <a:custGeom>
            <a:rect b="b" l="l" r="r" t="t"/>
            <a:pathLst>
              <a:path extrusionOk="0" h="21600" w="21600">
                <a:moveTo>
                  <a:pt x="0" y="0"/>
                </a:moveTo>
                <a:cubicBezTo>
                  <a:pt x="5965" y="0"/>
                  <a:pt x="10800" y="229"/>
                  <a:pt x="10800" y="511"/>
                </a:cubicBezTo>
                <a:lnTo>
                  <a:pt x="10800" y="10289"/>
                </a:lnTo>
                <a:cubicBezTo>
                  <a:pt x="10800" y="10571"/>
                  <a:pt x="15635" y="10800"/>
                  <a:pt x="21600" y="10800"/>
                </a:cubicBezTo>
                <a:cubicBezTo>
                  <a:pt x="15635" y="10800"/>
                  <a:pt x="10800" y="11029"/>
                  <a:pt x="10800" y="11311"/>
                </a:cubicBezTo>
                <a:lnTo>
                  <a:pt x="10800" y="21089"/>
                </a:lnTo>
                <a:cubicBezTo>
                  <a:pt x="10800" y="21371"/>
                  <a:pt x="5965" y="21600"/>
                  <a:pt x="0" y="21600"/>
                </a:cubicBezTo>
              </a:path>
            </a:pathLst>
          </a:cu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1177" name="Google Shape;1177;p73"/>
          <p:cNvSpPr txBox="1"/>
          <p:nvPr/>
        </p:nvSpPr>
        <p:spPr>
          <a:xfrm>
            <a:off x="6416675" y="2708275"/>
            <a:ext cx="2295525"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1 &amp; 2 are</a:t>
            </a:r>
            <a:endParaRPr/>
          </a:p>
          <a:p>
            <a:pPr indent="0" lvl="0" marL="0" marR="0" rtl="0" algn="l">
              <a:spcBef>
                <a:spcPts val="0"/>
              </a:spcBef>
              <a:spcAft>
                <a:spcPts val="0"/>
              </a:spcAft>
              <a:buNone/>
            </a:pPr>
            <a:r>
              <a:rPr lang="en-US" sz="1800">
                <a:solidFill>
                  <a:srgbClr val="C00000"/>
                </a:solidFill>
                <a:latin typeface="Verdana"/>
                <a:ea typeface="Verdana"/>
                <a:cs typeface="Verdana"/>
                <a:sym typeface="Verdana"/>
              </a:rPr>
              <a:t>Serial Schedule</a:t>
            </a:r>
            <a:endParaRPr/>
          </a:p>
        </p:txBody>
      </p:sp>
      <p:sp>
        <p:nvSpPr>
          <p:cNvPr descr="TextBox 12" id="1178" name="Google Shape;1178;p73"/>
          <p:cNvSpPr txBox="1"/>
          <p:nvPr/>
        </p:nvSpPr>
        <p:spPr>
          <a:xfrm>
            <a:off x="6434138" y="3651250"/>
            <a:ext cx="2636837" cy="9286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3 &amp; 4 are</a:t>
            </a:r>
            <a:endParaRPr/>
          </a:p>
          <a:p>
            <a:pPr indent="0" lvl="0" marL="0" marR="0" rtl="0" algn="l">
              <a:spcBef>
                <a:spcPts val="0"/>
              </a:spcBef>
              <a:spcAft>
                <a:spcPts val="0"/>
              </a:spcAft>
              <a:buNone/>
            </a:pPr>
            <a:r>
              <a:rPr lang="en-US" sz="1800">
                <a:solidFill>
                  <a:srgbClr val="C00000"/>
                </a:solidFill>
                <a:latin typeface="Verdana"/>
                <a:ea typeface="Verdana"/>
                <a:cs typeface="Verdana"/>
                <a:sym typeface="Verdana"/>
              </a:rPr>
              <a:t>Interleaved or Parallel</a:t>
            </a:r>
            <a:endParaRPr/>
          </a:p>
          <a:p>
            <a:pPr indent="0" lvl="0" marL="0" marR="0" rtl="0" algn="l">
              <a:spcBef>
                <a:spcPts val="0"/>
              </a:spcBef>
              <a:spcAft>
                <a:spcPts val="0"/>
              </a:spcAft>
              <a:buNone/>
            </a:pPr>
            <a:r>
              <a:rPr lang="en-US" sz="1800">
                <a:solidFill>
                  <a:srgbClr val="C00000"/>
                </a:solidFill>
                <a:latin typeface="Verdana"/>
                <a:ea typeface="Verdana"/>
                <a:cs typeface="Verdana"/>
                <a:sym typeface="Verdana"/>
              </a:rPr>
              <a:t>Schedule</a:t>
            </a:r>
            <a:endParaRPr/>
          </a:p>
        </p:txBody>
      </p:sp>
      <p:sp>
        <p:nvSpPr>
          <p:cNvPr descr="Right Brace 13" id="1179" name="Google Shape;1179;p73"/>
          <p:cNvSpPr/>
          <p:nvPr/>
        </p:nvSpPr>
        <p:spPr>
          <a:xfrm>
            <a:off x="6061075" y="3716338"/>
            <a:ext cx="238125" cy="792162"/>
          </a:xfrm>
          <a:custGeom>
            <a:rect b="b" l="l" r="r" t="t"/>
            <a:pathLst>
              <a:path extrusionOk="0" h="21600" w="21600">
                <a:moveTo>
                  <a:pt x="0" y="0"/>
                </a:moveTo>
                <a:cubicBezTo>
                  <a:pt x="5965" y="0"/>
                  <a:pt x="10800" y="242"/>
                  <a:pt x="10800" y="541"/>
                </a:cubicBezTo>
                <a:lnTo>
                  <a:pt x="10800" y="10259"/>
                </a:lnTo>
                <a:cubicBezTo>
                  <a:pt x="10800" y="10558"/>
                  <a:pt x="15635" y="10800"/>
                  <a:pt x="21600" y="10800"/>
                </a:cubicBezTo>
                <a:cubicBezTo>
                  <a:pt x="15635" y="10800"/>
                  <a:pt x="10800" y="11042"/>
                  <a:pt x="10800" y="11341"/>
                </a:cubicBezTo>
                <a:lnTo>
                  <a:pt x="10800" y="21059"/>
                </a:lnTo>
                <a:cubicBezTo>
                  <a:pt x="10800" y="21358"/>
                  <a:pt x="5965" y="21600"/>
                  <a:pt x="0" y="21600"/>
                </a:cubicBezTo>
              </a:path>
            </a:pathLst>
          </a:custGeom>
          <a:noFill/>
          <a:ln cap="flat" cmpd="sng" w="2857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4" id="1180" name="Google Shape;1180;p73"/>
          <p:cNvSpPr txBox="1"/>
          <p:nvPr/>
        </p:nvSpPr>
        <p:spPr>
          <a:xfrm>
            <a:off x="512763" y="4724400"/>
            <a:ext cx="8358187" cy="1539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Note: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Serial Schedule</a:t>
            </a:r>
            <a:r>
              <a:rPr lang="en-US" sz="1600">
                <a:solidFill>
                  <a:srgbClr val="000000"/>
                </a:solidFill>
                <a:latin typeface="Verdana"/>
                <a:ea typeface="Verdana"/>
                <a:cs typeface="Verdana"/>
                <a:sym typeface="Verdana"/>
              </a:rPr>
              <a:t>: A schedule in which the different transactions are NOT interleaved (i.e., transactions are executed from start to finish one-by-one)</a:t>
            </a:r>
            <a:endParaRPr/>
          </a:p>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-The result of </a:t>
            </a:r>
            <a:r>
              <a:rPr b="1" lang="en-US" sz="1600">
                <a:solidFill>
                  <a:srgbClr val="000000"/>
                </a:solidFill>
                <a:latin typeface="Verdana"/>
                <a:ea typeface="Verdana"/>
                <a:cs typeface="Verdana"/>
                <a:sym typeface="Verdana"/>
              </a:rPr>
              <a:t>Interleaved Schedule </a:t>
            </a:r>
            <a:r>
              <a:rPr lang="en-US" sz="1600">
                <a:solidFill>
                  <a:srgbClr val="000000"/>
                </a:solidFill>
                <a:latin typeface="Verdana"/>
                <a:ea typeface="Verdana"/>
                <a:cs typeface="Verdana"/>
                <a:sym typeface="Verdana"/>
              </a:rPr>
              <a:t>should be equivalent Some serial schedule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descr="Title 1" id="1185" name="Google Shape;1185;p7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Question</a:t>
            </a:r>
            <a:endParaRPr/>
          </a:p>
        </p:txBody>
      </p:sp>
      <p:sp>
        <p:nvSpPr>
          <p:cNvPr descr="Content Placeholder 2" id="1186" name="Google Shape;1186;p7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What will be the total number of </a:t>
            </a:r>
            <a:r>
              <a:rPr b="1" lang="en-US" sz="2000"/>
              <a:t>serial schedules</a:t>
            </a:r>
            <a:r>
              <a:rPr lang="en-US" sz="2000"/>
              <a:t> that can occur if there are m Transactions i.e., T1, T2,….Tm</a:t>
            </a:r>
            <a:endParaRPr/>
          </a:p>
        </p:txBody>
      </p:sp>
      <p:sp>
        <p:nvSpPr>
          <p:cNvPr descr="Date Placeholder 3" id="1187" name="Google Shape;1187;p7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88" name="Google Shape;1188;p7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descr="Title 1" id="1193" name="Google Shape;1193;p7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Question</a:t>
            </a:r>
            <a:endParaRPr/>
          </a:p>
        </p:txBody>
      </p:sp>
      <p:sp>
        <p:nvSpPr>
          <p:cNvPr descr="Content Placeholder 2" id="1194" name="Google Shape;1194;p7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46050" lvl="0" marL="146050" rtl="0" algn="l">
              <a:spcBef>
                <a:spcPts val="0"/>
              </a:spcBef>
              <a:spcAft>
                <a:spcPts val="0"/>
              </a:spcAft>
              <a:buSzPts val="1600"/>
              <a:buFont typeface="Verdana"/>
              <a:buChar char="□"/>
            </a:pPr>
            <a:r>
              <a:rPr lang="en-US" sz="1600"/>
              <a:t>What will be the total number of </a:t>
            </a:r>
            <a:r>
              <a:rPr b="1" lang="en-US" sz="1600"/>
              <a:t>serial schedules</a:t>
            </a:r>
            <a:r>
              <a:rPr lang="en-US" sz="1600"/>
              <a:t> that can occur  if there are m Transactions i.e., T1, T2,….Tm</a:t>
            </a:r>
            <a:endParaRPr/>
          </a:p>
          <a:p>
            <a:pPr indent="-146050" lvl="0" marL="146050" rtl="0" algn="l">
              <a:spcBef>
                <a:spcPts val="300"/>
              </a:spcBef>
              <a:spcAft>
                <a:spcPts val="0"/>
              </a:spcAft>
              <a:buSzPts val="1600"/>
              <a:buFont typeface="Verdana"/>
              <a:buChar char="□"/>
            </a:pPr>
            <a:r>
              <a:rPr lang="en-US" sz="1600"/>
              <a:t>Answer: </a:t>
            </a:r>
            <a:r>
              <a:rPr b="1" lang="en-US" sz="1600"/>
              <a:t>m!</a:t>
            </a:r>
            <a:r>
              <a:rPr lang="en-US" sz="1600"/>
              <a:t>  (m * (m-1) * (m-2)…..*1)</a:t>
            </a:r>
            <a:endParaRPr/>
          </a:p>
          <a:p>
            <a:pPr indent="-44450" lvl="0" marL="146050" rtl="0" algn="l">
              <a:spcBef>
                <a:spcPts val="700"/>
              </a:spcBef>
              <a:spcAft>
                <a:spcPts val="0"/>
              </a:spcAft>
              <a:buSzPts val="1600"/>
              <a:buFont typeface="Verdana"/>
              <a:buNone/>
            </a:pPr>
            <a:r>
              <a:t/>
            </a:r>
            <a:endParaRPr sz="1600"/>
          </a:p>
          <a:p>
            <a:pPr indent="-146050" lvl="0" marL="146050" rtl="0" algn="l">
              <a:spcBef>
                <a:spcPts val="300"/>
              </a:spcBef>
              <a:spcAft>
                <a:spcPts val="0"/>
              </a:spcAft>
              <a:buSzPts val="1600"/>
              <a:buFont typeface="Noto Sans Symbols"/>
              <a:buNone/>
            </a:pPr>
            <a:r>
              <a:rPr lang="en-US" sz="1600"/>
              <a:t>Example: </a:t>
            </a:r>
            <a:endParaRPr/>
          </a:p>
          <a:p>
            <a:pPr indent="-146050" lvl="0" marL="146050" rtl="0" algn="l">
              <a:spcBef>
                <a:spcPts val="300"/>
              </a:spcBef>
              <a:spcAft>
                <a:spcPts val="0"/>
              </a:spcAft>
              <a:buSzPts val="1600"/>
              <a:buFont typeface="Verdana"/>
              <a:buChar char="□"/>
            </a:pPr>
            <a:r>
              <a:rPr lang="en-US" sz="1600"/>
              <a:t>Two Transactions T1 &amp; T2</a:t>
            </a:r>
            <a:endParaRPr/>
          </a:p>
          <a:p>
            <a:pPr indent="-146050" lvl="0" marL="146050" rtl="0" algn="l">
              <a:spcBef>
                <a:spcPts val="300"/>
              </a:spcBef>
              <a:spcAft>
                <a:spcPts val="0"/>
              </a:spcAft>
              <a:buSzPts val="1600"/>
              <a:buFont typeface="Noto Sans Symbols"/>
              <a:buNone/>
            </a:pPr>
            <a:r>
              <a:rPr lang="en-US" sz="1600"/>
              <a:t>Two (2!) Serial Schedules: </a:t>
            </a:r>
            <a:endParaRPr/>
          </a:p>
          <a:p>
            <a:pPr indent="-146050" lvl="0" marL="146050" rtl="0" algn="l">
              <a:spcBef>
                <a:spcPts val="300"/>
              </a:spcBef>
              <a:spcAft>
                <a:spcPts val="0"/>
              </a:spcAft>
              <a:buSzPts val="1600"/>
              <a:buFont typeface="Noto Sans Symbols"/>
              <a:buNone/>
            </a:pPr>
            <a:r>
              <a:rPr lang="en-US" sz="1600"/>
              <a:t>T1, T2  </a:t>
            </a:r>
            <a:endParaRPr/>
          </a:p>
          <a:p>
            <a:pPr indent="-146050" lvl="0" marL="146050" rtl="0" algn="l">
              <a:spcBef>
                <a:spcPts val="300"/>
              </a:spcBef>
              <a:spcAft>
                <a:spcPts val="0"/>
              </a:spcAft>
              <a:buSzPts val="1600"/>
              <a:buFont typeface="Noto Sans Symbols"/>
              <a:buNone/>
            </a:pPr>
            <a:r>
              <a:rPr lang="en-US" sz="1600"/>
              <a:t>T2,T1 </a:t>
            </a:r>
            <a:endParaRPr/>
          </a:p>
          <a:p>
            <a:pPr indent="-146050" lvl="0" marL="146050" rtl="0" algn="l">
              <a:spcBef>
                <a:spcPts val="300"/>
              </a:spcBef>
              <a:spcAft>
                <a:spcPts val="0"/>
              </a:spcAft>
              <a:buSzPts val="1600"/>
              <a:buFont typeface="Verdana"/>
              <a:buChar char="□"/>
            </a:pPr>
            <a:r>
              <a:rPr lang="en-US" sz="1600"/>
              <a:t>Three Transactions T1 , T2 &amp; T3</a:t>
            </a:r>
            <a:endParaRPr/>
          </a:p>
          <a:p>
            <a:pPr indent="-146050" lvl="0" marL="146050" rtl="0" algn="l">
              <a:spcBef>
                <a:spcPts val="300"/>
              </a:spcBef>
              <a:spcAft>
                <a:spcPts val="0"/>
              </a:spcAft>
              <a:buSzPts val="1600"/>
              <a:buFont typeface="Noto Sans Symbols"/>
              <a:buNone/>
            </a:pPr>
            <a:r>
              <a:rPr lang="en-US" sz="1600"/>
              <a:t>Six (3!) Serial Schedules : </a:t>
            </a:r>
            <a:endParaRPr/>
          </a:p>
          <a:p>
            <a:pPr indent="-146050" lvl="0" marL="146050" rtl="0" algn="l">
              <a:spcBef>
                <a:spcPts val="300"/>
              </a:spcBef>
              <a:spcAft>
                <a:spcPts val="0"/>
              </a:spcAft>
              <a:buSzPts val="1600"/>
              <a:buFont typeface="Noto Sans Symbols"/>
              <a:buNone/>
            </a:pPr>
            <a:r>
              <a:rPr lang="en-US" sz="1600"/>
              <a:t>T1,T2,T3  </a:t>
            </a:r>
            <a:endParaRPr/>
          </a:p>
          <a:p>
            <a:pPr indent="-146050" lvl="0" marL="146050" rtl="0" algn="l">
              <a:spcBef>
                <a:spcPts val="300"/>
              </a:spcBef>
              <a:spcAft>
                <a:spcPts val="0"/>
              </a:spcAft>
              <a:buSzPts val="1600"/>
              <a:buFont typeface="Noto Sans Symbols"/>
              <a:buNone/>
            </a:pPr>
            <a:r>
              <a:rPr lang="en-US" sz="1600"/>
              <a:t>T1,T3,T2 </a:t>
            </a:r>
            <a:endParaRPr/>
          </a:p>
          <a:p>
            <a:pPr indent="-146050" lvl="0" marL="146050" rtl="0" algn="l">
              <a:spcBef>
                <a:spcPts val="300"/>
              </a:spcBef>
              <a:spcAft>
                <a:spcPts val="0"/>
              </a:spcAft>
              <a:buSzPts val="1600"/>
              <a:buFont typeface="Noto Sans Symbols"/>
              <a:buNone/>
            </a:pPr>
            <a:r>
              <a:rPr lang="en-US" sz="1600"/>
              <a:t>T2,T1,T3  </a:t>
            </a:r>
            <a:endParaRPr/>
          </a:p>
          <a:p>
            <a:pPr indent="-146050" lvl="0" marL="146050" rtl="0" algn="l">
              <a:spcBef>
                <a:spcPts val="300"/>
              </a:spcBef>
              <a:spcAft>
                <a:spcPts val="0"/>
              </a:spcAft>
              <a:buSzPts val="1600"/>
              <a:buFont typeface="Noto Sans Symbols"/>
              <a:buNone/>
            </a:pPr>
            <a:r>
              <a:rPr lang="en-US" sz="1600"/>
              <a:t>T2,T3,T1 </a:t>
            </a:r>
            <a:endParaRPr/>
          </a:p>
          <a:p>
            <a:pPr indent="-146050" lvl="0" marL="146050" rtl="0" algn="l">
              <a:spcBef>
                <a:spcPts val="300"/>
              </a:spcBef>
              <a:spcAft>
                <a:spcPts val="0"/>
              </a:spcAft>
              <a:buSzPts val="1600"/>
              <a:buFont typeface="Noto Sans Symbols"/>
              <a:buNone/>
            </a:pPr>
            <a:r>
              <a:rPr lang="en-US" sz="1600"/>
              <a:t>T3,T1,T2 </a:t>
            </a:r>
            <a:endParaRPr/>
          </a:p>
          <a:p>
            <a:pPr indent="-146050" lvl="0" marL="146050" rtl="0" algn="l">
              <a:spcBef>
                <a:spcPts val="300"/>
              </a:spcBef>
              <a:spcAft>
                <a:spcPts val="0"/>
              </a:spcAft>
              <a:buSzPts val="1600"/>
              <a:buFont typeface="Noto Sans Symbols"/>
              <a:buNone/>
            </a:pPr>
            <a:r>
              <a:rPr lang="en-US" sz="1600"/>
              <a:t>T3,T2,T1</a:t>
            </a:r>
            <a:endParaRPr/>
          </a:p>
        </p:txBody>
      </p:sp>
      <p:sp>
        <p:nvSpPr>
          <p:cNvPr descr="Date Placeholder 3" id="1195" name="Google Shape;1195;p7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196" name="Google Shape;1196;p7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descr="Rectangle 2" id="1201" name="Google Shape;1201;p7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Scheduling Definitions</a:t>
            </a:r>
            <a:endParaRPr/>
          </a:p>
        </p:txBody>
      </p:sp>
      <p:sp>
        <p:nvSpPr>
          <p:cNvPr descr="Rectangle 3" id="1202" name="Google Shape;1202;p76"/>
          <p:cNvSpPr txBox="1"/>
          <p:nvPr>
            <p:ph idx="1" type="body"/>
          </p:nvPr>
        </p:nvSpPr>
        <p:spPr>
          <a:xfrm>
            <a:off x="603250" y="1311275"/>
            <a:ext cx="7886700" cy="48006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a:t>
            </a:r>
            <a:r>
              <a:rPr b="1" lang="en-US" sz="2000" u="sng"/>
              <a:t>serial schedule</a:t>
            </a:r>
            <a:r>
              <a:rPr lang="en-US" sz="2000"/>
              <a:t> is one that does not interleave the actions of different transactions</a:t>
            </a:r>
            <a:endParaRPr/>
          </a:p>
          <a:p>
            <a:pPr indent="-342900" lvl="0" marL="469900" rtl="0" algn="l">
              <a:spcBef>
                <a:spcPts val="700"/>
              </a:spcBef>
              <a:spcAft>
                <a:spcPts val="0"/>
              </a:spcAft>
              <a:buSzPts val="2000"/>
              <a:buFont typeface="Verdana"/>
              <a:buNone/>
            </a:pPr>
            <a:r>
              <a:t/>
            </a:r>
            <a:endParaRPr i="1" sz="2000" u="sng">
              <a:solidFill>
                <a:schemeClr val="accent2"/>
              </a:solidFill>
            </a:endParaRPr>
          </a:p>
          <a:p>
            <a:pPr indent="-469900" lvl="0" marL="469900" rtl="0" algn="l">
              <a:spcBef>
                <a:spcPts val="400"/>
              </a:spcBef>
              <a:spcAft>
                <a:spcPts val="0"/>
              </a:spcAft>
              <a:buSzPts val="2000"/>
              <a:buFont typeface="Verdana"/>
              <a:buChar char="□"/>
            </a:pPr>
            <a:r>
              <a:rPr lang="en-US" sz="2000"/>
              <a:t>A and B are </a:t>
            </a:r>
            <a:r>
              <a:rPr b="1" lang="en-US" sz="2000" u="sng"/>
              <a:t>equivalent schedules</a:t>
            </a:r>
            <a:r>
              <a:rPr lang="en-US" sz="2000"/>
              <a:t> if,</a:t>
            </a:r>
            <a:r>
              <a:rPr i="1" lang="en-US" sz="2000"/>
              <a:t> </a:t>
            </a:r>
            <a:r>
              <a:rPr b="1" i="1" lang="en-US" sz="2000"/>
              <a:t>for any database state</a:t>
            </a:r>
            <a:r>
              <a:rPr lang="en-US" sz="2000"/>
              <a:t>, the effect on database of executing A </a:t>
            </a:r>
            <a:r>
              <a:rPr b="1" lang="en-US" sz="2000"/>
              <a:t>is identical to </a:t>
            </a:r>
            <a:r>
              <a:rPr lang="en-US" sz="2000"/>
              <a:t>the effect of executing B</a:t>
            </a:r>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descr="Title 1" id="1207" name="Google Shape;1207;p77"/>
          <p:cNvSpPr txBox="1"/>
          <p:nvPr>
            <p:ph type="title"/>
          </p:nvPr>
        </p:nvSpPr>
        <p:spPr>
          <a:xfrm>
            <a:off x="571500" y="115888"/>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t>Question: Schedule-1 and Schedule-2 are result Equivalent</a:t>
            </a:r>
            <a:endParaRPr/>
          </a:p>
        </p:txBody>
      </p:sp>
      <p:sp>
        <p:nvSpPr>
          <p:cNvPr descr="Content Placeholder 2" id="1208" name="Google Shape;1208;p77"/>
          <p:cNvSpPr txBox="1"/>
          <p:nvPr>
            <p:ph idx="1" type="body"/>
          </p:nvPr>
        </p:nvSpPr>
        <p:spPr>
          <a:xfrm>
            <a:off x="4905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solidFill>
                  <a:srgbClr val="273239"/>
                </a:solidFill>
                <a:latin typeface="Arial"/>
                <a:ea typeface="Arial"/>
                <a:cs typeface="Arial"/>
                <a:sym typeface="Arial"/>
              </a:rPr>
              <a:t>Let us consider the following schedules S1 and S2 and check for result equivalence on initial values of X and Y as 2 and 5 respectively.</a:t>
            </a:r>
            <a:endParaRPr/>
          </a:p>
        </p:txBody>
      </p:sp>
      <p:graphicFrame>
        <p:nvGraphicFramePr>
          <p:cNvPr id="1209" name="Google Shape;1209;p77"/>
          <p:cNvGraphicFramePr/>
          <p:nvPr/>
        </p:nvGraphicFramePr>
        <p:xfrm>
          <a:off x="492125" y="2041525"/>
          <a:ext cx="3000000" cy="3000000"/>
        </p:xfrm>
        <a:graphic>
          <a:graphicData uri="http://schemas.openxmlformats.org/drawingml/2006/table">
            <a:tbl>
              <a:tblPr>
                <a:noFill/>
                <a:tableStyleId>{DA31C186-C125-4E34-A739-053F885C22C1}</a:tableStyleId>
              </a:tblPr>
              <a:tblGrid>
                <a:gridCol w="971550"/>
                <a:gridCol w="971550"/>
              </a:tblGrid>
              <a:tr h="406400">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Y=Y+5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X=X*3</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1210" name="Google Shape;1210;p77"/>
          <p:cNvSpPr txBox="1"/>
          <p:nvPr/>
        </p:nvSpPr>
        <p:spPr>
          <a:xfrm>
            <a:off x="687388" y="1701800"/>
            <a:ext cx="139541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Schedule-1</a:t>
            </a:r>
            <a:endParaRPr/>
          </a:p>
        </p:txBody>
      </p:sp>
      <p:sp>
        <p:nvSpPr>
          <p:cNvPr descr="TextBox 9" id="1211" name="Google Shape;1211;p77"/>
          <p:cNvSpPr txBox="1"/>
          <p:nvPr/>
        </p:nvSpPr>
        <p:spPr>
          <a:xfrm>
            <a:off x="3168650" y="1719263"/>
            <a:ext cx="13954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Schedule-2</a:t>
            </a:r>
            <a:endParaRPr/>
          </a:p>
        </p:txBody>
      </p:sp>
      <p:graphicFrame>
        <p:nvGraphicFramePr>
          <p:cNvPr id="1212" name="Google Shape;1212;p77"/>
          <p:cNvGraphicFramePr/>
          <p:nvPr/>
        </p:nvGraphicFramePr>
        <p:xfrm>
          <a:off x="2916238" y="2089150"/>
          <a:ext cx="3000000" cy="3000000"/>
        </p:xfrm>
        <a:graphic>
          <a:graphicData uri="http://schemas.openxmlformats.org/drawingml/2006/table">
            <a:tbl>
              <a:tblPr>
                <a:noFill/>
                <a:tableStyleId>{DA31C186-C125-4E34-A739-053F885C22C1}</a:tableStyleId>
              </a:tblPr>
              <a:tblGrid>
                <a:gridCol w="1106475"/>
                <a:gridCol w="1106500"/>
              </a:tblGrid>
              <a:tr h="381000">
                <a:tc>
                  <a:txBody>
                    <a:bodyPr/>
                    <a:lstStyle/>
                    <a:p>
                      <a:pPr indent="0" lvl="0" marL="0" marR="0" rtl="0" algn="l">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X=X*3</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Y=Y+5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descr="Title 1" id="1217" name="Google Shape;1217;p7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for Equivalent Schedules</a:t>
            </a:r>
            <a:endParaRPr/>
          </a:p>
        </p:txBody>
      </p:sp>
      <p:sp>
        <p:nvSpPr>
          <p:cNvPr descr="Content Placeholder 2" id="1218" name="Google Shape;1218;p78"/>
          <p:cNvSpPr txBox="1"/>
          <p:nvPr>
            <p:ph idx="1" type="body"/>
          </p:nvPr>
        </p:nvSpPr>
        <p:spPr>
          <a:xfrm>
            <a:off x="4905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solidFill>
                  <a:srgbClr val="273239"/>
                </a:solidFill>
                <a:latin typeface="Arial"/>
                <a:ea typeface="Arial"/>
                <a:cs typeface="Arial"/>
                <a:sym typeface="Arial"/>
              </a:rPr>
              <a:t>Let us consider the following schedules S1 and S2 and check for result equivalence on initial values of X and Y as 2 and 5 respectively.</a:t>
            </a:r>
            <a:endParaRPr/>
          </a:p>
        </p:txBody>
      </p:sp>
      <p:graphicFrame>
        <p:nvGraphicFramePr>
          <p:cNvPr id="1219" name="Google Shape;1219;p78"/>
          <p:cNvGraphicFramePr/>
          <p:nvPr/>
        </p:nvGraphicFramePr>
        <p:xfrm>
          <a:off x="492125" y="2041525"/>
          <a:ext cx="3000000" cy="3000000"/>
        </p:xfrm>
        <a:graphic>
          <a:graphicData uri="http://schemas.openxmlformats.org/drawingml/2006/table">
            <a:tbl>
              <a:tblPr>
                <a:noFill/>
                <a:tableStyleId>{DA31C186-C125-4E34-A739-053F885C22C1}</a:tableStyleId>
              </a:tblPr>
              <a:tblGrid>
                <a:gridCol w="971550"/>
                <a:gridCol w="971550"/>
              </a:tblGrid>
              <a:tr h="406400">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Y=Y+5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X=X*3</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1220" name="Google Shape;1220;p78"/>
          <p:cNvSpPr txBox="1"/>
          <p:nvPr/>
        </p:nvSpPr>
        <p:spPr>
          <a:xfrm>
            <a:off x="687388" y="1701800"/>
            <a:ext cx="139541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Schedule-1</a:t>
            </a:r>
            <a:endParaRPr/>
          </a:p>
        </p:txBody>
      </p:sp>
      <p:sp>
        <p:nvSpPr>
          <p:cNvPr descr="TextBox 9" id="1221" name="Google Shape;1221;p78"/>
          <p:cNvSpPr txBox="1"/>
          <p:nvPr/>
        </p:nvSpPr>
        <p:spPr>
          <a:xfrm>
            <a:off x="3168650" y="1719263"/>
            <a:ext cx="13954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Schedule-2</a:t>
            </a:r>
            <a:endParaRPr/>
          </a:p>
        </p:txBody>
      </p:sp>
      <p:graphicFrame>
        <p:nvGraphicFramePr>
          <p:cNvPr id="1222" name="Google Shape;1222;p78"/>
          <p:cNvGraphicFramePr/>
          <p:nvPr/>
        </p:nvGraphicFramePr>
        <p:xfrm>
          <a:off x="2916238" y="2089150"/>
          <a:ext cx="3000000" cy="3000000"/>
        </p:xfrm>
        <a:graphic>
          <a:graphicData uri="http://schemas.openxmlformats.org/drawingml/2006/table">
            <a:tbl>
              <a:tblPr>
                <a:noFill/>
                <a:tableStyleId>{DA31C186-C125-4E34-A739-053F885C22C1}</a:tableStyleId>
              </a:tblPr>
              <a:tblGrid>
                <a:gridCol w="1106475"/>
                <a:gridCol w="1106500"/>
              </a:tblGrid>
              <a:tr h="381000">
                <a:tc>
                  <a:txBody>
                    <a:bodyPr/>
                    <a:lstStyle/>
                    <a:p>
                      <a:pPr indent="0" lvl="0" marL="0" marR="0" rtl="0" algn="l">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X=X*3</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445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Y=Y+5</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64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W(Y)</a:t>
                      </a:r>
                      <a:endParaRPr b="0" i="0" sz="1800" u="none" cap="none" strike="noStrike">
                        <a:solidFill>
                          <a:srgbClr val="000000"/>
                        </a:solidFill>
                        <a:latin typeface="Verdana"/>
                        <a:ea typeface="Verdana"/>
                        <a:cs typeface="Verdana"/>
                        <a:sym typeface="Verdana"/>
                      </a:endParaRPr>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1" id="1223" name="Google Shape;1223;p78"/>
          <p:cNvSpPr txBox="1"/>
          <p:nvPr/>
        </p:nvSpPr>
        <p:spPr>
          <a:xfrm>
            <a:off x="5192713" y="3284538"/>
            <a:ext cx="3832225" cy="12969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273239"/>
                </a:solidFill>
                <a:latin typeface="Arial"/>
                <a:ea typeface="Arial"/>
                <a:cs typeface="Arial"/>
                <a:sym typeface="Arial"/>
              </a:rPr>
              <a:t>In both the above schedules, final values </a:t>
            </a:r>
            <a:endParaRPr/>
          </a:p>
          <a:p>
            <a:pPr indent="0" lvl="0" marL="0" marR="0" rtl="0" algn="l">
              <a:spcBef>
                <a:spcPts val="0"/>
              </a:spcBef>
              <a:spcAft>
                <a:spcPts val="0"/>
              </a:spcAft>
              <a:buNone/>
            </a:pPr>
            <a:r>
              <a:rPr lang="en-US" sz="1600">
                <a:solidFill>
                  <a:srgbClr val="273239"/>
                </a:solidFill>
                <a:latin typeface="Arial"/>
                <a:ea typeface="Arial"/>
                <a:cs typeface="Arial"/>
                <a:sym typeface="Arial"/>
              </a:rPr>
              <a:t>on substituting X and Y as 2 and 5 </a:t>
            </a:r>
            <a:endParaRPr/>
          </a:p>
          <a:p>
            <a:pPr indent="0" lvl="0" marL="0" marR="0" rtl="0" algn="l">
              <a:spcBef>
                <a:spcPts val="0"/>
              </a:spcBef>
              <a:spcAft>
                <a:spcPts val="0"/>
              </a:spcAft>
              <a:buNone/>
            </a:pPr>
            <a:r>
              <a:rPr lang="en-US" sz="1600">
                <a:solidFill>
                  <a:srgbClr val="273239"/>
                </a:solidFill>
                <a:latin typeface="Arial"/>
                <a:ea typeface="Arial"/>
                <a:cs typeface="Arial"/>
                <a:sym typeface="Arial"/>
              </a:rPr>
              <a:t>respectively are </a:t>
            </a:r>
            <a:r>
              <a:rPr b="1" lang="en-US" sz="1600">
                <a:solidFill>
                  <a:srgbClr val="273239"/>
                </a:solidFill>
                <a:latin typeface="Arial"/>
                <a:ea typeface="Arial"/>
                <a:cs typeface="Arial"/>
                <a:sym typeface="Arial"/>
              </a:rPr>
              <a:t>X=21 AND Y=10</a:t>
            </a:r>
            <a:r>
              <a:rPr lang="en-US" sz="1600">
                <a:solidFill>
                  <a:srgbClr val="273239"/>
                </a:solidFill>
                <a:latin typeface="Arial"/>
                <a:ea typeface="Arial"/>
                <a:cs typeface="Arial"/>
                <a:sym typeface="Arial"/>
              </a:rPr>
              <a:t>.</a:t>
            </a:r>
            <a:br>
              <a:rPr lang="en-US" sz="1600">
                <a:solidFill>
                  <a:srgbClr val="273239"/>
                </a:solidFill>
                <a:latin typeface="Arial"/>
                <a:ea typeface="Arial"/>
                <a:cs typeface="Arial"/>
                <a:sym typeface="Arial"/>
              </a:rPr>
            </a:br>
            <a:r>
              <a:rPr lang="en-US" sz="1600">
                <a:solidFill>
                  <a:srgbClr val="273239"/>
                </a:solidFill>
                <a:latin typeface="Arial"/>
                <a:ea typeface="Arial"/>
                <a:cs typeface="Arial"/>
                <a:sym typeface="Arial"/>
              </a:rPr>
              <a:t>Thus, S1 and S2 are </a:t>
            </a:r>
            <a:endParaRPr/>
          </a:p>
          <a:p>
            <a:pPr indent="0" lvl="0" marL="0" marR="0" rtl="0" algn="l">
              <a:spcBef>
                <a:spcPts val="0"/>
              </a:spcBef>
              <a:spcAft>
                <a:spcPts val="0"/>
              </a:spcAft>
              <a:buNone/>
            </a:pPr>
            <a:r>
              <a:rPr b="1" lang="en-US" sz="1600">
                <a:solidFill>
                  <a:srgbClr val="273239"/>
                </a:solidFill>
                <a:latin typeface="Arial"/>
                <a:ea typeface="Arial"/>
                <a:cs typeface="Arial"/>
                <a:sym typeface="Arial"/>
              </a:rPr>
              <a:t>Equivalent Schedules.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descr="Rectangle 2" id="1228" name="Google Shape;1228;p7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Scheduling Definitions</a:t>
            </a:r>
            <a:endParaRPr/>
          </a:p>
        </p:txBody>
      </p:sp>
      <p:sp>
        <p:nvSpPr>
          <p:cNvPr descr="Rectangle 3" id="1229" name="Google Shape;1229;p79"/>
          <p:cNvSpPr txBox="1"/>
          <p:nvPr>
            <p:ph idx="1" type="body"/>
          </p:nvPr>
        </p:nvSpPr>
        <p:spPr>
          <a:xfrm>
            <a:off x="603250" y="1311275"/>
            <a:ext cx="7886700" cy="48006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a:t>
            </a:r>
            <a:r>
              <a:rPr b="1" lang="en-US" sz="2000" u="sng"/>
              <a:t>serial schedule</a:t>
            </a:r>
            <a:r>
              <a:rPr lang="en-US" sz="2000"/>
              <a:t> is one that does not interleave the actions of different transactions</a:t>
            </a:r>
            <a:endParaRPr/>
          </a:p>
          <a:p>
            <a:pPr indent="-342900" lvl="0" marL="469900" rtl="0" algn="l">
              <a:spcBef>
                <a:spcPts val="700"/>
              </a:spcBef>
              <a:spcAft>
                <a:spcPts val="0"/>
              </a:spcAft>
              <a:buSzPts val="2000"/>
              <a:buFont typeface="Verdana"/>
              <a:buNone/>
            </a:pPr>
            <a:r>
              <a:t/>
            </a:r>
            <a:endParaRPr i="1" sz="2000" u="sng">
              <a:solidFill>
                <a:schemeClr val="accent2"/>
              </a:solidFill>
            </a:endParaRPr>
          </a:p>
          <a:p>
            <a:pPr indent="-469900" lvl="0" marL="469900" rtl="0" algn="l">
              <a:spcBef>
                <a:spcPts val="400"/>
              </a:spcBef>
              <a:spcAft>
                <a:spcPts val="0"/>
              </a:spcAft>
              <a:buSzPts val="2000"/>
              <a:buFont typeface="Verdana"/>
              <a:buChar char="□"/>
            </a:pPr>
            <a:r>
              <a:rPr lang="en-US" sz="2000"/>
              <a:t>A and B are </a:t>
            </a:r>
            <a:r>
              <a:rPr b="1" lang="en-US" sz="2000" u="sng"/>
              <a:t>equivalent schedules</a:t>
            </a:r>
            <a:r>
              <a:rPr lang="en-US" sz="2000"/>
              <a:t> if,</a:t>
            </a:r>
            <a:r>
              <a:rPr i="1" lang="en-US" sz="2000"/>
              <a:t> </a:t>
            </a:r>
            <a:r>
              <a:rPr b="1" i="1" lang="en-US" sz="2000"/>
              <a:t>for any database state</a:t>
            </a:r>
            <a:r>
              <a:rPr lang="en-US" sz="2000"/>
              <a:t>, the effect on DB of executing A </a:t>
            </a:r>
            <a:r>
              <a:rPr b="1" lang="en-US" sz="2000"/>
              <a:t>is identical to </a:t>
            </a:r>
            <a:r>
              <a:rPr lang="en-US" sz="2000"/>
              <a:t>the effect of executing B</a:t>
            </a:r>
            <a:endParaRPr/>
          </a:p>
          <a:p>
            <a:pPr indent="-342900" lvl="0" marL="469900" rtl="0" algn="l">
              <a:spcBef>
                <a:spcPts val="700"/>
              </a:spcBef>
              <a:spcAft>
                <a:spcPts val="0"/>
              </a:spcAft>
              <a:buSzPts val="2000"/>
              <a:buFont typeface="Verdana"/>
              <a:buNone/>
            </a:pPr>
            <a:r>
              <a:t/>
            </a:r>
            <a:endParaRPr i="1" sz="2000" u="sng">
              <a:solidFill>
                <a:schemeClr val="accent2"/>
              </a:solidFill>
            </a:endParaRPr>
          </a:p>
          <a:p>
            <a:pPr indent="-469900" lvl="0" marL="469900" rtl="0" algn="l">
              <a:spcBef>
                <a:spcPts val="400"/>
              </a:spcBef>
              <a:spcAft>
                <a:spcPts val="0"/>
              </a:spcAft>
              <a:buSzPts val="2000"/>
              <a:buFont typeface="Verdana"/>
              <a:buChar char="□"/>
            </a:pPr>
            <a:r>
              <a:rPr i="1" lang="en-US" sz="2000"/>
              <a:t>A </a:t>
            </a:r>
            <a:r>
              <a:rPr b="1" lang="en-US" sz="2000" u="sng"/>
              <a:t>serializable schedule</a:t>
            </a:r>
            <a:r>
              <a:rPr lang="en-US" sz="2000"/>
              <a:t> is a schedule that is equivalent to </a:t>
            </a:r>
            <a:r>
              <a:rPr b="1" i="1" lang="en-US" sz="2000"/>
              <a:t>some</a:t>
            </a:r>
            <a:r>
              <a:rPr lang="en-US" sz="2000"/>
              <a:t> serial execution of the transactions.</a:t>
            </a:r>
            <a:endParaRPr i="1" sz="2000"/>
          </a:p>
        </p:txBody>
      </p:sp>
      <p:sp>
        <p:nvSpPr>
          <p:cNvPr descr="TextBox 2" id="1230" name="Google Shape;1230;p79"/>
          <p:cNvSpPr txBox="1"/>
          <p:nvPr/>
        </p:nvSpPr>
        <p:spPr>
          <a:xfrm>
            <a:off x="4211638" y="5046663"/>
            <a:ext cx="4176712" cy="7016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The word “</a:t>
            </a:r>
            <a:r>
              <a:rPr b="1" lang="en-US" sz="2000">
                <a:solidFill>
                  <a:srgbClr val="000000"/>
                </a:solidFill>
                <a:latin typeface="Verdana"/>
                <a:ea typeface="Verdana"/>
                <a:cs typeface="Verdana"/>
                <a:sym typeface="Verdana"/>
              </a:rPr>
              <a:t>some” </a:t>
            </a:r>
            <a:r>
              <a:rPr lang="en-US" sz="2000">
                <a:solidFill>
                  <a:srgbClr val="000000"/>
                </a:solidFill>
                <a:latin typeface="Verdana"/>
                <a:ea typeface="Verdana"/>
                <a:cs typeface="Verdana"/>
                <a:sym typeface="Verdana"/>
              </a:rPr>
              <a:t>makes this definition powerful and tricky!</a:t>
            </a:r>
            <a:endParaRP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descr="Rectangle 2" id="1235" name="Google Shape;1235;p80"/>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Problem to Solve</a:t>
            </a:r>
            <a:endParaRPr/>
          </a:p>
        </p:txBody>
      </p:sp>
      <p:sp>
        <p:nvSpPr>
          <p:cNvPr descr="Rectangle 3" id="1236" name="Google Shape;1236;p80"/>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To check whether given schedule is </a:t>
            </a:r>
            <a:r>
              <a:rPr b="1" lang="en-US" sz="2000"/>
              <a:t>serializable or not</a:t>
            </a:r>
            <a:endParaRPr sz="2000"/>
          </a:p>
        </p:txBody>
      </p:sp>
      <p:sp>
        <p:nvSpPr>
          <p:cNvPr descr="Date Placeholder 1" id="1237" name="Google Shape;1237;p80"/>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238" name="Google Shape;1238;p80"/>
          <p:cNvSpPr txBox="1"/>
          <p:nvPr/>
        </p:nvSpPr>
        <p:spPr>
          <a:xfrm>
            <a:off x="8183563" y="6248400"/>
            <a:ext cx="274637"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descr="Rectangle 2" id="1243" name="Google Shape;1243;p8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consider two TXNs:</a:t>
            </a:r>
            <a:endParaRPr/>
          </a:p>
        </p:txBody>
      </p:sp>
      <p:sp>
        <p:nvSpPr>
          <p:cNvPr descr="Rectangle 3" id="1244" name="Google Shape;1244;p81"/>
          <p:cNvSpPr/>
          <p:nvPr/>
        </p:nvSpPr>
        <p:spPr>
          <a:xfrm>
            <a:off x="971550" y="1339850"/>
            <a:ext cx="3641725" cy="2501900"/>
          </a:xfrm>
          <a:prstGeom prst="rect">
            <a:avLst/>
          </a:prstGeom>
          <a:solidFill>
            <a:srgbClr val="FFFFFF"/>
          </a:solidFill>
          <a:ln cap="flat" cmpd="sng" w="9525">
            <a:solidFill>
              <a:srgbClr val="808080"/>
            </a:solidFill>
            <a:prstDash val="solid"/>
            <a:miter lim="800000"/>
            <a:headEnd len="sm" w="sm" type="none"/>
            <a:tailEnd len="sm" w="sm" type="none"/>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T1: START TRANSACTION</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UPDATE</a:t>
            </a:r>
            <a:r>
              <a:rPr lang="en-US" sz="1800">
                <a:solidFill>
                  <a:srgbClr val="000000"/>
                </a:solidFill>
                <a:latin typeface="Arial"/>
                <a:ea typeface="Arial"/>
                <a:cs typeface="Arial"/>
                <a:sym typeface="Arial"/>
              </a:rPr>
              <a:t> Accounts</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	</a:t>
            </a:r>
            <a:r>
              <a:rPr lang="en-US" sz="1800">
                <a:solidFill>
                  <a:schemeClr val="accent2"/>
                </a:solidFill>
                <a:latin typeface="Arial"/>
                <a:ea typeface="Arial"/>
                <a:cs typeface="Arial"/>
                <a:sym typeface="Arial"/>
              </a:rPr>
              <a:t>SET</a:t>
            </a:r>
            <a:r>
              <a:rPr lang="en-US" sz="1800">
                <a:solidFill>
                  <a:srgbClr val="000000"/>
                </a:solidFill>
                <a:latin typeface="Arial"/>
                <a:ea typeface="Arial"/>
                <a:cs typeface="Arial"/>
                <a:sym typeface="Arial"/>
              </a:rPr>
              <a:t> Amt = Amt + 100</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WHERE</a:t>
            </a:r>
            <a:r>
              <a:rPr lang="en-US" sz="1800">
                <a:solidFill>
                  <a:srgbClr val="000000"/>
                </a:solidFill>
                <a:latin typeface="Arial"/>
                <a:ea typeface="Arial"/>
                <a:cs typeface="Arial"/>
                <a:sym typeface="Arial"/>
              </a:rPr>
              <a:t> Name = ‘A’</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UPDATE</a:t>
            </a:r>
            <a:r>
              <a:rPr lang="en-US" sz="1800">
                <a:solidFill>
                  <a:srgbClr val="000000"/>
                </a:solidFill>
                <a:latin typeface="Arial"/>
                <a:ea typeface="Arial"/>
                <a:cs typeface="Arial"/>
                <a:sym typeface="Arial"/>
              </a:rPr>
              <a:t> Accounts</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	</a:t>
            </a:r>
            <a:r>
              <a:rPr lang="en-US" sz="1800">
                <a:solidFill>
                  <a:schemeClr val="accent2"/>
                </a:solidFill>
                <a:latin typeface="Arial"/>
                <a:ea typeface="Arial"/>
                <a:cs typeface="Arial"/>
                <a:sym typeface="Arial"/>
              </a:rPr>
              <a:t>SET</a:t>
            </a:r>
            <a:r>
              <a:rPr lang="en-US" sz="1800">
                <a:solidFill>
                  <a:srgbClr val="000000"/>
                </a:solidFill>
                <a:latin typeface="Arial"/>
                <a:ea typeface="Arial"/>
                <a:cs typeface="Arial"/>
                <a:sym typeface="Arial"/>
              </a:rPr>
              <a:t> Amt = Amt - 100</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WHERE</a:t>
            </a:r>
            <a:r>
              <a:rPr lang="en-US" sz="1800">
                <a:solidFill>
                  <a:srgbClr val="000000"/>
                </a:solidFill>
                <a:latin typeface="Arial"/>
                <a:ea typeface="Arial"/>
                <a:cs typeface="Arial"/>
                <a:sym typeface="Arial"/>
              </a:rPr>
              <a:t> Name = ‘B’</a:t>
            </a:r>
            <a:endParaRPr/>
          </a:p>
          <a:p>
            <a:pPr indent="0" lvl="0" marL="0" marR="0" rtl="0" algn="l">
              <a:spcBef>
                <a:spcPts val="0"/>
              </a:spcBef>
              <a:spcAft>
                <a:spcPts val="0"/>
              </a:spcAft>
              <a:buNone/>
            </a:pPr>
            <a:r>
              <a:rPr lang="en-US" sz="1800">
                <a:solidFill>
                  <a:srgbClr val="000000"/>
                </a:solidFill>
                <a:latin typeface="Arial"/>
                <a:ea typeface="Arial"/>
                <a:cs typeface="Arial"/>
                <a:sym typeface="Arial"/>
              </a:rPr>
              <a:t>COMMIT</a:t>
            </a:r>
            <a:endParaRPr/>
          </a:p>
        </p:txBody>
      </p:sp>
      <p:sp>
        <p:nvSpPr>
          <p:cNvPr descr="Rectangle 3" id="1245" name="Google Shape;1245;p81"/>
          <p:cNvSpPr/>
          <p:nvPr/>
        </p:nvSpPr>
        <p:spPr>
          <a:xfrm>
            <a:off x="5059363" y="1700213"/>
            <a:ext cx="3781425" cy="1166812"/>
          </a:xfrm>
          <a:prstGeom prst="rect">
            <a:avLst/>
          </a:prstGeom>
          <a:solidFill>
            <a:srgbClr val="FFFFFF"/>
          </a:solidFill>
          <a:ln cap="flat" cmpd="sng" w="9525">
            <a:solidFill>
              <a:srgbClr val="808080"/>
            </a:solidFill>
            <a:prstDash val="solid"/>
            <a:miter lim="800000"/>
            <a:headEnd len="sm" w="sm" type="none"/>
            <a:tailEnd len="sm" w="sm" type="none"/>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T2: START TRANSACTION</a:t>
            </a:r>
            <a:endParaRPr/>
          </a:p>
          <a:p>
            <a:pPr indent="0" lvl="0" marL="0" marR="0" rtl="0" algn="l">
              <a:spcBef>
                <a:spcPts val="0"/>
              </a:spcBef>
              <a:spcAft>
                <a:spcPts val="0"/>
              </a:spcAft>
              <a:buNone/>
            </a:pPr>
            <a:r>
              <a:rPr lang="en-US" sz="1800">
                <a:solidFill>
                  <a:schemeClr val="accent2"/>
                </a:solidFill>
                <a:latin typeface="Arial"/>
                <a:ea typeface="Arial"/>
                <a:cs typeface="Arial"/>
                <a:sym typeface="Arial"/>
              </a:rPr>
              <a:t>	UPDATE</a:t>
            </a:r>
            <a:r>
              <a:rPr lang="en-US" sz="1800">
                <a:solidFill>
                  <a:srgbClr val="000000"/>
                </a:solidFill>
                <a:latin typeface="Arial"/>
                <a:ea typeface="Arial"/>
                <a:cs typeface="Arial"/>
                <a:sym typeface="Arial"/>
              </a:rPr>
              <a:t> Accounts</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	</a:t>
            </a:r>
            <a:r>
              <a:rPr lang="en-US" sz="1800">
                <a:solidFill>
                  <a:schemeClr val="accent2"/>
                </a:solidFill>
                <a:latin typeface="Arial"/>
                <a:ea typeface="Arial"/>
                <a:cs typeface="Arial"/>
                <a:sym typeface="Arial"/>
              </a:rPr>
              <a:t>SET</a:t>
            </a:r>
            <a:r>
              <a:rPr lang="en-US" sz="1800">
                <a:solidFill>
                  <a:srgbClr val="000000"/>
                </a:solidFill>
                <a:latin typeface="Arial"/>
                <a:ea typeface="Arial"/>
                <a:cs typeface="Arial"/>
                <a:sym typeface="Arial"/>
              </a:rPr>
              <a:t> Amt = Amt * 1.06</a:t>
            </a:r>
            <a:endParaRPr/>
          </a:p>
          <a:p>
            <a:pPr indent="0" lvl="0" marL="0" marR="0" rtl="0" algn="l">
              <a:spcBef>
                <a:spcPts val="0"/>
              </a:spcBef>
              <a:spcAft>
                <a:spcPts val="0"/>
              </a:spcAft>
              <a:buNone/>
            </a:pPr>
            <a:r>
              <a:rPr lang="en-US" sz="1800">
                <a:solidFill>
                  <a:srgbClr val="000000"/>
                </a:solidFill>
                <a:latin typeface="Arial"/>
                <a:ea typeface="Arial"/>
                <a:cs typeface="Arial"/>
                <a:sym typeface="Arial"/>
              </a:rPr>
              <a:t>COMMIT</a:t>
            </a:r>
            <a:endParaRPr/>
          </a:p>
        </p:txBody>
      </p:sp>
      <p:sp>
        <p:nvSpPr>
          <p:cNvPr descr="Rectangle 1" id="1246" name="Google Shape;1246;p81"/>
          <p:cNvSpPr/>
          <p:nvPr/>
        </p:nvSpPr>
        <p:spPr>
          <a:xfrm>
            <a:off x="812800" y="4340225"/>
            <a:ext cx="3479800" cy="10064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ctr">
              <a:spcBef>
                <a:spcPts val="0"/>
              </a:spcBef>
              <a:spcAft>
                <a:spcPts val="0"/>
              </a:spcAft>
              <a:buNone/>
            </a:pPr>
            <a:r>
              <a:rPr lang="en-US" sz="2000">
                <a:solidFill>
                  <a:srgbClr val="000000"/>
                </a:solidFill>
                <a:latin typeface="Verdana"/>
                <a:ea typeface="Verdana"/>
                <a:cs typeface="Verdana"/>
                <a:sym typeface="Verdana"/>
              </a:rPr>
              <a:t>T1 transfers Rs.100/- from B’s account to A’s account</a:t>
            </a:r>
            <a:endParaRPr/>
          </a:p>
        </p:txBody>
      </p:sp>
      <p:sp>
        <p:nvSpPr>
          <p:cNvPr descr="Rectangle 14" id="1247" name="Google Shape;1247;p81"/>
          <p:cNvSpPr/>
          <p:nvPr/>
        </p:nvSpPr>
        <p:spPr>
          <a:xfrm>
            <a:off x="5057775" y="3429000"/>
            <a:ext cx="3619500" cy="1004888"/>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ctr">
              <a:spcBef>
                <a:spcPts val="0"/>
              </a:spcBef>
              <a:spcAft>
                <a:spcPts val="0"/>
              </a:spcAft>
              <a:buNone/>
            </a:pPr>
            <a:r>
              <a:rPr lang="en-US" sz="2000">
                <a:solidFill>
                  <a:srgbClr val="000000"/>
                </a:solidFill>
                <a:latin typeface="Verdana"/>
                <a:ea typeface="Verdana"/>
                <a:cs typeface="Verdana"/>
                <a:sym typeface="Verdana"/>
              </a:rPr>
              <a:t>T2 credits both accounts with a 6% interest payment</a:t>
            </a:r>
            <a:endParaRP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descr="Rectangle 2" id="1252" name="Google Shape;1252;p8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Example- consider two Transactions (T1 and T2):</a:t>
            </a:r>
            <a:endParaRPr/>
          </a:p>
        </p:txBody>
      </p:sp>
      <p:sp>
        <p:nvSpPr>
          <p:cNvPr descr="Rectangle 1" id="1253" name="Google Shape;1253;p82"/>
          <p:cNvSpPr/>
          <p:nvPr/>
        </p:nvSpPr>
        <p:spPr>
          <a:xfrm>
            <a:off x="1690688" y="4940300"/>
            <a:ext cx="3024187" cy="10064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T1 transfers Rs.100 from B’s account to A’s account</a:t>
            </a:r>
            <a:endParaRPr/>
          </a:p>
        </p:txBody>
      </p:sp>
      <p:sp>
        <p:nvSpPr>
          <p:cNvPr descr="Rectangle 14" id="1254" name="Google Shape;1254;p82"/>
          <p:cNvSpPr/>
          <p:nvPr/>
        </p:nvSpPr>
        <p:spPr>
          <a:xfrm>
            <a:off x="5362575" y="4932363"/>
            <a:ext cx="3236913" cy="10064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T2 credits both accounts with a 6% interest payment</a:t>
            </a:r>
            <a:endParaRPr/>
          </a:p>
        </p:txBody>
      </p:sp>
      <p:cxnSp>
        <p:nvCxnSpPr>
          <p:cNvPr descr="Straight Arrow Connector 3" id="1255" name="Google Shape;1255;p82"/>
          <p:cNvCxnSpPr/>
          <p:nvPr/>
        </p:nvCxnSpPr>
        <p:spPr>
          <a:xfrm>
            <a:off x="893763" y="4398963"/>
            <a:ext cx="7815262" cy="12700"/>
          </a:xfrm>
          <a:prstGeom prst="straightConnector1">
            <a:avLst/>
          </a:prstGeom>
          <a:noFill/>
          <a:ln cap="flat" cmpd="sng" w="38100">
            <a:solidFill>
              <a:srgbClr val="808080"/>
            </a:solidFill>
            <a:prstDash val="solid"/>
            <a:round/>
            <a:headEnd len="sm" w="sm" type="none"/>
            <a:tailEnd len="med" w="med" type="triangle"/>
          </a:ln>
        </p:spPr>
      </p:cxnSp>
      <p:sp>
        <p:nvSpPr>
          <p:cNvPr descr="TextBox 8" id="1256" name="Google Shape;1256;p82"/>
          <p:cNvSpPr txBox="1"/>
          <p:nvPr/>
        </p:nvSpPr>
        <p:spPr>
          <a:xfrm>
            <a:off x="452438" y="2697163"/>
            <a:ext cx="514350" cy="59055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3" id="1257" name="Google Shape;1257;p82"/>
          <p:cNvSpPr txBox="1"/>
          <p:nvPr/>
        </p:nvSpPr>
        <p:spPr>
          <a:xfrm>
            <a:off x="452438" y="3584575"/>
            <a:ext cx="514350" cy="59055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9" id="1258" name="Google Shape;1258;p82"/>
          <p:cNvSpPr txBox="1"/>
          <p:nvPr/>
        </p:nvSpPr>
        <p:spPr>
          <a:xfrm>
            <a:off x="1316038" y="2665413"/>
            <a:ext cx="1616075" cy="469900"/>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A += 100</a:t>
            </a:r>
            <a:endParaRPr/>
          </a:p>
        </p:txBody>
      </p:sp>
      <p:sp>
        <p:nvSpPr>
          <p:cNvPr descr="TextBox 18" id="1259" name="Google Shape;1259;p82"/>
          <p:cNvSpPr txBox="1"/>
          <p:nvPr/>
        </p:nvSpPr>
        <p:spPr>
          <a:xfrm>
            <a:off x="3275013" y="2665413"/>
            <a:ext cx="1620837" cy="469900"/>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B -= 100</a:t>
            </a:r>
            <a:endParaRPr/>
          </a:p>
        </p:txBody>
      </p:sp>
      <p:sp>
        <p:nvSpPr>
          <p:cNvPr descr="TextBox 19" id="1260" name="Google Shape;1260;p82"/>
          <p:cNvSpPr txBox="1"/>
          <p:nvPr/>
        </p:nvSpPr>
        <p:spPr>
          <a:xfrm>
            <a:off x="4978400" y="3500438"/>
            <a:ext cx="1671638" cy="468312"/>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A *= 1.06</a:t>
            </a:r>
            <a:endParaRPr/>
          </a:p>
        </p:txBody>
      </p:sp>
      <p:sp>
        <p:nvSpPr>
          <p:cNvPr descr="TextBox 20" id="1261" name="Google Shape;1261;p82"/>
          <p:cNvSpPr txBox="1"/>
          <p:nvPr/>
        </p:nvSpPr>
        <p:spPr>
          <a:xfrm>
            <a:off x="6919913" y="3503613"/>
            <a:ext cx="1673225" cy="469900"/>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B *= 1.06</a:t>
            </a:r>
            <a:endParaRPr/>
          </a:p>
        </p:txBody>
      </p:sp>
      <p:sp>
        <p:nvSpPr>
          <p:cNvPr descr="TextBox 10" id="1262" name="Google Shape;1262;p82"/>
          <p:cNvSpPr txBox="1"/>
          <p:nvPr/>
        </p:nvSpPr>
        <p:spPr>
          <a:xfrm>
            <a:off x="8261350" y="4441825"/>
            <a:ext cx="6667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800">
                <a:solidFill>
                  <a:srgbClr val="000000"/>
                </a:solidFill>
                <a:latin typeface="Verdana"/>
                <a:ea typeface="Verdana"/>
                <a:cs typeface="Verdana"/>
                <a:sym typeface="Verdana"/>
              </a:rPr>
              <a:t>Time</a:t>
            </a:r>
            <a:endParaRPr/>
          </a:p>
        </p:txBody>
      </p:sp>
      <p:sp>
        <p:nvSpPr>
          <p:cNvPr descr="TextBox 22" id="1263" name="Google Shape;1263;p82"/>
          <p:cNvSpPr txBox="1"/>
          <p:nvPr/>
        </p:nvSpPr>
        <p:spPr>
          <a:xfrm>
            <a:off x="652463" y="1339850"/>
            <a:ext cx="8270875" cy="701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We can look at the transactions in a timeline view- serial execution:</a:t>
            </a:r>
            <a:endParaRP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descr="Slide Number Placeholder 3" id="1268" name="Google Shape;1268;p8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269" name="Google Shape;1269;p83"/>
          <p:cNvGrpSpPr/>
          <p:nvPr/>
        </p:nvGrpSpPr>
        <p:grpSpPr>
          <a:xfrm>
            <a:off x="152400" y="1982789"/>
            <a:ext cx="6154738" cy="1403349"/>
            <a:chOff x="0" y="0"/>
            <a:chExt cx="6155206" cy="1403906"/>
          </a:xfrm>
        </p:grpSpPr>
        <p:cxnSp>
          <p:nvCxnSpPr>
            <p:cNvPr descr="Straight Arrow Connector 9" id="1270" name="Google Shape;1270;p83"/>
            <p:cNvCxnSpPr/>
            <p:nvPr/>
          </p:nvCxnSpPr>
          <p:spPr>
            <a:xfrm>
              <a:off x="271022" y="1403905"/>
              <a:ext cx="5884184" cy="1"/>
            </a:xfrm>
            <a:prstGeom prst="straightConnector1">
              <a:avLst/>
            </a:prstGeom>
            <a:noFill/>
            <a:ln cap="flat" cmpd="sng" w="38100">
              <a:solidFill>
                <a:srgbClr val="808080"/>
              </a:solidFill>
              <a:prstDash val="solid"/>
              <a:round/>
              <a:headEnd len="sm" w="sm" type="none"/>
              <a:tailEnd len="med" w="med" type="triangle"/>
            </a:ln>
          </p:spPr>
        </p:cxnSp>
        <p:sp>
          <p:nvSpPr>
            <p:cNvPr descr="TextBox 10" id="1271" name="Google Shape;1271;p83"/>
            <p:cNvSpPr txBox="1"/>
            <p:nvPr/>
          </p:nvSpPr>
          <p:spPr>
            <a:xfrm>
              <a:off x="0" y="24932"/>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272" name="Google Shape;1272;p83"/>
            <p:cNvSpPr txBox="1"/>
            <p:nvPr/>
          </p:nvSpPr>
          <p:spPr>
            <a:xfrm>
              <a:off x="0" y="74420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273" name="Google Shape;1273;p83"/>
            <p:cNvSpPr txBox="1"/>
            <p:nvPr/>
          </p:nvSpPr>
          <p:spPr>
            <a:xfrm>
              <a:off x="545662" y="0"/>
              <a:ext cx="1240815"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274" name="Google Shape;1274;p83"/>
            <p:cNvSpPr txBox="1"/>
            <p:nvPr/>
          </p:nvSpPr>
          <p:spPr>
            <a:xfrm>
              <a:off x="1975462" y="0"/>
              <a:ext cx="129614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275" name="Google Shape;1275;p83"/>
            <p:cNvSpPr txBox="1"/>
            <p:nvPr/>
          </p:nvSpPr>
          <p:spPr>
            <a:xfrm>
              <a:off x="3285523" y="757770"/>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276" name="Google Shape;1276;p83"/>
            <p:cNvSpPr txBox="1"/>
            <p:nvPr/>
          </p:nvSpPr>
          <p:spPr>
            <a:xfrm>
              <a:off x="4783465" y="744200"/>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graphicFrame>
        <p:nvGraphicFramePr>
          <p:cNvPr id="1277" name="Google Shape;1277;p83"/>
          <p:cNvGraphicFramePr/>
          <p:nvPr/>
        </p:nvGraphicFramePr>
        <p:xfrm>
          <a:off x="6461125" y="1073150"/>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43" id="1278" name="Google Shape;1278;p83"/>
          <p:cNvSpPr txBox="1"/>
          <p:nvPr/>
        </p:nvSpPr>
        <p:spPr>
          <a:xfrm>
            <a:off x="6478588" y="692150"/>
            <a:ext cx="238442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TextBox 38" id="1279" name="Google Shape;1279;p83"/>
          <p:cNvSpPr txBox="1"/>
          <p:nvPr/>
        </p:nvSpPr>
        <p:spPr>
          <a:xfrm>
            <a:off x="577850" y="1136650"/>
            <a:ext cx="3141663" cy="444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000">
                <a:solidFill>
                  <a:srgbClr val="000000"/>
                </a:solidFill>
                <a:latin typeface="Verdana"/>
                <a:ea typeface="Verdana"/>
                <a:cs typeface="Verdana"/>
                <a:sym typeface="Verdana"/>
              </a:rPr>
              <a:t>Serial schedule T</a:t>
            </a:r>
            <a:r>
              <a:rPr b="1" baseline="-25000" lang="en-US" sz="2000">
                <a:solidFill>
                  <a:srgbClr val="000000"/>
                </a:solidFill>
                <a:latin typeface="Verdana"/>
                <a:ea typeface="Verdana"/>
                <a:cs typeface="Verdana"/>
                <a:sym typeface="Verdana"/>
              </a:rPr>
              <a:t>1</a:t>
            </a:r>
            <a:r>
              <a:rPr b="1" lang="en-US" sz="2000">
                <a:solidFill>
                  <a:srgbClr val="000000"/>
                </a:solidFill>
                <a:latin typeface="Verdana"/>
                <a:ea typeface="Verdana"/>
                <a:cs typeface="Verdana"/>
                <a:sym typeface="Verdana"/>
              </a:rPr>
              <a:t>,T</a:t>
            </a:r>
            <a:r>
              <a:rPr b="1" baseline="-25000" lang="en-US" sz="2000">
                <a:solidFill>
                  <a:srgbClr val="000000"/>
                </a:solidFill>
                <a:latin typeface="Verdana"/>
                <a:ea typeface="Verdana"/>
                <a:cs typeface="Verdana"/>
                <a:sym typeface="Verdana"/>
              </a:rPr>
              <a:t>2</a:t>
            </a:r>
            <a:r>
              <a:rPr b="1" lang="en-US" sz="2000">
                <a:solidFill>
                  <a:srgbClr val="000000"/>
                </a:solidFill>
                <a:latin typeface="Verdana"/>
                <a:ea typeface="Verdana"/>
                <a:cs typeface="Verdana"/>
                <a:sym typeface="Verdana"/>
              </a:rPr>
              <a:t>:</a:t>
            </a:r>
            <a:endParaRPr/>
          </a:p>
        </p:txBody>
      </p:sp>
      <p:sp>
        <p:nvSpPr>
          <p:cNvPr descr="TextBox 35" id="1280" name="Google Shape;1280;p83"/>
          <p:cNvSpPr txBox="1"/>
          <p:nvPr/>
        </p:nvSpPr>
        <p:spPr>
          <a:xfrm>
            <a:off x="406400" y="3405188"/>
            <a:ext cx="6667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800">
                <a:solidFill>
                  <a:srgbClr val="000000"/>
                </a:solidFill>
                <a:latin typeface="Verdana"/>
                <a:ea typeface="Verdana"/>
                <a:cs typeface="Verdana"/>
                <a:sym typeface="Verdana"/>
              </a:rPr>
              <a:t>Time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descr="Slide Number Placeholder 3" id="1285" name="Google Shape;1285;p8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286" name="Google Shape;1286;p84"/>
          <p:cNvGrpSpPr/>
          <p:nvPr/>
        </p:nvGrpSpPr>
        <p:grpSpPr>
          <a:xfrm>
            <a:off x="152400" y="1982789"/>
            <a:ext cx="6154738" cy="1403349"/>
            <a:chOff x="0" y="0"/>
            <a:chExt cx="6155206" cy="1403906"/>
          </a:xfrm>
        </p:grpSpPr>
        <p:cxnSp>
          <p:nvCxnSpPr>
            <p:cNvPr descr="Straight Arrow Connector 9" id="1287" name="Google Shape;1287;p84"/>
            <p:cNvCxnSpPr/>
            <p:nvPr/>
          </p:nvCxnSpPr>
          <p:spPr>
            <a:xfrm>
              <a:off x="271022" y="1403905"/>
              <a:ext cx="5884184" cy="1"/>
            </a:xfrm>
            <a:prstGeom prst="straightConnector1">
              <a:avLst/>
            </a:prstGeom>
            <a:noFill/>
            <a:ln cap="flat" cmpd="sng" w="38100">
              <a:solidFill>
                <a:srgbClr val="808080"/>
              </a:solidFill>
              <a:prstDash val="solid"/>
              <a:round/>
              <a:headEnd len="sm" w="sm" type="none"/>
              <a:tailEnd len="med" w="med" type="triangle"/>
            </a:ln>
          </p:spPr>
        </p:cxnSp>
        <p:sp>
          <p:nvSpPr>
            <p:cNvPr descr="TextBox 10" id="1288" name="Google Shape;1288;p84"/>
            <p:cNvSpPr txBox="1"/>
            <p:nvPr/>
          </p:nvSpPr>
          <p:spPr>
            <a:xfrm>
              <a:off x="0" y="24932"/>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289" name="Google Shape;1289;p84"/>
            <p:cNvSpPr txBox="1"/>
            <p:nvPr/>
          </p:nvSpPr>
          <p:spPr>
            <a:xfrm>
              <a:off x="0" y="74420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290" name="Google Shape;1290;p84"/>
            <p:cNvSpPr txBox="1"/>
            <p:nvPr/>
          </p:nvSpPr>
          <p:spPr>
            <a:xfrm>
              <a:off x="545662" y="0"/>
              <a:ext cx="1240815"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291" name="Google Shape;1291;p84"/>
            <p:cNvSpPr txBox="1"/>
            <p:nvPr/>
          </p:nvSpPr>
          <p:spPr>
            <a:xfrm>
              <a:off x="1975462" y="0"/>
              <a:ext cx="129614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292" name="Google Shape;1292;p84"/>
            <p:cNvSpPr txBox="1"/>
            <p:nvPr/>
          </p:nvSpPr>
          <p:spPr>
            <a:xfrm>
              <a:off x="3285523" y="757770"/>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293" name="Google Shape;1293;p84"/>
            <p:cNvSpPr txBox="1"/>
            <p:nvPr/>
          </p:nvSpPr>
          <p:spPr>
            <a:xfrm>
              <a:off x="4783465" y="744200"/>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graphicFrame>
        <p:nvGraphicFramePr>
          <p:cNvPr id="1294" name="Google Shape;1294;p84"/>
          <p:cNvGraphicFramePr/>
          <p:nvPr/>
        </p:nvGraphicFramePr>
        <p:xfrm>
          <a:off x="6461125" y="1073150"/>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295" name="Google Shape;1295;p84"/>
          <p:cNvGraphicFramePr/>
          <p:nvPr/>
        </p:nvGraphicFramePr>
        <p:xfrm>
          <a:off x="6877050" y="2465388"/>
          <a:ext cx="3000000" cy="3000000"/>
        </p:xfrm>
        <a:graphic>
          <a:graphicData uri="http://schemas.openxmlformats.org/drawingml/2006/table">
            <a:tbl>
              <a:tblPr>
                <a:noFill/>
                <a:tableStyleId>{DA31C186-C125-4E34-A739-053F885C22C1}</a:tableStyleId>
              </a:tblPr>
              <a:tblGrid>
                <a:gridCol w="1244600"/>
                <a:gridCol w="957275"/>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bl>
          </a:graphicData>
        </a:graphic>
      </p:graphicFrame>
      <p:sp>
        <p:nvSpPr>
          <p:cNvPr descr="TextBox 43" id="1296" name="Google Shape;1296;p84"/>
          <p:cNvSpPr txBox="1"/>
          <p:nvPr/>
        </p:nvSpPr>
        <p:spPr>
          <a:xfrm>
            <a:off x="6478588" y="692150"/>
            <a:ext cx="238442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TextBox 38" id="1297" name="Google Shape;1297;p84"/>
          <p:cNvSpPr txBox="1"/>
          <p:nvPr/>
        </p:nvSpPr>
        <p:spPr>
          <a:xfrm>
            <a:off x="577850" y="1136650"/>
            <a:ext cx="3141663" cy="444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000">
                <a:solidFill>
                  <a:srgbClr val="000000"/>
                </a:solidFill>
                <a:latin typeface="Verdana"/>
                <a:ea typeface="Verdana"/>
                <a:cs typeface="Verdana"/>
                <a:sym typeface="Verdana"/>
              </a:rPr>
              <a:t>Serial schedule T</a:t>
            </a:r>
            <a:r>
              <a:rPr b="1" baseline="-25000" lang="en-US" sz="2000">
                <a:solidFill>
                  <a:srgbClr val="000000"/>
                </a:solidFill>
                <a:latin typeface="Verdana"/>
                <a:ea typeface="Verdana"/>
                <a:cs typeface="Verdana"/>
                <a:sym typeface="Verdana"/>
              </a:rPr>
              <a:t>1</a:t>
            </a:r>
            <a:r>
              <a:rPr b="1" lang="en-US" sz="2000">
                <a:solidFill>
                  <a:srgbClr val="000000"/>
                </a:solidFill>
                <a:latin typeface="Verdana"/>
                <a:ea typeface="Verdana"/>
                <a:cs typeface="Verdana"/>
                <a:sym typeface="Verdana"/>
              </a:rPr>
              <a:t>,T</a:t>
            </a:r>
            <a:r>
              <a:rPr b="1" baseline="-25000" lang="en-US" sz="2000">
                <a:solidFill>
                  <a:srgbClr val="000000"/>
                </a:solidFill>
                <a:latin typeface="Verdana"/>
                <a:ea typeface="Verdana"/>
                <a:cs typeface="Verdana"/>
                <a:sym typeface="Verdana"/>
              </a:rPr>
              <a:t>2</a:t>
            </a:r>
            <a:r>
              <a:rPr b="1" lang="en-US" sz="2000">
                <a:solidFill>
                  <a:srgbClr val="000000"/>
                </a:solidFill>
                <a:latin typeface="Verdana"/>
                <a:ea typeface="Verdana"/>
                <a:cs typeface="Verdana"/>
                <a:sym typeface="Verdana"/>
              </a:rPr>
              <a:t>:</a:t>
            </a:r>
            <a:endParaRPr/>
          </a:p>
        </p:txBody>
      </p:sp>
      <p:sp>
        <p:nvSpPr>
          <p:cNvPr descr="TextBox 35" id="1298" name="Google Shape;1298;p84"/>
          <p:cNvSpPr txBox="1"/>
          <p:nvPr/>
        </p:nvSpPr>
        <p:spPr>
          <a:xfrm>
            <a:off x="406400" y="3405188"/>
            <a:ext cx="6667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800">
                <a:solidFill>
                  <a:srgbClr val="000000"/>
                </a:solidFill>
                <a:latin typeface="Verdana"/>
                <a:ea typeface="Verdana"/>
                <a:cs typeface="Verdana"/>
                <a:sym typeface="Verdana"/>
              </a:rPr>
              <a:t>Time</a:t>
            </a:r>
            <a:endParaRPr/>
          </a:p>
        </p:txBody>
      </p:sp>
      <p:sp>
        <p:nvSpPr>
          <p:cNvPr descr="TextBox 7" id="1299" name="Google Shape;1299;p84"/>
          <p:cNvSpPr txBox="1"/>
          <p:nvPr/>
        </p:nvSpPr>
        <p:spPr>
          <a:xfrm>
            <a:off x="6635750" y="2155825"/>
            <a:ext cx="2451100"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Result of Executing T1, T2</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descr="Rectangle 2" id="1304" name="Google Shape;1304;p8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Example- consider two Transactions (T1 and T2):</a:t>
            </a:r>
            <a:endParaRPr/>
          </a:p>
        </p:txBody>
      </p:sp>
      <p:sp>
        <p:nvSpPr>
          <p:cNvPr descr="Rectangle 1" id="1305" name="Google Shape;1305;p85"/>
          <p:cNvSpPr/>
          <p:nvPr/>
        </p:nvSpPr>
        <p:spPr>
          <a:xfrm>
            <a:off x="5168900" y="4933950"/>
            <a:ext cx="3046413" cy="9302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T1 transfers Rs.100/- from B’s account to A’s account</a:t>
            </a:r>
            <a:endParaRPr/>
          </a:p>
        </p:txBody>
      </p:sp>
      <p:sp>
        <p:nvSpPr>
          <p:cNvPr descr="Rectangle 14" id="1306" name="Google Shape;1306;p85"/>
          <p:cNvSpPr/>
          <p:nvPr/>
        </p:nvSpPr>
        <p:spPr>
          <a:xfrm>
            <a:off x="1252538" y="4933950"/>
            <a:ext cx="3260725" cy="930275"/>
          </a:xfrm>
          <a:prstGeom prst="rect">
            <a:avLst/>
          </a:prstGeom>
          <a:solidFill>
            <a:srgbClr val="CCCCCC"/>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T2 credits both accounts with a 6% interest payment</a:t>
            </a:r>
            <a:endParaRPr/>
          </a:p>
        </p:txBody>
      </p:sp>
      <p:cxnSp>
        <p:nvCxnSpPr>
          <p:cNvPr descr="Straight Arrow Connector 3" id="1307" name="Google Shape;1307;p85"/>
          <p:cNvCxnSpPr/>
          <p:nvPr/>
        </p:nvCxnSpPr>
        <p:spPr>
          <a:xfrm>
            <a:off x="893763" y="4398963"/>
            <a:ext cx="7815262" cy="12700"/>
          </a:xfrm>
          <a:prstGeom prst="straightConnector1">
            <a:avLst/>
          </a:prstGeom>
          <a:noFill/>
          <a:ln cap="flat" cmpd="sng" w="38100">
            <a:solidFill>
              <a:srgbClr val="808080"/>
            </a:solidFill>
            <a:prstDash val="solid"/>
            <a:round/>
            <a:headEnd len="sm" w="sm" type="none"/>
            <a:tailEnd len="med" w="med" type="triangle"/>
          </a:ln>
        </p:spPr>
      </p:cxnSp>
      <p:sp>
        <p:nvSpPr>
          <p:cNvPr descr="TextBox 8" id="1308" name="Google Shape;1308;p85"/>
          <p:cNvSpPr txBox="1"/>
          <p:nvPr/>
        </p:nvSpPr>
        <p:spPr>
          <a:xfrm>
            <a:off x="452438" y="2697163"/>
            <a:ext cx="455612" cy="517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400">
                <a:solidFill>
                  <a:srgbClr val="C00000"/>
                </a:solidFill>
                <a:latin typeface="Verdana"/>
                <a:ea typeface="Verdana"/>
                <a:cs typeface="Verdana"/>
                <a:sym typeface="Verdana"/>
              </a:rPr>
              <a:t>T</a:t>
            </a:r>
            <a:r>
              <a:rPr b="1" baseline="-25000" lang="en-US" sz="2400">
                <a:solidFill>
                  <a:srgbClr val="C00000"/>
                </a:solidFill>
                <a:latin typeface="Verdana"/>
                <a:ea typeface="Verdana"/>
                <a:cs typeface="Verdana"/>
                <a:sym typeface="Verdana"/>
              </a:rPr>
              <a:t>1</a:t>
            </a:r>
            <a:endParaRPr b="1" sz="2400">
              <a:solidFill>
                <a:srgbClr val="C00000"/>
              </a:solidFill>
              <a:latin typeface="Verdana"/>
              <a:ea typeface="Verdana"/>
              <a:cs typeface="Verdana"/>
              <a:sym typeface="Verdana"/>
            </a:endParaRPr>
          </a:p>
        </p:txBody>
      </p:sp>
      <p:sp>
        <p:nvSpPr>
          <p:cNvPr descr="TextBox 13" id="1309" name="Google Shape;1309;p85"/>
          <p:cNvSpPr txBox="1"/>
          <p:nvPr/>
        </p:nvSpPr>
        <p:spPr>
          <a:xfrm>
            <a:off x="452438" y="3584575"/>
            <a:ext cx="455612" cy="517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400">
                <a:solidFill>
                  <a:srgbClr val="0070C0"/>
                </a:solidFill>
                <a:latin typeface="Verdana"/>
                <a:ea typeface="Verdana"/>
                <a:cs typeface="Verdana"/>
                <a:sym typeface="Verdana"/>
              </a:rPr>
              <a:t>T</a:t>
            </a:r>
            <a:r>
              <a:rPr b="1" baseline="-25000" lang="en-US" sz="2400">
                <a:solidFill>
                  <a:srgbClr val="0070C0"/>
                </a:solidFill>
                <a:latin typeface="Verdana"/>
                <a:ea typeface="Verdana"/>
                <a:cs typeface="Verdana"/>
                <a:sym typeface="Verdana"/>
              </a:rPr>
              <a:t>2</a:t>
            </a:r>
            <a:endParaRPr b="1" sz="2400">
              <a:solidFill>
                <a:srgbClr val="0070C0"/>
              </a:solidFill>
              <a:latin typeface="Verdana"/>
              <a:ea typeface="Verdana"/>
              <a:cs typeface="Verdana"/>
              <a:sym typeface="Verdana"/>
            </a:endParaRPr>
          </a:p>
        </p:txBody>
      </p:sp>
      <p:sp>
        <p:nvSpPr>
          <p:cNvPr descr="TextBox 9" id="1310" name="Google Shape;1310;p85"/>
          <p:cNvSpPr txBox="1"/>
          <p:nvPr/>
        </p:nvSpPr>
        <p:spPr>
          <a:xfrm>
            <a:off x="5168900" y="2697163"/>
            <a:ext cx="1617663" cy="468312"/>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A += 100</a:t>
            </a:r>
            <a:endParaRPr/>
          </a:p>
        </p:txBody>
      </p:sp>
      <p:sp>
        <p:nvSpPr>
          <p:cNvPr descr="TextBox 18" id="1311" name="Google Shape;1311;p85"/>
          <p:cNvSpPr txBox="1"/>
          <p:nvPr/>
        </p:nvSpPr>
        <p:spPr>
          <a:xfrm>
            <a:off x="7056438" y="2665413"/>
            <a:ext cx="1506537" cy="469900"/>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B -= 100</a:t>
            </a:r>
            <a:endParaRPr/>
          </a:p>
        </p:txBody>
      </p:sp>
      <p:sp>
        <p:nvSpPr>
          <p:cNvPr descr="TextBox 19" id="1312" name="Google Shape;1312;p85"/>
          <p:cNvSpPr txBox="1"/>
          <p:nvPr/>
        </p:nvSpPr>
        <p:spPr>
          <a:xfrm>
            <a:off x="1252538" y="3549650"/>
            <a:ext cx="1671637" cy="469900"/>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A *= 1.06</a:t>
            </a:r>
            <a:endParaRPr/>
          </a:p>
        </p:txBody>
      </p:sp>
      <p:sp>
        <p:nvSpPr>
          <p:cNvPr descr="TextBox 20" id="1313" name="Google Shape;1313;p85"/>
          <p:cNvSpPr txBox="1"/>
          <p:nvPr/>
        </p:nvSpPr>
        <p:spPr>
          <a:xfrm>
            <a:off x="3214688" y="3554413"/>
            <a:ext cx="1673225" cy="468312"/>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B *= 1.06</a:t>
            </a:r>
            <a:endParaRPr/>
          </a:p>
        </p:txBody>
      </p:sp>
      <p:sp>
        <p:nvSpPr>
          <p:cNvPr descr="TextBox 10" id="1314" name="Google Shape;1314;p85"/>
          <p:cNvSpPr txBox="1"/>
          <p:nvPr/>
        </p:nvSpPr>
        <p:spPr>
          <a:xfrm>
            <a:off x="8261350" y="4441825"/>
            <a:ext cx="854075" cy="460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2400">
                <a:solidFill>
                  <a:srgbClr val="000000"/>
                </a:solidFill>
                <a:latin typeface="Verdana"/>
                <a:ea typeface="Verdana"/>
                <a:cs typeface="Verdana"/>
                <a:sym typeface="Verdana"/>
              </a:rPr>
              <a:t>Time</a:t>
            </a:r>
            <a:endParaRPr/>
          </a:p>
        </p:txBody>
      </p:sp>
      <p:sp>
        <p:nvSpPr>
          <p:cNvPr descr="TextBox 2" id="1315" name="Google Shape;1315;p85"/>
          <p:cNvSpPr txBox="1"/>
          <p:nvPr/>
        </p:nvSpPr>
        <p:spPr>
          <a:xfrm>
            <a:off x="588963" y="1490663"/>
            <a:ext cx="807402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The transactions could occur in either order… DBMS allows!</a:t>
            </a:r>
            <a:endParaRP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descr="Slide Number Placeholder 3" id="1320" name="Google Shape;1320;p8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321" name="Google Shape;1321;p86"/>
          <p:cNvGrpSpPr/>
          <p:nvPr/>
        </p:nvGrpSpPr>
        <p:grpSpPr>
          <a:xfrm>
            <a:off x="152400" y="1982789"/>
            <a:ext cx="6154738" cy="1403349"/>
            <a:chOff x="0" y="0"/>
            <a:chExt cx="6155206" cy="1403906"/>
          </a:xfrm>
        </p:grpSpPr>
        <p:cxnSp>
          <p:nvCxnSpPr>
            <p:cNvPr descr="Straight Arrow Connector 9" id="1322" name="Google Shape;1322;p86"/>
            <p:cNvCxnSpPr/>
            <p:nvPr/>
          </p:nvCxnSpPr>
          <p:spPr>
            <a:xfrm>
              <a:off x="271022" y="1403905"/>
              <a:ext cx="5884184" cy="1"/>
            </a:xfrm>
            <a:prstGeom prst="straightConnector1">
              <a:avLst/>
            </a:prstGeom>
            <a:noFill/>
            <a:ln cap="flat" cmpd="sng" w="38100">
              <a:solidFill>
                <a:srgbClr val="808080"/>
              </a:solidFill>
              <a:prstDash val="solid"/>
              <a:round/>
              <a:headEnd len="sm" w="sm" type="none"/>
              <a:tailEnd len="med" w="med" type="triangle"/>
            </a:ln>
          </p:spPr>
        </p:cxnSp>
        <p:sp>
          <p:nvSpPr>
            <p:cNvPr descr="TextBox 10" id="1323" name="Google Shape;1323;p86"/>
            <p:cNvSpPr txBox="1"/>
            <p:nvPr/>
          </p:nvSpPr>
          <p:spPr>
            <a:xfrm>
              <a:off x="0" y="24932"/>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324" name="Google Shape;1324;p86"/>
            <p:cNvSpPr txBox="1"/>
            <p:nvPr/>
          </p:nvSpPr>
          <p:spPr>
            <a:xfrm>
              <a:off x="0" y="74420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325" name="Google Shape;1325;p86"/>
            <p:cNvSpPr txBox="1"/>
            <p:nvPr/>
          </p:nvSpPr>
          <p:spPr>
            <a:xfrm>
              <a:off x="545662" y="0"/>
              <a:ext cx="1240815"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326" name="Google Shape;1326;p86"/>
            <p:cNvSpPr txBox="1"/>
            <p:nvPr/>
          </p:nvSpPr>
          <p:spPr>
            <a:xfrm>
              <a:off x="1975462" y="0"/>
              <a:ext cx="129614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327" name="Google Shape;1327;p86"/>
            <p:cNvSpPr txBox="1"/>
            <p:nvPr/>
          </p:nvSpPr>
          <p:spPr>
            <a:xfrm>
              <a:off x="3285523" y="757770"/>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328" name="Google Shape;1328;p86"/>
            <p:cNvSpPr txBox="1"/>
            <p:nvPr/>
          </p:nvSpPr>
          <p:spPr>
            <a:xfrm>
              <a:off x="4783465" y="744200"/>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graphicFrame>
        <p:nvGraphicFramePr>
          <p:cNvPr id="1329" name="Google Shape;1329;p86"/>
          <p:cNvGraphicFramePr/>
          <p:nvPr/>
        </p:nvGraphicFramePr>
        <p:xfrm>
          <a:off x="6461125" y="1073150"/>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330" name="Google Shape;1330;p86"/>
          <p:cNvGraphicFramePr/>
          <p:nvPr/>
        </p:nvGraphicFramePr>
        <p:xfrm>
          <a:off x="6877050" y="2465388"/>
          <a:ext cx="3000000" cy="3000000"/>
        </p:xfrm>
        <a:graphic>
          <a:graphicData uri="http://schemas.openxmlformats.org/drawingml/2006/table">
            <a:tbl>
              <a:tblPr>
                <a:noFill/>
                <a:tableStyleId>{DA31C186-C125-4E34-A739-053F885C22C1}</a:tableStyleId>
              </a:tblPr>
              <a:tblGrid>
                <a:gridCol w="1244600"/>
                <a:gridCol w="957275"/>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bl>
          </a:graphicData>
        </a:graphic>
      </p:graphicFrame>
      <p:sp>
        <p:nvSpPr>
          <p:cNvPr descr="TextBox 43" id="1331" name="Google Shape;1331;p86"/>
          <p:cNvSpPr txBox="1"/>
          <p:nvPr/>
        </p:nvSpPr>
        <p:spPr>
          <a:xfrm>
            <a:off x="6478588" y="692150"/>
            <a:ext cx="238442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TextBox 38" id="1332" name="Google Shape;1332;p86"/>
          <p:cNvSpPr txBox="1"/>
          <p:nvPr/>
        </p:nvSpPr>
        <p:spPr>
          <a:xfrm>
            <a:off x="577850" y="1136650"/>
            <a:ext cx="3141663" cy="444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000">
                <a:solidFill>
                  <a:srgbClr val="000000"/>
                </a:solidFill>
                <a:latin typeface="Verdana"/>
                <a:ea typeface="Verdana"/>
                <a:cs typeface="Verdana"/>
                <a:sym typeface="Verdana"/>
              </a:rPr>
              <a:t>Serial schedule T</a:t>
            </a:r>
            <a:r>
              <a:rPr b="1" baseline="-25000" lang="en-US" sz="2000">
                <a:solidFill>
                  <a:srgbClr val="000000"/>
                </a:solidFill>
                <a:latin typeface="Verdana"/>
                <a:ea typeface="Verdana"/>
                <a:cs typeface="Verdana"/>
                <a:sym typeface="Verdana"/>
              </a:rPr>
              <a:t>1</a:t>
            </a:r>
            <a:r>
              <a:rPr b="1" lang="en-US" sz="2000">
                <a:solidFill>
                  <a:srgbClr val="000000"/>
                </a:solidFill>
                <a:latin typeface="Verdana"/>
                <a:ea typeface="Verdana"/>
                <a:cs typeface="Verdana"/>
                <a:sym typeface="Verdana"/>
              </a:rPr>
              <a:t>,T</a:t>
            </a:r>
            <a:r>
              <a:rPr b="1" baseline="-25000" lang="en-US" sz="2000">
                <a:solidFill>
                  <a:srgbClr val="000000"/>
                </a:solidFill>
                <a:latin typeface="Verdana"/>
                <a:ea typeface="Verdana"/>
                <a:cs typeface="Verdana"/>
                <a:sym typeface="Verdana"/>
              </a:rPr>
              <a:t>2</a:t>
            </a:r>
            <a:r>
              <a:rPr b="1" lang="en-US" sz="2000">
                <a:solidFill>
                  <a:srgbClr val="000000"/>
                </a:solidFill>
                <a:latin typeface="Verdana"/>
                <a:ea typeface="Verdana"/>
                <a:cs typeface="Verdana"/>
                <a:sym typeface="Verdana"/>
              </a:rPr>
              <a:t>:</a:t>
            </a:r>
            <a:endParaRPr/>
          </a:p>
        </p:txBody>
      </p:sp>
      <p:sp>
        <p:nvSpPr>
          <p:cNvPr descr="TextBox 35" id="1333" name="Google Shape;1333;p86"/>
          <p:cNvSpPr txBox="1"/>
          <p:nvPr/>
        </p:nvSpPr>
        <p:spPr>
          <a:xfrm>
            <a:off x="406400" y="3405188"/>
            <a:ext cx="6667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800">
                <a:solidFill>
                  <a:srgbClr val="000000"/>
                </a:solidFill>
                <a:latin typeface="Verdana"/>
                <a:ea typeface="Verdana"/>
                <a:cs typeface="Verdana"/>
                <a:sym typeface="Verdana"/>
              </a:rPr>
              <a:t>Time</a:t>
            </a:r>
            <a:endParaRPr/>
          </a:p>
        </p:txBody>
      </p:sp>
      <p:grpSp>
        <p:nvGrpSpPr>
          <p:cNvPr id="1334" name="Google Shape;1334;p86"/>
          <p:cNvGrpSpPr/>
          <p:nvPr/>
        </p:nvGrpSpPr>
        <p:grpSpPr>
          <a:xfrm>
            <a:off x="80963" y="5029201"/>
            <a:ext cx="6524625" cy="1406524"/>
            <a:chOff x="0" y="0"/>
            <a:chExt cx="6525414" cy="1405101"/>
          </a:xfrm>
        </p:grpSpPr>
        <p:cxnSp>
          <p:nvCxnSpPr>
            <p:cNvPr descr="Straight Arrow Connector 41" id="1335" name="Google Shape;1335;p86"/>
            <p:cNvCxnSpPr/>
            <p:nvPr/>
          </p:nvCxnSpPr>
          <p:spPr>
            <a:xfrm>
              <a:off x="271021" y="1395090"/>
              <a:ext cx="6254393" cy="10011"/>
            </a:xfrm>
            <a:prstGeom prst="straightConnector1">
              <a:avLst/>
            </a:prstGeom>
            <a:noFill/>
            <a:ln cap="flat" cmpd="sng" w="38100">
              <a:solidFill>
                <a:srgbClr val="808080"/>
              </a:solidFill>
              <a:prstDash val="solid"/>
              <a:round/>
              <a:headEnd len="sm" w="sm" type="none"/>
              <a:tailEnd len="med" w="med" type="triangle"/>
            </a:ln>
          </p:spPr>
        </p:cxnSp>
        <p:sp>
          <p:nvSpPr>
            <p:cNvPr descr="TextBox 44" id="1336" name="Google Shape;1336;p86"/>
            <p:cNvSpPr txBox="1"/>
            <p:nvPr/>
          </p:nvSpPr>
          <p:spPr>
            <a:xfrm>
              <a:off x="0" y="16115"/>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45" id="1337" name="Google Shape;1337;p86"/>
            <p:cNvSpPr txBox="1"/>
            <p:nvPr/>
          </p:nvSpPr>
          <p:spPr>
            <a:xfrm>
              <a:off x="0" y="735383"/>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48" id="1338" name="Google Shape;1338;p86"/>
            <p:cNvSpPr txBox="1"/>
            <p:nvPr/>
          </p:nvSpPr>
          <p:spPr>
            <a:xfrm>
              <a:off x="3626688" y="16115"/>
              <a:ext cx="1240816"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49" id="1339" name="Google Shape;1339;p86"/>
            <p:cNvSpPr txBox="1"/>
            <p:nvPr/>
          </p:nvSpPr>
          <p:spPr>
            <a:xfrm>
              <a:off x="5066848" y="0"/>
              <a:ext cx="129614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50" id="1340" name="Google Shape;1340;p86"/>
            <p:cNvSpPr txBox="1"/>
            <p:nvPr/>
          </p:nvSpPr>
          <p:spPr>
            <a:xfrm>
              <a:off x="835003" y="886626"/>
              <a:ext cx="1282228"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51" id="1341" name="Google Shape;1341;p86"/>
            <p:cNvSpPr txBox="1"/>
            <p:nvPr/>
          </p:nvSpPr>
          <p:spPr>
            <a:xfrm>
              <a:off x="2258536" y="886626"/>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graphicFrame>
        <p:nvGraphicFramePr>
          <p:cNvPr id="1342" name="Google Shape;1342;p86"/>
          <p:cNvGraphicFramePr/>
          <p:nvPr/>
        </p:nvGraphicFramePr>
        <p:xfrm>
          <a:off x="6892925" y="4005263"/>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343" name="Google Shape;1343;p86"/>
          <p:cNvGraphicFramePr/>
          <p:nvPr/>
        </p:nvGraphicFramePr>
        <p:xfrm>
          <a:off x="6877050" y="5468938"/>
          <a:ext cx="3000000" cy="3000000"/>
        </p:xfrm>
        <a:graphic>
          <a:graphicData uri="http://schemas.openxmlformats.org/drawingml/2006/table">
            <a:tbl>
              <a:tblPr>
                <a:noFill/>
                <a:tableStyleId>{DA31C186-C125-4E34-A739-053F885C22C1}</a:tableStyleId>
              </a:tblPr>
              <a:tblGrid>
                <a:gridCol w="1008075"/>
                <a:gridCol w="119380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9900"/>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9900"/>
                    </a:solidFill>
                  </a:tcPr>
                </a:tc>
              </a:tr>
            </a:tbl>
          </a:graphicData>
        </a:graphic>
      </p:graphicFrame>
      <p:sp>
        <p:nvSpPr>
          <p:cNvPr descr="TextBox 54" id="1344" name="Google Shape;1344;p86"/>
          <p:cNvSpPr txBox="1"/>
          <p:nvPr/>
        </p:nvSpPr>
        <p:spPr>
          <a:xfrm>
            <a:off x="7026275" y="3662363"/>
            <a:ext cx="238442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TextBox 55" id="1345" name="Google Shape;1345;p86"/>
          <p:cNvSpPr txBox="1"/>
          <p:nvPr/>
        </p:nvSpPr>
        <p:spPr>
          <a:xfrm>
            <a:off x="452438" y="4175125"/>
            <a:ext cx="3201987" cy="444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000">
                <a:solidFill>
                  <a:srgbClr val="000000"/>
                </a:solidFill>
                <a:latin typeface="Verdana"/>
                <a:ea typeface="Verdana"/>
                <a:cs typeface="Verdana"/>
                <a:sym typeface="Verdana"/>
              </a:rPr>
              <a:t>Serial schedule T</a:t>
            </a:r>
            <a:r>
              <a:rPr b="1" baseline="-25000" lang="en-US" sz="2000">
                <a:solidFill>
                  <a:srgbClr val="000000"/>
                </a:solidFill>
                <a:latin typeface="Verdana"/>
                <a:ea typeface="Verdana"/>
                <a:cs typeface="Verdana"/>
                <a:sym typeface="Verdana"/>
              </a:rPr>
              <a:t>2</a:t>
            </a:r>
            <a:r>
              <a:rPr b="1" lang="en-US" sz="2000">
                <a:solidFill>
                  <a:srgbClr val="000000"/>
                </a:solidFill>
                <a:latin typeface="Verdana"/>
                <a:ea typeface="Verdana"/>
                <a:cs typeface="Verdana"/>
                <a:sym typeface="Verdana"/>
              </a:rPr>
              <a:t>,T1:</a:t>
            </a:r>
            <a:endParaRPr/>
          </a:p>
        </p:txBody>
      </p:sp>
      <p:sp>
        <p:nvSpPr>
          <p:cNvPr descr="TextBox 56" id="1346" name="Google Shape;1346;p86"/>
          <p:cNvSpPr txBox="1"/>
          <p:nvPr/>
        </p:nvSpPr>
        <p:spPr>
          <a:xfrm>
            <a:off x="366713" y="6488113"/>
            <a:ext cx="6667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800">
                <a:solidFill>
                  <a:srgbClr val="000000"/>
                </a:solidFill>
                <a:latin typeface="Verdana"/>
                <a:ea typeface="Verdana"/>
                <a:cs typeface="Verdana"/>
                <a:sym typeface="Verdana"/>
              </a:rPr>
              <a:t>Time</a:t>
            </a:r>
            <a:endParaRPr/>
          </a:p>
        </p:txBody>
      </p:sp>
      <p:sp>
        <p:nvSpPr>
          <p:cNvPr descr="TextBox 7" id="1347" name="Google Shape;1347;p86"/>
          <p:cNvSpPr txBox="1"/>
          <p:nvPr/>
        </p:nvSpPr>
        <p:spPr>
          <a:xfrm>
            <a:off x="6635750" y="2155825"/>
            <a:ext cx="2451100"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Result of Executing T1, T2</a:t>
            </a:r>
            <a:endParaRPr/>
          </a:p>
        </p:txBody>
      </p:sp>
      <p:sp>
        <p:nvSpPr>
          <p:cNvPr descr="TextBox 57" id="1348" name="Google Shape;1348;p86"/>
          <p:cNvSpPr txBox="1"/>
          <p:nvPr/>
        </p:nvSpPr>
        <p:spPr>
          <a:xfrm>
            <a:off x="6705600" y="5105400"/>
            <a:ext cx="2389188"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Result of Executing T2,T1</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descr="Title 1" id="1353" name="Google Shape;1353;p87"/>
          <p:cNvSpPr txBox="1"/>
          <p:nvPr>
            <p:ph type="title"/>
          </p:nvPr>
        </p:nvSpPr>
        <p:spPr>
          <a:xfrm>
            <a:off x="360363" y="320675"/>
            <a:ext cx="7886700" cy="604838"/>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Problem to Solve</a:t>
            </a:r>
            <a:endParaRPr/>
          </a:p>
        </p:txBody>
      </p:sp>
      <p:sp>
        <p:nvSpPr>
          <p:cNvPr descr="Slide Number Placeholder 3" id="1354" name="Google Shape;1354;p8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355" name="Google Shape;1355;p87"/>
          <p:cNvGrpSpPr/>
          <p:nvPr/>
        </p:nvGrpSpPr>
        <p:grpSpPr>
          <a:xfrm>
            <a:off x="341313" y="3538539"/>
            <a:ext cx="6015037" cy="1708149"/>
            <a:chOff x="0" y="0"/>
            <a:chExt cx="6015152" cy="1707738"/>
          </a:xfrm>
        </p:grpSpPr>
        <p:cxnSp>
          <p:nvCxnSpPr>
            <p:cNvPr descr="Straight Arrow Connector 9" id="1356" name="Google Shape;1356;p87"/>
            <p:cNvCxnSpPr/>
            <p:nvPr/>
          </p:nvCxnSpPr>
          <p:spPr>
            <a:xfrm>
              <a:off x="290615" y="1695825"/>
              <a:ext cx="5595126" cy="11913"/>
            </a:xfrm>
            <a:prstGeom prst="straightConnector1">
              <a:avLst/>
            </a:prstGeom>
            <a:noFill/>
            <a:ln cap="flat" cmpd="sng" w="38100">
              <a:solidFill>
                <a:srgbClr val="808080"/>
              </a:solidFill>
              <a:prstDash val="solid"/>
              <a:round/>
              <a:headEnd len="sm" w="sm" type="none"/>
              <a:tailEnd len="med" w="med" type="triangle"/>
            </a:ln>
          </p:spPr>
        </p:cxnSp>
        <p:sp>
          <p:nvSpPr>
            <p:cNvPr descr="TextBox 10" id="1357" name="Google Shape;1357;p87"/>
            <p:cNvSpPr txBox="1"/>
            <p:nvPr/>
          </p:nvSpPr>
          <p:spPr>
            <a:xfrm>
              <a:off x="0" y="5539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358" name="Google Shape;1358;p87"/>
            <p:cNvSpPr txBox="1"/>
            <p:nvPr/>
          </p:nvSpPr>
          <p:spPr>
            <a:xfrm>
              <a:off x="0" y="911035"/>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359" name="Google Shape;1359;p87"/>
            <p:cNvSpPr txBox="1"/>
            <p:nvPr/>
          </p:nvSpPr>
          <p:spPr>
            <a:xfrm>
              <a:off x="582247" y="0"/>
              <a:ext cx="124081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360" name="Google Shape;1360;p87"/>
            <p:cNvSpPr txBox="1"/>
            <p:nvPr/>
          </p:nvSpPr>
          <p:spPr>
            <a:xfrm>
              <a:off x="3365460" y="41786"/>
              <a:ext cx="1157993"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361" name="Google Shape;1361;p87"/>
            <p:cNvSpPr txBox="1"/>
            <p:nvPr/>
          </p:nvSpPr>
          <p:spPr>
            <a:xfrm>
              <a:off x="1925771" y="877639"/>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362" name="Google Shape;1362;p87"/>
            <p:cNvSpPr txBox="1"/>
            <p:nvPr/>
          </p:nvSpPr>
          <p:spPr>
            <a:xfrm>
              <a:off x="4732478" y="877343"/>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sp>
        <p:nvSpPr>
          <p:cNvPr descr="TextBox 2" id="1363" name="Google Shape;1363;p87"/>
          <p:cNvSpPr txBox="1"/>
          <p:nvPr/>
        </p:nvSpPr>
        <p:spPr>
          <a:xfrm>
            <a:off x="5830888" y="1628775"/>
            <a:ext cx="249713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Serial schedule results:</a:t>
            </a:r>
            <a:endParaRPr/>
          </a:p>
        </p:txBody>
      </p:sp>
      <p:graphicFrame>
        <p:nvGraphicFramePr>
          <p:cNvPr id="1364" name="Google Shape;1364;p87"/>
          <p:cNvGraphicFramePr/>
          <p:nvPr/>
        </p:nvGraphicFramePr>
        <p:xfrm>
          <a:off x="5364163" y="1912938"/>
          <a:ext cx="3000000" cy="3000000"/>
        </p:xfrm>
        <a:graphic>
          <a:graphicData uri="http://schemas.openxmlformats.org/drawingml/2006/table">
            <a:tbl>
              <a:tblPr>
                <a:noFill/>
                <a:tableStyleId>{DA31C186-C125-4E34-A739-053F885C22C1}</a:tableStyleId>
              </a:tblPr>
              <a:tblGrid>
                <a:gridCol w="987425"/>
                <a:gridCol w="936625"/>
                <a:gridCol w="1338250"/>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365" name="Google Shape;1365;p87"/>
          <p:cNvGraphicFramePr/>
          <p:nvPr/>
        </p:nvGraphicFramePr>
        <p:xfrm>
          <a:off x="682625" y="2122488"/>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1366" name="Google Shape;1366;p87"/>
          <p:cNvSpPr txBox="1"/>
          <p:nvPr/>
        </p:nvSpPr>
        <p:spPr>
          <a:xfrm>
            <a:off x="700088" y="1766888"/>
            <a:ext cx="23860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Rectangle 19" id="1367" name="Google Shape;1367;p87"/>
          <p:cNvSpPr txBox="1"/>
          <p:nvPr/>
        </p:nvSpPr>
        <p:spPr>
          <a:xfrm>
            <a:off x="608013" y="5661025"/>
            <a:ext cx="6869112" cy="717550"/>
          </a:xfrm>
          <a:prstGeom prst="rect">
            <a:avLst/>
          </a:prstGeom>
          <a:noFill/>
          <a:ln>
            <a:noFill/>
          </a:ln>
        </p:spPr>
        <p:txBody>
          <a:bodyPr anchorCtr="0" anchor="t" bIns="45700" lIns="45700" spcFirstLastPara="1" rIns="45700" wrap="square" tIns="45700">
            <a:spAutoFit/>
          </a:bodyPr>
          <a:lstStyle/>
          <a:p>
            <a:pPr indent="0" lvl="0" marL="0" marR="0" rtl="0" algn="l">
              <a:lnSpc>
                <a:spcPct val="80000"/>
              </a:lnSpc>
              <a:spcBef>
                <a:spcPts val="0"/>
              </a:spcBef>
              <a:spcAft>
                <a:spcPts val="0"/>
              </a:spcAft>
              <a:buNone/>
            </a:pPr>
            <a:r>
              <a:rPr lang="en-US" sz="1600">
                <a:solidFill>
                  <a:srgbClr val="000000"/>
                </a:solidFill>
                <a:latin typeface="Verdana"/>
                <a:ea typeface="Verdana"/>
                <a:cs typeface="Verdana"/>
                <a:sym typeface="Verdana"/>
              </a:rPr>
              <a:t>Note:To check whether given schedule is serializable or not, we should check whether the given interleaved schedule result is equivalent to result of some serial schedule</a:t>
            </a:r>
            <a:endParaRPr/>
          </a:p>
        </p:txBody>
      </p:sp>
      <p:sp>
        <p:nvSpPr>
          <p:cNvPr descr="TextBox 4" id="1368" name="Google Shape;1368;p87"/>
          <p:cNvSpPr txBox="1"/>
          <p:nvPr/>
        </p:nvSpPr>
        <p:spPr>
          <a:xfrm>
            <a:off x="296863" y="1052513"/>
            <a:ext cx="737235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Check whether the following schedule i.e., (A+=100, A*=1.06,</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B-=100, B*=1.06) is Serializable ?</a:t>
            </a:r>
            <a:endParaRPr/>
          </a:p>
        </p:txBody>
      </p:sp>
      <p:sp>
        <p:nvSpPr>
          <p:cNvPr descr="Rectangle 5" id="1369" name="Google Shape;1369;p87"/>
          <p:cNvSpPr/>
          <p:nvPr/>
        </p:nvSpPr>
        <p:spPr>
          <a:xfrm>
            <a:off x="250825" y="3365500"/>
            <a:ext cx="6480175" cy="2189163"/>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 id="1370" name="Google Shape;1370;p87"/>
          <p:cNvSpPr txBox="1"/>
          <p:nvPr/>
        </p:nvSpPr>
        <p:spPr>
          <a:xfrm>
            <a:off x="2363788" y="2995613"/>
            <a:ext cx="25336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Transaction Schedule</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descr="Title 1" id="1375" name="Google Shape;1375;p88"/>
          <p:cNvSpPr txBox="1"/>
          <p:nvPr>
            <p:ph type="title"/>
          </p:nvPr>
        </p:nvSpPr>
        <p:spPr>
          <a:xfrm>
            <a:off x="360363" y="320675"/>
            <a:ext cx="7886700" cy="604838"/>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Serializable, </a:t>
            </a:r>
            <a:r>
              <a:rPr b="1" lang="en-US"/>
              <a:t>Yes</a:t>
            </a:r>
            <a:endParaRPr/>
          </a:p>
        </p:txBody>
      </p:sp>
      <p:sp>
        <p:nvSpPr>
          <p:cNvPr descr="Slide Number Placeholder 3" id="1376" name="Google Shape;1376;p8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377" name="Google Shape;1377;p88"/>
          <p:cNvGrpSpPr/>
          <p:nvPr/>
        </p:nvGrpSpPr>
        <p:grpSpPr>
          <a:xfrm>
            <a:off x="80963" y="3160714"/>
            <a:ext cx="5884862" cy="1708149"/>
            <a:chOff x="0" y="0"/>
            <a:chExt cx="5885741" cy="1707738"/>
          </a:xfrm>
        </p:grpSpPr>
        <p:cxnSp>
          <p:nvCxnSpPr>
            <p:cNvPr descr="Straight Arrow Connector 9" id="1378" name="Google Shape;1378;p88"/>
            <p:cNvCxnSpPr/>
            <p:nvPr/>
          </p:nvCxnSpPr>
          <p:spPr>
            <a:xfrm>
              <a:off x="290615" y="1695825"/>
              <a:ext cx="5595126" cy="11913"/>
            </a:xfrm>
            <a:prstGeom prst="straightConnector1">
              <a:avLst/>
            </a:prstGeom>
            <a:noFill/>
            <a:ln cap="flat" cmpd="sng" w="38100">
              <a:solidFill>
                <a:srgbClr val="808080"/>
              </a:solidFill>
              <a:prstDash val="solid"/>
              <a:round/>
              <a:headEnd len="sm" w="sm" type="none"/>
              <a:tailEnd len="med" w="med" type="triangle"/>
            </a:ln>
          </p:spPr>
        </p:cxnSp>
        <p:sp>
          <p:nvSpPr>
            <p:cNvPr descr="TextBox 10" id="1379" name="Google Shape;1379;p88"/>
            <p:cNvSpPr txBox="1"/>
            <p:nvPr/>
          </p:nvSpPr>
          <p:spPr>
            <a:xfrm>
              <a:off x="0" y="5539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380" name="Google Shape;1380;p88"/>
            <p:cNvSpPr txBox="1"/>
            <p:nvPr/>
          </p:nvSpPr>
          <p:spPr>
            <a:xfrm>
              <a:off x="0" y="911035"/>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381" name="Google Shape;1381;p88"/>
            <p:cNvSpPr txBox="1"/>
            <p:nvPr/>
          </p:nvSpPr>
          <p:spPr>
            <a:xfrm>
              <a:off x="582247" y="0"/>
              <a:ext cx="124081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382" name="Google Shape;1382;p88"/>
            <p:cNvSpPr txBox="1"/>
            <p:nvPr/>
          </p:nvSpPr>
          <p:spPr>
            <a:xfrm>
              <a:off x="3248135" y="41786"/>
              <a:ext cx="1157993"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383" name="Google Shape;1383;p88"/>
            <p:cNvSpPr txBox="1"/>
            <p:nvPr/>
          </p:nvSpPr>
          <p:spPr>
            <a:xfrm>
              <a:off x="1745655" y="877639"/>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384" name="Google Shape;1384;p88"/>
            <p:cNvSpPr txBox="1"/>
            <p:nvPr/>
          </p:nvSpPr>
          <p:spPr>
            <a:xfrm>
              <a:off x="4562792" y="877343"/>
              <a:ext cx="1282673"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sp>
        <p:nvSpPr>
          <p:cNvPr descr="TextBox 46" id="1385" name="Google Shape;1385;p88"/>
          <p:cNvSpPr txBox="1"/>
          <p:nvPr/>
        </p:nvSpPr>
        <p:spPr>
          <a:xfrm>
            <a:off x="6454775" y="4795838"/>
            <a:ext cx="2525713" cy="1209675"/>
          </a:xfrm>
          <a:prstGeom prst="rect">
            <a:avLst/>
          </a:prstGeom>
          <a:solidFill>
            <a:srgbClr val="FFBEBE"/>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Same as a serial schedule </a:t>
            </a:r>
            <a:r>
              <a:rPr b="1" i="1" lang="en-US" sz="1800">
                <a:solidFill>
                  <a:srgbClr val="000000"/>
                </a:solidFill>
                <a:latin typeface="Verdana"/>
                <a:ea typeface="Verdana"/>
                <a:cs typeface="Verdana"/>
                <a:sym typeface="Verdana"/>
              </a:rPr>
              <a:t>for all possible values of A, B = </a:t>
            </a:r>
            <a:r>
              <a:rPr b="1" lang="en-US" sz="1800" u="sng">
                <a:solidFill>
                  <a:srgbClr val="000000"/>
                </a:solidFill>
                <a:latin typeface="Verdana"/>
                <a:ea typeface="Verdana"/>
                <a:cs typeface="Verdana"/>
                <a:sym typeface="Verdana"/>
              </a:rPr>
              <a:t>serializable</a:t>
            </a:r>
            <a:endParaRPr sz="1800">
              <a:solidFill>
                <a:srgbClr val="000000"/>
              </a:solidFill>
              <a:latin typeface="Verdana"/>
              <a:ea typeface="Verdana"/>
              <a:cs typeface="Verdana"/>
              <a:sym typeface="Verdana"/>
            </a:endParaRPr>
          </a:p>
        </p:txBody>
      </p:sp>
      <p:sp>
        <p:nvSpPr>
          <p:cNvPr descr="TextBox 2" id="1386" name="Google Shape;1386;p88"/>
          <p:cNvSpPr txBox="1"/>
          <p:nvPr/>
        </p:nvSpPr>
        <p:spPr>
          <a:xfrm>
            <a:off x="5611813" y="1011238"/>
            <a:ext cx="2284412" cy="396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Serial schedules:</a:t>
            </a:r>
            <a:endParaRPr/>
          </a:p>
        </p:txBody>
      </p:sp>
      <p:graphicFrame>
        <p:nvGraphicFramePr>
          <p:cNvPr id="1387" name="Google Shape;1387;p88"/>
          <p:cNvGraphicFramePr/>
          <p:nvPr/>
        </p:nvGraphicFramePr>
        <p:xfrm>
          <a:off x="5435600" y="1368425"/>
          <a:ext cx="3000000" cy="3000000"/>
        </p:xfrm>
        <a:graphic>
          <a:graphicData uri="http://schemas.openxmlformats.org/drawingml/2006/table">
            <a:tbl>
              <a:tblPr>
                <a:noFill/>
                <a:tableStyleId>{DA31C186-C125-4E34-A739-053F885C22C1}</a:tableStyleId>
              </a:tblPr>
              <a:tblGrid>
                <a:gridCol w="987425"/>
                <a:gridCol w="936625"/>
                <a:gridCol w="133827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388" name="Google Shape;1388;p88"/>
          <p:cNvGraphicFramePr/>
          <p:nvPr/>
        </p:nvGraphicFramePr>
        <p:xfrm>
          <a:off x="6575425" y="3857625"/>
          <a:ext cx="3000000" cy="3000000"/>
        </p:xfrm>
        <a:graphic>
          <a:graphicData uri="http://schemas.openxmlformats.org/drawingml/2006/table">
            <a:tbl>
              <a:tblPr>
                <a:noFill/>
                <a:tableStyleId>{DA31C186-C125-4E34-A739-053F885C22C1}</a:tableStyleId>
              </a:tblPr>
              <a:tblGrid>
                <a:gridCol w="1052525"/>
                <a:gridCol w="107472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Rounded Rectangle 16" id="1389" name="Google Shape;1389;p88"/>
          <p:cNvSpPr/>
          <p:nvPr/>
        </p:nvSpPr>
        <p:spPr>
          <a:xfrm>
            <a:off x="5435600" y="1700213"/>
            <a:ext cx="3311525" cy="423862"/>
          </a:xfrm>
          <a:prstGeom prst="roundRect">
            <a:avLst>
              <a:gd fmla="val 16667" name="adj"/>
            </a:avLst>
          </a:prstGeom>
          <a:noFill/>
          <a:ln cap="flat" cmpd="sng" w="25400">
            <a:solidFill>
              <a:srgbClr val="00B050"/>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graphicFrame>
        <p:nvGraphicFramePr>
          <p:cNvPr id="1390" name="Google Shape;1390;p88"/>
          <p:cNvGraphicFramePr/>
          <p:nvPr/>
        </p:nvGraphicFramePr>
        <p:xfrm>
          <a:off x="682625" y="1433513"/>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1391" name="Google Shape;1391;p88"/>
          <p:cNvSpPr txBox="1"/>
          <p:nvPr/>
        </p:nvSpPr>
        <p:spPr>
          <a:xfrm>
            <a:off x="700088" y="1052513"/>
            <a:ext cx="238601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Rounded Rectangle 23" id="1392" name="Google Shape;1392;p88"/>
          <p:cNvSpPr/>
          <p:nvPr/>
        </p:nvSpPr>
        <p:spPr>
          <a:xfrm>
            <a:off x="6507163" y="4222750"/>
            <a:ext cx="2312987" cy="371475"/>
          </a:xfrm>
          <a:prstGeom prst="roundRect">
            <a:avLst>
              <a:gd fmla="val 16667" name="adj"/>
            </a:avLst>
          </a:prstGeom>
          <a:noFill/>
          <a:ln cap="flat" cmpd="sng" w="25400">
            <a:solidFill>
              <a:srgbClr val="00B050"/>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rgbClr val="FFFFFF"/>
              </a:solidFill>
              <a:latin typeface="Verdana"/>
              <a:ea typeface="Verdana"/>
              <a:cs typeface="Verdana"/>
              <a:sym typeface="Verdana"/>
            </a:endParaRPr>
          </a:p>
        </p:txBody>
      </p:sp>
      <p:sp>
        <p:nvSpPr>
          <p:cNvPr descr="Rectangle 19" id="1393" name="Google Shape;1393;p88"/>
          <p:cNvSpPr/>
          <p:nvPr/>
        </p:nvSpPr>
        <p:spPr>
          <a:xfrm>
            <a:off x="106363" y="2933700"/>
            <a:ext cx="6121400" cy="2189163"/>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1394" name="Google Shape;1394;p88"/>
          <p:cNvSpPr txBox="1"/>
          <p:nvPr/>
        </p:nvSpPr>
        <p:spPr>
          <a:xfrm>
            <a:off x="2220913" y="2563813"/>
            <a:ext cx="25320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Transaction Schedule</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descr="Title 1" id="1399" name="Google Shape;1399;p89"/>
          <p:cNvSpPr txBox="1"/>
          <p:nvPr>
            <p:ph type="title"/>
          </p:nvPr>
        </p:nvSpPr>
        <p:spPr>
          <a:xfrm>
            <a:off x="360363" y="320675"/>
            <a:ext cx="7886700" cy="604838"/>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Problem to Solve</a:t>
            </a:r>
            <a:endParaRPr/>
          </a:p>
        </p:txBody>
      </p:sp>
      <p:sp>
        <p:nvSpPr>
          <p:cNvPr descr="Slide Number Placeholder 3" id="1400" name="Google Shape;1400;p8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401" name="Google Shape;1401;p89"/>
          <p:cNvGrpSpPr/>
          <p:nvPr/>
        </p:nvGrpSpPr>
        <p:grpSpPr>
          <a:xfrm>
            <a:off x="341313" y="3538539"/>
            <a:ext cx="6046788" cy="1708149"/>
            <a:chOff x="0" y="0"/>
            <a:chExt cx="6046331" cy="1707738"/>
          </a:xfrm>
        </p:grpSpPr>
        <p:cxnSp>
          <p:nvCxnSpPr>
            <p:cNvPr descr="Straight Arrow Connector 9" id="1402" name="Google Shape;1402;p89"/>
            <p:cNvCxnSpPr/>
            <p:nvPr/>
          </p:nvCxnSpPr>
          <p:spPr>
            <a:xfrm>
              <a:off x="290615" y="1695825"/>
              <a:ext cx="5595126" cy="11913"/>
            </a:xfrm>
            <a:prstGeom prst="straightConnector1">
              <a:avLst/>
            </a:prstGeom>
            <a:noFill/>
            <a:ln cap="flat" cmpd="sng" w="38100">
              <a:solidFill>
                <a:srgbClr val="808080"/>
              </a:solidFill>
              <a:prstDash val="solid"/>
              <a:round/>
              <a:headEnd len="sm" w="sm" type="none"/>
              <a:tailEnd len="med" w="med" type="triangle"/>
            </a:ln>
          </p:spPr>
        </p:cxnSp>
        <p:sp>
          <p:nvSpPr>
            <p:cNvPr descr="TextBox 10" id="1403" name="Google Shape;1403;p89"/>
            <p:cNvSpPr txBox="1"/>
            <p:nvPr/>
          </p:nvSpPr>
          <p:spPr>
            <a:xfrm>
              <a:off x="0" y="5539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404" name="Google Shape;1404;p89"/>
            <p:cNvSpPr txBox="1"/>
            <p:nvPr/>
          </p:nvSpPr>
          <p:spPr>
            <a:xfrm>
              <a:off x="0" y="911035"/>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405" name="Google Shape;1405;p89"/>
            <p:cNvSpPr txBox="1"/>
            <p:nvPr/>
          </p:nvSpPr>
          <p:spPr>
            <a:xfrm>
              <a:off x="582247" y="0"/>
              <a:ext cx="1240815"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406" name="Google Shape;1406;p89"/>
            <p:cNvSpPr txBox="1"/>
            <p:nvPr/>
          </p:nvSpPr>
          <p:spPr>
            <a:xfrm>
              <a:off x="4888338" y="41786"/>
              <a:ext cx="1157993"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407" name="Google Shape;1407;p89"/>
            <p:cNvSpPr txBox="1"/>
            <p:nvPr/>
          </p:nvSpPr>
          <p:spPr>
            <a:xfrm>
              <a:off x="1925771" y="877639"/>
              <a:ext cx="1282227"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408" name="Google Shape;1408;p89"/>
            <p:cNvSpPr txBox="1"/>
            <p:nvPr/>
          </p:nvSpPr>
          <p:spPr>
            <a:xfrm>
              <a:off x="3436334" y="877343"/>
              <a:ext cx="1282674"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sp>
        <p:nvSpPr>
          <p:cNvPr descr="TextBox 2" id="1409" name="Google Shape;1409;p89"/>
          <p:cNvSpPr txBox="1"/>
          <p:nvPr/>
        </p:nvSpPr>
        <p:spPr>
          <a:xfrm>
            <a:off x="5830888" y="1628775"/>
            <a:ext cx="249713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Serial schedule results:</a:t>
            </a:r>
            <a:endParaRPr/>
          </a:p>
        </p:txBody>
      </p:sp>
      <p:graphicFrame>
        <p:nvGraphicFramePr>
          <p:cNvPr id="1410" name="Google Shape;1410;p89"/>
          <p:cNvGraphicFramePr/>
          <p:nvPr/>
        </p:nvGraphicFramePr>
        <p:xfrm>
          <a:off x="5364163" y="1912938"/>
          <a:ext cx="3000000" cy="3000000"/>
        </p:xfrm>
        <a:graphic>
          <a:graphicData uri="http://schemas.openxmlformats.org/drawingml/2006/table">
            <a:tbl>
              <a:tblPr>
                <a:noFill/>
                <a:tableStyleId>{DA31C186-C125-4E34-A739-053F885C22C1}</a:tableStyleId>
              </a:tblPr>
              <a:tblGrid>
                <a:gridCol w="987425"/>
                <a:gridCol w="936625"/>
                <a:gridCol w="1338250"/>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411" name="Google Shape;1411;p89"/>
          <p:cNvGraphicFramePr/>
          <p:nvPr/>
        </p:nvGraphicFramePr>
        <p:xfrm>
          <a:off x="682625" y="2122488"/>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1412" name="Google Shape;1412;p89"/>
          <p:cNvSpPr txBox="1"/>
          <p:nvPr/>
        </p:nvSpPr>
        <p:spPr>
          <a:xfrm>
            <a:off x="700088" y="1766888"/>
            <a:ext cx="23860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Rectangle 19" id="1413" name="Google Shape;1413;p89"/>
          <p:cNvSpPr txBox="1"/>
          <p:nvPr/>
        </p:nvSpPr>
        <p:spPr>
          <a:xfrm>
            <a:off x="608013" y="5661025"/>
            <a:ext cx="6869112" cy="717550"/>
          </a:xfrm>
          <a:prstGeom prst="rect">
            <a:avLst/>
          </a:prstGeom>
          <a:noFill/>
          <a:ln>
            <a:noFill/>
          </a:ln>
        </p:spPr>
        <p:txBody>
          <a:bodyPr anchorCtr="0" anchor="t" bIns="45700" lIns="45700" spcFirstLastPara="1" rIns="45700" wrap="square" tIns="45700">
            <a:spAutoFit/>
          </a:bodyPr>
          <a:lstStyle/>
          <a:p>
            <a:pPr indent="0" lvl="0" marL="0" marR="0" rtl="0" algn="l">
              <a:lnSpc>
                <a:spcPct val="80000"/>
              </a:lnSpc>
              <a:spcBef>
                <a:spcPts val="0"/>
              </a:spcBef>
              <a:spcAft>
                <a:spcPts val="0"/>
              </a:spcAft>
              <a:buNone/>
            </a:pPr>
            <a:r>
              <a:rPr lang="en-US" sz="1600">
                <a:solidFill>
                  <a:srgbClr val="000000"/>
                </a:solidFill>
                <a:latin typeface="Verdana"/>
                <a:ea typeface="Verdana"/>
                <a:cs typeface="Verdana"/>
                <a:sym typeface="Verdana"/>
              </a:rPr>
              <a:t>Note:To check whether given schedule is serializable or not, we should check whether the given interleaved schedule result is equivalent to result of some serial schedule</a:t>
            </a:r>
            <a:endParaRPr/>
          </a:p>
        </p:txBody>
      </p:sp>
      <p:sp>
        <p:nvSpPr>
          <p:cNvPr descr="TextBox 4" id="1414" name="Google Shape;1414;p89"/>
          <p:cNvSpPr txBox="1"/>
          <p:nvPr/>
        </p:nvSpPr>
        <p:spPr>
          <a:xfrm>
            <a:off x="296863" y="1052513"/>
            <a:ext cx="737235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Check whether the following schedule i.e., (A+=100, A*=1.06,</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B-=100, B*=1.06) is Serializable ?</a:t>
            </a:r>
            <a:endParaRPr/>
          </a:p>
        </p:txBody>
      </p:sp>
      <p:sp>
        <p:nvSpPr>
          <p:cNvPr descr="Rectangle 5" id="1415" name="Google Shape;1415;p89"/>
          <p:cNvSpPr/>
          <p:nvPr/>
        </p:nvSpPr>
        <p:spPr>
          <a:xfrm>
            <a:off x="250825" y="3365500"/>
            <a:ext cx="6480175" cy="2189163"/>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 id="1416" name="Google Shape;1416;p89"/>
          <p:cNvSpPr txBox="1"/>
          <p:nvPr/>
        </p:nvSpPr>
        <p:spPr>
          <a:xfrm>
            <a:off x="2363788" y="2995613"/>
            <a:ext cx="25336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Transaction Schedule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descr="Title 1" id="1421" name="Google Shape;1421;p90"/>
          <p:cNvSpPr txBox="1"/>
          <p:nvPr>
            <p:ph type="title"/>
          </p:nvPr>
        </p:nvSpPr>
        <p:spPr>
          <a:xfrm>
            <a:off x="360363" y="320675"/>
            <a:ext cx="7886700" cy="604838"/>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Serializable, </a:t>
            </a:r>
            <a:r>
              <a:rPr b="1" lang="en-US"/>
              <a:t>No</a:t>
            </a:r>
            <a:endParaRPr/>
          </a:p>
        </p:txBody>
      </p:sp>
      <p:sp>
        <p:nvSpPr>
          <p:cNvPr descr="Slide Number Placeholder 3" id="1422" name="Google Shape;1422;p90"/>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1423" name="Google Shape;1423;p90"/>
          <p:cNvGrpSpPr/>
          <p:nvPr/>
        </p:nvGrpSpPr>
        <p:grpSpPr>
          <a:xfrm>
            <a:off x="80963" y="3160714"/>
            <a:ext cx="6062662" cy="1708149"/>
            <a:chOff x="0" y="0"/>
            <a:chExt cx="6062762" cy="1707738"/>
          </a:xfrm>
        </p:grpSpPr>
        <p:cxnSp>
          <p:nvCxnSpPr>
            <p:cNvPr descr="Straight Arrow Connector 9" id="1424" name="Google Shape;1424;p90"/>
            <p:cNvCxnSpPr/>
            <p:nvPr/>
          </p:nvCxnSpPr>
          <p:spPr>
            <a:xfrm>
              <a:off x="290615" y="1695825"/>
              <a:ext cx="5595126" cy="11913"/>
            </a:xfrm>
            <a:prstGeom prst="straightConnector1">
              <a:avLst/>
            </a:prstGeom>
            <a:noFill/>
            <a:ln cap="flat" cmpd="sng" w="38100">
              <a:solidFill>
                <a:srgbClr val="808080"/>
              </a:solidFill>
              <a:prstDash val="solid"/>
              <a:round/>
              <a:headEnd len="sm" w="sm" type="none"/>
              <a:tailEnd len="med" w="med" type="triangle"/>
            </a:ln>
          </p:spPr>
        </p:cxnSp>
        <p:sp>
          <p:nvSpPr>
            <p:cNvPr descr="TextBox 10" id="1425" name="Google Shape;1425;p90"/>
            <p:cNvSpPr txBox="1"/>
            <p:nvPr/>
          </p:nvSpPr>
          <p:spPr>
            <a:xfrm>
              <a:off x="0" y="55390"/>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C00000"/>
                  </a:solidFill>
                  <a:latin typeface="Verdana"/>
                  <a:ea typeface="Verdana"/>
                  <a:cs typeface="Verdana"/>
                  <a:sym typeface="Verdana"/>
                </a:rPr>
                <a:t>T</a:t>
              </a:r>
              <a:r>
                <a:rPr b="1" baseline="-25000" lang="en-US" sz="2800">
                  <a:solidFill>
                    <a:srgbClr val="C00000"/>
                  </a:solidFill>
                  <a:latin typeface="Verdana"/>
                  <a:ea typeface="Verdana"/>
                  <a:cs typeface="Verdana"/>
                  <a:sym typeface="Verdana"/>
                </a:rPr>
                <a:t>1</a:t>
              </a:r>
              <a:endParaRPr b="1" sz="2800">
                <a:solidFill>
                  <a:srgbClr val="C00000"/>
                </a:solidFill>
                <a:latin typeface="Verdana"/>
                <a:ea typeface="Verdana"/>
                <a:cs typeface="Verdana"/>
                <a:sym typeface="Verdana"/>
              </a:endParaRPr>
            </a:p>
          </p:txBody>
        </p:sp>
        <p:sp>
          <p:nvSpPr>
            <p:cNvPr descr="TextBox 11" id="1426" name="Google Shape;1426;p90"/>
            <p:cNvSpPr txBox="1"/>
            <p:nvPr/>
          </p:nvSpPr>
          <p:spPr>
            <a:xfrm>
              <a:off x="0" y="911035"/>
              <a:ext cx="515071" cy="59080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2800">
                  <a:solidFill>
                    <a:srgbClr val="0070C0"/>
                  </a:solidFill>
                  <a:latin typeface="Verdana"/>
                  <a:ea typeface="Verdana"/>
                  <a:cs typeface="Verdana"/>
                  <a:sym typeface="Verdana"/>
                </a:rPr>
                <a:t>T</a:t>
              </a:r>
              <a:r>
                <a:rPr b="1" baseline="-25000" lang="en-US" sz="2800">
                  <a:solidFill>
                    <a:srgbClr val="0070C0"/>
                  </a:solidFill>
                  <a:latin typeface="Verdana"/>
                  <a:ea typeface="Verdana"/>
                  <a:cs typeface="Verdana"/>
                  <a:sym typeface="Verdana"/>
                </a:rPr>
                <a:t>2</a:t>
              </a:r>
              <a:endParaRPr b="1" sz="2800">
                <a:solidFill>
                  <a:srgbClr val="0070C0"/>
                </a:solidFill>
                <a:latin typeface="Verdana"/>
                <a:ea typeface="Verdana"/>
                <a:cs typeface="Verdana"/>
                <a:sym typeface="Verdana"/>
              </a:endParaRPr>
            </a:p>
          </p:txBody>
        </p:sp>
        <p:sp>
          <p:nvSpPr>
            <p:cNvPr descr="TextBox 12" id="1427" name="Google Shape;1427;p90"/>
            <p:cNvSpPr txBox="1"/>
            <p:nvPr/>
          </p:nvSpPr>
          <p:spPr>
            <a:xfrm>
              <a:off x="486623" y="0"/>
              <a:ext cx="1240816" cy="380365"/>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100</a:t>
              </a:r>
              <a:endParaRPr/>
            </a:p>
          </p:txBody>
        </p:sp>
        <p:sp>
          <p:nvSpPr>
            <p:cNvPr descr="TextBox 13" id="1428" name="Google Shape;1428;p90"/>
            <p:cNvSpPr txBox="1"/>
            <p:nvPr/>
          </p:nvSpPr>
          <p:spPr>
            <a:xfrm>
              <a:off x="4904769" y="55390"/>
              <a:ext cx="1157993" cy="380366"/>
            </a:xfrm>
            <a:prstGeom prst="rect">
              <a:avLst/>
            </a:prstGeom>
            <a:solidFill>
              <a:srgbClr val="C00000">
                <a:alpha val="20000"/>
              </a:srgbClr>
            </a:solidFill>
            <a:ln cap="flat" cmpd="sng" w="9525">
              <a:solidFill>
                <a:srgbClr val="C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100</a:t>
              </a:r>
              <a:endParaRPr/>
            </a:p>
          </p:txBody>
        </p:sp>
        <p:sp>
          <p:nvSpPr>
            <p:cNvPr descr="TextBox 14" id="1429" name="Google Shape;1429;p90"/>
            <p:cNvSpPr txBox="1"/>
            <p:nvPr/>
          </p:nvSpPr>
          <p:spPr>
            <a:xfrm>
              <a:off x="1902635" y="877639"/>
              <a:ext cx="1282228"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 *= 1.06</a:t>
              </a:r>
              <a:endParaRPr/>
            </a:p>
          </p:txBody>
        </p:sp>
        <p:sp>
          <p:nvSpPr>
            <p:cNvPr descr="TextBox 15" id="1430" name="Google Shape;1430;p90"/>
            <p:cNvSpPr txBox="1"/>
            <p:nvPr/>
          </p:nvSpPr>
          <p:spPr>
            <a:xfrm>
              <a:off x="3468091" y="867624"/>
              <a:ext cx="1282673" cy="380366"/>
            </a:xfrm>
            <a:prstGeom prst="rect">
              <a:avLst/>
            </a:prstGeom>
            <a:solidFill>
              <a:srgbClr val="0070C0">
                <a:alpha val="20000"/>
              </a:srgbClr>
            </a:solidFill>
            <a:ln cap="flat" cmpd="sng" w="9525">
              <a:solidFill>
                <a:srgbClr val="0070C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B *= 1.06</a:t>
              </a:r>
              <a:endParaRPr/>
            </a:p>
          </p:txBody>
        </p:sp>
      </p:grpSp>
      <p:sp>
        <p:nvSpPr>
          <p:cNvPr descr="TextBox 46" id="1431" name="Google Shape;1431;p90"/>
          <p:cNvSpPr txBox="1"/>
          <p:nvPr/>
        </p:nvSpPr>
        <p:spPr>
          <a:xfrm>
            <a:off x="6659563" y="4795838"/>
            <a:ext cx="2238375" cy="1209675"/>
          </a:xfrm>
          <a:prstGeom prst="rect">
            <a:avLst/>
          </a:prstGeom>
          <a:solidFill>
            <a:srgbClr val="FFBEBE"/>
          </a:solidFill>
          <a:ln>
            <a:noFill/>
          </a:ln>
          <a:effectLst>
            <a:outerShdw blurRad="50800" rotWithShape="0" algn="ctr" dir="2700000" dist="12700">
              <a:srgbClr val="000000">
                <a:alpha val="40000"/>
              </a:srgbClr>
            </a:outerShdw>
          </a:effectLst>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Not </a:t>
            </a:r>
            <a:r>
              <a:rPr i="1" lang="en-US" sz="1800">
                <a:solidFill>
                  <a:srgbClr val="000000"/>
                </a:solidFill>
                <a:latin typeface="Verdana"/>
                <a:ea typeface="Verdana"/>
                <a:cs typeface="Verdana"/>
                <a:sym typeface="Verdana"/>
              </a:rPr>
              <a:t>equivalent</a:t>
            </a:r>
            <a:r>
              <a:rPr lang="en-US" sz="1800">
                <a:solidFill>
                  <a:srgbClr val="000000"/>
                </a:solidFill>
                <a:latin typeface="Verdana"/>
                <a:ea typeface="Verdana"/>
                <a:cs typeface="Verdana"/>
                <a:sym typeface="Verdana"/>
              </a:rPr>
              <a:t> to any serial schedule</a:t>
            </a:r>
            <a:r>
              <a:rPr b="1" i="1" lang="en-US" sz="1800">
                <a:solidFill>
                  <a:srgbClr val="000000"/>
                </a:solidFill>
                <a:latin typeface="Verdana"/>
                <a:ea typeface="Verdana"/>
                <a:cs typeface="Verdana"/>
                <a:sym typeface="Verdana"/>
              </a:rPr>
              <a:t> = not </a:t>
            </a:r>
            <a:r>
              <a:rPr b="1" lang="en-US" sz="1800" u="sng">
                <a:solidFill>
                  <a:srgbClr val="000000"/>
                </a:solidFill>
                <a:latin typeface="Verdana"/>
                <a:ea typeface="Verdana"/>
                <a:cs typeface="Verdana"/>
                <a:sym typeface="Verdana"/>
              </a:rPr>
              <a:t>serializable</a:t>
            </a:r>
            <a:endParaRPr sz="1800">
              <a:solidFill>
                <a:srgbClr val="000000"/>
              </a:solidFill>
              <a:latin typeface="Verdana"/>
              <a:ea typeface="Verdana"/>
              <a:cs typeface="Verdana"/>
              <a:sym typeface="Verdana"/>
            </a:endParaRPr>
          </a:p>
        </p:txBody>
      </p:sp>
      <p:sp>
        <p:nvSpPr>
          <p:cNvPr descr="TextBox 2" id="1432" name="Google Shape;1432;p90"/>
          <p:cNvSpPr txBox="1"/>
          <p:nvPr/>
        </p:nvSpPr>
        <p:spPr>
          <a:xfrm>
            <a:off x="5611813" y="1011238"/>
            <a:ext cx="2284412" cy="396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Serial schedules:</a:t>
            </a:r>
            <a:endParaRPr/>
          </a:p>
        </p:txBody>
      </p:sp>
      <p:graphicFrame>
        <p:nvGraphicFramePr>
          <p:cNvPr id="1433" name="Google Shape;1433;p90"/>
          <p:cNvGraphicFramePr/>
          <p:nvPr/>
        </p:nvGraphicFramePr>
        <p:xfrm>
          <a:off x="5435600" y="1368425"/>
          <a:ext cx="3000000" cy="3000000"/>
        </p:xfrm>
        <a:graphic>
          <a:graphicData uri="http://schemas.openxmlformats.org/drawingml/2006/table">
            <a:tbl>
              <a:tblPr>
                <a:noFill/>
                <a:tableStyleId>{DA31C186-C125-4E34-A739-053F885C22C1}</a:tableStyleId>
              </a:tblPr>
              <a:tblGrid>
                <a:gridCol w="987425"/>
                <a:gridCol w="936625"/>
                <a:gridCol w="133827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Rs.106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705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2</a:t>
                      </a:r>
                      <a:r>
                        <a:rPr b="0" i="0" lang="en-US" sz="1800" u="none" cap="none" strike="noStrike">
                          <a:solidFill>
                            <a:srgbClr val="000000"/>
                          </a:solidFill>
                          <a:latin typeface="Verdana"/>
                          <a:ea typeface="Verdana"/>
                          <a:cs typeface="Verdana"/>
                          <a:sym typeface="Verdana"/>
                        </a:rPr>
                        <a:t>,T</a:t>
                      </a:r>
                      <a:r>
                        <a:rPr b="0" baseline="-25000" i="0" lang="en-US" sz="18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  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434" name="Google Shape;1434;p90"/>
          <p:cNvGraphicFramePr/>
          <p:nvPr/>
        </p:nvGraphicFramePr>
        <p:xfrm>
          <a:off x="6575425" y="3857625"/>
          <a:ext cx="3000000" cy="3000000"/>
        </p:xfrm>
        <a:graphic>
          <a:graphicData uri="http://schemas.openxmlformats.org/drawingml/2006/table">
            <a:tbl>
              <a:tblPr>
                <a:noFill/>
                <a:tableStyleId>{DA31C186-C125-4E34-A739-053F885C22C1}</a:tableStyleId>
              </a:tblPr>
              <a:tblGrid>
                <a:gridCol w="1052525"/>
                <a:gridCol w="1074725"/>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Rs.159</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Rs.112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435" name="Google Shape;1435;p90"/>
          <p:cNvGraphicFramePr/>
          <p:nvPr/>
        </p:nvGraphicFramePr>
        <p:xfrm>
          <a:off x="682625" y="1433513"/>
          <a:ext cx="3000000" cy="3000000"/>
        </p:xfrm>
        <a:graphic>
          <a:graphicData uri="http://schemas.openxmlformats.org/drawingml/2006/table">
            <a:tbl>
              <a:tblPr>
                <a:noFill/>
                <a:tableStyleId>{DA31C186-C125-4E34-A739-053F885C22C1}</a:tableStyleId>
              </a:tblPr>
              <a:tblGrid>
                <a:gridCol w="1071575"/>
                <a:gridCol w="1071550"/>
              </a:tblGrid>
              <a:tr h="4095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095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Rs.200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1436" name="Google Shape;1436;p90"/>
          <p:cNvSpPr txBox="1"/>
          <p:nvPr/>
        </p:nvSpPr>
        <p:spPr>
          <a:xfrm>
            <a:off x="700088" y="1052513"/>
            <a:ext cx="238601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i="1" lang="en-US" sz="1600">
                <a:solidFill>
                  <a:srgbClr val="000000"/>
                </a:solidFill>
                <a:latin typeface="Verdana"/>
                <a:ea typeface="Verdana"/>
                <a:cs typeface="Verdana"/>
                <a:sym typeface="Verdana"/>
              </a:rPr>
              <a:t>Starting Balance</a:t>
            </a:r>
            <a:endParaRPr/>
          </a:p>
        </p:txBody>
      </p:sp>
      <p:sp>
        <p:nvSpPr>
          <p:cNvPr descr="Rectangle 19" id="1437" name="Google Shape;1437;p90"/>
          <p:cNvSpPr/>
          <p:nvPr/>
        </p:nvSpPr>
        <p:spPr>
          <a:xfrm>
            <a:off x="106363" y="2933700"/>
            <a:ext cx="6348412" cy="2189163"/>
          </a:xfrm>
          <a:prstGeom prst="rect">
            <a:avLst/>
          </a:prstGeom>
          <a:noFill/>
          <a:ln cap="flat" cmpd="sng" w="28575">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0" id="1438" name="Google Shape;1438;p90"/>
          <p:cNvSpPr txBox="1"/>
          <p:nvPr/>
        </p:nvSpPr>
        <p:spPr>
          <a:xfrm>
            <a:off x="2220913" y="2563813"/>
            <a:ext cx="25320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Transaction Schedule</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descr="Title 1" id="1443" name="Google Shape;1443;p9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Complete Schedule</a:t>
            </a:r>
            <a:endParaRPr/>
          </a:p>
        </p:txBody>
      </p:sp>
      <p:sp>
        <p:nvSpPr>
          <p:cNvPr descr="Content Placeholder 2" id="1444" name="Google Shape;1444;p9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400"/>
              <a:buFont typeface="Verdana"/>
              <a:buChar char="□"/>
            </a:pPr>
            <a:r>
              <a:rPr lang="en-US" sz="2400"/>
              <a:t>Complete Schedule: A schedule that </a:t>
            </a:r>
            <a:r>
              <a:rPr b="1" lang="en-US" sz="2400"/>
              <a:t>contains either a commit or an abort </a:t>
            </a:r>
            <a:r>
              <a:rPr lang="en-US" sz="2400"/>
              <a:t>action for EACH transaction</a:t>
            </a:r>
            <a:endParaRPr/>
          </a:p>
        </p:txBody>
      </p:sp>
      <p:sp>
        <p:nvSpPr>
          <p:cNvPr descr="Date Placeholder 3" id="1445" name="Google Shape;1445;p9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46" name="Google Shape;1446;p91"/>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1447" name="Google Shape;1447;p91"/>
          <p:cNvSpPr txBox="1"/>
          <p:nvPr/>
        </p:nvSpPr>
        <p:spPr>
          <a:xfrm>
            <a:off x="517525" y="5233988"/>
            <a:ext cx="7993063"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Note: consequently, a complete schedule will not contain any active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transactions at the end of the schedule</a:t>
            </a:r>
            <a:endParaRPr/>
          </a:p>
        </p:txBody>
      </p:sp>
      <p:pic>
        <p:nvPicPr>
          <p:cNvPr descr="Picture 2" id="1448" name="Google Shape;1448;p91"/>
          <p:cNvPicPr preferRelativeResize="0"/>
          <p:nvPr/>
        </p:nvPicPr>
        <p:blipFill rotWithShape="1">
          <a:blip r:embed="rId3">
            <a:alphaModFix/>
          </a:blip>
          <a:srcRect b="0" l="0" r="0" t="0"/>
          <a:stretch/>
        </p:blipFill>
        <p:spPr>
          <a:xfrm>
            <a:off x="1042988" y="2809875"/>
            <a:ext cx="6843712" cy="191452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descr="Title 1" id="1453" name="Google Shape;1453;p9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54" name="Google Shape;1454;p9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800"/>
              <a:buFont typeface="Noto Sans Symbols"/>
              <a:buNone/>
            </a:pPr>
            <a:r>
              <a:rPr lang="en-US" sz="2800"/>
              <a:t>ACID Properties</a:t>
            </a:r>
            <a:endParaRPr/>
          </a:p>
          <a:p>
            <a:pPr indent="0" lvl="0" marL="0" rtl="0" algn="l">
              <a:spcBef>
                <a:spcPts val="600"/>
              </a:spcBef>
              <a:spcAft>
                <a:spcPts val="0"/>
              </a:spcAft>
              <a:buSzPts val="2800"/>
              <a:buFont typeface="Noto Sans Symbols"/>
              <a:buNone/>
            </a:pPr>
            <a:r>
              <a:rPr lang="en-US" sz="2800"/>
              <a:t>1. </a:t>
            </a:r>
            <a:r>
              <a:rPr b="1" lang="en-US" sz="2800"/>
              <a:t>A</a:t>
            </a:r>
            <a:r>
              <a:rPr lang="en-US" sz="2800"/>
              <a:t>tomicity</a:t>
            </a:r>
            <a:endParaRPr/>
          </a:p>
          <a:p>
            <a:pPr indent="0" lvl="0" marL="0" rtl="0" algn="l">
              <a:spcBef>
                <a:spcPts val="600"/>
              </a:spcBef>
              <a:spcAft>
                <a:spcPts val="0"/>
              </a:spcAft>
              <a:buSzPts val="2800"/>
              <a:buFont typeface="Noto Sans Symbols"/>
              <a:buNone/>
            </a:pPr>
            <a:r>
              <a:rPr lang="en-US" sz="2800"/>
              <a:t>2. </a:t>
            </a:r>
            <a:r>
              <a:rPr b="1" lang="en-US" sz="2800"/>
              <a:t>C</a:t>
            </a:r>
            <a:r>
              <a:rPr lang="en-US" sz="2800"/>
              <a:t>onsistency preservation</a:t>
            </a:r>
            <a:endParaRPr/>
          </a:p>
          <a:p>
            <a:pPr indent="0" lvl="0" marL="0" rtl="0" algn="l">
              <a:spcBef>
                <a:spcPts val="600"/>
              </a:spcBef>
              <a:spcAft>
                <a:spcPts val="0"/>
              </a:spcAft>
              <a:buSzPts val="2800"/>
              <a:buFont typeface="Noto Sans Symbols"/>
              <a:buNone/>
            </a:pPr>
            <a:r>
              <a:rPr lang="en-US" sz="2800"/>
              <a:t>3. </a:t>
            </a:r>
            <a:r>
              <a:rPr b="1" lang="en-US" sz="2800"/>
              <a:t>I</a:t>
            </a:r>
            <a:r>
              <a:rPr lang="en-US" sz="2800"/>
              <a:t>solation</a:t>
            </a:r>
            <a:endParaRPr/>
          </a:p>
          <a:p>
            <a:pPr indent="0" lvl="0" marL="0" rtl="0" algn="l">
              <a:spcBef>
                <a:spcPts val="600"/>
              </a:spcBef>
              <a:spcAft>
                <a:spcPts val="0"/>
              </a:spcAft>
              <a:buSzPts val="2800"/>
              <a:buFont typeface="Noto Sans Symbols"/>
              <a:buNone/>
            </a:pPr>
            <a:r>
              <a:rPr lang="en-US" sz="2800"/>
              <a:t>4. </a:t>
            </a:r>
            <a:r>
              <a:rPr b="1" lang="en-US" sz="2800"/>
              <a:t>D</a:t>
            </a:r>
            <a:r>
              <a:rPr lang="en-US" sz="2800"/>
              <a:t>urability or permanency</a:t>
            </a:r>
            <a:endParaRPr/>
          </a:p>
        </p:txBody>
      </p:sp>
      <p:sp>
        <p:nvSpPr>
          <p:cNvPr descr="Date Placeholder 3" id="1455" name="Google Shape;1455;p9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56" name="Google Shape;1456;p92"/>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descr="Title 1" id="1461" name="Google Shape;1461;p9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62" name="Google Shape;1462;p9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800"/>
              <a:buFont typeface="Noto Sans Symbols"/>
              <a:buNone/>
            </a:pPr>
            <a:r>
              <a:rPr lang="en-US" sz="1800"/>
              <a:t>1.Atomicity</a:t>
            </a:r>
            <a:endParaRPr/>
          </a:p>
          <a:p>
            <a:pPr indent="-234950" lvl="0" marL="234950" rtl="0" algn="l">
              <a:spcBef>
                <a:spcPts val="400"/>
              </a:spcBef>
              <a:spcAft>
                <a:spcPts val="0"/>
              </a:spcAft>
              <a:buSzPts val="1800"/>
              <a:buFont typeface="Verdana"/>
              <a:buChar char="□"/>
            </a:pPr>
            <a:r>
              <a:rPr lang="en-US" sz="1800"/>
              <a:t>Either all operations of a transaction occurs or none</a:t>
            </a:r>
            <a:endParaRPr/>
          </a:p>
          <a:p>
            <a:pPr indent="-234950" lvl="0" marL="234950" rtl="0" algn="l">
              <a:spcBef>
                <a:spcPts val="400"/>
              </a:spcBef>
              <a:spcAft>
                <a:spcPts val="0"/>
              </a:spcAft>
              <a:buSzPts val="1800"/>
              <a:buFont typeface="Verdana"/>
              <a:buChar char="□"/>
            </a:pPr>
            <a:r>
              <a:rPr lang="en-US" sz="1800"/>
              <a:t>Their should not be the case where half of the operations</a:t>
            </a:r>
            <a:endParaRPr/>
          </a:p>
          <a:p>
            <a:pPr indent="-234950" lvl="0" marL="234950" rtl="0" algn="l">
              <a:spcBef>
                <a:spcPts val="400"/>
              </a:spcBef>
              <a:spcAft>
                <a:spcPts val="0"/>
              </a:spcAft>
              <a:buSzPts val="1800"/>
              <a:buFont typeface="Noto Sans Symbols"/>
              <a:buNone/>
            </a:pPr>
            <a:r>
              <a:rPr lang="en-US" sz="1800"/>
              <a:t>of transaction has been executed and other remaining half of the operations has not been executed.</a:t>
            </a:r>
            <a:endParaRPr/>
          </a:p>
        </p:txBody>
      </p:sp>
      <p:sp>
        <p:nvSpPr>
          <p:cNvPr descr="Date Placeholder 3" id="1463" name="Google Shape;1463;p9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64" name="Google Shape;1464;p93"/>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descr="Title 1" id="1469" name="Google Shape;1469;p9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70" name="Google Shape;1470;p9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84138" lvl="0" marL="84138" rtl="0" algn="l">
              <a:spcBef>
                <a:spcPts val="0"/>
              </a:spcBef>
              <a:spcAft>
                <a:spcPts val="0"/>
              </a:spcAft>
              <a:buSzPts val="1800"/>
              <a:buFont typeface="Noto Sans Symbols"/>
              <a:buNone/>
            </a:pPr>
            <a:r>
              <a:rPr lang="en-US" sz="1800"/>
              <a:t>1.Atomicity</a:t>
            </a:r>
            <a:endParaRPr/>
          </a:p>
          <a:p>
            <a:pPr indent="-114300" lvl="0" marL="84138" rtl="0" algn="l">
              <a:spcBef>
                <a:spcPts val="400"/>
              </a:spcBef>
              <a:spcAft>
                <a:spcPts val="0"/>
              </a:spcAft>
              <a:buSzPts val="1800"/>
              <a:buFont typeface="Verdana"/>
              <a:buChar char="□"/>
            </a:pPr>
            <a:r>
              <a:rPr lang="en-US" sz="1800"/>
              <a:t>Either all operations of a transaction occurs or none</a:t>
            </a:r>
            <a:endParaRPr/>
          </a:p>
          <a:p>
            <a:pPr indent="-114300" lvl="0" marL="84138" rtl="0" algn="l">
              <a:spcBef>
                <a:spcPts val="400"/>
              </a:spcBef>
              <a:spcAft>
                <a:spcPts val="0"/>
              </a:spcAft>
              <a:buSzPts val="1800"/>
              <a:buFont typeface="Verdana"/>
              <a:buChar char="□"/>
            </a:pPr>
            <a:r>
              <a:rPr lang="en-US" sz="1800"/>
              <a:t>Their should not be the case where half of the operations</a:t>
            </a:r>
            <a:endParaRPr/>
          </a:p>
          <a:p>
            <a:pPr indent="-84138" lvl="0" marL="84138" rtl="0" algn="l">
              <a:spcBef>
                <a:spcPts val="400"/>
              </a:spcBef>
              <a:spcAft>
                <a:spcPts val="0"/>
              </a:spcAft>
              <a:buSzPts val="1800"/>
              <a:buFont typeface="Noto Sans Symbols"/>
              <a:buNone/>
            </a:pPr>
            <a:r>
              <a:rPr lang="en-US" sz="1800"/>
              <a:t>of transaction has been executed and other remaining half of the operations has not been executed.</a:t>
            </a:r>
            <a:endParaRPr/>
          </a:p>
          <a:p>
            <a:pPr indent="-84138" lvl="0" marL="84138" rtl="0" algn="l">
              <a:spcBef>
                <a:spcPts val="400"/>
              </a:spcBef>
              <a:spcAft>
                <a:spcPts val="0"/>
              </a:spcAft>
              <a:buSzPts val="1800"/>
              <a:buFont typeface="Noto Sans Symbols"/>
              <a:buNone/>
            </a:pPr>
            <a:r>
              <a:rPr lang="en-US" sz="1800"/>
              <a:t>Example of Transaction: </a:t>
            </a:r>
            <a:endParaRPr/>
          </a:p>
          <a:p>
            <a:pPr indent="-84138" lvl="0" marL="84138" rtl="0" algn="l">
              <a:spcBef>
                <a:spcPts val="400"/>
              </a:spcBef>
              <a:spcAft>
                <a:spcPts val="0"/>
              </a:spcAft>
              <a:buSzPts val="1800"/>
              <a:buFont typeface="Noto Sans Symbols"/>
              <a:buNone/>
            </a:pPr>
            <a:r>
              <a:rPr lang="en-US" sz="1800"/>
              <a:t>Increasing salary of an employee by 10%.</a:t>
            </a:r>
            <a:endParaRPr/>
          </a:p>
          <a:p>
            <a:pPr indent="-84138" lvl="0" marL="84138" rtl="0" algn="l">
              <a:spcBef>
                <a:spcPts val="700"/>
              </a:spcBef>
              <a:spcAft>
                <a:spcPts val="0"/>
              </a:spcAft>
              <a:buSzPts val="1800"/>
              <a:buFont typeface="Noto Sans Symbols"/>
              <a:buNone/>
            </a:pPr>
            <a:r>
              <a:t/>
            </a:r>
            <a:endParaRPr sz="1800"/>
          </a:p>
          <a:p>
            <a:pPr indent="-84138" lvl="0" marL="84138" rtl="0" algn="l">
              <a:spcBef>
                <a:spcPts val="400"/>
              </a:spcBef>
              <a:spcAft>
                <a:spcPts val="0"/>
              </a:spcAft>
              <a:buSzPts val="1800"/>
              <a:buFont typeface="Noto Sans Symbols"/>
              <a:buNone/>
            </a:pPr>
            <a:r>
              <a:rPr lang="en-US" sz="1800"/>
              <a:t>The three operations of this transactions are: </a:t>
            </a:r>
            <a:endParaRPr/>
          </a:p>
          <a:p>
            <a:pPr indent="-84138" lvl="0" marL="84138" rtl="0" algn="l">
              <a:spcBef>
                <a:spcPts val="400"/>
              </a:spcBef>
              <a:spcAft>
                <a:spcPts val="0"/>
              </a:spcAft>
              <a:buSzPts val="1800"/>
              <a:buFont typeface="Noto Sans Symbols"/>
              <a:buNone/>
            </a:pPr>
            <a:r>
              <a:rPr lang="en-US" sz="1800"/>
              <a:t>read(salary),salary=salary+salary*0.10,write(salary)</a:t>
            </a:r>
            <a:endParaRPr/>
          </a:p>
          <a:p>
            <a:pPr indent="-84138" lvl="0" marL="84138" rtl="0" algn="l">
              <a:spcBef>
                <a:spcPts val="700"/>
              </a:spcBef>
              <a:spcAft>
                <a:spcPts val="0"/>
              </a:spcAft>
              <a:buSzPts val="1800"/>
              <a:buFont typeface="Noto Sans Symbols"/>
              <a:buNone/>
            </a:pPr>
            <a:r>
              <a:t/>
            </a:r>
            <a:endParaRPr sz="1800"/>
          </a:p>
          <a:p>
            <a:pPr indent="-84138" lvl="0" marL="84138" rtl="0" algn="l">
              <a:spcBef>
                <a:spcPts val="400"/>
              </a:spcBef>
              <a:spcAft>
                <a:spcPts val="0"/>
              </a:spcAft>
              <a:buSzPts val="1800"/>
              <a:buFont typeface="Noto Sans Symbols"/>
              <a:buNone/>
            </a:pPr>
            <a:r>
              <a:rPr lang="en-US" sz="1800"/>
              <a:t>All this three operations should be executed for the transaction to be successful</a:t>
            </a:r>
            <a:endParaRPr/>
          </a:p>
        </p:txBody>
      </p:sp>
      <p:sp>
        <p:nvSpPr>
          <p:cNvPr descr="Date Placeholder 3" id="1471" name="Google Shape;1471;p9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72" name="Google Shape;1472;p94"/>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descr="Title 1" id="1477" name="Google Shape;1477;p9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78" name="Google Shape;1478;p9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000"/>
              <a:buFont typeface="Noto Sans Symbols"/>
              <a:buNone/>
            </a:pPr>
            <a:r>
              <a:rPr lang="en-US" sz="2000"/>
              <a:t>2. </a:t>
            </a:r>
            <a:r>
              <a:rPr b="1" lang="en-US" sz="2000"/>
              <a:t>C</a:t>
            </a:r>
            <a:r>
              <a:rPr lang="en-US" sz="2000"/>
              <a:t>onsistency preservation (or Correctness)</a:t>
            </a:r>
            <a:endParaRPr sz="2800"/>
          </a:p>
          <a:p>
            <a:pPr indent="0" lvl="0" marL="0" rtl="0" algn="just">
              <a:spcBef>
                <a:spcPts val="400"/>
              </a:spcBef>
              <a:spcAft>
                <a:spcPts val="0"/>
              </a:spcAft>
              <a:buSzPts val="2000"/>
              <a:buFont typeface="Noto Sans Symbols"/>
              <a:buNone/>
            </a:pPr>
            <a:r>
              <a:rPr lang="en-US" sz="2000"/>
              <a:t>A transaction should lead database from one consistent state to another consistent state.</a:t>
            </a:r>
            <a:endParaRPr/>
          </a:p>
        </p:txBody>
      </p:sp>
      <p:sp>
        <p:nvSpPr>
          <p:cNvPr descr="Date Placeholder 3" id="1479" name="Google Shape;1479;p9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80" name="Google Shape;1480;p95"/>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descr="Title 1" id="1485" name="Google Shape;1485;p9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86" name="Google Shape;1486;p9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000"/>
              <a:buFont typeface="Noto Sans Symbols"/>
              <a:buNone/>
            </a:pPr>
            <a:r>
              <a:rPr lang="en-US" sz="2000"/>
              <a:t>2. </a:t>
            </a:r>
            <a:r>
              <a:rPr b="1" lang="en-US" sz="2000"/>
              <a:t>C</a:t>
            </a:r>
            <a:r>
              <a:rPr lang="en-US" sz="2000"/>
              <a:t>onsistency preservation (or Correctness)</a:t>
            </a:r>
            <a:endParaRPr sz="2800"/>
          </a:p>
          <a:p>
            <a:pPr indent="0" lvl="0" marL="0" rtl="0" algn="just">
              <a:spcBef>
                <a:spcPts val="400"/>
              </a:spcBef>
              <a:spcAft>
                <a:spcPts val="0"/>
              </a:spcAft>
              <a:buSzPts val="2000"/>
              <a:buFont typeface="Noto Sans Symbols"/>
              <a:buNone/>
            </a:pPr>
            <a:r>
              <a:rPr lang="en-US" sz="2000"/>
              <a:t>A transaction should lead database from one consistent state to another consistent state.</a:t>
            </a:r>
            <a:endParaRPr/>
          </a:p>
          <a:p>
            <a:pPr indent="0" lvl="0" marL="0" rtl="0" algn="just">
              <a:spcBef>
                <a:spcPts val="700"/>
              </a:spcBef>
              <a:spcAft>
                <a:spcPts val="0"/>
              </a:spcAft>
              <a:buSzPts val="2000"/>
              <a:buFont typeface="Noto Sans Symbols"/>
              <a:buNone/>
            </a:pPr>
            <a:r>
              <a:t/>
            </a:r>
            <a:endParaRPr sz="2000"/>
          </a:p>
          <a:p>
            <a:pPr indent="0" lvl="0" marL="0" rtl="0" algn="just">
              <a:spcBef>
                <a:spcPts val="400"/>
              </a:spcBef>
              <a:spcAft>
                <a:spcPts val="0"/>
              </a:spcAft>
              <a:buSzPts val="2000"/>
              <a:buFont typeface="Noto Sans Symbols"/>
              <a:buNone/>
            </a:pPr>
            <a:r>
              <a:rPr lang="en-US" sz="2000"/>
              <a:t>Example: Say in a database table if both Date of Birth (</a:t>
            </a:r>
            <a:r>
              <a:rPr b="1" lang="en-US" sz="2000"/>
              <a:t>DOB</a:t>
            </a:r>
            <a:r>
              <a:rPr lang="en-US" sz="2000"/>
              <a:t>) and </a:t>
            </a:r>
            <a:r>
              <a:rPr b="1" lang="en-US" sz="2000"/>
              <a:t>Age</a:t>
            </a:r>
            <a:r>
              <a:rPr lang="en-US" sz="2000"/>
              <a:t>  values are stored. </a:t>
            </a:r>
            <a:endParaRPr/>
          </a:p>
          <a:p>
            <a:pPr indent="0" lvl="0" marL="0" rtl="0" algn="just">
              <a:spcBef>
                <a:spcPts val="700"/>
              </a:spcBef>
              <a:spcAft>
                <a:spcPts val="0"/>
              </a:spcAft>
              <a:buSzPts val="2000"/>
              <a:buFont typeface="Noto Sans Symbols"/>
              <a:buNone/>
            </a:pPr>
            <a:r>
              <a:t/>
            </a:r>
            <a:endParaRPr sz="2000"/>
          </a:p>
          <a:p>
            <a:pPr indent="0" lvl="0" marL="0" rtl="0" algn="just">
              <a:spcBef>
                <a:spcPts val="400"/>
              </a:spcBef>
              <a:spcAft>
                <a:spcPts val="0"/>
              </a:spcAft>
              <a:buSzPts val="2000"/>
              <a:buFont typeface="Noto Sans Symbols"/>
              <a:buNone/>
            </a:pPr>
            <a:r>
              <a:rPr lang="en-US" sz="2000"/>
              <a:t>If any transaction changes DOB then appropriately the change in age value should reflected in database table. When DOB is changed but Age value has not been changed then table data will not be in consistent state.</a:t>
            </a:r>
            <a:endParaRPr/>
          </a:p>
        </p:txBody>
      </p:sp>
      <p:sp>
        <p:nvSpPr>
          <p:cNvPr descr="Date Placeholder 3" id="1487" name="Google Shape;1487;p9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88" name="Google Shape;1488;p96"/>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descr="Title 1" id="1493" name="Google Shape;1493;p9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494" name="Google Shape;1494;p9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000"/>
              <a:buFont typeface="Noto Sans Symbols"/>
              <a:buNone/>
            </a:pPr>
            <a:r>
              <a:rPr lang="en-US" sz="2000"/>
              <a:t>3. </a:t>
            </a:r>
            <a:r>
              <a:rPr b="1" lang="en-US" sz="2000"/>
              <a:t>I</a:t>
            </a:r>
            <a:r>
              <a:rPr lang="en-US" sz="2000"/>
              <a:t>solation</a:t>
            </a:r>
            <a:endParaRPr/>
          </a:p>
          <a:p>
            <a:pPr indent="0" lvl="0" marL="0" rtl="0" algn="just">
              <a:spcBef>
                <a:spcPts val="400"/>
              </a:spcBef>
              <a:spcAft>
                <a:spcPts val="0"/>
              </a:spcAft>
              <a:buSzPts val="2000"/>
              <a:buFont typeface="Noto Sans Symbols"/>
              <a:buNone/>
            </a:pPr>
            <a:r>
              <a:rPr lang="en-US" sz="2000"/>
              <a:t>Ensures that concurrent execution results in a system state that would be obtained if transaction would be executed serially.</a:t>
            </a:r>
            <a:endParaRPr/>
          </a:p>
        </p:txBody>
      </p:sp>
      <p:sp>
        <p:nvSpPr>
          <p:cNvPr descr="Date Placeholder 3" id="1495" name="Google Shape;1495;p9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496" name="Google Shape;1496;p97"/>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descr="Title 1" id="1501" name="Google Shape;1501;p9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502" name="Google Shape;1502;p9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000"/>
              <a:buFont typeface="Noto Sans Symbols"/>
              <a:buNone/>
            </a:pPr>
            <a:r>
              <a:rPr lang="en-US" sz="2000"/>
              <a:t>3. </a:t>
            </a:r>
            <a:r>
              <a:rPr b="1" lang="en-US" sz="2000"/>
              <a:t>I</a:t>
            </a:r>
            <a:r>
              <a:rPr lang="en-US" sz="2000"/>
              <a:t>solation</a:t>
            </a:r>
            <a:endParaRPr/>
          </a:p>
          <a:p>
            <a:pPr indent="0" lvl="0" marL="0" rtl="0" algn="just">
              <a:spcBef>
                <a:spcPts val="400"/>
              </a:spcBef>
              <a:spcAft>
                <a:spcPts val="0"/>
              </a:spcAft>
              <a:buSzPts val="2000"/>
              <a:buFont typeface="Noto Sans Symbols"/>
              <a:buNone/>
            </a:pPr>
            <a:r>
              <a:rPr lang="en-US" sz="2000"/>
              <a:t>Ensures that concurrent execution results in a system state that would be obtained if transaction would be executed serially.</a:t>
            </a:r>
            <a:endParaRPr/>
          </a:p>
        </p:txBody>
      </p:sp>
      <p:sp>
        <p:nvSpPr>
          <p:cNvPr descr="Date Placeholder 3" id="1503" name="Google Shape;1503;p9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04" name="Google Shape;1504;p98"/>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1505" name="Google Shape;1505;p98"/>
          <p:cNvPicPr preferRelativeResize="0"/>
          <p:nvPr/>
        </p:nvPicPr>
        <p:blipFill rotWithShape="1">
          <a:blip r:embed="rId3">
            <a:alphaModFix/>
          </a:blip>
          <a:srcRect b="0" l="0" r="0" t="0"/>
          <a:stretch/>
        </p:blipFill>
        <p:spPr>
          <a:xfrm>
            <a:off x="1042988" y="2563813"/>
            <a:ext cx="6911975" cy="37179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descr="Title 1" id="1510" name="Google Shape;1510;p9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Properties of Transactions</a:t>
            </a:r>
            <a:endParaRPr/>
          </a:p>
        </p:txBody>
      </p:sp>
      <p:sp>
        <p:nvSpPr>
          <p:cNvPr descr="Content Placeholder 2" id="1511" name="Google Shape;1511;p9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800"/>
              <a:buFont typeface="Noto Sans Symbols"/>
              <a:buNone/>
            </a:pPr>
            <a:r>
              <a:rPr lang="en-US" sz="2800"/>
              <a:t>4. </a:t>
            </a:r>
            <a:r>
              <a:rPr b="1" lang="en-US" sz="2800"/>
              <a:t>D</a:t>
            </a:r>
            <a:r>
              <a:rPr lang="en-US" sz="2800"/>
              <a:t>urability or permanency</a:t>
            </a:r>
            <a:endParaRPr/>
          </a:p>
          <a:p>
            <a:pPr indent="0" lvl="0" marL="0" rtl="0" algn="just">
              <a:spcBef>
                <a:spcPts val="600"/>
              </a:spcBef>
              <a:spcAft>
                <a:spcPts val="0"/>
              </a:spcAft>
              <a:buSzPts val="2800"/>
              <a:buFont typeface="Noto Sans Symbols"/>
              <a:buNone/>
            </a:pPr>
            <a:r>
              <a:rPr lang="en-US" sz="2800"/>
              <a:t>Changes should be permanent. The changes must NOT be lost due to some database failure.</a:t>
            </a:r>
            <a:endParaRPr/>
          </a:p>
        </p:txBody>
      </p:sp>
      <p:sp>
        <p:nvSpPr>
          <p:cNvPr descr="Date Placeholder 3" id="1512" name="Google Shape;1512;p9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13" name="Google Shape;1513;p99"/>
          <p:cNvSpPr txBox="1"/>
          <p:nvPr/>
        </p:nvSpPr>
        <p:spPr>
          <a:xfrm>
            <a:off x="8259763" y="6400800"/>
            <a:ext cx="273050"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descr="Title 1" id="1518" name="Google Shape;1518;p10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Summarizing Properties of Transactions</a:t>
            </a:r>
            <a:endParaRPr/>
          </a:p>
        </p:txBody>
      </p:sp>
      <p:sp>
        <p:nvSpPr>
          <p:cNvPr descr="Content Placeholder 2" id="1519" name="Google Shape;1519;p10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800"/>
              <a:buFont typeface="Noto Sans Symbols"/>
              <a:buNone/>
            </a:pPr>
            <a:r>
              <a:rPr lang="en-US" sz="2800"/>
              <a:t>ACID Properties</a:t>
            </a:r>
            <a:endParaRPr/>
          </a:p>
          <a:p>
            <a:pPr indent="0" lvl="0" marL="0" rtl="0" algn="l">
              <a:spcBef>
                <a:spcPts val="600"/>
              </a:spcBef>
              <a:spcAft>
                <a:spcPts val="0"/>
              </a:spcAft>
              <a:buSzPts val="2800"/>
              <a:buFont typeface="Noto Sans Symbols"/>
              <a:buNone/>
            </a:pPr>
            <a:r>
              <a:rPr lang="en-US" sz="2800"/>
              <a:t>1. </a:t>
            </a:r>
            <a:r>
              <a:rPr b="1" lang="en-US" sz="2800"/>
              <a:t>A</a:t>
            </a:r>
            <a:r>
              <a:rPr lang="en-US" sz="2800"/>
              <a:t>tomicity</a:t>
            </a:r>
            <a:endParaRPr/>
          </a:p>
          <a:p>
            <a:pPr indent="0" lvl="0" marL="0" rtl="0" algn="l">
              <a:spcBef>
                <a:spcPts val="600"/>
              </a:spcBef>
              <a:spcAft>
                <a:spcPts val="0"/>
              </a:spcAft>
              <a:buSzPts val="2800"/>
              <a:buFont typeface="Noto Sans Symbols"/>
              <a:buNone/>
            </a:pPr>
            <a:r>
              <a:rPr lang="en-US" sz="2800"/>
              <a:t>2. </a:t>
            </a:r>
            <a:r>
              <a:rPr b="1" lang="en-US" sz="2800"/>
              <a:t>C</a:t>
            </a:r>
            <a:r>
              <a:rPr lang="en-US" sz="2800"/>
              <a:t>onsistency preservation</a:t>
            </a:r>
            <a:endParaRPr/>
          </a:p>
          <a:p>
            <a:pPr indent="0" lvl="0" marL="0" rtl="0" algn="l">
              <a:spcBef>
                <a:spcPts val="600"/>
              </a:spcBef>
              <a:spcAft>
                <a:spcPts val="0"/>
              </a:spcAft>
              <a:buSzPts val="2800"/>
              <a:buFont typeface="Noto Sans Symbols"/>
              <a:buNone/>
            </a:pPr>
            <a:r>
              <a:rPr lang="en-US" sz="2800"/>
              <a:t>3. </a:t>
            </a:r>
            <a:r>
              <a:rPr b="1" lang="en-US" sz="2800"/>
              <a:t>I</a:t>
            </a:r>
            <a:r>
              <a:rPr lang="en-US" sz="2800"/>
              <a:t>solation</a:t>
            </a:r>
            <a:endParaRPr/>
          </a:p>
          <a:p>
            <a:pPr indent="0" lvl="0" marL="0" rtl="0" algn="l">
              <a:spcBef>
                <a:spcPts val="600"/>
              </a:spcBef>
              <a:spcAft>
                <a:spcPts val="0"/>
              </a:spcAft>
              <a:buSzPts val="2800"/>
              <a:buFont typeface="Noto Sans Symbols"/>
              <a:buNone/>
            </a:pPr>
            <a:r>
              <a:rPr lang="en-US" sz="2800"/>
              <a:t>4. </a:t>
            </a:r>
            <a:r>
              <a:rPr b="1" lang="en-US" sz="2800"/>
              <a:t>D</a:t>
            </a:r>
            <a:r>
              <a:rPr lang="en-US" sz="2800"/>
              <a:t>urability or permanency</a:t>
            </a:r>
            <a:endParaRPr/>
          </a:p>
        </p:txBody>
      </p:sp>
      <p:sp>
        <p:nvSpPr>
          <p:cNvPr descr="Date Placeholder 3" id="1520" name="Google Shape;1520;p10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21" name="Google Shape;1521;p10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descr="Title 1" id="1526" name="Google Shape;1526;p10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a:t>
            </a:r>
            <a:endParaRPr/>
          </a:p>
        </p:txBody>
      </p:sp>
      <p:sp>
        <p:nvSpPr>
          <p:cNvPr descr="Content Placeholder 2" id="1527" name="Google Shape;1527;p10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just">
              <a:lnSpc>
                <a:spcPct val="80000"/>
              </a:lnSpc>
              <a:spcBef>
                <a:spcPts val="0"/>
              </a:spcBef>
              <a:spcAft>
                <a:spcPts val="0"/>
              </a:spcAft>
              <a:buSzPts val="2400"/>
              <a:buFont typeface="Verdana"/>
              <a:buChar char="□"/>
            </a:pPr>
            <a:r>
              <a:rPr lang="en-US" sz="2400"/>
              <a:t>A transaction is an atomic unit of work that is either completed in its entirety or not done at all. </a:t>
            </a:r>
            <a:endParaRPr/>
          </a:p>
          <a:p>
            <a:pPr indent="-438150" lvl="1" marL="908050" rtl="0" algn="just">
              <a:lnSpc>
                <a:spcPct val="80000"/>
              </a:lnSpc>
              <a:spcBef>
                <a:spcPts val="400"/>
              </a:spcBef>
              <a:spcAft>
                <a:spcPts val="0"/>
              </a:spcAft>
              <a:buSzPts val="2000"/>
              <a:buFont typeface="Verdana"/>
              <a:buChar char="■"/>
            </a:pPr>
            <a:r>
              <a:rPr lang="en-US" sz="2000"/>
              <a:t>For </a:t>
            </a:r>
            <a:r>
              <a:rPr b="1" lang="en-US" sz="2000"/>
              <a:t>recovery purposes</a:t>
            </a:r>
            <a:r>
              <a:rPr lang="en-US" sz="2000"/>
              <a:t>, the system needs to keep track of when the transaction starts, terminates, and commits or aborts.</a:t>
            </a:r>
            <a:endParaRPr sz="2600"/>
          </a:p>
          <a:p>
            <a:pPr indent="-469900" lvl="0" marL="469900" rtl="0" algn="just">
              <a:lnSpc>
                <a:spcPct val="80000"/>
              </a:lnSpc>
              <a:spcBef>
                <a:spcPts val="500"/>
              </a:spcBef>
              <a:spcAft>
                <a:spcPts val="0"/>
              </a:spcAft>
              <a:buSzPts val="2400"/>
              <a:buFont typeface="Verdana"/>
              <a:buChar char="□"/>
            </a:pPr>
            <a:r>
              <a:rPr b="1" lang="en-US" sz="2400"/>
              <a:t>Transaction</a:t>
            </a:r>
            <a:r>
              <a:rPr lang="en-US" sz="2400"/>
              <a:t> </a:t>
            </a:r>
            <a:r>
              <a:rPr b="1" lang="en-US" sz="2400"/>
              <a:t>states</a:t>
            </a:r>
            <a:r>
              <a:rPr lang="en-US" sz="2400"/>
              <a:t>:</a:t>
            </a:r>
            <a:endParaRPr/>
          </a:p>
          <a:p>
            <a:pPr indent="-438150" lvl="1" marL="908050" rtl="0" algn="just">
              <a:lnSpc>
                <a:spcPct val="80000"/>
              </a:lnSpc>
              <a:spcBef>
                <a:spcPts val="400"/>
              </a:spcBef>
              <a:spcAft>
                <a:spcPts val="0"/>
              </a:spcAft>
              <a:buSzPts val="2000"/>
              <a:buFont typeface="Verdana"/>
              <a:buChar char="■"/>
            </a:pPr>
            <a:r>
              <a:rPr lang="en-US" sz="2000"/>
              <a:t>Active state</a:t>
            </a:r>
            <a:endParaRPr sz="2600"/>
          </a:p>
          <a:p>
            <a:pPr indent="-438150" lvl="1" marL="908050" rtl="0" algn="just">
              <a:lnSpc>
                <a:spcPct val="80000"/>
              </a:lnSpc>
              <a:spcBef>
                <a:spcPts val="400"/>
              </a:spcBef>
              <a:spcAft>
                <a:spcPts val="0"/>
              </a:spcAft>
              <a:buSzPts val="2000"/>
              <a:buFont typeface="Verdana"/>
              <a:buChar char="■"/>
            </a:pPr>
            <a:r>
              <a:rPr lang="en-US" sz="2000"/>
              <a:t>Partially committed state</a:t>
            </a:r>
            <a:endParaRPr sz="2600"/>
          </a:p>
          <a:p>
            <a:pPr indent="-438150" lvl="1" marL="908050" rtl="0" algn="just">
              <a:lnSpc>
                <a:spcPct val="80000"/>
              </a:lnSpc>
              <a:spcBef>
                <a:spcPts val="400"/>
              </a:spcBef>
              <a:spcAft>
                <a:spcPts val="0"/>
              </a:spcAft>
              <a:buSzPts val="2000"/>
              <a:buFont typeface="Verdana"/>
              <a:buChar char="■"/>
            </a:pPr>
            <a:r>
              <a:rPr lang="en-US" sz="2000"/>
              <a:t>Committed state</a:t>
            </a:r>
            <a:endParaRPr sz="2600"/>
          </a:p>
          <a:p>
            <a:pPr indent="-438150" lvl="1" marL="908050" rtl="0" algn="just">
              <a:lnSpc>
                <a:spcPct val="80000"/>
              </a:lnSpc>
              <a:spcBef>
                <a:spcPts val="400"/>
              </a:spcBef>
              <a:spcAft>
                <a:spcPts val="0"/>
              </a:spcAft>
              <a:buSzPts val="2000"/>
              <a:buFont typeface="Verdana"/>
              <a:buChar char="■"/>
            </a:pPr>
            <a:r>
              <a:rPr lang="en-US" sz="2000"/>
              <a:t>Failed state</a:t>
            </a:r>
            <a:endParaRPr sz="2600"/>
          </a:p>
          <a:p>
            <a:pPr indent="-438150" lvl="1" marL="908050" rtl="0" algn="just">
              <a:lnSpc>
                <a:spcPct val="80000"/>
              </a:lnSpc>
              <a:spcBef>
                <a:spcPts val="400"/>
              </a:spcBef>
              <a:spcAft>
                <a:spcPts val="0"/>
              </a:spcAft>
              <a:buSzPts val="2000"/>
              <a:buFont typeface="Verdana"/>
              <a:buChar char="■"/>
            </a:pPr>
            <a:r>
              <a:rPr lang="en-US" sz="2000"/>
              <a:t>Terminated State</a:t>
            </a:r>
            <a:endParaRPr/>
          </a:p>
        </p:txBody>
      </p:sp>
      <p:sp>
        <p:nvSpPr>
          <p:cNvPr descr="Date Placeholder 3" id="1528" name="Google Shape;1528;p10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29" name="Google Shape;1529;p10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descr="Title 1" id="1534" name="Google Shape;1534;p10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t>State transition diagram illustrating the states for transaction execution</a:t>
            </a:r>
            <a:endParaRPr/>
          </a:p>
        </p:txBody>
      </p:sp>
      <p:sp>
        <p:nvSpPr>
          <p:cNvPr descr="Date Placeholder 3" id="1535" name="Google Shape;1535;p10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36" name="Google Shape;1536;p10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1537" name="Google Shape;1537;p102"/>
          <p:cNvPicPr preferRelativeResize="0"/>
          <p:nvPr/>
        </p:nvPicPr>
        <p:blipFill rotWithShape="1">
          <a:blip r:embed="rId3">
            <a:alphaModFix/>
          </a:blip>
          <a:srcRect b="0" l="0" r="0" t="0"/>
          <a:stretch/>
        </p:blipFill>
        <p:spPr>
          <a:xfrm>
            <a:off x="400050" y="1195388"/>
            <a:ext cx="8324850" cy="2257425"/>
          </a:xfrm>
          <a:prstGeom prst="rect">
            <a:avLst/>
          </a:prstGeom>
          <a:noFill/>
          <a:ln>
            <a:noFill/>
          </a:ln>
        </p:spPr>
      </p:pic>
      <p:sp>
        <p:nvSpPr>
          <p:cNvPr descr="TextBox 2" id="1538" name="Google Shape;1538;p102"/>
          <p:cNvSpPr txBox="1"/>
          <p:nvPr/>
        </p:nvSpPr>
        <p:spPr>
          <a:xfrm>
            <a:off x="1089025" y="3508375"/>
            <a:ext cx="7373938" cy="2744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Active</a:t>
            </a:r>
            <a:r>
              <a:rPr lang="en-US" sz="1600">
                <a:solidFill>
                  <a:srgbClr val="000000"/>
                </a:solidFill>
                <a:latin typeface="Verdana"/>
                <a:ea typeface="Verdana"/>
                <a:cs typeface="Verdana"/>
                <a:sym typeface="Verdana"/>
              </a:rPr>
              <a:t>, the initial state; the transaction stays in this state while it is executing</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Partially committed</a:t>
            </a:r>
            <a:r>
              <a:rPr lang="en-US" sz="1600">
                <a:solidFill>
                  <a:srgbClr val="000000"/>
                </a:solidFill>
                <a:latin typeface="Verdana"/>
                <a:ea typeface="Verdana"/>
                <a:cs typeface="Verdana"/>
                <a:sym typeface="Verdana"/>
              </a:rPr>
              <a:t>, after the final statement has been executed.</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Failed</a:t>
            </a:r>
            <a:r>
              <a:rPr lang="en-US" sz="1600">
                <a:solidFill>
                  <a:srgbClr val="000000"/>
                </a:solidFill>
                <a:latin typeface="Verdana"/>
                <a:ea typeface="Verdana"/>
                <a:cs typeface="Verdana"/>
                <a:sym typeface="Verdana"/>
              </a:rPr>
              <a:t>, after the discovery that normal execution can no longer proceed.</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Aborted</a:t>
            </a:r>
            <a:r>
              <a:rPr lang="en-US" sz="1600">
                <a:solidFill>
                  <a:srgbClr val="000000"/>
                </a:solidFill>
                <a:latin typeface="Verdana"/>
                <a:ea typeface="Verdana"/>
                <a:cs typeface="Verdana"/>
                <a:sym typeface="Verdana"/>
              </a:rPr>
              <a:t>, after the transaction has been rolled back and the database restored to its state prior to the start of the transaction. Two options after it has been aborted:</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              restart the transaction – only if no internal logical error</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              kill the transaction</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Committed</a:t>
            </a:r>
            <a:r>
              <a:rPr lang="en-US" sz="1600">
                <a:solidFill>
                  <a:srgbClr val="000000"/>
                </a:solidFill>
                <a:latin typeface="Verdana"/>
                <a:ea typeface="Verdana"/>
                <a:cs typeface="Verdana"/>
                <a:sym typeface="Verdana"/>
              </a:rPr>
              <a:t>, after successful completion</a:t>
            </a:r>
            <a:endParaRPr b="1" sz="1600">
              <a:solidFill>
                <a:srgbClr val="000000"/>
              </a:solidFill>
              <a:latin typeface="Verdana"/>
              <a:ea typeface="Verdana"/>
              <a:cs typeface="Verdana"/>
              <a:sym typeface="Verdana"/>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descr="Title 1" id="1543" name="Google Shape;1543;p10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t>State transition diagram illustrating the states for transaction execution</a:t>
            </a:r>
            <a:endParaRPr/>
          </a:p>
        </p:txBody>
      </p:sp>
      <p:sp>
        <p:nvSpPr>
          <p:cNvPr descr="Content Placeholder 2" id="1544" name="Google Shape;1544;p10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5138" lvl="0" marL="465138" rtl="0" algn="l">
              <a:spcBef>
                <a:spcPts val="0"/>
              </a:spcBef>
              <a:spcAft>
                <a:spcPts val="0"/>
              </a:spcAft>
              <a:buSzPts val="1100"/>
              <a:buFont typeface="Verdana"/>
              <a:buChar char="□"/>
            </a:pPr>
            <a:r>
              <a:rPr b="1" lang="en-US" sz="1100"/>
              <a:t>Active State –</a:t>
            </a:r>
            <a:r>
              <a:rPr lang="en-US" sz="1100"/>
              <a:t> </a:t>
            </a:r>
            <a:br>
              <a:rPr lang="en-US" sz="1100"/>
            </a:br>
            <a:r>
              <a:rPr lang="en-US" sz="1100"/>
              <a:t>When the instructions of the transaction are running then the transaction is in active state. If all the ‘read and write’ operations are performed without any error then it goes to the “partially committed state”; if any instruction fails, it goes to the “failed state”. </a:t>
            </a:r>
            <a:br>
              <a:rPr lang="en-US" sz="1100"/>
            </a:br>
            <a:r>
              <a:rPr lang="en-US" sz="1100"/>
              <a:t> </a:t>
            </a:r>
            <a:endParaRPr b="1" sz="1100"/>
          </a:p>
          <a:p>
            <a:pPr indent="-465138" lvl="0" marL="465138" rtl="0" algn="l">
              <a:spcBef>
                <a:spcPts val="200"/>
              </a:spcBef>
              <a:spcAft>
                <a:spcPts val="0"/>
              </a:spcAft>
              <a:buSzPts val="1100"/>
              <a:buFont typeface="Verdana"/>
              <a:buChar char="□"/>
            </a:pPr>
            <a:r>
              <a:rPr b="1" lang="en-US" sz="1100"/>
              <a:t>Partially Committed –</a:t>
            </a:r>
            <a:r>
              <a:rPr lang="en-US" sz="1100"/>
              <a:t> </a:t>
            </a:r>
            <a:br>
              <a:rPr lang="en-US" sz="1100"/>
            </a:br>
            <a:r>
              <a:rPr lang="en-US" sz="1100"/>
              <a:t>After completion of all the read and write operation the changes are made in main memory or local buffer. If the changes are made permanent on the DataBase then the state will change to “committed state” and in case of failure it will go to the “failed state”. </a:t>
            </a:r>
            <a:br>
              <a:rPr lang="en-US" sz="1100"/>
            </a:br>
            <a:r>
              <a:rPr lang="en-US" sz="1100"/>
              <a:t> </a:t>
            </a:r>
            <a:endParaRPr/>
          </a:p>
          <a:p>
            <a:pPr indent="-465138" lvl="0" marL="465138" rtl="0" algn="l">
              <a:spcBef>
                <a:spcPts val="200"/>
              </a:spcBef>
              <a:spcAft>
                <a:spcPts val="0"/>
              </a:spcAft>
              <a:buSzPts val="1100"/>
              <a:buFont typeface="Verdana"/>
              <a:buChar char="□"/>
            </a:pPr>
            <a:r>
              <a:rPr b="1" lang="en-US" sz="1100"/>
              <a:t>Failed State –</a:t>
            </a:r>
            <a:r>
              <a:rPr lang="en-US" sz="1100"/>
              <a:t> </a:t>
            </a:r>
            <a:br>
              <a:rPr lang="en-US" sz="1100"/>
            </a:br>
            <a:r>
              <a:rPr lang="en-US" sz="1100"/>
              <a:t>When any instruction of the transaction fails, it goes to the “failed state” or if failure occurs in making a permanent change of data on Data Base. </a:t>
            </a:r>
            <a:br>
              <a:rPr lang="en-US" sz="1100"/>
            </a:br>
            <a:r>
              <a:rPr lang="en-US" sz="1100"/>
              <a:t> </a:t>
            </a:r>
            <a:endParaRPr/>
          </a:p>
          <a:p>
            <a:pPr indent="-465138" lvl="0" marL="465138" rtl="0" algn="l">
              <a:spcBef>
                <a:spcPts val="200"/>
              </a:spcBef>
              <a:spcAft>
                <a:spcPts val="0"/>
              </a:spcAft>
              <a:buSzPts val="1100"/>
              <a:buFont typeface="Verdana"/>
              <a:buChar char="□"/>
            </a:pPr>
            <a:r>
              <a:rPr b="1" lang="en-US" sz="1100"/>
              <a:t>Aborted State –</a:t>
            </a:r>
            <a:r>
              <a:rPr lang="en-US" sz="1100"/>
              <a:t> </a:t>
            </a:r>
            <a:br>
              <a:rPr lang="en-US" sz="1100"/>
            </a:br>
            <a:r>
              <a:rPr lang="en-US" sz="1100"/>
              <a:t>After having any type of failure the transaction goes from “failed state” to “aborted state” and since in previous states, the changes are only made to local buffer or main memory and hence these changes are deleted or rolled-back. </a:t>
            </a:r>
            <a:br>
              <a:rPr lang="en-US" sz="1100"/>
            </a:br>
            <a:r>
              <a:rPr lang="en-US" sz="1100"/>
              <a:t> </a:t>
            </a:r>
            <a:endParaRPr/>
          </a:p>
          <a:p>
            <a:pPr indent="-465138" lvl="0" marL="465138" rtl="0" algn="l">
              <a:spcBef>
                <a:spcPts val="200"/>
              </a:spcBef>
              <a:spcAft>
                <a:spcPts val="0"/>
              </a:spcAft>
              <a:buSzPts val="1100"/>
              <a:buFont typeface="Verdana"/>
              <a:buChar char="□"/>
            </a:pPr>
            <a:r>
              <a:rPr b="1" lang="en-US" sz="1100"/>
              <a:t>Committed State –</a:t>
            </a:r>
            <a:r>
              <a:rPr lang="en-US" sz="1100"/>
              <a:t> </a:t>
            </a:r>
            <a:br>
              <a:rPr lang="en-US" sz="1100"/>
            </a:br>
            <a:r>
              <a:rPr lang="en-US" sz="1100"/>
              <a:t>It is the state when the changes are made permanent on the Data Base and the transaction is complete and therefore terminated in the “terminated state”. </a:t>
            </a:r>
            <a:br>
              <a:rPr lang="en-US" sz="1100"/>
            </a:br>
            <a:r>
              <a:rPr lang="en-US" sz="1100"/>
              <a:t> </a:t>
            </a:r>
            <a:endParaRPr/>
          </a:p>
          <a:p>
            <a:pPr indent="-465138" lvl="0" marL="465138" rtl="0" algn="l">
              <a:spcBef>
                <a:spcPts val="200"/>
              </a:spcBef>
              <a:spcAft>
                <a:spcPts val="0"/>
              </a:spcAft>
              <a:buSzPts val="1100"/>
              <a:buFont typeface="Verdana"/>
              <a:buChar char="□"/>
            </a:pPr>
            <a:r>
              <a:rPr b="1" lang="en-US" sz="1100"/>
              <a:t>Terminated State –</a:t>
            </a:r>
            <a:r>
              <a:rPr lang="en-US" sz="1100"/>
              <a:t> </a:t>
            </a:r>
            <a:br>
              <a:rPr lang="en-US" sz="1100"/>
            </a:br>
            <a:r>
              <a:rPr lang="en-US" sz="1100"/>
              <a:t>If there isn’t any roll-back or the transaction comes from the “committed state”, then the system is consistent and ready for new transaction and the old transaction is terminated. </a:t>
            </a:r>
            <a:endParaRPr b="1" sz="1100"/>
          </a:p>
        </p:txBody>
      </p:sp>
      <p:sp>
        <p:nvSpPr>
          <p:cNvPr descr="Date Placeholder 3" id="1545" name="Google Shape;1545;p10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46" name="Google Shape;1546;p10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descr="Rectangle 2" id="1551" name="Google Shape;1551;p104"/>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Next we will Understand</a:t>
            </a:r>
            <a:endParaRPr/>
          </a:p>
        </p:txBody>
      </p:sp>
      <p:sp>
        <p:nvSpPr>
          <p:cNvPr descr="Rectangle 3" id="1552" name="Google Shape;1552;p104"/>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Conflicting operations in Schedules</a:t>
            </a:r>
            <a:endParaRPr/>
          </a:p>
        </p:txBody>
      </p:sp>
      <p:sp>
        <p:nvSpPr>
          <p:cNvPr descr="Date Placeholder 1" id="1553" name="Google Shape;1553;p104"/>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1554" name="Google Shape;1554;p104"/>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descr="Title 1" id="1559" name="Google Shape;1559;p10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560" name="Google Shape;1560;p10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52425" lvl="0" marL="352425" rtl="0" algn="l">
              <a:spcBef>
                <a:spcPts val="0"/>
              </a:spcBef>
              <a:spcAft>
                <a:spcPts val="0"/>
              </a:spcAft>
              <a:buSzPts val="2000"/>
              <a:buFont typeface="Noto Sans Symbols"/>
              <a:buNone/>
            </a:pPr>
            <a:r>
              <a:rPr lang="en-US" sz="2000"/>
              <a:t>Two operations in schedule are said to CONFLICT if they satisfy </a:t>
            </a:r>
            <a:r>
              <a:rPr b="1" lang="en-US" sz="2000"/>
              <a:t>all three </a:t>
            </a:r>
            <a:r>
              <a:rPr lang="en-US" sz="2000"/>
              <a:t>of the following </a:t>
            </a:r>
            <a:r>
              <a:rPr b="1" lang="en-US" sz="2000"/>
              <a:t>conditions</a:t>
            </a:r>
            <a:endParaRPr/>
          </a:p>
          <a:p>
            <a:pPr indent="-352425" lvl="0" marL="352425" rtl="0" algn="l">
              <a:spcBef>
                <a:spcPts val="400"/>
              </a:spcBef>
              <a:spcAft>
                <a:spcPts val="0"/>
              </a:spcAft>
              <a:buSzPts val="2000"/>
              <a:buFont typeface="Verdana"/>
              <a:buAutoNum type="arabicPeriod"/>
            </a:pPr>
            <a:r>
              <a:rPr lang="en-US" sz="2000"/>
              <a:t>If two operations belong to different transactions</a:t>
            </a:r>
            <a:endParaRPr/>
          </a:p>
          <a:p>
            <a:pPr indent="-352425" lvl="0" marL="352425" rtl="0" algn="l">
              <a:spcBef>
                <a:spcPts val="400"/>
              </a:spcBef>
              <a:spcAft>
                <a:spcPts val="0"/>
              </a:spcAft>
              <a:buSzPts val="2000"/>
              <a:buFont typeface="Verdana"/>
              <a:buAutoNum type="arabicPeriod"/>
            </a:pPr>
            <a:r>
              <a:rPr lang="en-US" sz="2000"/>
              <a:t>If two operations access same data item</a:t>
            </a:r>
            <a:endParaRPr/>
          </a:p>
          <a:p>
            <a:pPr indent="-352425" lvl="0" marL="352425" rtl="0" algn="l">
              <a:spcBef>
                <a:spcPts val="400"/>
              </a:spcBef>
              <a:spcAft>
                <a:spcPts val="0"/>
              </a:spcAft>
              <a:buSzPts val="2000"/>
              <a:buFont typeface="Verdana"/>
              <a:buAutoNum type="arabicPeriod"/>
            </a:pPr>
            <a:r>
              <a:rPr lang="en-US" sz="2000"/>
              <a:t>Among two operations at least one operation is write</a:t>
            </a:r>
            <a:endParaRPr/>
          </a:p>
        </p:txBody>
      </p:sp>
      <p:sp>
        <p:nvSpPr>
          <p:cNvPr descr="Date Placeholder 3" id="1561" name="Google Shape;1561;p10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62" name="Google Shape;1562;p10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descr="Title 1" id="1567" name="Google Shape;1567;p10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568" name="Google Shape;1568;p10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2000"/>
              <a:buFont typeface="Noto Sans Symbols"/>
              <a:buNone/>
            </a:pPr>
            <a:r>
              <a:rPr lang="en-US" sz="2000"/>
              <a:t>Two operations in schedule are said to CONFLICT if they satisfy all three of the following conditions</a:t>
            </a:r>
            <a:endParaRPr/>
          </a:p>
          <a:p>
            <a:pPr indent="-176213" lvl="0" marL="176213" rtl="0" algn="l">
              <a:spcBef>
                <a:spcPts val="400"/>
              </a:spcBef>
              <a:spcAft>
                <a:spcPts val="0"/>
              </a:spcAft>
              <a:buSzPts val="2000"/>
              <a:buFont typeface="Verdana"/>
              <a:buAutoNum type="arabicPeriod"/>
            </a:pPr>
            <a:r>
              <a:rPr lang="en-US" sz="2000">
                <a:solidFill>
                  <a:srgbClr val="0000FF"/>
                </a:solidFill>
              </a:rPr>
              <a:t>If two operations belong to </a:t>
            </a:r>
            <a:r>
              <a:rPr b="1" lang="en-US" sz="2000">
                <a:solidFill>
                  <a:srgbClr val="0000FF"/>
                </a:solidFill>
              </a:rPr>
              <a:t>different transactions</a:t>
            </a:r>
            <a:endParaRPr/>
          </a:p>
          <a:p>
            <a:pPr indent="-176213" lvl="0" marL="176213" rtl="0" algn="l">
              <a:spcBef>
                <a:spcPts val="400"/>
              </a:spcBef>
              <a:spcAft>
                <a:spcPts val="0"/>
              </a:spcAft>
              <a:buSzPts val="2000"/>
              <a:buFont typeface="Verdana"/>
              <a:buAutoNum type="arabicPeriod"/>
            </a:pPr>
            <a:r>
              <a:rPr lang="en-US" sz="2000"/>
              <a:t>If two operations access same data item</a:t>
            </a:r>
            <a:endParaRPr/>
          </a:p>
          <a:p>
            <a:pPr indent="-176213" lvl="0" marL="176213" rtl="0" algn="l">
              <a:spcBef>
                <a:spcPts val="400"/>
              </a:spcBef>
              <a:spcAft>
                <a:spcPts val="0"/>
              </a:spcAft>
              <a:buSzPts val="2000"/>
              <a:buFont typeface="Verdana"/>
              <a:buAutoNum type="arabicPeriod"/>
            </a:pPr>
            <a:r>
              <a:rPr lang="en-US" sz="2000"/>
              <a:t>Among two operations at least one operation is write</a:t>
            </a:r>
            <a:endParaRPr/>
          </a:p>
          <a:p>
            <a:pPr indent="-176213" lvl="0" marL="176213" rtl="0" algn="l">
              <a:spcBef>
                <a:spcPts val="400"/>
              </a:spcBef>
              <a:spcAft>
                <a:spcPts val="0"/>
              </a:spcAft>
              <a:buSzPts val="2000"/>
              <a:buFont typeface="Noto Sans Symbols"/>
              <a:buNone/>
            </a:pPr>
            <a:r>
              <a:rPr lang="en-US" sz="2000"/>
              <a:t>Example: Consider two transactions </a:t>
            </a:r>
            <a:endParaRPr/>
          </a:p>
          <a:p>
            <a:pPr indent="-176213" lvl="0" marL="176213" rtl="0" algn="l">
              <a:spcBef>
                <a:spcPts val="400"/>
              </a:spcBef>
              <a:spcAft>
                <a:spcPts val="0"/>
              </a:spcAft>
              <a:buSzPts val="2000"/>
              <a:buFont typeface="Noto Sans Symbols"/>
              <a:buNone/>
            </a:pPr>
            <a:r>
              <a:rPr lang="en-US" sz="2000"/>
              <a:t>T1 with operations R1(X) and R1(Y)</a:t>
            </a:r>
            <a:endParaRPr/>
          </a:p>
          <a:p>
            <a:pPr indent="-176213" lvl="0" marL="176213" rtl="0" algn="l">
              <a:spcBef>
                <a:spcPts val="400"/>
              </a:spcBef>
              <a:spcAft>
                <a:spcPts val="0"/>
              </a:spcAft>
              <a:buSzPts val="2000"/>
              <a:buFont typeface="Noto Sans Symbols"/>
              <a:buNone/>
            </a:pPr>
            <a:r>
              <a:rPr lang="en-US" sz="2000"/>
              <a:t>T2 with operations W2(X) and R2(Z)</a:t>
            </a:r>
            <a:endParaRPr/>
          </a:p>
          <a:p>
            <a:pPr indent="-176213" lvl="0" marL="176213" rtl="0" algn="l">
              <a:spcBef>
                <a:spcPts val="400"/>
              </a:spcBef>
              <a:spcAft>
                <a:spcPts val="0"/>
              </a:spcAft>
              <a:buSzPts val="2000"/>
              <a:buFont typeface="Noto Sans Symbols"/>
              <a:buNone/>
            </a:pPr>
            <a:r>
              <a:rPr lang="en-US" sz="2000"/>
              <a:t>Consider the schedule as:   R1(X),  W2(X),  R1(Y),  R2(Z)</a:t>
            </a:r>
            <a:endParaRPr/>
          </a:p>
        </p:txBody>
      </p:sp>
      <p:sp>
        <p:nvSpPr>
          <p:cNvPr descr="Date Placeholder 3" id="1569" name="Google Shape;1569;p10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70" name="Google Shape;1570;p10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descr="Title 1" id="1575" name="Google Shape;1575;p10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576" name="Google Shape;1576;p10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1600"/>
              <a:buFont typeface="Noto Sans Symbols"/>
              <a:buNone/>
            </a:pPr>
            <a:r>
              <a:rPr lang="en-US" sz="1600"/>
              <a:t>Two operations in schedule are said to CONFLICT if they satisfy all three of the following conditions</a:t>
            </a:r>
            <a:endParaRPr/>
          </a:p>
          <a:p>
            <a:pPr indent="-176213" lvl="0" marL="176213" rtl="0" algn="l">
              <a:spcBef>
                <a:spcPts val="400"/>
              </a:spcBef>
              <a:spcAft>
                <a:spcPts val="0"/>
              </a:spcAft>
              <a:buSzPts val="2000"/>
              <a:buFont typeface="Verdana"/>
              <a:buAutoNum type="arabicPeriod"/>
            </a:pPr>
            <a:r>
              <a:rPr lang="en-US" sz="2000">
                <a:solidFill>
                  <a:srgbClr val="0000FF"/>
                </a:solidFill>
              </a:rPr>
              <a:t>If two operations belong to </a:t>
            </a:r>
            <a:r>
              <a:rPr b="1" lang="en-US" sz="2000">
                <a:solidFill>
                  <a:srgbClr val="0000FF"/>
                </a:solidFill>
              </a:rPr>
              <a:t>different transactions</a:t>
            </a:r>
            <a:endParaRPr/>
          </a:p>
          <a:p>
            <a:pPr indent="-176213" lvl="0" marL="176213" rtl="0" algn="l">
              <a:spcBef>
                <a:spcPts val="300"/>
              </a:spcBef>
              <a:spcAft>
                <a:spcPts val="0"/>
              </a:spcAft>
              <a:buSzPts val="1600"/>
              <a:buFont typeface="Verdana"/>
              <a:buAutoNum type="arabicPeriod"/>
            </a:pPr>
            <a:r>
              <a:rPr lang="en-US" sz="1600"/>
              <a:t>If two operations access same data item</a:t>
            </a:r>
            <a:endParaRPr/>
          </a:p>
          <a:p>
            <a:pPr indent="-176213" lvl="0" marL="176213" rtl="0" algn="l">
              <a:spcBef>
                <a:spcPts val="300"/>
              </a:spcBef>
              <a:spcAft>
                <a:spcPts val="0"/>
              </a:spcAft>
              <a:buSzPts val="1600"/>
              <a:buFont typeface="Verdana"/>
              <a:buAutoNum type="arabicPeriod"/>
            </a:pPr>
            <a:r>
              <a:rPr lang="en-US" sz="1600"/>
              <a:t>Among two operations at least one operation is write</a:t>
            </a:r>
            <a:endParaRPr/>
          </a:p>
          <a:p>
            <a:pPr indent="-176213" lvl="0" marL="176213" rtl="0" algn="l">
              <a:spcBef>
                <a:spcPts val="300"/>
              </a:spcBef>
              <a:spcAft>
                <a:spcPts val="0"/>
              </a:spcAft>
              <a:buSzPts val="1600"/>
              <a:buFont typeface="Noto Sans Symbols"/>
              <a:buNone/>
            </a:pPr>
            <a:r>
              <a:rPr lang="en-US" sz="1600"/>
              <a:t>Example: Consider two transactions </a:t>
            </a:r>
            <a:endParaRPr/>
          </a:p>
          <a:p>
            <a:pPr indent="-176213" lvl="0" marL="176213" rtl="0" algn="l">
              <a:spcBef>
                <a:spcPts val="300"/>
              </a:spcBef>
              <a:spcAft>
                <a:spcPts val="0"/>
              </a:spcAft>
              <a:buSzPts val="1600"/>
              <a:buFont typeface="Noto Sans Symbols"/>
              <a:buNone/>
            </a:pPr>
            <a:r>
              <a:rPr lang="en-US" sz="1600"/>
              <a:t>T1 with operations R1(X) and R1(Y)</a:t>
            </a:r>
            <a:endParaRPr/>
          </a:p>
          <a:p>
            <a:pPr indent="-176213" lvl="0" marL="176213" rtl="0" algn="l">
              <a:spcBef>
                <a:spcPts val="300"/>
              </a:spcBef>
              <a:spcAft>
                <a:spcPts val="0"/>
              </a:spcAft>
              <a:buSzPts val="1600"/>
              <a:buFont typeface="Noto Sans Symbols"/>
              <a:buNone/>
            </a:pPr>
            <a:r>
              <a:rPr lang="en-US" sz="1600"/>
              <a:t>T2 with operations W2(X) and R2(Z)</a:t>
            </a:r>
            <a:endParaRPr/>
          </a:p>
          <a:p>
            <a:pPr indent="-176213" lvl="0" marL="176213" rtl="0" algn="l">
              <a:spcBef>
                <a:spcPts val="300"/>
              </a:spcBef>
              <a:spcAft>
                <a:spcPts val="0"/>
              </a:spcAft>
              <a:buSzPts val="1600"/>
              <a:buFont typeface="Noto Sans Symbols"/>
              <a:buNone/>
            </a:pPr>
            <a:r>
              <a:rPr lang="en-US" sz="1600"/>
              <a:t>Consider the schedule as:   R1(X),  W2(X),  R1(Y),  R2(Z)</a:t>
            </a:r>
            <a:endParaRPr/>
          </a:p>
        </p:txBody>
      </p:sp>
      <p:sp>
        <p:nvSpPr>
          <p:cNvPr descr="Date Placeholder 3" id="1577" name="Google Shape;1577;p10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78" name="Google Shape;1578;p10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579" name="Google Shape;1579;p107"/>
          <p:cNvGraphicFramePr/>
          <p:nvPr/>
        </p:nvGraphicFramePr>
        <p:xfrm>
          <a:off x="1258888" y="4437063"/>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580" name="Google Shape;1580;p107"/>
          <p:cNvSpPr/>
          <p:nvPr/>
        </p:nvSpPr>
        <p:spPr>
          <a:xfrm>
            <a:off x="1733550" y="4719638"/>
            <a:ext cx="1720850" cy="365125"/>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descr="Title 1" id="1585" name="Google Shape;1585;p10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586" name="Google Shape;1586;p10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1600"/>
              <a:buFont typeface="Noto Sans Symbols"/>
              <a:buNone/>
            </a:pPr>
            <a:r>
              <a:rPr lang="en-US" sz="1600"/>
              <a:t>Two operations in schedule are said to CONFLICT if they satisfy all three of the following conditions</a:t>
            </a:r>
            <a:endParaRPr/>
          </a:p>
          <a:p>
            <a:pPr indent="-176213" lvl="0" marL="176213" rtl="0" algn="l">
              <a:spcBef>
                <a:spcPts val="300"/>
              </a:spcBef>
              <a:spcAft>
                <a:spcPts val="0"/>
              </a:spcAft>
              <a:buSzPts val="1600"/>
              <a:buFont typeface="Verdana"/>
              <a:buAutoNum type="arabicPeriod"/>
            </a:pPr>
            <a:r>
              <a:rPr lang="en-US" sz="1600">
                <a:solidFill>
                  <a:srgbClr val="0000FF"/>
                </a:solidFill>
              </a:rPr>
              <a:t>If two operations belong to </a:t>
            </a:r>
            <a:r>
              <a:rPr b="1" lang="en-US" sz="1600">
                <a:solidFill>
                  <a:srgbClr val="0000FF"/>
                </a:solidFill>
              </a:rPr>
              <a:t>different transactions</a:t>
            </a:r>
            <a:endParaRPr/>
          </a:p>
          <a:p>
            <a:pPr indent="-176213" lvl="0" marL="176213" rtl="0" algn="l">
              <a:spcBef>
                <a:spcPts val="300"/>
              </a:spcBef>
              <a:spcAft>
                <a:spcPts val="0"/>
              </a:spcAft>
              <a:buSzPts val="1600"/>
              <a:buFont typeface="Verdana"/>
              <a:buAutoNum type="arabicPeriod"/>
            </a:pPr>
            <a:r>
              <a:rPr lang="en-US" sz="1600"/>
              <a:t>If two operations access same data item</a:t>
            </a:r>
            <a:endParaRPr/>
          </a:p>
          <a:p>
            <a:pPr indent="-176213" lvl="0" marL="176213" rtl="0" algn="l">
              <a:spcBef>
                <a:spcPts val="300"/>
              </a:spcBef>
              <a:spcAft>
                <a:spcPts val="0"/>
              </a:spcAft>
              <a:buSzPts val="1600"/>
              <a:buFont typeface="Verdana"/>
              <a:buAutoNum type="arabicPeriod"/>
            </a:pPr>
            <a:r>
              <a:rPr lang="en-US" sz="1600"/>
              <a:t>Among two operations at least one operation is write</a:t>
            </a:r>
            <a:endParaRPr/>
          </a:p>
          <a:p>
            <a:pPr indent="-176213" lvl="0" marL="176213" rtl="0" algn="l">
              <a:spcBef>
                <a:spcPts val="300"/>
              </a:spcBef>
              <a:spcAft>
                <a:spcPts val="0"/>
              </a:spcAft>
              <a:buSzPts val="1600"/>
              <a:buFont typeface="Noto Sans Symbols"/>
              <a:buNone/>
            </a:pPr>
            <a:r>
              <a:rPr lang="en-US" sz="1600"/>
              <a:t>Example: Consider two transactions </a:t>
            </a:r>
            <a:endParaRPr/>
          </a:p>
          <a:p>
            <a:pPr indent="-176213" lvl="0" marL="176213" rtl="0" algn="l">
              <a:spcBef>
                <a:spcPts val="300"/>
              </a:spcBef>
              <a:spcAft>
                <a:spcPts val="0"/>
              </a:spcAft>
              <a:buSzPts val="1600"/>
              <a:buFont typeface="Noto Sans Symbols"/>
              <a:buNone/>
            </a:pPr>
            <a:r>
              <a:rPr lang="en-US" sz="1600"/>
              <a:t>T1 with operations R1(X) and R1(Y)</a:t>
            </a:r>
            <a:endParaRPr/>
          </a:p>
          <a:p>
            <a:pPr indent="-176213" lvl="0" marL="176213" rtl="0" algn="l">
              <a:spcBef>
                <a:spcPts val="300"/>
              </a:spcBef>
              <a:spcAft>
                <a:spcPts val="0"/>
              </a:spcAft>
              <a:buSzPts val="1600"/>
              <a:buFont typeface="Noto Sans Symbols"/>
              <a:buNone/>
            </a:pPr>
            <a:r>
              <a:rPr lang="en-US" sz="1600"/>
              <a:t>T2 with operations W2(X) and R2(Z)</a:t>
            </a:r>
            <a:endParaRPr/>
          </a:p>
          <a:p>
            <a:pPr indent="-176213" lvl="0" marL="176213" rtl="0" algn="l">
              <a:spcBef>
                <a:spcPts val="300"/>
              </a:spcBef>
              <a:spcAft>
                <a:spcPts val="0"/>
              </a:spcAft>
              <a:buSzPts val="1600"/>
              <a:buFont typeface="Noto Sans Symbols"/>
              <a:buNone/>
            </a:pPr>
            <a:r>
              <a:rPr lang="en-US" sz="1600"/>
              <a:t>Consider the schedule as:   R1(X),  W2(X),  R1(Y),  R2(Z)</a:t>
            </a:r>
            <a:endParaRPr/>
          </a:p>
        </p:txBody>
      </p:sp>
      <p:sp>
        <p:nvSpPr>
          <p:cNvPr descr="Date Placeholder 3" id="1587" name="Google Shape;1587;p10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588" name="Google Shape;1588;p10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589" name="Google Shape;1589;p108"/>
          <p:cNvGraphicFramePr/>
          <p:nvPr/>
        </p:nvGraphicFramePr>
        <p:xfrm>
          <a:off x="1258888" y="4437063"/>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590" name="Google Shape;1590;p108"/>
          <p:cNvSpPr/>
          <p:nvPr/>
        </p:nvSpPr>
        <p:spPr>
          <a:xfrm>
            <a:off x="1733550" y="4719638"/>
            <a:ext cx="1720850" cy="365125"/>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Freeform 34" id="1591" name="Google Shape;1591;p108"/>
          <p:cNvSpPr/>
          <p:nvPr/>
        </p:nvSpPr>
        <p:spPr>
          <a:xfrm>
            <a:off x="3454400" y="4746625"/>
            <a:ext cx="1722438" cy="363538"/>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Freeform 36" id="1592" name="Google Shape;1592;p108"/>
          <p:cNvSpPr/>
          <p:nvPr/>
        </p:nvSpPr>
        <p:spPr>
          <a:xfrm>
            <a:off x="5176838" y="4791075"/>
            <a:ext cx="1720850" cy="365125"/>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6" name="Shape 1596"/>
        <p:cNvGrpSpPr/>
        <p:nvPr/>
      </p:nvGrpSpPr>
      <p:grpSpPr>
        <a:xfrm>
          <a:off x="0" y="0"/>
          <a:ext cx="0" cy="0"/>
          <a:chOff x="0" y="0"/>
          <a:chExt cx="0" cy="0"/>
        </a:xfrm>
      </p:grpSpPr>
      <p:sp>
        <p:nvSpPr>
          <p:cNvPr descr="Title 1" id="1597" name="Google Shape;1597;p10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598" name="Google Shape;1598;p10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1600"/>
              <a:buFont typeface="Noto Sans Symbols"/>
              <a:buNone/>
            </a:pPr>
            <a:r>
              <a:rPr lang="en-US" sz="1600"/>
              <a:t>Two operations in schedule are said to CONFLICT if they satisfy all three of the following conditions</a:t>
            </a:r>
            <a:endParaRPr/>
          </a:p>
          <a:p>
            <a:pPr indent="-176213" lvl="0" marL="176213" rtl="0" algn="l">
              <a:spcBef>
                <a:spcPts val="300"/>
              </a:spcBef>
              <a:spcAft>
                <a:spcPts val="0"/>
              </a:spcAft>
              <a:buSzPts val="1600"/>
              <a:buFont typeface="Verdana"/>
              <a:buAutoNum type="arabicPeriod"/>
            </a:pPr>
            <a:r>
              <a:rPr lang="en-US" sz="1600">
                <a:solidFill>
                  <a:srgbClr val="0000FF"/>
                </a:solidFill>
              </a:rPr>
              <a:t>If two operations belong to </a:t>
            </a:r>
            <a:r>
              <a:rPr b="1" lang="en-US" sz="1600">
                <a:solidFill>
                  <a:srgbClr val="0000FF"/>
                </a:solidFill>
              </a:rPr>
              <a:t>different transactions</a:t>
            </a:r>
            <a:endParaRPr/>
          </a:p>
          <a:p>
            <a:pPr indent="-176213" lvl="0" marL="176213" rtl="0" algn="l">
              <a:spcBef>
                <a:spcPts val="300"/>
              </a:spcBef>
              <a:spcAft>
                <a:spcPts val="0"/>
              </a:spcAft>
              <a:buSzPts val="1600"/>
              <a:buFont typeface="Verdana"/>
              <a:buAutoNum type="arabicPeriod"/>
            </a:pPr>
            <a:r>
              <a:rPr lang="en-US" sz="1600"/>
              <a:t>If two operations access same data item</a:t>
            </a:r>
            <a:endParaRPr/>
          </a:p>
          <a:p>
            <a:pPr indent="-176213" lvl="0" marL="176213" rtl="0" algn="l">
              <a:spcBef>
                <a:spcPts val="300"/>
              </a:spcBef>
              <a:spcAft>
                <a:spcPts val="0"/>
              </a:spcAft>
              <a:buSzPts val="1600"/>
              <a:buFont typeface="Verdana"/>
              <a:buAutoNum type="arabicPeriod"/>
            </a:pPr>
            <a:r>
              <a:rPr lang="en-US" sz="1600"/>
              <a:t>Among two operations at least one operation is write</a:t>
            </a:r>
            <a:endParaRPr/>
          </a:p>
          <a:p>
            <a:pPr indent="-176213" lvl="0" marL="176213" rtl="0" algn="l">
              <a:spcBef>
                <a:spcPts val="300"/>
              </a:spcBef>
              <a:spcAft>
                <a:spcPts val="0"/>
              </a:spcAft>
              <a:buSzPts val="1600"/>
              <a:buFont typeface="Noto Sans Symbols"/>
              <a:buNone/>
            </a:pPr>
            <a:r>
              <a:rPr lang="en-US" sz="1600"/>
              <a:t>Example: Consider two transactions </a:t>
            </a:r>
            <a:endParaRPr/>
          </a:p>
          <a:p>
            <a:pPr indent="-176213" lvl="0" marL="176213" rtl="0" algn="l">
              <a:spcBef>
                <a:spcPts val="300"/>
              </a:spcBef>
              <a:spcAft>
                <a:spcPts val="0"/>
              </a:spcAft>
              <a:buSzPts val="1600"/>
              <a:buFont typeface="Noto Sans Symbols"/>
              <a:buNone/>
            </a:pPr>
            <a:r>
              <a:rPr lang="en-US" sz="1600"/>
              <a:t>T1 with operations R1(X) and R1(Y)</a:t>
            </a:r>
            <a:endParaRPr/>
          </a:p>
          <a:p>
            <a:pPr indent="-176213" lvl="0" marL="176213" rtl="0" algn="l">
              <a:spcBef>
                <a:spcPts val="300"/>
              </a:spcBef>
              <a:spcAft>
                <a:spcPts val="0"/>
              </a:spcAft>
              <a:buSzPts val="1600"/>
              <a:buFont typeface="Noto Sans Symbols"/>
              <a:buNone/>
            </a:pPr>
            <a:r>
              <a:rPr lang="en-US" sz="1600"/>
              <a:t>T2 with operations W2(X) and R2(Z)</a:t>
            </a:r>
            <a:endParaRPr/>
          </a:p>
          <a:p>
            <a:pPr indent="-176213" lvl="0" marL="176213" rtl="0" algn="l">
              <a:spcBef>
                <a:spcPts val="300"/>
              </a:spcBef>
              <a:spcAft>
                <a:spcPts val="0"/>
              </a:spcAft>
              <a:buSzPts val="1600"/>
              <a:buFont typeface="Noto Sans Symbols"/>
              <a:buNone/>
            </a:pPr>
            <a:r>
              <a:rPr lang="en-US" sz="1600"/>
              <a:t>Consider the schedule as:   R1(X),  W2(X),  R1(Y),  R2(Z)</a:t>
            </a:r>
            <a:endParaRPr/>
          </a:p>
        </p:txBody>
      </p:sp>
      <p:sp>
        <p:nvSpPr>
          <p:cNvPr descr="Date Placeholder 3" id="1599" name="Google Shape;1599;p10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00" name="Google Shape;1600;p10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01" name="Google Shape;1601;p109"/>
          <p:cNvGraphicFramePr/>
          <p:nvPr/>
        </p:nvGraphicFramePr>
        <p:xfrm>
          <a:off x="1258888" y="4437063"/>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602" name="Google Shape;1602;p109"/>
          <p:cNvSpPr/>
          <p:nvPr/>
        </p:nvSpPr>
        <p:spPr>
          <a:xfrm>
            <a:off x="1733550" y="4719638"/>
            <a:ext cx="1720850" cy="365125"/>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Freeform 34" id="1603" name="Google Shape;1603;p109"/>
          <p:cNvSpPr/>
          <p:nvPr/>
        </p:nvSpPr>
        <p:spPr>
          <a:xfrm>
            <a:off x="3454400" y="4746625"/>
            <a:ext cx="1722438" cy="363538"/>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Freeform 36" id="1604" name="Google Shape;1604;p109"/>
          <p:cNvSpPr/>
          <p:nvPr/>
        </p:nvSpPr>
        <p:spPr>
          <a:xfrm>
            <a:off x="5176838" y="4791075"/>
            <a:ext cx="1720850" cy="365125"/>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Freeform 38" id="1605" name="Google Shape;1605;p109"/>
          <p:cNvSpPr/>
          <p:nvPr/>
        </p:nvSpPr>
        <p:spPr>
          <a:xfrm>
            <a:off x="1546225" y="4791075"/>
            <a:ext cx="5689600" cy="1058863"/>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descr="Title 1" id="1610" name="Google Shape;1610;p11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611" name="Google Shape;1611;p11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1600"/>
              <a:buFont typeface="Noto Sans Symbols"/>
              <a:buNone/>
            </a:pPr>
            <a:r>
              <a:rPr lang="en-US" sz="1600"/>
              <a:t>Two operations in schedule are said to CONFLICT if they satisfy all three of the following conditions</a:t>
            </a:r>
            <a:endParaRPr/>
          </a:p>
          <a:p>
            <a:pPr indent="-176213" lvl="0" marL="176213" rtl="0" algn="l">
              <a:spcBef>
                <a:spcPts val="300"/>
              </a:spcBef>
              <a:spcAft>
                <a:spcPts val="0"/>
              </a:spcAft>
              <a:buSzPts val="1600"/>
              <a:buFont typeface="Verdana"/>
              <a:buAutoNum type="arabicPeriod"/>
            </a:pPr>
            <a:r>
              <a:rPr lang="en-US" sz="1600"/>
              <a:t>If two operations belong to different transactions</a:t>
            </a:r>
            <a:endParaRPr/>
          </a:p>
          <a:p>
            <a:pPr indent="-176213" lvl="0" marL="176213" rtl="0" algn="l">
              <a:spcBef>
                <a:spcPts val="400"/>
              </a:spcBef>
              <a:spcAft>
                <a:spcPts val="0"/>
              </a:spcAft>
              <a:buSzPts val="2000"/>
              <a:buFont typeface="Verdana"/>
              <a:buAutoNum type="arabicPeriod"/>
            </a:pPr>
            <a:r>
              <a:rPr lang="en-US" sz="2000">
                <a:solidFill>
                  <a:srgbClr val="0000FF"/>
                </a:solidFill>
              </a:rPr>
              <a:t>If two operations </a:t>
            </a:r>
            <a:r>
              <a:rPr b="1" lang="en-US" sz="2000">
                <a:solidFill>
                  <a:srgbClr val="0000FF"/>
                </a:solidFill>
              </a:rPr>
              <a:t>access same data item</a:t>
            </a:r>
            <a:endParaRPr/>
          </a:p>
          <a:p>
            <a:pPr indent="-176213" lvl="0" marL="176213" rtl="0" algn="l">
              <a:spcBef>
                <a:spcPts val="300"/>
              </a:spcBef>
              <a:spcAft>
                <a:spcPts val="0"/>
              </a:spcAft>
              <a:buSzPts val="1600"/>
              <a:buFont typeface="Verdana"/>
              <a:buAutoNum type="arabicPeriod"/>
            </a:pPr>
            <a:r>
              <a:rPr lang="en-US" sz="1600"/>
              <a:t>Among two operations at least one operation is write</a:t>
            </a:r>
            <a:endParaRPr/>
          </a:p>
          <a:p>
            <a:pPr indent="-176213" lvl="0" marL="176213" rtl="0" algn="l">
              <a:spcBef>
                <a:spcPts val="300"/>
              </a:spcBef>
              <a:spcAft>
                <a:spcPts val="0"/>
              </a:spcAft>
              <a:buSzPts val="1600"/>
              <a:buFont typeface="Noto Sans Symbols"/>
              <a:buNone/>
            </a:pPr>
            <a:r>
              <a:rPr lang="en-US" sz="1600"/>
              <a:t>Example: Consider two transactions </a:t>
            </a:r>
            <a:endParaRPr/>
          </a:p>
          <a:p>
            <a:pPr indent="-176213" lvl="0" marL="176213" rtl="0" algn="l">
              <a:spcBef>
                <a:spcPts val="300"/>
              </a:spcBef>
              <a:spcAft>
                <a:spcPts val="0"/>
              </a:spcAft>
              <a:buSzPts val="1600"/>
              <a:buFont typeface="Noto Sans Symbols"/>
              <a:buNone/>
            </a:pPr>
            <a:r>
              <a:rPr lang="en-US" sz="1600"/>
              <a:t>T1 with operations R1(X) and R1(Y)</a:t>
            </a:r>
            <a:endParaRPr/>
          </a:p>
          <a:p>
            <a:pPr indent="-176213" lvl="0" marL="176213" rtl="0" algn="l">
              <a:spcBef>
                <a:spcPts val="300"/>
              </a:spcBef>
              <a:spcAft>
                <a:spcPts val="0"/>
              </a:spcAft>
              <a:buSzPts val="1600"/>
              <a:buFont typeface="Noto Sans Symbols"/>
              <a:buNone/>
            </a:pPr>
            <a:r>
              <a:rPr lang="en-US" sz="1600"/>
              <a:t>T2 with operations W2(X) and R2(Z)</a:t>
            </a:r>
            <a:endParaRPr/>
          </a:p>
          <a:p>
            <a:pPr indent="-176213" lvl="0" marL="176213" rtl="0" algn="l">
              <a:spcBef>
                <a:spcPts val="300"/>
              </a:spcBef>
              <a:spcAft>
                <a:spcPts val="0"/>
              </a:spcAft>
              <a:buSzPts val="1600"/>
              <a:buFont typeface="Noto Sans Symbols"/>
              <a:buNone/>
            </a:pPr>
            <a:r>
              <a:rPr lang="en-US" sz="1600"/>
              <a:t>Consider the schedule as:   R1(X),  W2(X),  R1(Y),  R2(Z)</a:t>
            </a:r>
            <a:endParaRPr/>
          </a:p>
        </p:txBody>
      </p:sp>
      <p:sp>
        <p:nvSpPr>
          <p:cNvPr descr="Date Placeholder 3" id="1612" name="Google Shape;1612;p11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13" name="Google Shape;1613;p110"/>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14" name="Google Shape;1614;p110"/>
          <p:cNvGraphicFramePr/>
          <p:nvPr/>
        </p:nvGraphicFramePr>
        <p:xfrm>
          <a:off x="1284288" y="4581525"/>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615" name="Google Shape;1615;p110"/>
          <p:cNvSpPr/>
          <p:nvPr/>
        </p:nvSpPr>
        <p:spPr>
          <a:xfrm>
            <a:off x="1758950" y="4864100"/>
            <a:ext cx="1720850" cy="363538"/>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9" name="Shape 1619"/>
        <p:cNvGrpSpPr/>
        <p:nvPr/>
      </p:nvGrpSpPr>
      <p:grpSpPr>
        <a:xfrm>
          <a:off x="0" y="0"/>
          <a:ext cx="0" cy="0"/>
          <a:chOff x="0" y="0"/>
          <a:chExt cx="0" cy="0"/>
        </a:xfrm>
      </p:grpSpPr>
      <p:sp>
        <p:nvSpPr>
          <p:cNvPr descr="Title 1" id="1620" name="Google Shape;1620;p11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621" name="Google Shape;1621;p11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6213" lvl="0" marL="176213" rtl="0" algn="l">
              <a:spcBef>
                <a:spcPts val="0"/>
              </a:spcBef>
              <a:spcAft>
                <a:spcPts val="0"/>
              </a:spcAft>
              <a:buSzPts val="1600"/>
              <a:buFont typeface="Noto Sans Symbols"/>
              <a:buNone/>
            </a:pPr>
            <a:r>
              <a:rPr lang="en-US" sz="1600"/>
              <a:t>Two operations in schedule are said to CONFLICT if they satisfy all three of the following conditions</a:t>
            </a:r>
            <a:endParaRPr/>
          </a:p>
          <a:p>
            <a:pPr indent="-176213" lvl="0" marL="176213" rtl="0" algn="l">
              <a:spcBef>
                <a:spcPts val="300"/>
              </a:spcBef>
              <a:spcAft>
                <a:spcPts val="0"/>
              </a:spcAft>
              <a:buSzPts val="1600"/>
              <a:buFont typeface="Verdana"/>
              <a:buAutoNum type="arabicPeriod"/>
            </a:pPr>
            <a:r>
              <a:rPr lang="en-US" sz="1600"/>
              <a:t>If two operations belong to different transactions</a:t>
            </a:r>
            <a:endParaRPr/>
          </a:p>
          <a:p>
            <a:pPr indent="-176213" lvl="0" marL="176213" rtl="0" algn="l">
              <a:spcBef>
                <a:spcPts val="300"/>
              </a:spcBef>
              <a:spcAft>
                <a:spcPts val="0"/>
              </a:spcAft>
              <a:buSzPts val="1600"/>
              <a:buFont typeface="Verdana"/>
              <a:buAutoNum type="arabicPeriod"/>
            </a:pPr>
            <a:r>
              <a:rPr lang="en-US" sz="1600"/>
              <a:t>If two operations access same data item</a:t>
            </a:r>
            <a:endParaRPr/>
          </a:p>
          <a:p>
            <a:pPr indent="-176213" lvl="0" marL="176213" rtl="0" algn="l">
              <a:spcBef>
                <a:spcPts val="400"/>
              </a:spcBef>
              <a:spcAft>
                <a:spcPts val="0"/>
              </a:spcAft>
              <a:buSzPts val="1800"/>
              <a:buFont typeface="Verdana"/>
              <a:buAutoNum type="arabicPeriod"/>
            </a:pPr>
            <a:r>
              <a:rPr lang="en-US" sz="1800">
                <a:solidFill>
                  <a:srgbClr val="0000FF"/>
                </a:solidFill>
              </a:rPr>
              <a:t>Among two operations </a:t>
            </a:r>
            <a:r>
              <a:rPr b="1" lang="en-US" sz="1800">
                <a:solidFill>
                  <a:srgbClr val="0000FF"/>
                </a:solidFill>
              </a:rPr>
              <a:t>at least one operation is write</a:t>
            </a:r>
            <a:endParaRPr b="1" sz="1600">
              <a:solidFill>
                <a:srgbClr val="0000FF"/>
              </a:solidFill>
            </a:endParaRPr>
          </a:p>
          <a:p>
            <a:pPr indent="-176213" lvl="0" marL="176213" rtl="0" algn="l">
              <a:spcBef>
                <a:spcPts val="300"/>
              </a:spcBef>
              <a:spcAft>
                <a:spcPts val="0"/>
              </a:spcAft>
              <a:buSzPts val="1600"/>
              <a:buFont typeface="Noto Sans Symbols"/>
              <a:buNone/>
            </a:pPr>
            <a:r>
              <a:rPr lang="en-US" sz="1600"/>
              <a:t>Example: Consider two transactions </a:t>
            </a:r>
            <a:endParaRPr/>
          </a:p>
          <a:p>
            <a:pPr indent="-176213" lvl="0" marL="176213" rtl="0" algn="l">
              <a:spcBef>
                <a:spcPts val="300"/>
              </a:spcBef>
              <a:spcAft>
                <a:spcPts val="0"/>
              </a:spcAft>
              <a:buSzPts val="1600"/>
              <a:buFont typeface="Noto Sans Symbols"/>
              <a:buNone/>
            </a:pPr>
            <a:r>
              <a:rPr lang="en-US" sz="1600"/>
              <a:t>T1 with operations R1(X) and R1(Y)</a:t>
            </a:r>
            <a:endParaRPr/>
          </a:p>
          <a:p>
            <a:pPr indent="-176213" lvl="0" marL="176213" rtl="0" algn="l">
              <a:spcBef>
                <a:spcPts val="300"/>
              </a:spcBef>
              <a:spcAft>
                <a:spcPts val="0"/>
              </a:spcAft>
              <a:buSzPts val="1600"/>
              <a:buFont typeface="Noto Sans Symbols"/>
              <a:buNone/>
            </a:pPr>
            <a:r>
              <a:rPr lang="en-US" sz="1600"/>
              <a:t>T2 with operations W2(X) and R2(Z)</a:t>
            </a:r>
            <a:endParaRPr/>
          </a:p>
          <a:p>
            <a:pPr indent="-176213" lvl="0" marL="176213" rtl="0" algn="l">
              <a:spcBef>
                <a:spcPts val="300"/>
              </a:spcBef>
              <a:spcAft>
                <a:spcPts val="0"/>
              </a:spcAft>
              <a:buSzPts val="1600"/>
              <a:buFont typeface="Noto Sans Symbols"/>
              <a:buNone/>
            </a:pPr>
            <a:r>
              <a:rPr lang="en-US" sz="1600"/>
              <a:t>Consider the schedule as:   R1(X),  W2(X),  R1(Y),  R2(Z)</a:t>
            </a:r>
            <a:endParaRPr/>
          </a:p>
        </p:txBody>
      </p:sp>
      <p:sp>
        <p:nvSpPr>
          <p:cNvPr descr="Date Placeholder 3" id="1622" name="Google Shape;1622;p11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23" name="Google Shape;1623;p111"/>
          <p:cNvSpPr txBox="1"/>
          <p:nvPr/>
        </p:nvSpPr>
        <p:spPr>
          <a:xfrm>
            <a:off x="8197850" y="6400800"/>
            <a:ext cx="334963"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24" name="Google Shape;1624;p111"/>
          <p:cNvGraphicFramePr/>
          <p:nvPr/>
        </p:nvGraphicFramePr>
        <p:xfrm>
          <a:off x="1284288" y="4581525"/>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625" name="Google Shape;1625;p111"/>
          <p:cNvSpPr/>
          <p:nvPr/>
        </p:nvSpPr>
        <p:spPr>
          <a:xfrm>
            <a:off x="1758950" y="4864100"/>
            <a:ext cx="1720850" cy="363538"/>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descr="Title 1" id="1630" name="Google Shape;1630;p11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631" name="Google Shape;1631;p11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39700" lvl="0" marL="139700" rtl="0" algn="l">
              <a:spcBef>
                <a:spcPts val="0"/>
              </a:spcBef>
              <a:spcAft>
                <a:spcPts val="0"/>
              </a:spcAft>
              <a:buSzPts val="1600"/>
              <a:buFont typeface="Noto Sans Symbols"/>
              <a:buNone/>
            </a:pPr>
            <a:r>
              <a:rPr lang="en-US" sz="1600"/>
              <a:t>Two operations in schedule are said to CONFLICT if they satisfy </a:t>
            </a:r>
            <a:r>
              <a:rPr b="1" lang="en-US" sz="2000">
                <a:solidFill>
                  <a:srgbClr val="FF0000"/>
                </a:solidFill>
              </a:rPr>
              <a:t>all three of the following conditions</a:t>
            </a:r>
            <a:endParaRPr/>
          </a:p>
          <a:p>
            <a:pPr indent="-139700" lvl="0" marL="139700" rtl="0" algn="l">
              <a:spcBef>
                <a:spcPts val="300"/>
              </a:spcBef>
              <a:spcAft>
                <a:spcPts val="0"/>
              </a:spcAft>
              <a:buSzPts val="1600"/>
              <a:buFont typeface="Verdana"/>
              <a:buAutoNum type="arabicPeriod"/>
            </a:pPr>
            <a:r>
              <a:rPr lang="en-US" sz="1600"/>
              <a:t>If two operations belong to different transactions</a:t>
            </a:r>
            <a:endParaRPr/>
          </a:p>
          <a:p>
            <a:pPr indent="-139700" lvl="0" marL="139700" rtl="0" algn="l">
              <a:spcBef>
                <a:spcPts val="300"/>
              </a:spcBef>
              <a:spcAft>
                <a:spcPts val="0"/>
              </a:spcAft>
              <a:buSzPts val="1600"/>
              <a:buFont typeface="Verdana"/>
              <a:buAutoNum type="arabicPeriod"/>
            </a:pPr>
            <a:r>
              <a:rPr lang="en-US" sz="1600"/>
              <a:t>If two operations access same data item</a:t>
            </a:r>
            <a:endParaRPr/>
          </a:p>
          <a:p>
            <a:pPr indent="-139700" lvl="0" marL="139700" rtl="0" algn="l">
              <a:spcBef>
                <a:spcPts val="300"/>
              </a:spcBef>
              <a:spcAft>
                <a:spcPts val="0"/>
              </a:spcAft>
              <a:buSzPts val="1600"/>
              <a:buFont typeface="Verdana"/>
              <a:buAutoNum type="arabicPeriod"/>
            </a:pPr>
            <a:r>
              <a:rPr lang="en-US" sz="1600"/>
              <a:t>Among two operations at least one operation is write</a:t>
            </a:r>
            <a:endParaRPr/>
          </a:p>
          <a:p>
            <a:pPr indent="-139700" lvl="0" marL="139700" rtl="0" algn="l">
              <a:spcBef>
                <a:spcPts val="300"/>
              </a:spcBef>
              <a:spcAft>
                <a:spcPts val="0"/>
              </a:spcAft>
              <a:buSzPts val="1600"/>
              <a:buFont typeface="Noto Sans Symbols"/>
              <a:buNone/>
            </a:pPr>
            <a:r>
              <a:rPr lang="en-US" sz="1600"/>
              <a:t>Example: Consider two transactions </a:t>
            </a:r>
            <a:endParaRPr/>
          </a:p>
          <a:p>
            <a:pPr indent="-139700" lvl="0" marL="139700" rtl="0" algn="l">
              <a:spcBef>
                <a:spcPts val="300"/>
              </a:spcBef>
              <a:spcAft>
                <a:spcPts val="0"/>
              </a:spcAft>
              <a:buSzPts val="1600"/>
              <a:buFont typeface="Noto Sans Symbols"/>
              <a:buNone/>
            </a:pPr>
            <a:r>
              <a:rPr lang="en-US" sz="1600"/>
              <a:t>T1 with operations R1(X) and R1(Y)</a:t>
            </a:r>
            <a:endParaRPr/>
          </a:p>
          <a:p>
            <a:pPr indent="-139700" lvl="0" marL="139700" rtl="0" algn="l">
              <a:spcBef>
                <a:spcPts val="300"/>
              </a:spcBef>
              <a:spcAft>
                <a:spcPts val="0"/>
              </a:spcAft>
              <a:buSzPts val="1600"/>
              <a:buFont typeface="Noto Sans Symbols"/>
              <a:buNone/>
            </a:pPr>
            <a:r>
              <a:rPr lang="en-US" sz="1600"/>
              <a:t>T2 with operations W2(X) and R2(Z)</a:t>
            </a:r>
            <a:endParaRPr/>
          </a:p>
          <a:p>
            <a:pPr indent="-139700" lvl="0" marL="139700" rtl="0" algn="l">
              <a:spcBef>
                <a:spcPts val="400"/>
              </a:spcBef>
              <a:spcAft>
                <a:spcPts val="0"/>
              </a:spcAft>
              <a:buSzPts val="1600"/>
              <a:buFont typeface="Noto Sans Symbols"/>
              <a:buNone/>
            </a:pPr>
            <a:r>
              <a:rPr lang="en-US" sz="1600"/>
              <a:t>Consider the schedule as:   </a:t>
            </a:r>
            <a:r>
              <a:rPr lang="en-US" sz="2000"/>
              <a:t>R1(X),  W2(X),  R1(Y),  R2(Z)</a:t>
            </a:r>
            <a:endParaRPr/>
          </a:p>
          <a:p>
            <a:pPr indent="-139700" lvl="0" marL="139700" rtl="0" algn="l">
              <a:spcBef>
                <a:spcPts val="700"/>
              </a:spcBef>
              <a:spcAft>
                <a:spcPts val="0"/>
              </a:spcAft>
              <a:buSzPts val="1600"/>
              <a:buFont typeface="Noto Sans Symbols"/>
              <a:buNone/>
            </a:pPr>
            <a:r>
              <a:t/>
            </a:r>
            <a:endParaRPr sz="1600"/>
          </a:p>
          <a:p>
            <a:pPr indent="-139700" lvl="0" marL="139700" rtl="0" algn="l">
              <a:spcBef>
                <a:spcPts val="400"/>
              </a:spcBef>
              <a:spcAft>
                <a:spcPts val="0"/>
              </a:spcAft>
              <a:buSzPts val="2000"/>
              <a:buFont typeface="Noto Sans Symbols"/>
              <a:buNone/>
            </a:pPr>
            <a:r>
              <a:rPr lang="en-US" sz="2000"/>
              <a:t>Now only </a:t>
            </a:r>
            <a:r>
              <a:rPr b="1" lang="en-US" sz="2000">
                <a:solidFill>
                  <a:srgbClr val="FF0000"/>
                </a:solidFill>
              </a:rPr>
              <a:t>CONFLICTing</a:t>
            </a:r>
            <a:r>
              <a:rPr b="1" lang="en-US" sz="2000"/>
              <a:t> </a:t>
            </a:r>
            <a:r>
              <a:rPr lang="en-US" sz="2000"/>
              <a:t>operation in the given schedule which satisfy all three conditions is </a:t>
            </a:r>
            <a:r>
              <a:rPr b="1" lang="en-US" sz="2000"/>
              <a:t>(R1(X), W2(X))</a:t>
            </a:r>
            <a:endParaRPr sz="2000"/>
          </a:p>
        </p:txBody>
      </p:sp>
      <p:sp>
        <p:nvSpPr>
          <p:cNvPr descr="Date Placeholder 3" id="1632" name="Google Shape;1632;p11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33" name="Google Shape;1633;p112"/>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34" name="Google Shape;1634;p112"/>
          <p:cNvGraphicFramePr/>
          <p:nvPr/>
        </p:nvGraphicFramePr>
        <p:xfrm>
          <a:off x="1284288" y="5130800"/>
          <a:ext cx="3000000" cy="3000000"/>
        </p:xfrm>
        <a:graphic>
          <a:graphicData uri="http://schemas.openxmlformats.org/drawingml/2006/table">
            <a:tbl>
              <a:tblPr>
                <a:noFill/>
                <a:tableStyleId>{DA31C186-C125-4E34-A739-053F885C22C1}</a:tableStyleId>
              </a:tblPr>
              <a:tblGrid>
                <a:gridCol w="1524000"/>
                <a:gridCol w="1524000"/>
                <a:gridCol w="1524000"/>
                <a:gridCol w="152400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R2(Z)</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reeform 32" id="1635" name="Google Shape;1635;p112"/>
          <p:cNvSpPr/>
          <p:nvPr/>
        </p:nvSpPr>
        <p:spPr>
          <a:xfrm>
            <a:off x="1758950" y="5414963"/>
            <a:ext cx="1720850" cy="363537"/>
          </a:xfrm>
          <a:custGeom>
            <a:rect b="b" l="l" r="r" t="t"/>
            <a:pathLst>
              <a:path extrusionOk="0" h="21600" w="21600">
                <a:moveTo>
                  <a:pt x="0" y="0"/>
                </a:moveTo>
                <a:cubicBezTo>
                  <a:pt x="3431" y="10800"/>
                  <a:pt x="6863" y="21600"/>
                  <a:pt x="10462" y="21600"/>
                </a:cubicBezTo>
                <a:cubicBezTo>
                  <a:pt x="14062" y="21600"/>
                  <a:pt x="21600" y="0"/>
                  <a:pt x="21600" y="0"/>
                </a:cubicBezTo>
              </a:path>
            </a:pathLst>
          </a:custGeom>
          <a:noFill/>
          <a:ln cap="flat" cmpd="sng" w="28575">
            <a:solidFill>
              <a:srgbClr val="0000FF"/>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33" id="1636" name="Google Shape;1636;p112"/>
          <p:cNvSpPr txBox="1"/>
          <p:nvPr/>
        </p:nvSpPr>
        <p:spPr>
          <a:xfrm>
            <a:off x="2497138" y="5681663"/>
            <a:ext cx="8667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Conflict</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descr="Title 1" id="1641" name="Google Shape;1641;p11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642" name="Google Shape;1642;p11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52425" lvl="0" marL="352425" rtl="0" algn="l">
              <a:spcBef>
                <a:spcPts val="0"/>
              </a:spcBef>
              <a:spcAft>
                <a:spcPts val="0"/>
              </a:spcAft>
              <a:buSzPts val="2000"/>
              <a:buFont typeface="Noto Sans Symbols"/>
              <a:buNone/>
            </a:pPr>
            <a:r>
              <a:rPr lang="en-US" sz="2000"/>
              <a:t>Two operations in schedule are said to CONFLICT if they satisfy all three of the following conditions</a:t>
            </a:r>
            <a:endParaRPr/>
          </a:p>
          <a:p>
            <a:pPr indent="-352425" lvl="0" marL="352425" rtl="0" algn="l">
              <a:spcBef>
                <a:spcPts val="400"/>
              </a:spcBef>
              <a:spcAft>
                <a:spcPts val="0"/>
              </a:spcAft>
              <a:buSzPts val="2000"/>
              <a:buFont typeface="Verdana"/>
              <a:buAutoNum type="arabicPeriod"/>
            </a:pPr>
            <a:r>
              <a:rPr lang="en-US" sz="2000"/>
              <a:t>If two operations belong to different transactions</a:t>
            </a:r>
            <a:endParaRPr/>
          </a:p>
          <a:p>
            <a:pPr indent="-352425" lvl="0" marL="352425" rtl="0" algn="l">
              <a:spcBef>
                <a:spcPts val="400"/>
              </a:spcBef>
              <a:spcAft>
                <a:spcPts val="0"/>
              </a:spcAft>
              <a:buSzPts val="2000"/>
              <a:buFont typeface="Verdana"/>
              <a:buAutoNum type="arabicPeriod"/>
            </a:pPr>
            <a:r>
              <a:rPr lang="en-US" sz="2000"/>
              <a:t>If two operations access same data item</a:t>
            </a:r>
            <a:endParaRPr/>
          </a:p>
          <a:p>
            <a:pPr indent="-352425" lvl="0" marL="352425" rtl="0" algn="l">
              <a:spcBef>
                <a:spcPts val="400"/>
              </a:spcBef>
              <a:spcAft>
                <a:spcPts val="0"/>
              </a:spcAft>
              <a:buSzPts val="2000"/>
              <a:buFont typeface="Verdana"/>
              <a:buAutoNum type="arabicPeriod"/>
            </a:pPr>
            <a:r>
              <a:rPr lang="en-US" sz="2000"/>
              <a:t>Among two operations at least one operation is write</a:t>
            </a:r>
            <a:endParaRPr/>
          </a:p>
        </p:txBody>
      </p:sp>
      <p:sp>
        <p:nvSpPr>
          <p:cNvPr descr="Date Placeholder 3" id="1643" name="Google Shape;1643;p11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44" name="Google Shape;1644;p113"/>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45" name="Google Shape;1645;p113"/>
          <p:cNvGraphicFramePr/>
          <p:nvPr/>
        </p:nvGraphicFramePr>
        <p:xfrm>
          <a:off x="539750" y="4005263"/>
          <a:ext cx="3000000" cy="3000000"/>
        </p:xfrm>
        <a:graphic>
          <a:graphicData uri="http://schemas.openxmlformats.org/drawingml/2006/table">
            <a:tbl>
              <a:tblPr>
                <a:noFill/>
                <a:tableStyleId>{DA31C186-C125-4E34-A739-053F885C22C1}</a:tableStyleId>
              </a:tblPr>
              <a:tblGrid>
                <a:gridCol w="1728800"/>
                <a:gridCol w="2808275"/>
                <a:gridCol w="38878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W2(X), W3(X)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R2(X), R3(X)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W2(Y), R3(X)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646" name="Google Shape;1646;p113"/>
          <p:cNvSpPr txBox="1"/>
          <p:nvPr/>
        </p:nvSpPr>
        <p:spPr>
          <a:xfrm>
            <a:off x="368300" y="3287713"/>
            <a:ext cx="8462963"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Check which of the following schedules are having Conflicting operations</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descr="Title 1" id="1651" name="Google Shape;1651;p11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Conflicting Operations in Schedules</a:t>
            </a:r>
            <a:endParaRPr/>
          </a:p>
        </p:txBody>
      </p:sp>
      <p:sp>
        <p:nvSpPr>
          <p:cNvPr descr="Content Placeholder 2" id="1652" name="Google Shape;1652;p11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52425" lvl="0" marL="352425" rtl="0" algn="l">
              <a:spcBef>
                <a:spcPts val="0"/>
              </a:spcBef>
              <a:spcAft>
                <a:spcPts val="0"/>
              </a:spcAft>
              <a:buSzPts val="2000"/>
              <a:buFont typeface="Noto Sans Symbols"/>
              <a:buNone/>
            </a:pPr>
            <a:r>
              <a:rPr lang="en-US" sz="2000"/>
              <a:t>Two operations in schedule are said to CONFLICT if they satisfy all three of the following conditions</a:t>
            </a:r>
            <a:endParaRPr/>
          </a:p>
          <a:p>
            <a:pPr indent="-352425" lvl="0" marL="352425" rtl="0" algn="l">
              <a:spcBef>
                <a:spcPts val="400"/>
              </a:spcBef>
              <a:spcAft>
                <a:spcPts val="0"/>
              </a:spcAft>
              <a:buSzPts val="2000"/>
              <a:buFont typeface="Verdana"/>
              <a:buAutoNum type="arabicPeriod"/>
            </a:pPr>
            <a:r>
              <a:rPr lang="en-US" sz="2000"/>
              <a:t>If two operations belong to different transactions</a:t>
            </a:r>
            <a:endParaRPr/>
          </a:p>
          <a:p>
            <a:pPr indent="-352425" lvl="0" marL="352425" rtl="0" algn="l">
              <a:spcBef>
                <a:spcPts val="400"/>
              </a:spcBef>
              <a:spcAft>
                <a:spcPts val="0"/>
              </a:spcAft>
              <a:buSzPts val="2000"/>
              <a:buFont typeface="Verdana"/>
              <a:buAutoNum type="arabicPeriod"/>
            </a:pPr>
            <a:r>
              <a:rPr lang="en-US" sz="2000"/>
              <a:t>If two operations access same data item</a:t>
            </a:r>
            <a:endParaRPr/>
          </a:p>
          <a:p>
            <a:pPr indent="-352425" lvl="0" marL="352425" rtl="0" algn="l">
              <a:spcBef>
                <a:spcPts val="400"/>
              </a:spcBef>
              <a:spcAft>
                <a:spcPts val="0"/>
              </a:spcAft>
              <a:buSzPts val="2000"/>
              <a:buFont typeface="Verdana"/>
              <a:buAutoNum type="arabicPeriod"/>
            </a:pPr>
            <a:r>
              <a:rPr lang="en-US" sz="2000"/>
              <a:t>Among two operations at least one operation is write</a:t>
            </a:r>
            <a:endParaRPr/>
          </a:p>
        </p:txBody>
      </p:sp>
      <p:sp>
        <p:nvSpPr>
          <p:cNvPr descr="Date Placeholder 3" id="1653" name="Google Shape;1653;p11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54" name="Google Shape;1654;p114"/>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655" name="Google Shape;1655;p114"/>
          <p:cNvGraphicFramePr/>
          <p:nvPr/>
        </p:nvGraphicFramePr>
        <p:xfrm>
          <a:off x="539750" y="4005263"/>
          <a:ext cx="3000000" cy="3000000"/>
        </p:xfrm>
        <a:graphic>
          <a:graphicData uri="http://schemas.openxmlformats.org/drawingml/2006/table">
            <a:tbl>
              <a:tblPr>
                <a:noFill/>
                <a:tableStyleId>{DA31C186-C125-4E34-A739-053F885C22C1}</a:tableStyleId>
              </a:tblPr>
              <a:tblGrid>
                <a:gridCol w="1728800"/>
                <a:gridCol w="2808275"/>
                <a:gridCol w="38878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W2(X), W3(X)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YES, because (R1(X), 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R2(X), R3(X)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R1(X), W2(Y), R3(X)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656" name="Google Shape;1656;p114"/>
          <p:cNvSpPr txBox="1"/>
          <p:nvPr/>
        </p:nvSpPr>
        <p:spPr>
          <a:xfrm>
            <a:off x="368300" y="3287713"/>
            <a:ext cx="8462963"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Check which of the following schedules are having Conflicting operations</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descr="Title 1" id="1661" name="Google Shape;1661;p11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Serializibility</a:t>
            </a:r>
            <a:endParaRPr/>
          </a:p>
        </p:txBody>
      </p:sp>
      <p:sp>
        <p:nvSpPr>
          <p:cNvPr descr="Content Placeholder 2" id="1662" name="Google Shape;1662;p11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000"/>
              <a:buFont typeface="Noto Sans Symbols"/>
              <a:buNone/>
            </a:pPr>
            <a:r>
              <a:rPr b="1" lang="en-US" sz="2000"/>
              <a:t>What is Serializability  ? </a:t>
            </a:r>
            <a:r>
              <a:rPr lang="en-US" sz="2000"/>
              <a:t>– “Correctness Measure” of some Schedule </a:t>
            </a:r>
            <a:endParaRPr/>
          </a:p>
          <a:p>
            <a:pPr indent="0" lvl="0" marL="0" rtl="0" algn="l">
              <a:spcBef>
                <a:spcPts val="400"/>
              </a:spcBef>
              <a:spcAft>
                <a:spcPts val="0"/>
              </a:spcAft>
              <a:buSzPts val="2000"/>
              <a:buFont typeface="Noto Sans Symbols"/>
              <a:buNone/>
            </a:pPr>
            <a:r>
              <a:rPr lang="en-US" sz="2000"/>
              <a:t>– Why is it useful? It answers the question: “Will an interleaved schedule execute correctly”</a:t>
            </a:r>
            <a:endParaRPr/>
          </a:p>
          <a:p>
            <a:pPr indent="0" lvl="0" marL="0" rtl="0" algn="l">
              <a:spcBef>
                <a:spcPts val="400"/>
              </a:spcBef>
              <a:spcAft>
                <a:spcPts val="0"/>
              </a:spcAft>
              <a:buSzPts val="2000"/>
              <a:buFont typeface="Noto Sans Symbols"/>
              <a:buNone/>
            </a:pPr>
            <a:r>
              <a:rPr lang="en-US" sz="2000"/>
              <a:t>– i.e., a Serializable schedule will execute as correctly as serial schedule … but in an interleaved manner! </a:t>
            </a:r>
            <a:endParaRPr/>
          </a:p>
        </p:txBody>
      </p:sp>
      <p:sp>
        <p:nvSpPr>
          <p:cNvPr descr="Date Placeholder 3" id="1663" name="Google Shape;1663;p11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64" name="Google Shape;1664;p115"/>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descr="Title 1" id="1669" name="Google Shape;1669;p11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Serializibility</a:t>
            </a:r>
            <a:endParaRPr/>
          </a:p>
        </p:txBody>
      </p:sp>
      <p:sp>
        <p:nvSpPr>
          <p:cNvPr descr="Content Placeholder 2" id="1670" name="Google Shape;1670;p11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b="1" lang="en-US" sz="1600"/>
              <a:t>What is Serializability  ? </a:t>
            </a:r>
            <a:r>
              <a:rPr lang="en-US" sz="1600"/>
              <a:t>– “Correctness Measure” of some Schedule </a:t>
            </a:r>
            <a:endParaRPr/>
          </a:p>
          <a:p>
            <a:pPr indent="0" lvl="0" marL="0" rtl="0" algn="l">
              <a:spcBef>
                <a:spcPts val="300"/>
              </a:spcBef>
              <a:spcAft>
                <a:spcPts val="0"/>
              </a:spcAft>
              <a:buSzPts val="1600"/>
              <a:buFont typeface="Noto Sans Symbols"/>
              <a:buNone/>
            </a:pPr>
            <a:r>
              <a:rPr lang="en-US" sz="1600"/>
              <a:t>– Why is it useful? It answers the question: “Will an interleaved schedule execute correctly”</a:t>
            </a:r>
            <a:endParaRPr/>
          </a:p>
          <a:p>
            <a:pPr indent="0" lvl="0" marL="0" rtl="0" algn="l">
              <a:spcBef>
                <a:spcPts val="300"/>
              </a:spcBef>
              <a:spcAft>
                <a:spcPts val="0"/>
              </a:spcAft>
              <a:buSzPts val="1600"/>
              <a:buFont typeface="Noto Sans Symbols"/>
              <a:buNone/>
            </a:pPr>
            <a:r>
              <a:rPr lang="en-US" sz="1600"/>
              <a:t>– i.e., a Serializable schedule will execute as correctly as serial schedule … but in an interleaved manner! </a:t>
            </a:r>
            <a:endParaRPr/>
          </a:p>
          <a:p>
            <a:pPr indent="0" lvl="0" marL="0" rtl="0" algn="l">
              <a:spcBef>
                <a:spcPts val="300"/>
              </a:spcBef>
              <a:spcAft>
                <a:spcPts val="0"/>
              </a:spcAft>
              <a:buSzPts val="1600"/>
              <a:buFont typeface="Noto Sans Symbols"/>
              <a:buNone/>
            </a:pPr>
            <a:r>
              <a:rPr lang="en-US" sz="1600"/>
              <a:t>Example: Consider two transactions </a:t>
            </a:r>
            <a:endParaRPr/>
          </a:p>
          <a:p>
            <a:pPr indent="0" lvl="0" marL="0" rtl="0" algn="l">
              <a:spcBef>
                <a:spcPts val="300"/>
              </a:spcBef>
              <a:spcAft>
                <a:spcPts val="0"/>
              </a:spcAft>
              <a:buSzPts val="1600"/>
              <a:buFont typeface="Noto Sans Symbols"/>
              <a:buNone/>
            </a:pPr>
            <a:r>
              <a:rPr b="1" lang="en-US" sz="1600">
                <a:solidFill>
                  <a:srgbClr val="0000FF"/>
                </a:solidFill>
              </a:rPr>
              <a:t>T1 with operations </a:t>
            </a:r>
            <a:endParaRPr/>
          </a:p>
          <a:p>
            <a:pPr indent="0" lvl="0" marL="0" rtl="0" algn="l">
              <a:spcBef>
                <a:spcPts val="300"/>
              </a:spcBef>
              <a:spcAft>
                <a:spcPts val="0"/>
              </a:spcAft>
              <a:buSzPts val="1600"/>
              <a:buFont typeface="Noto Sans Symbols"/>
              <a:buNone/>
            </a:pPr>
            <a:r>
              <a:rPr lang="en-US" sz="1600">
                <a:solidFill>
                  <a:srgbClr val="0000FF"/>
                </a:solidFill>
              </a:rPr>
              <a:t>Read(X)</a:t>
            </a:r>
            <a:endParaRPr/>
          </a:p>
          <a:p>
            <a:pPr indent="0" lvl="0" marL="0" rtl="0" algn="l">
              <a:spcBef>
                <a:spcPts val="300"/>
              </a:spcBef>
              <a:spcAft>
                <a:spcPts val="0"/>
              </a:spcAft>
              <a:buSzPts val="1600"/>
              <a:buFont typeface="Noto Sans Symbols"/>
              <a:buNone/>
            </a:pPr>
            <a:r>
              <a:rPr lang="en-US" sz="1600">
                <a:solidFill>
                  <a:srgbClr val="0000FF"/>
                </a:solidFill>
              </a:rPr>
              <a:t>X=X-5</a:t>
            </a:r>
            <a:endParaRPr/>
          </a:p>
          <a:p>
            <a:pPr indent="0" lvl="0" marL="0" rtl="0" algn="l">
              <a:spcBef>
                <a:spcPts val="300"/>
              </a:spcBef>
              <a:spcAft>
                <a:spcPts val="0"/>
              </a:spcAft>
              <a:buSzPts val="1600"/>
              <a:buFont typeface="Noto Sans Symbols"/>
              <a:buNone/>
            </a:pPr>
            <a:r>
              <a:rPr lang="en-US" sz="1600">
                <a:solidFill>
                  <a:srgbClr val="0000FF"/>
                </a:solidFill>
              </a:rPr>
              <a:t>Write(X)</a:t>
            </a:r>
            <a:endParaRPr/>
          </a:p>
          <a:p>
            <a:pPr indent="0" lvl="0" marL="0" rtl="0" algn="l">
              <a:spcBef>
                <a:spcPts val="300"/>
              </a:spcBef>
              <a:spcAft>
                <a:spcPts val="0"/>
              </a:spcAft>
              <a:buSzPts val="1600"/>
              <a:buFont typeface="Noto Sans Symbols"/>
              <a:buNone/>
            </a:pPr>
            <a:r>
              <a:rPr lang="en-US" sz="1600">
                <a:solidFill>
                  <a:srgbClr val="0000FF"/>
                </a:solidFill>
              </a:rPr>
              <a:t>Read(Y) </a:t>
            </a:r>
            <a:endParaRPr/>
          </a:p>
          <a:p>
            <a:pPr indent="0" lvl="0" marL="0" rtl="0" algn="l">
              <a:spcBef>
                <a:spcPts val="300"/>
              </a:spcBef>
              <a:spcAft>
                <a:spcPts val="0"/>
              </a:spcAft>
              <a:buSzPts val="1600"/>
              <a:buFont typeface="Noto Sans Symbols"/>
              <a:buNone/>
            </a:pPr>
            <a:r>
              <a:rPr lang="en-US" sz="1600">
                <a:solidFill>
                  <a:srgbClr val="0000FF"/>
                </a:solidFill>
              </a:rPr>
              <a:t>Y=Y+5</a:t>
            </a:r>
            <a:endParaRPr/>
          </a:p>
          <a:p>
            <a:pPr indent="0" lvl="0" marL="0" rtl="0" algn="l">
              <a:spcBef>
                <a:spcPts val="300"/>
              </a:spcBef>
              <a:spcAft>
                <a:spcPts val="0"/>
              </a:spcAft>
              <a:buSzPts val="1600"/>
              <a:buFont typeface="Noto Sans Symbols"/>
              <a:buNone/>
            </a:pPr>
            <a:r>
              <a:rPr lang="en-US" sz="1600">
                <a:solidFill>
                  <a:srgbClr val="0000FF"/>
                </a:solidFill>
              </a:rPr>
              <a:t>Write(Y))</a:t>
            </a:r>
            <a:endParaRPr/>
          </a:p>
          <a:p>
            <a:pPr indent="0" lvl="0" marL="0" rtl="0" algn="l">
              <a:spcBef>
                <a:spcPts val="300"/>
              </a:spcBef>
              <a:spcAft>
                <a:spcPts val="0"/>
              </a:spcAft>
              <a:buSzPts val="1600"/>
              <a:buFont typeface="Noto Sans Symbols"/>
              <a:buNone/>
            </a:pPr>
            <a:r>
              <a:rPr b="1" lang="en-US" sz="1600">
                <a:solidFill>
                  <a:srgbClr val="FF00FF"/>
                </a:solidFill>
              </a:rPr>
              <a:t>T2 with operations </a:t>
            </a:r>
            <a:endParaRPr/>
          </a:p>
          <a:p>
            <a:pPr indent="0" lvl="0" marL="0" rtl="0" algn="l">
              <a:spcBef>
                <a:spcPts val="300"/>
              </a:spcBef>
              <a:spcAft>
                <a:spcPts val="0"/>
              </a:spcAft>
              <a:buSzPts val="1600"/>
              <a:buFont typeface="Noto Sans Symbols"/>
              <a:buNone/>
            </a:pPr>
            <a:r>
              <a:rPr lang="en-US" sz="1600">
                <a:solidFill>
                  <a:srgbClr val="FF00FF"/>
                </a:solidFill>
              </a:rPr>
              <a:t>Read(X)</a:t>
            </a:r>
            <a:endParaRPr/>
          </a:p>
          <a:p>
            <a:pPr indent="0" lvl="0" marL="0" rtl="0" algn="l">
              <a:spcBef>
                <a:spcPts val="300"/>
              </a:spcBef>
              <a:spcAft>
                <a:spcPts val="0"/>
              </a:spcAft>
              <a:buSzPts val="1600"/>
              <a:buFont typeface="Noto Sans Symbols"/>
              <a:buNone/>
            </a:pPr>
            <a:r>
              <a:rPr lang="en-US" sz="1600">
                <a:solidFill>
                  <a:srgbClr val="FF00FF"/>
                </a:solidFill>
              </a:rPr>
              <a:t>X=X-4</a:t>
            </a:r>
            <a:endParaRPr/>
          </a:p>
          <a:p>
            <a:pPr indent="0" lvl="0" marL="0" rtl="0" algn="l">
              <a:spcBef>
                <a:spcPts val="300"/>
              </a:spcBef>
              <a:spcAft>
                <a:spcPts val="0"/>
              </a:spcAft>
              <a:buSzPts val="1600"/>
              <a:buFont typeface="Noto Sans Symbols"/>
              <a:buNone/>
            </a:pPr>
            <a:r>
              <a:rPr lang="en-US" sz="1600">
                <a:solidFill>
                  <a:srgbClr val="FF00FF"/>
                </a:solidFill>
              </a:rPr>
              <a:t>Write(X)</a:t>
            </a:r>
            <a:endParaRPr/>
          </a:p>
        </p:txBody>
      </p:sp>
      <p:sp>
        <p:nvSpPr>
          <p:cNvPr descr="Date Placeholder 3" id="1671" name="Google Shape;1671;p11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72" name="Google Shape;1672;p116"/>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descr="Title 1" id="1677" name="Google Shape;1677;p11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Serializibility</a:t>
            </a:r>
            <a:endParaRPr/>
          </a:p>
        </p:txBody>
      </p:sp>
      <p:sp>
        <p:nvSpPr>
          <p:cNvPr descr="Content Placeholder 2" id="1678" name="Google Shape;1678;p11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400"/>
              <a:buFont typeface="Noto Sans Symbols"/>
              <a:buNone/>
            </a:pPr>
            <a:r>
              <a:rPr b="1" lang="en-US" sz="1400"/>
              <a:t>What is Serializability  ? </a:t>
            </a:r>
            <a:r>
              <a:rPr lang="en-US" sz="1400"/>
              <a:t>– “Correctness Measure” of some Schedule </a:t>
            </a:r>
            <a:endParaRPr/>
          </a:p>
          <a:p>
            <a:pPr indent="0" lvl="0" marL="0" rtl="0" algn="l">
              <a:spcBef>
                <a:spcPts val="300"/>
              </a:spcBef>
              <a:spcAft>
                <a:spcPts val="0"/>
              </a:spcAft>
              <a:buSzPts val="1400"/>
              <a:buFont typeface="Noto Sans Symbols"/>
              <a:buNone/>
            </a:pPr>
            <a:r>
              <a:rPr lang="en-US" sz="1400"/>
              <a:t>– Why is it useful? It answers the question: “Will an interleaved schedule execute correctly”</a:t>
            </a:r>
            <a:endParaRPr/>
          </a:p>
          <a:p>
            <a:pPr indent="0" lvl="0" marL="0" rtl="0" algn="l">
              <a:spcBef>
                <a:spcPts val="300"/>
              </a:spcBef>
              <a:spcAft>
                <a:spcPts val="0"/>
              </a:spcAft>
              <a:buSzPts val="1400"/>
              <a:buFont typeface="Noto Sans Symbols"/>
              <a:buNone/>
            </a:pPr>
            <a:r>
              <a:rPr lang="en-US" sz="1400"/>
              <a:t>– i.e., a Serializable schedule will execute as correctly as serial schedule … but in an interleaved manner! </a:t>
            </a:r>
            <a:endParaRPr/>
          </a:p>
          <a:p>
            <a:pPr indent="0" lvl="0" marL="0" rtl="0" algn="l">
              <a:spcBef>
                <a:spcPts val="300"/>
              </a:spcBef>
              <a:spcAft>
                <a:spcPts val="0"/>
              </a:spcAft>
              <a:buSzPts val="1400"/>
              <a:buFont typeface="Noto Sans Symbols"/>
              <a:buNone/>
            </a:pPr>
            <a:r>
              <a:rPr lang="en-US" sz="1400"/>
              <a:t>Example: Consider two transactions </a:t>
            </a:r>
            <a:endParaRPr/>
          </a:p>
          <a:p>
            <a:pPr indent="0" lvl="0" marL="0" rtl="0" algn="l">
              <a:spcBef>
                <a:spcPts val="300"/>
              </a:spcBef>
              <a:spcAft>
                <a:spcPts val="0"/>
              </a:spcAft>
              <a:buSzPts val="1400"/>
              <a:buFont typeface="Noto Sans Symbols"/>
              <a:buNone/>
            </a:pPr>
            <a:r>
              <a:rPr lang="en-US" sz="1400"/>
              <a:t>T1 with operations (Read(X); X=X-5,Write(X); Read(Y); Y=Y+5; Write(Y))</a:t>
            </a:r>
            <a:endParaRPr/>
          </a:p>
          <a:p>
            <a:pPr indent="0" lvl="0" marL="0" rtl="0" algn="l">
              <a:spcBef>
                <a:spcPts val="300"/>
              </a:spcBef>
              <a:spcAft>
                <a:spcPts val="0"/>
              </a:spcAft>
              <a:buSzPts val="1400"/>
              <a:buFont typeface="Noto Sans Symbols"/>
              <a:buNone/>
            </a:pPr>
            <a:r>
              <a:rPr lang="en-US" sz="1400"/>
              <a:t>T2 with operations (Read(X), X=X-4,Write(X));</a:t>
            </a:r>
            <a:endParaRPr/>
          </a:p>
          <a:p>
            <a:pPr indent="0" lvl="0" marL="0" rtl="0" algn="l">
              <a:spcBef>
                <a:spcPts val="300"/>
              </a:spcBef>
              <a:spcAft>
                <a:spcPts val="0"/>
              </a:spcAft>
              <a:buSzPts val="1600"/>
              <a:buFont typeface="Noto Sans Symbols"/>
              <a:buNone/>
            </a:pPr>
            <a:r>
              <a:rPr b="1" lang="en-US" sz="1600"/>
              <a:t>For this two Transactions (T1 &amp; T2) two possible serial schedules are:</a:t>
            </a:r>
            <a:endParaRPr/>
          </a:p>
        </p:txBody>
      </p:sp>
      <p:sp>
        <p:nvSpPr>
          <p:cNvPr descr="Date Placeholder 3" id="1679" name="Google Shape;1679;p11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80" name="Google Shape;1680;p117"/>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1681" name="Google Shape;1681;p117"/>
          <p:cNvPicPr preferRelativeResize="0"/>
          <p:nvPr/>
        </p:nvPicPr>
        <p:blipFill rotWithShape="1">
          <a:blip r:embed="rId3">
            <a:alphaModFix/>
          </a:blip>
          <a:srcRect b="0" l="0" r="0" t="0"/>
          <a:stretch/>
        </p:blipFill>
        <p:spPr>
          <a:xfrm>
            <a:off x="4960938" y="4076700"/>
            <a:ext cx="2635250" cy="2324100"/>
          </a:xfrm>
          <a:prstGeom prst="rect">
            <a:avLst/>
          </a:prstGeom>
          <a:noFill/>
          <a:ln>
            <a:noFill/>
          </a:ln>
        </p:spPr>
      </p:pic>
      <p:pic>
        <p:nvPicPr>
          <p:cNvPr descr="Picture 5" id="1682" name="Google Shape;1682;p117"/>
          <p:cNvPicPr preferRelativeResize="0"/>
          <p:nvPr/>
        </p:nvPicPr>
        <p:blipFill rotWithShape="1">
          <a:blip r:embed="rId4">
            <a:alphaModFix/>
          </a:blip>
          <a:srcRect b="0" l="0" r="0" t="0"/>
          <a:stretch/>
        </p:blipFill>
        <p:spPr>
          <a:xfrm>
            <a:off x="1835150" y="4095750"/>
            <a:ext cx="2757488" cy="2303463"/>
          </a:xfrm>
          <a:prstGeom prst="rect">
            <a:avLst/>
          </a:prstGeom>
          <a:noFill/>
          <a:ln>
            <a:noFill/>
          </a:ln>
        </p:spPr>
      </p:pic>
      <p:cxnSp>
        <p:nvCxnSpPr>
          <p:cNvPr descr="Straight Arrow Connector 7" id="1683" name="Google Shape;1683;p117"/>
          <p:cNvCxnSpPr/>
          <p:nvPr/>
        </p:nvCxnSpPr>
        <p:spPr>
          <a:xfrm>
            <a:off x="1681163" y="4335463"/>
            <a:ext cx="0" cy="1612900"/>
          </a:xfrm>
          <a:prstGeom prst="straightConnector1">
            <a:avLst/>
          </a:prstGeom>
          <a:noFill/>
          <a:ln cap="flat" cmpd="sng" w="9525">
            <a:solidFill>
              <a:srgbClr val="000000"/>
            </a:solidFill>
            <a:prstDash val="solid"/>
            <a:round/>
            <a:headEnd len="sm" w="sm" type="none"/>
            <a:tailEnd len="med" w="med" type="triangle"/>
          </a:ln>
        </p:spPr>
      </p:cxnSp>
      <p:sp>
        <p:nvSpPr>
          <p:cNvPr descr="TextBox 8" id="1684" name="Google Shape;1684;p117"/>
          <p:cNvSpPr txBox="1"/>
          <p:nvPr/>
        </p:nvSpPr>
        <p:spPr>
          <a:xfrm>
            <a:off x="330200" y="4535488"/>
            <a:ext cx="1304925" cy="7381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9" id="1685" name="Google Shape;1685;p117"/>
          <p:cNvSpPr txBox="1"/>
          <p:nvPr/>
        </p:nvSpPr>
        <p:spPr>
          <a:xfrm>
            <a:off x="1865313" y="3787775"/>
            <a:ext cx="2649537"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Serial schedule </a:t>
            </a:r>
            <a:r>
              <a:rPr b="1" lang="en-US" sz="1600">
                <a:solidFill>
                  <a:srgbClr val="C00000"/>
                </a:solidFill>
                <a:latin typeface="Verdana"/>
                <a:ea typeface="Verdana"/>
                <a:cs typeface="Verdana"/>
                <a:sym typeface="Verdana"/>
              </a:rPr>
              <a:t>(T1, T2)</a:t>
            </a:r>
            <a:endParaRPr sz="1600">
              <a:solidFill>
                <a:srgbClr val="000000"/>
              </a:solidFill>
              <a:latin typeface="Verdana"/>
              <a:ea typeface="Verdana"/>
              <a:cs typeface="Verdana"/>
              <a:sym typeface="Verdana"/>
            </a:endParaRPr>
          </a:p>
        </p:txBody>
      </p:sp>
      <p:sp>
        <p:nvSpPr>
          <p:cNvPr descr="TextBox 16" id="1686" name="Google Shape;1686;p117"/>
          <p:cNvSpPr txBox="1"/>
          <p:nvPr/>
        </p:nvSpPr>
        <p:spPr>
          <a:xfrm>
            <a:off x="5048250" y="3787775"/>
            <a:ext cx="265112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Serial schedule </a:t>
            </a:r>
            <a:r>
              <a:rPr b="1" lang="en-US" sz="1600">
                <a:solidFill>
                  <a:srgbClr val="C00000"/>
                </a:solidFill>
                <a:latin typeface="Verdana"/>
                <a:ea typeface="Verdana"/>
                <a:cs typeface="Verdana"/>
                <a:sym typeface="Verdana"/>
              </a:rPr>
              <a:t>(T2, T1)</a:t>
            </a:r>
            <a:endParaRPr sz="1600">
              <a:solidFill>
                <a:srgbClr val="000000"/>
              </a:solidFill>
              <a:latin typeface="Verdana"/>
              <a:ea typeface="Verdana"/>
              <a:cs typeface="Verdana"/>
              <a:sym typeface="Verdana"/>
            </a:endParaRPr>
          </a:p>
        </p:txBody>
      </p:sp>
      <p:cxnSp>
        <p:nvCxnSpPr>
          <p:cNvPr descr="Straight Arrow Connector 17" id="1687" name="Google Shape;1687;p117"/>
          <p:cNvCxnSpPr/>
          <p:nvPr/>
        </p:nvCxnSpPr>
        <p:spPr>
          <a:xfrm>
            <a:off x="7689850" y="4335463"/>
            <a:ext cx="0" cy="1658937"/>
          </a:xfrm>
          <a:prstGeom prst="straightConnector1">
            <a:avLst/>
          </a:prstGeom>
          <a:noFill/>
          <a:ln cap="flat" cmpd="sng" w="9525">
            <a:solidFill>
              <a:srgbClr val="000000"/>
            </a:solidFill>
            <a:prstDash val="solid"/>
            <a:round/>
            <a:headEnd len="sm" w="sm" type="none"/>
            <a:tailEnd len="med" w="med" type="triangle"/>
          </a:ln>
        </p:spPr>
      </p:cxnSp>
      <p:sp>
        <p:nvSpPr>
          <p:cNvPr descr="TextBox 18" id="1688" name="Google Shape;1688;p117"/>
          <p:cNvSpPr txBox="1"/>
          <p:nvPr/>
        </p:nvSpPr>
        <p:spPr>
          <a:xfrm>
            <a:off x="7750175" y="4335463"/>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descr="Title 1" id="1693" name="Google Shape;1693;p11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Serializibility</a:t>
            </a:r>
            <a:endParaRPr/>
          </a:p>
        </p:txBody>
      </p:sp>
      <p:sp>
        <p:nvSpPr>
          <p:cNvPr descr="Date Placeholder 3" id="1694" name="Google Shape;1694;p11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695" name="Google Shape;1695;p118"/>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1696" name="Google Shape;1696;p118"/>
          <p:cNvPicPr preferRelativeResize="0"/>
          <p:nvPr/>
        </p:nvPicPr>
        <p:blipFill rotWithShape="1">
          <a:blip r:embed="rId3">
            <a:alphaModFix/>
          </a:blip>
          <a:srcRect b="0" l="0" r="0" t="0"/>
          <a:stretch/>
        </p:blipFill>
        <p:spPr>
          <a:xfrm>
            <a:off x="1598613" y="4364038"/>
            <a:ext cx="3201987" cy="1954212"/>
          </a:xfrm>
          <a:prstGeom prst="rect">
            <a:avLst/>
          </a:prstGeom>
          <a:noFill/>
          <a:ln>
            <a:noFill/>
          </a:ln>
        </p:spPr>
      </p:pic>
      <p:pic>
        <p:nvPicPr>
          <p:cNvPr descr="Picture 4" id="1697" name="Google Shape;1697;p118"/>
          <p:cNvPicPr preferRelativeResize="0"/>
          <p:nvPr/>
        </p:nvPicPr>
        <p:blipFill rotWithShape="1">
          <a:blip r:embed="rId4">
            <a:alphaModFix/>
          </a:blip>
          <a:srcRect b="0" l="0" r="0" t="0"/>
          <a:stretch/>
        </p:blipFill>
        <p:spPr>
          <a:xfrm>
            <a:off x="4865688" y="1339850"/>
            <a:ext cx="2517775" cy="2193925"/>
          </a:xfrm>
          <a:prstGeom prst="rect">
            <a:avLst/>
          </a:prstGeom>
          <a:noFill/>
          <a:ln>
            <a:noFill/>
          </a:ln>
        </p:spPr>
      </p:pic>
      <p:pic>
        <p:nvPicPr>
          <p:cNvPr descr="Picture 5" id="1698" name="Google Shape;1698;p118"/>
          <p:cNvPicPr preferRelativeResize="0"/>
          <p:nvPr/>
        </p:nvPicPr>
        <p:blipFill rotWithShape="1">
          <a:blip r:embed="rId5">
            <a:alphaModFix/>
          </a:blip>
          <a:srcRect b="0" l="0" r="0" t="0"/>
          <a:stretch/>
        </p:blipFill>
        <p:spPr>
          <a:xfrm>
            <a:off x="1687513" y="1358900"/>
            <a:ext cx="2601912" cy="2174875"/>
          </a:xfrm>
          <a:prstGeom prst="rect">
            <a:avLst/>
          </a:prstGeom>
          <a:noFill/>
          <a:ln>
            <a:noFill/>
          </a:ln>
        </p:spPr>
      </p:pic>
      <p:cxnSp>
        <p:nvCxnSpPr>
          <p:cNvPr descr="Straight Arrow Connector 13" id="1699" name="Google Shape;1699;p118"/>
          <p:cNvCxnSpPr/>
          <p:nvPr/>
        </p:nvCxnSpPr>
        <p:spPr>
          <a:xfrm>
            <a:off x="1471613" y="1600200"/>
            <a:ext cx="0" cy="1611313"/>
          </a:xfrm>
          <a:prstGeom prst="straightConnector1">
            <a:avLst/>
          </a:prstGeom>
          <a:noFill/>
          <a:ln cap="flat" cmpd="sng" w="9525">
            <a:solidFill>
              <a:srgbClr val="000000"/>
            </a:solidFill>
            <a:prstDash val="solid"/>
            <a:round/>
            <a:headEnd len="sm" w="sm" type="none"/>
            <a:tailEnd len="med" w="med" type="triangle"/>
          </a:ln>
        </p:spPr>
      </p:cxnSp>
      <p:sp>
        <p:nvSpPr>
          <p:cNvPr descr="TextBox 14" id="1700" name="Google Shape;1700;p118"/>
          <p:cNvSpPr txBox="1"/>
          <p:nvPr/>
        </p:nvSpPr>
        <p:spPr>
          <a:xfrm>
            <a:off x="120650" y="1798638"/>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15" id="1701" name="Google Shape;1701;p118"/>
          <p:cNvSpPr txBox="1"/>
          <p:nvPr/>
        </p:nvSpPr>
        <p:spPr>
          <a:xfrm>
            <a:off x="1836738" y="1104900"/>
            <a:ext cx="241776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Serial schedule </a:t>
            </a:r>
            <a:r>
              <a:rPr lang="en-US" sz="1400">
                <a:solidFill>
                  <a:srgbClr val="000000"/>
                </a:solidFill>
                <a:latin typeface="Verdana"/>
                <a:ea typeface="Verdana"/>
                <a:cs typeface="Verdana"/>
                <a:sym typeface="Verdana"/>
              </a:rPr>
              <a:t>(T1, T2)</a:t>
            </a:r>
            <a:endParaRPr b="1" sz="1400">
              <a:solidFill>
                <a:srgbClr val="000000"/>
              </a:solidFill>
              <a:latin typeface="Verdana"/>
              <a:ea typeface="Verdana"/>
              <a:cs typeface="Verdana"/>
              <a:sym typeface="Verdana"/>
            </a:endParaRPr>
          </a:p>
        </p:txBody>
      </p:sp>
      <p:sp>
        <p:nvSpPr>
          <p:cNvPr descr="TextBox 16" id="1702" name="Google Shape;1702;p118"/>
          <p:cNvSpPr txBox="1"/>
          <p:nvPr/>
        </p:nvSpPr>
        <p:spPr>
          <a:xfrm>
            <a:off x="4968875" y="1052513"/>
            <a:ext cx="2417763"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Serial schedule </a:t>
            </a:r>
            <a:r>
              <a:rPr lang="en-US" sz="1400">
                <a:solidFill>
                  <a:srgbClr val="000000"/>
                </a:solidFill>
                <a:latin typeface="Verdana"/>
                <a:ea typeface="Verdana"/>
                <a:cs typeface="Verdana"/>
                <a:sym typeface="Verdana"/>
              </a:rPr>
              <a:t>(T2, T1)</a:t>
            </a:r>
            <a:endParaRPr b="1" sz="1400">
              <a:solidFill>
                <a:srgbClr val="000000"/>
              </a:solidFill>
              <a:latin typeface="Verdana"/>
              <a:ea typeface="Verdana"/>
              <a:cs typeface="Verdana"/>
              <a:sym typeface="Verdana"/>
            </a:endParaRPr>
          </a:p>
        </p:txBody>
      </p:sp>
      <p:cxnSp>
        <p:nvCxnSpPr>
          <p:cNvPr descr="Straight Arrow Connector 17" id="1703" name="Google Shape;1703;p118"/>
          <p:cNvCxnSpPr/>
          <p:nvPr/>
        </p:nvCxnSpPr>
        <p:spPr>
          <a:xfrm>
            <a:off x="7480300" y="1600200"/>
            <a:ext cx="0" cy="1657350"/>
          </a:xfrm>
          <a:prstGeom prst="straightConnector1">
            <a:avLst/>
          </a:prstGeom>
          <a:noFill/>
          <a:ln cap="flat" cmpd="sng" w="9525">
            <a:solidFill>
              <a:srgbClr val="000000"/>
            </a:solidFill>
            <a:prstDash val="solid"/>
            <a:round/>
            <a:headEnd len="sm" w="sm" type="none"/>
            <a:tailEnd len="med" w="med" type="triangle"/>
          </a:ln>
        </p:spPr>
      </p:cxnSp>
      <p:sp>
        <p:nvSpPr>
          <p:cNvPr descr="TextBox 18" id="1704" name="Google Shape;1704;p118"/>
          <p:cNvSpPr txBox="1"/>
          <p:nvPr/>
        </p:nvSpPr>
        <p:spPr>
          <a:xfrm>
            <a:off x="7540625" y="1600200"/>
            <a:ext cx="1304925" cy="7381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cxnSp>
        <p:nvCxnSpPr>
          <p:cNvPr descr="Straight Arrow Connector 19" id="1705" name="Google Shape;1705;p118"/>
          <p:cNvCxnSpPr/>
          <p:nvPr/>
        </p:nvCxnSpPr>
        <p:spPr>
          <a:xfrm>
            <a:off x="1431925" y="4597400"/>
            <a:ext cx="0" cy="1612900"/>
          </a:xfrm>
          <a:prstGeom prst="straightConnector1">
            <a:avLst/>
          </a:prstGeom>
          <a:noFill/>
          <a:ln cap="flat" cmpd="sng" w="9525">
            <a:solidFill>
              <a:srgbClr val="000000"/>
            </a:solidFill>
            <a:prstDash val="solid"/>
            <a:round/>
            <a:headEnd len="sm" w="sm" type="none"/>
            <a:tailEnd len="med" w="med" type="triangle"/>
          </a:ln>
        </p:spPr>
      </p:cxnSp>
      <p:sp>
        <p:nvSpPr>
          <p:cNvPr descr="TextBox 20" id="1706" name="Google Shape;1706;p118"/>
          <p:cNvSpPr txBox="1"/>
          <p:nvPr/>
        </p:nvSpPr>
        <p:spPr>
          <a:xfrm>
            <a:off x="80963" y="4795838"/>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21" id="1707" name="Google Shape;1707;p118"/>
          <p:cNvSpPr txBox="1"/>
          <p:nvPr/>
        </p:nvSpPr>
        <p:spPr>
          <a:xfrm>
            <a:off x="873125" y="3533775"/>
            <a:ext cx="3856038" cy="814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Non-Serial</a:t>
            </a:r>
            <a:r>
              <a:rPr lang="en-US" sz="1600">
                <a:solidFill>
                  <a:srgbClr val="000000"/>
                </a:solidFill>
                <a:latin typeface="Verdana"/>
                <a:ea typeface="Verdana"/>
                <a:cs typeface="Verdana"/>
                <a:sym typeface="Verdana"/>
              </a:rPr>
              <a:t> schedule which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is </a:t>
            </a:r>
            <a:r>
              <a:rPr b="1" lang="en-US" sz="1600">
                <a:solidFill>
                  <a:srgbClr val="000000"/>
                </a:solidFill>
                <a:latin typeface="Verdana"/>
                <a:ea typeface="Verdana"/>
                <a:cs typeface="Verdana"/>
                <a:sym typeface="Verdana"/>
              </a:rPr>
              <a:t>serializable</a:t>
            </a:r>
            <a:r>
              <a:rPr lang="en-US" sz="1600">
                <a:solidFill>
                  <a:srgbClr val="000000"/>
                </a:solidFill>
                <a:latin typeface="Verdana"/>
                <a:ea typeface="Verdana"/>
                <a:cs typeface="Verdana"/>
                <a:sym typeface="Verdana"/>
              </a:rPr>
              <a:t> because it is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equivalent to serial schedule (T1,T2)</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1" name="Shape 1711"/>
        <p:cNvGrpSpPr/>
        <p:nvPr/>
      </p:nvGrpSpPr>
      <p:grpSpPr>
        <a:xfrm>
          <a:off x="0" y="0"/>
          <a:ext cx="0" cy="0"/>
          <a:chOff x="0" y="0"/>
          <a:chExt cx="0" cy="0"/>
        </a:xfrm>
      </p:grpSpPr>
      <p:sp>
        <p:nvSpPr>
          <p:cNvPr descr="Title 1" id="1712" name="Google Shape;1712;p11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Serializibility</a:t>
            </a:r>
            <a:endParaRPr/>
          </a:p>
        </p:txBody>
      </p:sp>
      <p:sp>
        <p:nvSpPr>
          <p:cNvPr descr="Date Placeholder 3" id="1713" name="Google Shape;1713;p11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14" name="Google Shape;1714;p119"/>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1715" name="Google Shape;1715;p119"/>
          <p:cNvPicPr preferRelativeResize="0"/>
          <p:nvPr/>
        </p:nvPicPr>
        <p:blipFill rotWithShape="1">
          <a:blip r:embed="rId3">
            <a:alphaModFix/>
          </a:blip>
          <a:srcRect b="0" l="0" r="0" t="0"/>
          <a:stretch/>
        </p:blipFill>
        <p:spPr>
          <a:xfrm>
            <a:off x="1598613" y="4364038"/>
            <a:ext cx="2346325" cy="2200275"/>
          </a:xfrm>
          <a:prstGeom prst="rect">
            <a:avLst/>
          </a:prstGeom>
          <a:noFill/>
          <a:ln>
            <a:noFill/>
          </a:ln>
        </p:spPr>
      </p:pic>
      <p:pic>
        <p:nvPicPr>
          <p:cNvPr descr="Picture 3" id="1716" name="Google Shape;1716;p119"/>
          <p:cNvPicPr preferRelativeResize="0"/>
          <p:nvPr/>
        </p:nvPicPr>
        <p:blipFill rotWithShape="1">
          <a:blip r:embed="rId4">
            <a:alphaModFix/>
          </a:blip>
          <a:srcRect b="0" l="0" r="0" t="0"/>
          <a:stretch/>
        </p:blipFill>
        <p:spPr>
          <a:xfrm>
            <a:off x="4946650" y="4360863"/>
            <a:ext cx="2895600" cy="2208212"/>
          </a:xfrm>
          <a:prstGeom prst="rect">
            <a:avLst/>
          </a:prstGeom>
          <a:noFill/>
          <a:ln>
            <a:noFill/>
          </a:ln>
        </p:spPr>
      </p:pic>
      <p:pic>
        <p:nvPicPr>
          <p:cNvPr descr="Picture 4" id="1717" name="Google Shape;1717;p119"/>
          <p:cNvPicPr preferRelativeResize="0"/>
          <p:nvPr/>
        </p:nvPicPr>
        <p:blipFill rotWithShape="1">
          <a:blip r:embed="rId5">
            <a:alphaModFix/>
          </a:blip>
          <a:srcRect b="0" l="0" r="0" t="0"/>
          <a:stretch/>
        </p:blipFill>
        <p:spPr>
          <a:xfrm>
            <a:off x="4865688" y="1339850"/>
            <a:ext cx="2486025" cy="1997075"/>
          </a:xfrm>
          <a:prstGeom prst="rect">
            <a:avLst/>
          </a:prstGeom>
          <a:noFill/>
          <a:ln>
            <a:noFill/>
          </a:ln>
        </p:spPr>
      </p:pic>
      <p:pic>
        <p:nvPicPr>
          <p:cNvPr descr="Picture 5" id="1718" name="Google Shape;1718;p119"/>
          <p:cNvPicPr preferRelativeResize="0"/>
          <p:nvPr/>
        </p:nvPicPr>
        <p:blipFill rotWithShape="1">
          <a:blip r:embed="rId6">
            <a:alphaModFix/>
          </a:blip>
          <a:srcRect b="0" l="0" r="0" t="0"/>
          <a:stretch/>
        </p:blipFill>
        <p:spPr>
          <a:xfrm>
            <a:off x="1687513" y="1358900"/>
            <a:ext cx="2601912" cy="1997075"/>
          </a:xfrm>
          <a:prstGeom prst="rect">
            <a:avLst/>
          </a:prstGeom>
          <a:noFill/>
          <a:ln>
            <a:noFill/>
          </a:ln>
        </p:spPr>
      </p:pic>
      <p:cxnSp>
        <p:nvCxnSpPr>
          <p:cNvPr descr="Straight Arrow Connector 13" id="1719" name="Google Shape;1719;p119"/>
          <p:cNvCxnSpPr/>
          <p:nvPr/>
        </p:nvCxnSpPr>
        <p:spPr>
          <a:xfrm>
            <a:off x="1471613" y="1600200"/>
            <a:ext cx="0" cy="1611313"/>
          </a:xfrm>
          <a:prstGeom prst="straightConnector1">
            <a:avLst/>
          </a:prstGeom>
          <a:noFill/>
          <a:ln cap="flat" cmpd="sng" w="9525">
            <a:solidFill>
              <a:srgbClr val="000000"/>
            </a:solidFill>
            <a:prstDash val="solid"/>
            <a:round/>
            <a:headEnd len="sm" w="sm" type="none"/>
            <a:tailEnd len="med" w="med" type="triangle"/>
          </a:ln>
        </p:spPr>
      </p:cxnSp>
      <p:sp>
        <p:nvSpPr>
          <p:cNvPr descr="TextBox 14" id="1720" name="Google Shape;1720;p119"/>
          <p:cNvSpPr txBox="1"/>
          <p:nvPr/>
        </p:nvSpPr>
        <p:spPr>
          <a:xfrm>
            <a:off x="120650" y="1798638"/>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15" id="1721" name="Google Shape;1721;p119"/>
          <p:cNvSpPr txBox="1"/>
          <p:nvPr/>
        </p:nvSpPr>
        <p:spPr>
          <a:xfrm>
            <a:off x="1836738" y="1104900"/>
            <a:ext cx="241776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Serial schedule </a:t>
            </a:r>
            <a:r>
              <a:rPr lang="en-US" sz="1400">
                <a:solidFill>
                  <a:srgbClr val="000000"/>
                </a:solidFill>
                <a:latin typeface="Verdana"/>
                <a:ea typeface="Verdana"/>
                <a:cs typeface="Verdana"/>
                <a:sym typeface="Verdana"/>
              </a:rPr>
              <a:t>(T1, T2)</a:t>
            </a:r>
            <a:endParaRPr b="1" sz="1400">
              <a:solidFill>
                <a:srgbClr val="000000"/>
              </a:solidFill>
              <a:latin typeface="Verdana"/>
              <a:ea typeface="Verdana"/>
              <a:cs typeface="Verdana"/>
              <a:sym typeface="Verdana"/>
            </a:endParaRPr>
          </a:p>
        </p:txBody>
      </p:sp>
      <p:sp>
        <p:nvSpPr>
          <p:cNvPr descr="TextBox 16" id="1722" name="Google Shape;1722;p119"/>
          <p:cNvSpPr txBox="1"/>
          <p:nvPr/>
        </p:nvSpPr>
        <p:spPr>
          <a:xfrm>
            <a:off x="4968875" y="1052513"/>
            <a:ext cx="2417763"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Serial schedule </a:t>
            </a:r>
            <a:r>
              <a:rPr lang="en-US" sz="1400">
                <a:solidFill>
                  <a:srgbClr val="000000"/>
                </a:solidFill>
                <a:latin typeface="Verdana"/>
                <a:ea typeface="Verdana"/>
                <a:cs typeface="Verdana"/>
                <a:sym typeface="Verdana"/>
              </a:rPr>
              <a:t>(T2, T1)</a:t>
            </a:r>
            <a:endParaRPr b="1" sz="1400">
              <a:solidFill>
                <a:srgbClr val="000000"/>
              </a:solidFill>
              <a:latin typeface="Verdana"/>
              <a:ea typeface="Verdana"/>
              <a:cs typeface="Verdana"/>
              <a:sym typeface="Verdana"/>
            </a:endParaRPr>
          </a:p>
        </p:txBody>
      </p:sp>
      <p:cxnSp>
        <p:nvCxnSpPr>
          <p:cNvPr descr="Straight Arrow Connector 17" id="1723" name="Google Shape;1723;p119"/>
          <p:cNvCxnSpPr/>
          <p:nvPr/>
        </p:nvCxnSpPr>
        <p:spPr>
          <a:xfrm>
            <a:off x="7480300" y="1600200"/>
            <a:ext cx="0" cy="1657350"/>
          </a:xfrm>
          <a:prstGeom prst="straightConnector1">
            <a:avLst/>
          </a:prstGeom>
          <a:noFill/>
          <a:ln cap="flat" cmpd="sng" w="9525">
            <a:solidFill>
              <a:srgbClr val="000000"/>
            </a:solidFill>
            <a:prstDash val="solid"/>
            <a:round/>
            <a:headEnd len="sm" w="sm" type="none"/>
            <a:tailEnd len="med" w="med" type="triangle"/>
          </a:ln>
        </p:spPr>
      </p:cxnSp>
      <p:sp>
        <p:nvSpPr>
          <p:cNvPr descr="TextBox 18" id="1724" name="Google Shape;1724;p119"/>
          <p:cNvSpPr txBox="1"/>
          <p:nvPr/>
        </p:nvSpPr>
        <p:spPr>
          <a:xfrm>
            <a:off x="7540625" y="1600200"/>
            <a:ext cx="1304925" cy="7381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cxnSp>
        <p:nvCxnSpPr>
          <p:cNvPr descr="Straight Arrow Connector 19" id="1725" name="Google Shape;1725;p119"/>
          <p:cNvCxnSpPr/>
          <p:nvPr/>
        </p:nvCxnSpPr>
        <p:spPr>
          <a:xfrm>
            <a:off x="1431925" y="4597400"/>
            <a:ext cx="0" cy="1612900"/>
          </a:xfrm>
          <a:prstGeom prst="straightConnector1">
            <a:avLst/>
          </a:prstGeom>
          <a:noFill/>
          <a:ln cap="flat" cmpd="sng" w="9525">
            <a:solidFill>
              <a:srgbClr val="000000"/>
            </a:solidFill>
            <a:prstDash val="solid"/>
            <a:round/>
            <a:headEnd len="sm" w="sm" type="none"/>
            <a:tailEnd len="med" w="med" type="triangle"/>
          </a:ln>
        </p:spPr>
      </p:cxnSp>
      <p:sp>
        <p:nvSpPr>
          <p:cNvPr descr="TextBox 20" id="1726" name="Google Shape;1726;p119"/>
          <p:cNvSpPr txBox="1"/>
          <p:nvPr/>
        </p:nvSpPr>
        <p:spPr>
          <a:xfrm>
            <a:off x="80963" y="4795838"/>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21" id="1727" name="Google Shape;1727;p119"/>
          <p:cNvSpPr txBox="1"/>
          <p:nvPr/>
        </p:nvSpPr>
        <p:spPr>
          <a:xfrm>
            <a:off x="873125" y="3533775"/>
            <a:ext cx="3856038" cy="814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Non-Serial</a:t>
            </a:r>
            <a:r>
              <a:rPr lang="en-US" sz="1600">
                <a:solidFill>
                  <a:srgbClr val="000000"/>
                </a:solidFill>
                <a:latin typeface="Verdana"/>
                <a:ea typeface="Verdana"/>
                <a:cs typeface="Verdana"/>
                <a:sym typeface="Verdana"/>
              </a:rPr>
              <a:t> schedule which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is </a:t>
            </a:r>
            <a:r>
              <a:rPr b="1" lang="en-US" sz="1600">
                <a:solidFill>
                  <a:srgbClr val="000000"/>
                </a:solidFill>
                <a:latin typeface="Verdana"/>
                <a:ea typeface="Verdana"/>
                <a:cs typeface="Verdana"/>
                <a:sym typeface="Verdana"/>
              </a:rPr>
              <a:t>serializable</a:t>
            </a:r>
            <a:r>
              <a:rPr lang="en-US" sz="1600">
                <a:solidFill>
                  <a:srgbClr val="000000"/>
                </a:solidFill>
                <a:latin typeface="Verdana"/>
                <a:ea typeface="Verdana"/>
                <a:cs typeface="Verdana"/>
                <a:sym typeface="Verdana"/>
              </a:rPr>
              <a:t> because it is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equivalent to serial schedule (T1,T2)</a:t>
            </a:r>
            <a:endParaRPr/>
          </a:p>
        </p:txBody>
      </p:sp>
      <p:cxnSp>
        <p:nvCxnSpPr>
          <p:cNvPr descr="Straight Arrow Connector 22" id="1728" name="Google Shape;1728;p119"/>
          <p:cNvCxnSpPr/>
          <p:nvPr/>
        </p:nvCxnSpPr>
        <p:spPr>
          <a:xfrm>
            <a:off x="7918450" y="4652963"/>
            <a:ext cx="0" cy="1658937"/>
          </a:xfrm>
          <a:prstGeom prst="straightConnector1">
            <a:avLst/>
          </a:prstGeom>
          <a:noFill/>
          <a:ln cap="flat" cmpd="sng" w="9525">
            <a:solidFill>
              <a:srgbClr val="000000"/>
            </a:solidFill>
            <a:prstDash val="solid"/>
            <a:round/>
            <a:headEnd len="sm" w="sm" type="none"/>
            <a:tailEnd len="med" w="med" type="triangle"/>
          </a:ln>
        </p:spPr>
      </p:cxnSp>
      <p:sp>
        <p:nvSpPr>
          <p:cNvPr descr="TextBox 23" id="1729" name="Google Shape;1729;p119"/>
          <p:cNvSpPr txBox="1"/>
          <p:nvPr/>
        </p:nvSpPr>
        <p:spPr>
          <a:xfrm>
            <a:off x="7900988" y="4597400"/>
            <a:ext cx="1304925"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Order of</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Execution</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Of operations</a:t>
            </a:r>
            <a:endParaRPr/>
          </a:p>
        </p:txBody>
      </p:sp>
      <p:sp>
        <p:nvSpPr>
          <p:cNvPr descr="TextBox 24" id="1730" name="Google Shape;1730;p119"/>
          <p:cNvSpPr txBox="1"/>
          <p:nvPr/>
        </p:nvSpPr>
        <p:spPr>
          <a:xfrm>
            <a:off x="5248275" y="3546475"/>
            <a:ext cx="3716338"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Non-Serial</a:t>
            </a:r>
            <a:r>
              <a:rPr lang="en-US" sz="1600">
                <a:solidFill>
                  <a:srgbClr val="000000"/>
                </a:solidFill>
                <a:latin typeface="Verdana"/>
                <a:ea typeface="Verdana"/>
                <a:cs typeface="Verdana"/>
                <a:sym typeface="Verdana"/>
              </a:rPr>
              <a:t> schedule, but it is </a:t>
            </a:r>
            <a:r>
              <a:rPr b="1" lang="en-US" sz="1600">
                <a:solidFill>
                  <a:srgbClr val="000000"/>
                </a:solidFill>
                <a:latin typeface="Verdana"/>
                <a:ea typeface="Verdana"/>
                <a:cs typeface="Verdana"/>
                <a:sym typeface="Verdana"/>
              </a:rPr>
              <a:t>not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serializable</a:t>
            </a:r>
            <a:r>
              <a:rPr lang="en-US" sz="1600">
                <a:solidFill>
                  <a:srgbClr val="000000"/>
                </a:solidFill>
                <a:latin typeface="Verdana"/>
                <a:ea typeface="Verdana"/>
                <a:cs typeface="Verdana"/>
                <a:sym typeface="Verdana"/>
              </a:rPr>
              <a:t> because it is not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equivalent to any serial schedule</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descr="Title 1" id="1735" name="Google Shape;1735;p12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Characterizing Schedules based on Serializibility</a:t>
            </a:r>
            <a:endParaRPr/>
          </a:p>
        </p:txBody>
      </p:sp>
      <p:sp>
        <p:nvSpPr>
          <p:cNvPr descr="Content Placeholder 2" id="1736" name="Google Shape;1736;p12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71450" lvl="0" marL="171450" rtl="0" algn="l">
              <a:spcBef>
                <a:spcPts val="0"/>
              </a:spcBef>
              <a:spcAft>
                <a:spcPts val="0"/>
              </a:spcAft>
              <a:buSzPts val="2000"/>
              <a:buFont typeface="Noto Sans Symbols"/>
              <a:buNone/>
            </a:pPr>
            <a:r>
              <a:rPr b="1" lang="en-US" sz="2000"/>
              <a:t>Based on Serializability </a:t>
            </a:r>
            <a:endParaRPr/>
          </a:p>
          <a:p>
            <a:pPr indent="-171450" lvl="0" marL="171450" rtl="0" algn="l">
              <a:spcBef>
                <a:spcPts val="400"/>
              </a:spcBef>
              <a:spcAft>
                <a:spcPts val="0"/>
              </a:spcAft>
              <a:buSzPts val="2000"/>
              <a:buFont typeface="Noto Sans Symbols"/>
              <a:buNone/>
            </a:pPr>
            <a:r>
              <a:rPr lang="en-US" sz="2000"/>
              <a:t>Characterize which schedules are correct when concurrent transactions are executing. </a:t>
            </a:r>
            <a:endParaRPr/>
          </a:p>
          <a:p>
            <a:pPr indent="-171450" lvl="0" marL="171450" rtl="0" algn="l">
              <a:spcBef>
                <a:spcPts val="400"/>
              </a:spcBef>
              <a:spcAft>
                <a:spcPts val="0"/>
              </a:spcAft>
              <a:buSzPts val="2000"/>
              <a:buFont typeface="Verdana"/>
              <a:buAutoNum type="arabicPeriod"/>
            </a:pPr>
            <a:r>
              <a:rPr lang="en-US" sz="2000"/>
              <a:t>Conflict Serializable Schedule </a:t>
            </a:r>
            <a:endParaRPr/>
          </a:p>
          <a:p>
            <a:pPr indent="-171450" lvl="0" marL="171450" rtl="0" algn="l">
              <a:spcBef>
                <a:spcPts val="400"/>
              </a:spcBef>
              <a:spcAft>
                <a:spcPts val="0"/>
              </a:spcAft>
              <a:buSzPts val="2000"/>
              <a:buFont typeface="Verdana"/>
              <a:buAutoNum type="arabicPeriod"/>
            </a:pPr>
            <a:r>
              <a:rPr lang="en-US" sz="2000"/>
              <a:t>View Serializable Schedule</a:t>
            </a:r>
            <a:endParaRPr/>
          </a:p>
        </p:txBody>
      </p:sp>
      <p:sp>
        <p:nvSpPr>
          <p:cNvPr descr="Date Placeholder 3" id="1737" name="Google Shape;1737;p12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38" name="Google Shape;1738;p12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descr="Title 1" id="1743" name="Google Shape;1743;p12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Conflict Serializibility Schedule</a:t>
            </a:r>
            <a:endParaRPr/>
          </a:p>
        </p:txBody>
      </p:sp>
      <p:sp>
        <p:nvSpPr>
          <p:cNvPr descr="Content Placeholder 2" id="1744" name="Google Shape;1744;p12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52425" lvl="1" marL="352425" rtl="0" algn="l">
              <a:spcBef>
                <a:spcPts val="0"/>
              </a:spcBef>
              <a:spcAft>
                <a:spcPts val="0"/>
              </a:spcAft>
              <a:buSzPts val="1800"/>
              <a:buFont typeface="Verdana"/>
              <a:buChar char="□"/>
            </a:pPr>
            <a:r>
              <a:rPr lang="en-US" sz="1800"/>
              <a:t>A schedule </a:t>
            </a:r>
            <a:r>
              <a:rPr b="1" lang="en-US" sz="1800"/>
              <a:t>S</a:t>
            </a:r>
            <a:r>
              <a:rPr lang="en-US" sz="1800"/>
              <a:t> is said to be conflict serializable if it is </a:t>
            </a:r>
            <a:r>
              <a:rPr b="1" lang="en-US" sz="1800"/>
              <a:t>conflict equivalent </a:t>
            </a:r>
            <a:r>
              <a:rPr lang="en-US" sz="1800"/>
              <a:t>to some serial schedule </a:t>
            </a:r>
            <a:r>
              <a:rPr b="1" lang="en-US" sz="1800"/>
              <a:t>S’</a:t>
            </a:r>
            <a:r>
              <a:rPr lang="en-US" sz="1800"/>
              <a:t>.</a:t>
            </a:r>
            <a:endParaRPr sz="2600"/>
          </a:p>
          <a:p>
            <a:pPr indent="-238125" lvl="1" marL="352425" rtl="0" algn="l">
              <a:spcBef>
                <a:spcPts val="600"/>
              </a:spcBef>
              <a:spcAft>
                <a:spcPts val="0"/>
              </a:spcAft>
              <a:buSzPts val="1800"/>
              <a:buFont typeface="Verdana"/>
              <a:buNone/>
            </a:pPr>
            <a:r>
              <a:t/>
            </a:r>
            <a:endParaRPr sz="1800"/>
          </a:p>
          <a:p>
            <a:pPr indent="-352425" lvl="1" marL="352425" rtl="0" algn="l">
              <a:spcBef>
                <a:spcPts val="400"/>
              </a:spcBef>
              <a:spcAft>
                <a:spcPts val="0"/>
              </a:spcAft>
              <a:buSzPts val="1800"/>
              <a:buFont typeface="Noto Sans Symbols"/>
              <a:buNone/>
            </a:pPr>
            <a:r>
              <a:rPr lang="en-US" sz="1800"/>
              <a:t>What is Conflict Equivalent ?</a:t>
            </a:r>
            <a:endParaRPr sz="2600"/>
          </a:p>
          <a:p>
            <a:pPr indent="-352425" lvl="1" marL="352425" rtl="0" algn="l">
              <a:spcBef>
                <a:spcPts val="400"/>
              </a:spcBef>
              <a:spcAft>
                <a:spcPts val="0"/>
              </a:spcAft>
              <a:buSzPts val="1800"/>
              <a:buFont typeface="Verdana"/>
              <a:buChar char="□"/>
            </a:pPr>
            <a:r>
              <a:rPr lang="en-US" sz="1800"/>
              <a:t>Two schedules are said to be conflict equivalent if the order of any two </a:t>
            </a:r>
            <a:r>
              <a:rPr b="1" lang="en-US" sz="1800"/>
              <a:t>conflicting operations </a:t>
            </a:r>
            <a:r>
              <a:rPr lang="en-US" sz="1800"/>
              <a:t>is the same in both schedules.</a:t>
            </a:r>
            <a:endParaRPr/>
          </a:p>
        </p:txBody>
      </p:sp>
      <p:sp>
        <p:nvSpPr>
          <p:cNvPr descr="Date Placeholder 3" id="1745" name="Google Shape;1745;p12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46" name="Google Shape;1746;p12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0" name="Shape 1750"/>
        <p:cNvGrpSpPr/>
        <p:nvPr/>
      </p:nvGrpSpPr>
      <p:grpSpPr>
        <a:xfrm>
          <a:off x="0" y="0"/>
          <a:ext cx="0" cy="0"/>
          <a:chOff x="0" y="0"/>
          <a:chExt cx="0" cy="0"/>
        </a:xfrm>
      </p:grpSpPr>
      <p:sp>
        <p:nvSpPr>
          <p:cNvPr descr="Title 1" id="1751" name="Google Shape;1751;p12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solidFill>
                  <a:srgbClr val="FF0000"/>
                </a:solidFill>
              </a:rPr>
              <a:t>Check whether the given Two schedules are conflict equivalent ?</a:t>
            </a:r>
            <a:endParaRPr/>
          </a:p>
        </p:txBody>
      </p:sp>
      <p:sp>
        <p:nvSpPr>
          <p:cNvPr descr="Content Placeholder 2" id="1752" name="Google Shape;1752;p12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1" marL="469900" rtl="0" algn="l">
              <a:spcBef>
                <a:spcPts val="0"/>
              </a:spcBef>
              <a:spcAft>
                <a:spcPts val="0"/>
              </a:spcAft>
              <a:buSzPts val="1800"/>
              <a:buFont typeface="Verdana"/>
              <a:buChar char="□"/>
            </a:pPr>
            <a:r>
              <a:rPr lang="en-US" sz="1800"/>
              <a:t>Definition: Two schedules are said to be conflict equivalent if the order of any two </a:t>
            </a:r>
            <a:r>
              <a:rPr b="1" lang="en-US" sz="1800"/>
              <a:t>conflicting operations </a:t>
            </a:r>
            <a:r>
              <a:rPr lang="en-US" sz="1800"/>
              <a:t>is the same in both schedules.</a:t>
            </a:r>
            <a:endParaRPr/>
          </a:p>
        </p:txBody>
      </p:sp>
      <p:sp>
        <p:nvSpPr>
          <p:cNvPr descr="Date Placeholder 3" id="1753" name="Google Shape;1753;p12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54" name="Google Shape;1754;p12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755" name="Google Shape;1755;p122"/>
          <p:cNvGraphicFramePr/>
          <p:nvPr/>
        </p:nvGraphicFramePr>
        <p:xfrm>
          <a:off x="827088" y="270827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756" name="Google Shape;1756;p122"/>
          <p:cNvSpPr txBox="1"/>
          <p:nvPr/>
        </p:nvSpPr>
        <p:spPr>
          <a:xfrm>
            <a:off x="944563" y="2338388"/>
            <a:ext cx="15287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
        <p:nvSpPr>
          <p:cNvPr descr="TextBox 8" id="1757" name="Google Shape;1757;p122"/>
          <p:cNvSpPr txBox="1"/>
          <p:nvPr/>
        </p:nvSpPr>
        <p:spPr>
          <a:xfrm>
            <a:off x="944563" y="4795838"/>
            <a:ext cx="5010150"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 R1(A), R1(B), W2(A), W2(B)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 R1(A),W2(A), R1(B),W2(B)</a:t>
            </a:r>
            <a:endParaRPr/>
          </a:p>
        </p:txBody>
      </p:sp>
      <p:graphicFrame>
        <p:nvGraphicFramePr>
          <p:cNvPr id="1758" name="Google Shape;1758;p122"/>
          <p:cNvGraphicFramePr/>
          <p:nvPr/>
        </p:nvGraphicFramePr>
        <p:xfrm>
          <a:off x="4211638" y="272732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1759" name="Google Shape;1759;p122"/>
          <p:cNvSpPr txBox="1"/>
          <p:nvPr/>
        </p:nvSpPr>
        <p:spPr>
          <a:xfrm>
            <a:off x="4329113" y="2357438"/>
            <a:ext cx="15287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3" name="Shape 1763"/>
        <p:cNvGrpSpPr/>
        <p:nvPr/>
      </p:nvGrpSpPr>
      <p:grpSpPr>
        <a:xfrm>
          <a:off x="0" y="0"/>
          <a:ext cx="0" cy="0"/>
          <a:chOff x="0" y="0"/>
          <a:chExt cx="0" cy="0"/>
        </a:xfrm>
      </p:grpSpPr>
      <p:sp>
        <p:nvSpPr>
          <p:cNvPr descr="Title 1" id="1764" name="Google Shape;1764;p12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solidFill>
                  <a:srgbClr val="FF0000"/>
                </a:solidFill>
              </a:rPr>
              <a:t>Check whether the given Two schedules are conflict equivalent ?</a:t>
            </a:r>
            <a:endParaRPr/>
          </a:p>
        </p:txBody>
      </p:sp>
      <p:sp>
        <p:nvSpPr>
          <p:cNvPr descr="Date Placeholder 3" id="1765" name="Google Shape;1765;p12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66" name="Google Shape;1766;p12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767" name="Google Shape;1767;p123"/>
          <p:cNvGraphicFramePr/>
          <p:nvPr/>
        </p:nvGraphicFramePr>
        <p:xfrm>
          <a:off x="827088" y="1566863"/>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768" name="Google Shape;1768;p123"/>
          <p:cNvSpPr txBox="1"/>
          <p:nvPr/>
        </p:nvSpPr>
        <p:spPr>
          <a:xfrm>
            <a:off x="944563" y="1195388"/>
            <a:ext cx="15287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graphicFrame>
        <p:nvGraphicFramePr>
          <p:cNvPr id="1769" name="Google Shape;1769;p123"/>
          <p:cNvGraphicFramePr/>
          <p:nvPr/>
        </p:nvGraphicFramePr>
        <p:xfrm>
          <a:off x="4211638" y="158432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1770" name="Google Shape;1770;p123"/>
          <p:cNvSpPr txBox="1"/>
          <p:nvPr/>
        </p:nvSpPr>
        <p:spPr>
          <a:xfrm>
            <a:off x="4329113" y="1214438"/>
            <a:ext cx="15287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a:t>
            </a:r>
            <a:endParaRPr/>
          </a:p>
        </p:txBody>
      </p:sp>
      <p:sp>
        <p:nvSpPr>
          <p:cNvPr descr="TextBox 11" id="1771" name="Google Shape;1771;p123"/>
          <p:cNvSpPr txBox="1"/>
          <p:nvPr/>
        </p:nvSpPr>
        <p:spPr>
          <a:xfrm>
            <a:off x="785813" y="3644900"/>
            <a:ext cx="60579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Answer: Schedule S1 and S2 are conflict equivalent</a:t>
            </a:r>
            <a:endParaRPr/>
          </a:p>
        </p:txBody>
      </p:sp>
      <p:graphicFrame>
        <p:nvGraphicFramePr>
          <p:cNvPr id="1772" name="Google Shape;1772;p123"/>
          <p:cNvGraphicFramePr/>
          <p:nvPr/>
        </p:nvGraphicFramePr>
        <p:xfrm>
          <a:off x="179388" y="4230688"/>
          <a:ext cx="3000000" cy="3000000"/>
        </p:xfrm>
        <a:graphic>
          <a:graphicData uri="http://schemas.openxmlformats.org/drawingml/2006/table">
            <a:tbl>
              <a:tblPr>
                <a:noFill/>
                <a:tableStyleId>{DA31C186-C125-4E34-A739-053F885C22C1}</a:tableStyleId>
              </a:tblPr>
              <a:tblGrid>
                <a:gridCol w="1400175"/>
                <a:gridCol w="3078150"/>
                <a:gridCol w="2166950"/>
                <a:gridCol w="2311400"/>
              </a:tblGrid>
              <a:tr h="8286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a:t>
                      </a:r>
                      <a:r>
                        <a:rPr b="0" i="0" lang="en-US" sz="1600" u="none" cap="none" strike="noStrike">
                          <a:solidFill>
                            <a:srgbClr val="000000"/>
                          </a:solidFill>
                          <a:latin typeface="Verdana"/>
                          <a:ea typeface="Verdana"/>
                          <a:cs typeface="Verdana"/>
                          <a:sym typeface="Verdana"/>
                        </a:rPr>
                        <a:t>, R1(B), </a:t>
                      </a:r>
                      <a:r>
                        <a:rPr b="0" i="0" lang="en-US" sz="1600" u="none" cap="none" strike="noStrike">
                          <a:solidFill>
                            <a:srgbClr val="0000FF"/>
                          </a:solidFill>
                          <a:latin typeface="Verdana"/>
                          <a:ea typeface="Verdana"/>
                          <a:cs typeface="Verdana"/>
                          <a:sym typeface="Verdana"/>
                        </a:rPr>
                        <a:t>W2(A)</a:t>
                      </a:r>
                      <a:r>
                        <a:rPr b="0" i="0" lang="en-US" sz="1600" u="none" cap="none" strike="noStrike">
                          <a:solidFill>
                            <a:srgbClr val="000000"/>
                          </a:solidFill>
                          <a:latin typeface="Verdana"/>
                          <a:ea typeface="Verdana"/>
                          <a:cs typeface="Verdana"/>
                          <a:sym typeface="Verdana"/>
                        </a:rPr>
                        <a:t>,W2(B)</a:t>
                      </a:r>
                      <a:endParaRPr b="0" i="0" sz="1600" u="none" cap="none" strike="noStrike">
                        <a:solidFill>
                          <a:srgbClr val="C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 </a:t>
                      </a:r>
                      <a:r>
                        <a:rPr b="0" i="0" lang="en-US" sz="1600" u="none" cap="none" strike="noStrike">
                          <a:solidFill>
                            <a:srgbClr val="000000"/>
                          </a:solidFill>
                          <a:latin typeface="Verdana"/>
                          <a:ea typeface="Verdana"/>
                          <a:cs typeface="Verdana"/>
                          <a:sym typeface="Verdana"/>
                        </a:rPr>
                        <a:t>and </a:t>
                      </a:r>
                      <a:r>
                        <a:rPr b="0" i="0" lang="en-US" sz="1600" u="none" cap="none" strike="noStrike">
                          <a:solidFill>
                            <a:srgbClr val="0000FF"/>
                          </a:solidFill>
                          <a:latin typeface="Verdana"/>
                          <a:ea typeface="Verdana"/>
                          <a:cs typeface="Verdana"/>
                          <a:sym typeface="Verdana"/>
                        </a:rPr>
                        <a:t>W2(A)</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R1(B) and W2(B)</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descr="Title 1" id="1777" name="Google Shape;1777;p12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solidFill>
                  <a:srgbClr val="FF0000"/>
                </a:solidFill>
              </a:rPr>
              <a:t>Check whether the given Two schedules are conflict equivalent ?</a:t>
            </a:r>
            <a:endParaRPr/>
          </a:p>
        </p:txBody>
      </p:sp>
      <p:sp>
        <p:nvSpPr>
          <p:cNvPr descr="Date Placeholder 3" id="1778" name="Google Shape;1778;p12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79" name="Google Shape;1779;p12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780" name="Google Shape;1780;p124"/>
          <p:cNvGraphicFramePr/>
          <p:nvPr/>
        </p:nvGraphicFramePr>
        <p:xfrm>
          <a:off x="827088" y="1566863"/>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781" name="Google Shape;1781;p124"/>
          <p:cNvSpPr txBox="1"/>
          <p:nvPr/>
        </p:nvSpPr>
        <p:spPr>
          <a:xfrm>
            <a:off x="944563" y="1195388"/>
            <a:ext cx="15287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graphicFrame>
        <p:nvGraphicFramePr>
          <p:cNvPr id="1782" name="Google Shape;1782;p124"/>
          <p:cNvGraphicFramePr/>
          <p:nvPr/>
        </p:nvGraphicFramePr>
        <p:xfrm>
          <a:off x="4211638" y="158432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1783" name="Google Shape;1783;p124"/>
          <p:cNvSpPr txBox="1"/>
          <p:nvPr/>
        </p:nvSpPr>
        <p:spPr>
          <a:xfrm>
            <a:off x="4329113" y="1214438"/>
            <a:ext cx="15287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a:t>
            </a:r>
            <a:endParaRPr/>
          </a:p>
        </p:txBody>
      </p:sp>
      <p:sp>
        <p:nvSpPr>
          <p:cNvPr descr="TextBox 11" id="1784" name="Google Shape;1784;p124"/>
          <p:cNvSpPr txBox="1"/>
          <p:nvPr/>
        </p:nvSpPr>
        <p:spPr>
          <a:xfrm>
            <a:off x="785813" y="3644900"/>
            <a:ext cx="60579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Answer: Schedule S1 and S2 are conflict equivalent</a:t>
            </a:r>
            <a:endParaRPr/>
          </a:p>
        </p:txBody>
      </p:sp>
      <p:graphicFrame>
        <p:nvGraphicFramePr>
          <p:cNvPr id="1785" name="Google Shape;1785;p124"/>
          <p:cNvGraphicFramePr/>
          <p:nvPr/>
        </p:nvGraphicFramePr>
        <p:xfrm>
          <a:off x="179388" y="4230688"/>
          <a:ext cx="3000000" cy="3000000"/>
        </p:xfrm>
        <a:graphic>
          <a:graphicData uri="http://schemas.openxmlformats.org/drawingml/2006/table">
            <a:tbl>
              <a:tblPr>
                <a:noFill/>
                <a:tableStyleId>{DA31C186-C125-4E34-A739-053F885C22C1}</a:tableStyleId>
              </a:tblPr>
              <a:tblGrid>
                <a:gridCol w="1400175"/>
                <a:gridCol w="3078150"/>
                <a:gridCol w="2166950"/>
                <a:gridCol w="2311400"/>
              </a:tblGrid>
              <a:tr h="8286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a:t>
                      </a:r>
                      <a:r>
                        <a:rPr b="0" i="0" lang="en-US" sz="1600" u="none" cap="none" strike="noStrike">
                          <a:solidFill>
                            <a:srgbClr val="000000"/>
                          </a:solidFill>
                          <a:latin typeface="Verdana"/>
                          <a:ea typeface="Verdana"/>
                          <a:cs typeface="Verdana"/>
                          <a:sym typeface="Verdana"/>
                        </a:rPr>
                        <a:t>, R1(B), </a:t>
                      </a:r>
                      <a:r>
                        <a:rPr b="0" i="0" lang="en-US" sz="1600" u="none" cap="none" strike="noStrike">
                          <a:solidFill>
                            <a:srgbClr val="0000FF"/>
                          </a:solidFill>
                          <a:latin typeface="Verdana"/>
                          <a:ea typeface="Verdana"/>
                          <a:cs typeface="Verdana"/>
                          <a:sym typeface="Verdana"/>
                        </a:rPr>
                        <a:t>W2(A)</a:t>
                      </a:r>
                      <a:r>
                        <a:rPr b="0" i="0" lang="en-US" sz="1600" u="none" cap="none" strike="noStrike">
                          <a:solidFill>
                            <a:srgbClr val="000000"/>
                          </a:solidFill>
                          <a:latin typeface="Verdana"/>
                          <a:ea typeface="Verdana"/>
                          <a:cs typeface="Verdana"/>
                          <a:sym typeface="Verdana"/>
                        </a:rPr>
                        <a:t>,W2(B)</a:t>
                      </a:r>
                      <a:endParaRPr b="0" i="0" sz="1600" u="none" cap="none" strike="noStrike">
                        <a:solidFill>
                          <a:srgbClr val="C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 </a:t>
                      </a:r>
                      <a:r>
                        <a:rPr b="0" i="0" lang="en-US" sz="1600" u="none" cap="none" strike="noStrike">
                          <a:solidFill>
                            <a:srgbClr val="000000"/>
                          </a:solidFill>
                          <a:latin typeface="Verdana"/>
                          <a:ea typeface="Verdana"/>
                          <a:cs typeface="Verdana"/>
                          <a:sym typeface="Verdana"/>
                        </a:rPr>
                        <a:t>and </a:t>
                      </a:r>
                      <a:r>
                        <a:rPr b="0" i="0" lang="en-US" sz="1600" u="none" cap="none" strike="noStrike">
                          <a:solidFill>
                            <a:srgbClr val="0000FF"/>
                          </a:solidFill>
                          <a:latin typeface="Verdana"/>
                          <a:ea typeface="Verdana"/>
                          <a:cs typeface="Verdana"/>
                          <a:sym typeface="Verdana"/>
                        </a:rPr>
                        <a:t>W2(A)</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R1(B) and W2(B)</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 and 2 are conflict equivalent because the order of conflict operations are same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a:t>
                      </a:r>
                      <a:r>
                        <a:rPr b="0" i="0" lang="en-US" sz="1600" u="none" cap="none" strike="noStrike">
                          <a:solidFill>
                            <a:srgbClr val="000000"/>
                          </a:solidFill>
                          <a:latin typeface="Verdana"/>
                          <a:ea typeface="Verdana"/>
                          <a:cs typeface="Verdana"/>
                          <a:sym typeface="Verdana"/>
                        </a:rPr>
                        <a:t>,</a:t>
                      </a:r>
                      <a:r>
                        <a:rPr b="0" i="0" lang="en-US" sz="1600" u="none" cap="none" strike="noStrike">
                          <a:solidFill>
                            <a:srgbClr val="0000FF"/>
                          </a:solidFill>
                          <a:latin typeface="Verdana"/>
                          <a:ea typeface="Verdana"/>
                          <a:cs typeface="Verdana"/>
                          <a:sym typeface="Verdana"/>
                        </a:rPr>
                        <a:t>W2(A)</a:t>
                      </a:r>
                      <a:r>
                        <a:rPr b="0" i="0" lang="en-US" sz="1600" u="none" cap="none" strike="noStrike">
                          <a:solidFill>
                            <a:srgbClr val="000000"/>
                          </a:solidFill>
                          <a:latin typeface="Verdana"/>
                          <a:ea typeface="Verdana"/>
                          <a:cs typeface="Verdana"/>
                          <a:sym typeface="Verdana"/>
                        </a:rPr>
                        <a:t>, R1(B),W2(B)</a:t>
                      </a:r>
                      <a:endParaRPr b="0" i="0" sz="1600" u="none" cap="none" strike="noStrike">
                        <a:solidFill>
                          <a:srgbClr val="C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a:p>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 </a:t>
                      </a:r>
                      <a:r>
                        <a:rPr b="0" i="0" lang="en-US" sz="1600" u="none" cap="none" strike="noStrike">
                          <a:solidFill>
                            <a:srgbClr val="000000"/>
                          </a:solidFill>
                          <a:latin typeface="Verdana"/>
                          <a:ea typeface="Verdana"/>
                          <a:cs typeface="Verdana"/>
                          <a:sym typeface="Verdana"/>
                        </a:rPr>
                        <a:t>and </a:t>
                      </a:r>
                      <a:r>
                        <a:rPr b="0" i="0" lang="en-US" sz="1600" u="none" cap="none" strike="noStrike">
                          <a:solidFill>
                            <a:srgbClr val="0000FF"/>
                          </a:solidFill>
                          <a:latin typeface="Verdana"/>
                          <a:ea typeface="Verdana"/>
                          <a:cs typeface="Verdana"/>
                          <a:sym typeface="Verdana"/>
                        </a:rPr>
                        <a:t>W2(A)</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R1(B) and W2(B)</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descr="Title 1" id="1790" name="Google Shape;1790;p12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solidFill>
                  <a:srgbClr val="FF0000"/>
                </a:solidFill>
              </a:rPr>
              <a:t>Check whether the given Two schedules are conflict equivalent ?</a:t>
            </a:r>
            <a:endParaRPr/>
          </a:p>
        </p:txBody>
      </p:sp>
      <p:sp>
        <p:nvSpPr>
          <p:cNvPr descr="Content Placeholder 2" id="1791" name="Google Shape;1791;p12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1" marL="469900" rtl="0" algn="l">
              <a:spcBef>
                <a:spcPts val="0"/>
              </a:spcBef>
              <a:spcAft>
                <a:spcPts val="0"/>
              </a:spcAft>
              <a:buSzPts val="1800"/>
              <a:buFont typeface="Verdana"/>
              <a:buChar char="□"/>
            </a:pPr>
            <a:r>
              <a:rPr lang="en-US" sz="1800"/>
              <a:t>Definition: Two schedules are said to be conflict equivalent if the order of any two </a:t>
            </a:r>
            <a:r>
              <a:rPr b="1" lang="en-US" sz="1800"/>
              <a:t>conflicting operations </a:t>
            </a:r>
            <a:r>
              <a:rPr lang="en-US" sz="1800"/>
              <a:t>is the same in both schedules.</a:t>
            </a:r>
            <a:endParaRPr/>
          </a:p>
        </p:txBody>
      </p:sp>
      <p:sp>
        <p:nvSpPr>
          <p:cNvPr descr="Date Placeholder 3" id="1792" name="Google Shape;1792;p12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793" name="Google Shape;1793;p12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794" name="Google Shape;1794;p125"/>
          <p:cNvGraphicFramePr/>
          <p:nvPr/>
        </p:nvGraphicFramePr>
        <p:xfrm>
          <a:off x="827088" y="270827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795" name="Google Shape;1795;p125"/>
          <p:cNvSpPr txBox="1"/>
          <p:nvPr/>
        </p:nvSpPr>
        <p:spPr>
          <a:xfrm>
            <a:off x="944563" y="2338388"/>
            <a:ext cx="152876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
        <p:nvSpPr>
          <p:cNvPr descr="TextBox 8" id="1796" name="Google Shape;1796;p125"/>
          <p:cNvSpPr txBox="1"/>
          <p:nvPr/>
        </p:nvSpPr>
        <p:spPr>
          <a:xfrm>
            <a:off x="944563" y="4795838"/>
            <a:ext cx="5091112"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 W2(A), W2(B), R1(A), R1(B)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 R1(A),W2(A), R1(B),W2(B)</a:t>
            </a:r>
            <a:endParaRPr/>
          </a:p>
        </p:txBody>
      </p:sp>
      <p:graphicFrame>
        <p:nvGraphicFramePr>
          <p:cNvPr id="1797" name="Google Shape;1797;p125"/>
          <p:cNvGraphicFramePr/>
          <p:nvPr/>
        </p:nvGraphicFramePr>
        <p:xfrm>
          <a:off x="4211638" y="272732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1798" name="Google Shape;1798;p125"/>
          <p:cNvSpPr txBox="1"/>
          <p:nvPr/>
        </p:nvSpPr>
        <p:spPr>
          <a:xfrm>
            <a:off x="4329113" y="2357438"/>
            <a:ext cx="15287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descr="Title 1" id="1803" name="Google Shape;1803;p12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solidFill>
                  <a:srgbClr val="FF0000"/>
                </a:solidFill>
              </a:rPr>
              <a:t>Check whether the given Two schedules are conflict equivalent ?</a:t>
            </a:r>
            <a:endParaRPr/>
          </a:p>
        </p:txBody>
      </p:sp>
      <p:sp>
        <p:nvSpPr>
          <p:cNvPr descr="Date Placeholder 3" id="1804" name="Google Shape;1804;p12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05" name="Google Shape;1805;p12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806" name="Google Shape;1806;p126"/>
          <p:cNvGraphicFramePr/>
          <p:nvPr/>
        </p:nvGraphicFramePr>
        <p:xfrm>
          <a:off x="4211638" y="1584325"/>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1807" name="Google Shape;1807;p126"/>
          <p:cNvSpPr txBox="1"/>
          <p:nvPr/>
        </p:nvSpPr>
        <p:spPr>
          <a:xfrm>
            <a:off x="4329113" y="1214438"/>
            <a:ext cx="1528762"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S2</a:t>
            </a:r>
            <a:endParaRPr/>
          </a:p>
        </p:txBody>
      </p:sp>
      <p:sp>
        <p:nvSpPr>
          <p:cNvPr descr="TextBox 11" id="1808" name="Google Shape;1808;p126"/>
          <p:cNvSpPr txBox="1"/>
          <p:nvPr/>
        </p:nvSpPr>
        <p:spPr>
          <a:xfrm>
            <a:off x="785813" y="3644900"/>
            <a:ext cx="66040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Answer: Schedule S1 and S2 </a:t>
            </a:r>
            <a:r>
              <a:rPr b="1" lang="en-US" sz="1800">
                <a:solidFill>
                  <a:srgbClr val="000000"/>
                </a:solidFill>
                <a:latin typeface="Verdana"/>
                <a:ea typeface="Verdana"/>
                <a:cs typeface="Verdana"/>
                <a:sym typeface="Verdana"/>
              </a:rPr>
              <a:t>are not </a:t>
            </a:r>
            <a:r>
              <a:rPr lang="en-US" sz="1800">
                <a:solidFill>
                  <a:srgbClr val="000000"/>
                </a:solidFill>
                <a:latin typeface="Verdana"/>
                <a:ea typeface="Verdana"/>
                <a:cs typeface="Verdana"/>
                <a:sym typeface="Verdana"/>
              </a:rPr>
              <a:t>conflict equivalent</a:t>
            </a:r>
            <a:endParaRPr/>
          </a:p>
        </p:txBody>
      </p:sp>
      <p:graphicFrame>
        <p:nvGraphicFramePr>
          <p:cNvPr id="1809" name="Google Shape;1809;p126"/>
          <p:cNvGraphicFramePr/>
          <p:nvPr/>
        </p:nvGraphicFramePr>
        <p:xfrm>
          <a:off x="179388" y="4230688"/>
          <a:ext cx="3000000" cy="3000000"/>
        </p:xfrm>
        <a:graphic>
          <a:graphicData uri="http://schemas.openxmlformats.org/drawingml/2006/table">
            <a:tbl>
              <a:tblPr>
                <a:noFill/>
                <a:tableStyleId>{DA31C186-C125-4E34-A739-053F885C22C1}</a:tableStyleId>
              </a:tblPr>
              <a:tblGrid>
                <a:gridCol w="1400175"/>
                <a:gridCol w="3078150"/>
                <a:gridCol w="2166950"/>
                <a:gridCol w="2311400"/>
              </a:tblGrid>
              <a:tr h="8286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W2(A),</a:t>
                      </a:r>
                      <a:r>
                        <a:rPr b="0" i="0" lang="en-US" sz="1600" u="none" cap="none" strike="noStrike">
                          <a:solidFill>
                            <a:srgbClr val="000000"/>
                          </a:solidFill>
                          <a:latin typeface="Verdana"/>
                          <a:ea typeface="Verdana"/>
                          <a:cs typeface="Verdana"/>
                          <a:sym typeface="Verdana"/>
                        </a:rPr>
                        <a:t>W2(B), </a:t>
                      </a:r>
                      <a:r>
                        <a:rPr b="0" i="0" lang="en-US" sz="1600" u="none" cap="none" strike="noStrike">
                          <a:solidFill>
                            <a:srgbClr val="C00000"/>
                          </a:solidFill>
                          <a:latin typeface="Verdana"/>
                          <a:ea typeface="Verdana"/>
                          <a:cs typeface="Verdana"/>
                          <a:sym typeface="Verdana"/>
                        </a:rPr>
                        <a:t>R1(A), </a:t>
                      </a:r>
                      <a:r>
                        <a:rPr b="0" i="0" lang="en-US" sz="1600" u="none" cap="none" strike="noStrike">
                          <a:solidFill>
                            <a:srgbClr val="000000"/>
                          </a:solidFill>
                          <a:latin typeface="Verdana"/>
                          <a:ea typeface="Verdana"/>
                          <a:cs typeface="Verdana"/>
                          <a:sym typeface="Verdana"/>
                        </a:rPr>
                        <a:t>R1(B)</a:t>
                      </a:r>
                      <a:endParaRPr b="0" i="0" sz="1600" u="none" cap="none" strike="noStrike">
                        <a:solidFill>
                          <a:srgbClr val="0000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W2(A) </a:t>
                      </a:r>
                      <a:r>
                        <a:rPr b="0" i="0" lang="en-US" sz="1600" u="none" cap="none" strike="noStrike">
                          <a:solidFill>
                            <a:srgbClr val="000000"/>
                          </a:solidFill>
                          <a:latin typeface="Verdana"/>
                          <a:ea typeface="Verdana"/>
                          <a:cs typeface="Verdana"/>
                          <a:sym typeface="Verdana"/>
                        </a:rPr>
                        <a:t>and </a:t>
                      </a:r>
                      <a:r>
                        <a:rPr b="1" i="0" lang="en-US" sz="1600" u="none" cap="none" strike="noStrike">
                          <a:solidFill>
                            <a:srgbClr val="C00000"/>
                          </a:solidFill>
                          <a:latin typeface="Verdana"/>
                          <a:ea typeface="Verdana"/>
                          <a:cs typeface="Verdana"/>
                          <a:sym typeface="Verdana"/>
                        </a:rPr>
                        <a:t>R1(A)</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W2(B) and R1(B)</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 and 2 are not conflict equivalent because the order of conflict operations are different in the schedules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6520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C00000"/>
                        </a:buClr>
                        <a:buSzPts val="1600"/>
                        <a:buFont typeface="Verdana"/>
                        <a:buNone/>
                      </a:pPr>
                      <a:r>
                        <a:rPr b="0" i="0" lang="en-US" sz="1600" u="none" cap="none" strike="noStrike">
                          <a:solidFill>
                            <a:srgbClr val="C00000"/>
                          </a:solidFill>
                          <a:latin typeface="Verdana"/>
                          <a:ea typeface="Verdana"/>
                          <a:cs typeface="Verdana"/>
                          <a:sym typeface="Verdana"/>
                        </a:rPr>
                        <a:t>R1(A),</a:t>
                      </a:r>
                      <a:r>
                        <a:rPr b="0" i="0" lang="en-US" sz="1600" u="none" cap="none" strike="noStrike">
                          <a:solidFill>
                            <a:srgbClr val="0000FF"/>
                          </a:solidFill>
                          <a:latin typeface="Verdana"/>
                          <a:ea typeface="Verdana"/>
                          <a:cs typeface="Verdana"/>
                          <a:sym typeface="Verdana"/>
                        </a:rPr>
                        <a:t>W2(A), </a:t>
                      </a:r>
                      <a:r>
                        <a:rPr b="0" i="0" lang="en-US" sz="1600" u="none" cap="none" strike="noStrike">
                          <a:solidFill>
                            <a:srgbClr val="000000"/>
                          </a:solidFill>
                          <a:latin typeface="Verdana"/>
                          <a:ea typeface="Verdana"/>
                          <a:cs typeface="Verdana"/>
                          <a:sym typeface="Verdana"/>
                        </a:rPr>
                        <a:t>R1(B),W2(B)</a:t>
                      </a:r>
                      <a:endParaRPr b="0" i="0" sz="1600" u="none" cap="none" strike="noStrike">
                        <a:solidFill>
                          <a:srgbClr val="C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a:p>
                    <a:p>
                      <a:pPr indent="0" lvl="0" marL="0" marR="0" rtl="0" algn="l">
                        <a:lnSpc>
                          <a:spcPct val="100000"/>
                        </a:lnSpc>
                        <a:spcBef>
                          <a:spcPts val="0"/>
                        </a:spcBef>
                        <a:spcAft>
                          <a:spcPts val="0"/>
                        </a:spcAft>
                        <a:buClr>
                          <a:srgbClr val="C00000"/>
                        </a:buClr>
                        <a:buSzPts val="1600"/>
                        <a:buFont typeface="Verdana"/>
                        <a:buNone/>
                      </a:pPr>
                      <a:r>
                        <a:rPr b="1" i="0" lang="en-US" sz="1600" u="none" cap="none" strike="noStrike">
                          <a:solidFill>
                            <a:srgbClr val="C00000"/>
                          </a:solidFill>
                          <a:latin typeface="Verdana"/>
                          <a:ea typeface="Verdana"/>
                          <a:cs typeface="Verdana"/>
                          <a:sym typeface="Verdana"/>
                        </a:rPr>
                        <a:t>R1(A) </a:t>
                      </a:r>
                      <a:r>
                        <a:rPr b="0" i="0" lang="en-US" sz="1600" u="none" cap="none" strike="noStrike">
                          <a:solidFill>
                            <a:srgbClr val="000000"/>
                          </a:solidFill>
                          <a:latin typeface="Verdana"/>
                          <a:ea typeface="Verdana"/>
                          <a:cs typeface="Verdana"/>
                          <a:sym typeface="Verdana"/>
                        </a:rPr>
                        <a:t>and </a:t>
                      </a:r>
                      <a:r>
                        <a:rPr b="0" i="0" lang="en-US" sz="1600" u="none" cap="none" strike="noStrike">
                          <a:solidFill>
                            <a:srgbClr val="0000FF"/>
                          </a:solidFill>
                          <a:latin typeface="Verdana"/>
                          <a:ea typeface="Verdana"/>
                          <a:cs typeface="Verdana"/>
                          <a:sym typeface="Verdana"/>
                        </a:rPr>
                        <a:t>W2(A)</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R1(B) and W2(B)</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graphicFrame>
        <p:nvGraphicFramePr>
          <p:cNvPr id="1810" name="Google Shape;1810;p126"/>
          <p:cNvGraphicFramePr/>
          <p:nvPr/>
        </p:nvGraphicFramePr>
        <p:xfrm>
          <a:off x="900113" y="1566863"/>
          <a:ext cx="3000000" cy="3000000"/>
        </p:xfrm>
        <a:graphic>
          <a:graphicData uri="http://schemas.openxmlformats.org/drawingml/2006/table">
            <a:tbl>
              <a:tblPr>
                <a:noFill/>
                <a:tableStyleId>{DA31C186-C125-4E34-A739-053F885C22C1}</a:tableStyleId>
              </a:tblPr>
              <a:tblGrid>
                <a:gridCol w="1368425"/>
                <a:gridCol w="13684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4" id="1811" name="Google Shape;1811;p126"/>
          <p:cNvSpPr txBox="1"/>
          <p:nvPr/>
        </p:nvSpPr>
        <p:spPr>
          <a:xfrm>
            <a:off x="1016000" y="1195388"/>
            <a:ext cx="152876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descr="Title 1" id="1816" name="Google Shape;1816;p12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a:t>
            </a:r>
            <a:endParaRPr/>
          </a:p>
        </p:txBody>
      </p:sp>
      <p:sp>
        <p:nvSpPr>
          <p:cNvPr descr="Content Placeholder 2" id="1817" name="Google Shape;1817;p12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lang="en-US" sz="1800"/>
              <a:t>Check whether the following two schedules are conflict equivalent ?</a:t>
            </a:r>
            <a:endParaRPr/>
          </a:p>
        </p:txBody>
      </p:sp>
      <p:sp>
        <p:nvSpPr>
          <p:cNvPr descr="Date Placeholder 3" id="1818" name="Google Shape;1818;p12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19" name="Google Shape;1819;p12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1820" name="Google Shape;1820;p127"/>
          <p:cNvSpPr txBox="1"/>
          <p:nvPr/>
        </p:nvSpPr>
        <p:spPr>
          <a:xfrm>
            <a:off x="152400" y="5902325"/>
            <a:ext cx="8785225" cy="523875"/>
          </a:xfrm>
          <a:prstGeom prst="rect">
            <a:avLst/>
          </a:prstGeom>
          <a:noFill/>
          <a:ln>
            <a:noFill/>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400" u="none" cap="none" strike="noStrike">
                <a:solidFill>
                  <a:srgbClr val="000000"/>
                </a:solidFill>
                <a:latin typeface="Verdana"/>
                <a:ea typeface="Verdana"/>
                <a:cs typeface="Verdana"/>
                <a:sym typeface="Verdana"/>
              </a:rPr>
              <a:t>Note:Two schedules are said to be conflict equivalent  if the order of any two conflicting operations is the same in both schedules.</a:t>
            </a:r>
            <a:endParaRPr/>
          </a:p>
        </p:txBody>
      </p:sp>
      <p:graphicFrame>
        <p:nvGraphicFramePr>
          <p:cNvPr id="1821" name="Google Shape;1821;p127"/>
          <p:cNvGraphicFramePr/>
          <p:nvPr/>
        </p:nvGraphicFramePr>
        <p:xfrm>
          <a:off x="1639888" y="1941513"/>
          <a:ext cx="3000000" cy="3000000"/>
        </p:xfrm>
        <a:graphic>
          <a:graphicData uri="http://schemas.openxmlformats.org/drawingml/2006/table">
            <a:tbl>
              <a:tblPr>
                <a:noFill/>
                <a:tableStyleId>{DA31C186-C125-4E34-A739-053F885C22C1}</a:tableStyleId>
              </a:tblPr>
              <a:tblGrid>
                <a:gridCol w="941375"/>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br>
                        <a:rPr b="0" i="0" lang="en-US" sz="1800" u="none" cap="none" strike="noStrike">
                          <a:solidFill>
                            <a:srgbClr val="000000"/>
                          </a:solidFill>
                          <a:latin typeface="Verdana"/>
                          <a:ea typeface="Verdana"/>
                          <a:cs typeface="Verdana"/>
                          <a:sym typeface="Verdana"/>
                        </a:rPr>
                      </a:br>
                      <a:r>
                        <a:rPr b="0" i="0" lang="en-US" sz="1800" u="none" cap="none" strike="noStrike">
                          <a:solidFill>
                            <a:srgbClr val="000000"/>
                          </a:solidFill>
                          <a:latin typeface="Verdana"/>
                          <a:ea typeface="Verdana"/>
                          <a:cs typeface="Verdana"/>
                          <a:sym typeface="Verdana"/>
                        </a:rPr>
                        <a:t>W(A)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22" name="Google Shape;1822;p127"/>
          <p:cNvGraphicFramePr/>
          <p:nvPr/>
        </p:nvGraphicFramePr>
        <p:xfrm>
          <a:off x="4295775" y="1941513"/>
          <a:ext cx="3000000" cy="3000000"/>
        </p:xfrm>
        <a:graphic>
          <a:graphicData uri="http://schemas.openxmlformats.org/drawingml/2006/table">
            <a:tbl>
              <a:tblPr>
                <a:noFill/>
                <a:tableStyleId>{DA31C186-C125-4E34-A739-053F885C22C1}</a:tableStyleId>
              </a:tblPr>
              <a:tblGrid>
                <a:gridCol w="941400"/>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23" name="Google Shape;1823;p127"/>
          <p:cNvGraphicFramePr/>
          <p:nvPr/>
        </p:nvGraphicFramePr>
        <p:xfrm>
          <a:off x="152400" y="3743325"/>
          <a:ext cx="3000000" cy="3000000"/>
        </p:xfrm>
        <a:graphic>
          <a:graphicData uri="http://schemas.openxmlformats.org/drawingml/2006/table">
            <a:tbl>
              <a:tblPr>
                <a:noFill/>
                <a:tableStyleId>{DA31C186-C125-4E34-A739-053F885C22C1}</a:tableStyleId>
              </a:tblPr>
              <a:tblGrid>
                <a:gridCol w="1400175"/>
                <a:gridCol w="3078175"/>
                <a:gridCol w="2166925"/>
                <a:gridCol w="2311400"/>
              </a:tblGrid>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R1(A), W1(A), R2(A),W2(A)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R2(A), W2(A),R1(A), W1(A)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
        <p:nvSpPr>
          <p:cNvPr descr="TextBox 12" id="1824" name="Google Shape;1824;p127"/>
          <p:cNvSpPr txBox="1"/>
          <p:nvPr/>
        </p:nvSpPr>
        <p:spPr>
          <a:xfrm>
            <a:off x="1808163" y="1628775"/>
            <a:ext cx="137318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1</a:t>
            </a:r>
            <a:endParaRPr/>
          </a:p>
        </p:txBody>
      </p:sp>
      <p:sp>
        <p:nvSpPr>
          <p:cNvPr descr="TextBox 13" id="1825" name="Google Shape;1825;p127"/>
          <p:cNvSpPr txBox="1"/>
          <p:nvPr/>
        </p:nvSpPr>
        <p:spPr>
          <a:xfrm>
            <a:off x="4473575" y="1595438"/>
            <a:ext cx="13716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2</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9" name="Shape 1829"/>
        <p:cNvGrpSpPr/>
        <p:nvPr/>
      </p:nvGrpSpPr>
      <p:grpSpPr>
        <a:xfrm>
          <a:off x="0" y="0"/>
          <a:ext cx="0" cy="0"/>
          <a:chOff x="0" y="0"/>
          <a:chExt cx="0" cy="0"/>
        </a:xfrm>
      </p:grpSpPr>
      <p:sp>
        <p:nvSpPr>
          <p:cNvPr descr="Title 1" id="1830" name="Google Shape;1830;p12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a:t>
            </a:r>
            <a:endParaRPr/>
          </a:p>
        </p:txBody>
      </p:sp>
      <p:sp>
        <p:nvSpPr>
          <p:cNvPr descr="Content Placeholder 2" id="1831" name="Google Shape;1831;p12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lang="en-US" sz="1800"/>
              <a:t>Check whether the following two schedules are conflict equivalent ?</a:t>
            </a:r>
            <a:endParaRPr/>
          </a:p>
        </p:txBody>
      </p:sp>
      <p:sp>
        <p:nvSpPr>
          <p:cNvPr descr="Date Placeholder 3" id="1832" name="Google Shape;1832;p12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33" name="Google Shape;1833;p12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1834" name="Google Shape;1834;p128"/>
          <p:cNvSpPr txBox="1"/>
          <p:nvPr/>
        </p:nvSpPr>
        <p:spPr>
          <a:xfrm>
            <a:off x="152400" y="5902325"/>
            <a:ext cx="8785225" cy="523875"/>
          </a:xfrm>
          <a:prstGeom prst="rect">
            <a:avLst/>
          </a:prstGeom>
          <a:noFill/>
          <a:ln>
            <a:noFill/>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400" u="none" cap="none" strike="noStrike">
                <a:solidFill>
                  <a:srgbClr val="000000"/>
                </a:solidFill>
                <a:latin typeface="Verdana"/>
                <a:ea typeface="Verdana"/>
                <a:cs typeface="Verdana"/>
                <a:sym typeface="Verdana"/>
              </a:rPr>
              <a:t>Note:Two schedules are said to be conflict equivalent  if the order of any two conflicting operations is the same in both schedules.</a:t>
            </a:r>
            <a:endParaRPr/>
          </a:p>
        </p:txBody>
      </p:sp>
      <p:graphicFrame>
        <p:nvGraphicFramePr>
          <p:cNvPr id="1835" name="Google Shape;1835;p128"/>
          <p:cNvGraphicFramePr/>
          <p:nvPr/>
        </p:nvGraphicFramePr>
        <p:xfrm>
          <a:off x="1639888" y="1941513"/>
          <a:ext cx="3000000" cy="3000000"/>
        </p:xfrm>
        <a:graphic>
          <a:graphicData uri="http://schemas.openxmlformats.org/drawingml/2006/table">
            <a:tbl>
              <a:tblPr>
                <a:noFill/>
                <a:tableStyleId>{DA31C186-C125-4E34-A739-053F885C22C1}</a:tableStyleId>
              </a:tblPr>
              <a:tblGrid>
                <a:gridCol w="941375"/>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br>
                        <a:rPr b="0" i="0" lang="en-US" sz="1800" u="none" cap="none" strike="noStrike">
                          <a:solidFill>
                            <a:srgbClr val="000000"/>
                          </a:solidFill>
                          <a:latin typeface="Verdana"/>
                          <a:ea typeface="Verdana"/>
                          <a:cs typeface="Verdana"/>
                          <a:sym typeface="Verdana"/>
                        </a:rPr>
                      </a:br>
                      <a:r>
                        <a:rPr b="0" i="0" lang="en-US" sz="1800" u="none" cap="none" strike="noStrike">
                          <a:solidFill>
                            <a:srgbClr val="000000"/>
                          </a:solidFill>
                          <a:latin typeface="Verdana"/>
                          <a:ea typeface="Verdana"/>
                          <a:cs typeface="Verdana"/>
                          <a:sym typeface="Verdana"/>
                        </a:rPr>
                        <a:t>W(A)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36" name="Google Shape;1836;p128"/>
          <p:cNvGraphicFramePr/>
          <p:nvPr/>
        </p:nvGraphicFramePr>
        <p:xfrm>
          <a:off x="4295775" y="1941513"/>
          <a:ext cx="3000000" cy="3000000"/>
        </p:xfrm>
        <a:graphic>
          <a:graphicData uri="http://schemas.openxmlformats.org/drawingml/2006/table">
            <a:tbl>
              <a:tblPr>
                <a:noFill/>
                <a:tableStyleId>{DA31C186-C125-4E34-A739-053F885C22C1}</a:tableStyleId>
              </a:tblPr>
              <a:tblGrid>
                <a:gridCol w="941400"/>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37" name="Google Shape;1837;p128"/>
          <p:cNvGraphicFramePr/>
          <p:nvPr/>
        </p:nvGraphicFramePr>
        <p:xfrm>
          <a:off x="152400" y="3743325"/>
          <a:ext cx="3000000" cy="3000000"/>
        </p:xfrm>
        <a:graphic>
          <a:graphicData uri="http://schemas.openxmlformats.org/drawingml/2006/table">
            <a:tbl>
              <a:tblPr>
                <a:noFill/>
                <a:tableStyleId>{DA31C186-C125-4E34-A739-053F885C22C1}</a:tableStyleId>
              </a:tblPr>
              <a:tblGrid>
                <a:gridCol w="1400175"/>
                <a:gridCol w="3078175"/>
                <a:gridCol w="2166925"/>
                <a:gridCol w="2311400"/>
              </a:tblGrid>
              <a:tr h="10699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R1(A), W1(A), R2(A),W2(A)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R1(A) and W2(A)</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W1(A) and R2(A)</a:t>
                      </a:r>
                      <a:endParaRPr b="1" i="0" sz="1600" u="none" cap="none" strike="noStrike">
                        <a:solidFill>
                          <a:srgbClr val="FFFFFF"/>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W1(A) and W2(A)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Verdana"/>
                        <a:buNone/>
                      </a:pPr>
                      <a:r>
                        <a:t/>
                      </a:r>
                      <a:endParaRPr b="0" i="0" sz="16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 and 2 are not conflict equivalent because the order of conflict operations are not same</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699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R2(A), W2(A),R1(A), W1(A)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W2(A) and R1(A)</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R2(A) and W1(A)</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W2(A) and W1(A)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
        <p:nvSpPr>
          <p:cNvPr descr="TextBox 12" id="1838" name="Google Shape;1838;p128"/>
          <p:cNvSpPr txBox="1"/>
          <p:nvPr/>
        </p:nvSpPr>
        <p:spPr>
          <a:xfrm>
            <a:off x="1808163" y="1628775"/>
            <a:ext cx="137318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1</a:t>
            </a:r>
            <a:endParaRPr/>
          </a:p>
        </p:txBody>
      </p:sp>
      <p:sp>
        <p:nvSpPr>
          <p:cNvPr descr="TextBox 13" id="1839" name="Google Shape;1839;p128"/>
          <p:cNvSpPr txBox="1"/>
          <p:nvPr/>
        </p:nvSpPr>
        <p:spPr>
          <a:xfrm>
            <a:off x="4473575" y="1595438"/>
            <a:ext cx="13716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2</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descr="Title 1" id="1844" name="Google Shape;1844;p12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a:t>
            </a:r>
            <a:endParaRPr/>
          </a:p>
        </p:txBody>
      </p:sp>
      <p:sp>
        <p:nvSpPr>
          <p:cNvPr descr="Content Placeholder 2" id="1845" name="Google Shape;1845;p12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lang="en-US" sz="1800"/>
              <a:t>Check whether the following two schedules are conflict equivalent ?</a:t>
            </a:r>
            <a:endParaRPr/>
          </a:p>
        </p:txBody>
      </p:sp>
      <p:sp>
        <p:nvSpPr>
          <p:cNvPr descr="Date Placeholder 3" id="1846" name="Google Shape;1846;p12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47" name="Google Shape;1847;p12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1848" name="Google Shape;1848;p129"/>
          <p:cNvSpPr txBox="1"/>
          <p:nvPr/>
        </p:nvSpPr>
        <p:spPr>
          <a:xfrm>
            <a:off x="152400" y="5902325"/>
            <a:ext cx="8785225" cy="523875"/>
          </a:xfrm>
          <a:prstGeom prst="rect">
            <a:avLst/>
          </a:prstGeom>
          <a:noFill/>
          <a:ln>
            <a:noFill/>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400" u="none" cap="none" strike="noStrike">
                <a:solidFill>
                  <a:srgbClr val="000000"/>
                </a:solidFill>
                <a:latin typeface="Verdana"/>
                <a:ea typeface="Verdana"/>
                <a:cs typeface="Verdana"/>
                <a:sym typeface="Verdana"/>
              </a:rPr>
              <a:t>Note:Two schedules are said to be conflict equivalent  if the order of any two conflicting operations is the same in both schedules.</a:t>
            </a:r>
            <a:endParaRPr/>
          </a:p>
        </p:txBody>
      </p:sp>
      <p:graphicFrame>
        <p:nvGraphicFramePr>
          <p:cNvPr id="1849" name="Google Shape;1849;p129"/>
          <p:cNvGraphicFramePr/>
          <p:nvPr/>
        </p:nvGraphicFramePr>
        <p:xfrm>
          <a:off x="1639888" y="1941513"/>
          <a:ext cx="3000000" cy="3000000"/>
        </p:xfrm>
        <a:graphic>
          <a:graphicData uri="http://schemas.openxmlformats.org/drawingml/2006/table">
            <a:tbl>
              <a:tblPr>
                <a:noFill/>
                <a:tableStyleId>{DA31C186-C125-4E34-A739-053F885C22C1}</a:tableStyleId>
              </a:tblPr>
              <a:tblGrid>
                <a:gridCol w="941375"/>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br>
                        <a:rPr b="0" i="0" lang="en-US" sz="1800" u="none" cap="none" strike="noStrike">
                          <a:solidFill>
                            <a:srgbClr val="000000"/>
                          </a:solidFill>
                          <a:latin typeface="Verdana"/>
                          <a:ea typeface="Verdana"/>
                          <a:cs typeface="Verdana"/>
                          <a:sym typeface="Verdana"/>
                        </a:rPr>
                      </a:br>
                      <a:r>
                        <a:rPr b="0" i="0" lang="en-US" sz="1800" u="none" cap="none" strike="noStrike">
                          <a:solidFill>
                            <a:srgbClr val="000000"/>
                          </a:solidFill>
                          <a:latin typeface="Verdana"/>
                          <a:ea typeface="Verdana"/>
                          <a:cs typeface="Verdana"/>
                          <a:sym typeface="Verdana"/>
                        </a:rPr>
                        <a:t>W(A)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50" name="Google Shape;1850;p129"/>
          <p:cNvGraphicFramePr/>
          <p:nvPr/>
        </p:nvGraphicFramePr>
        <p:xfrm>
          <a:off x="4546600" y="1965325"/>
          <a:ext cx="3000000" cy="3000000"/>
        </p:xfrm>
        <a:graphic>
          <a:graphicData uri="http://schemas.openxmlformats.org/drawingml/2006/table">
            <a:tbl>
              <a:tblPr>
                <a:noFill/>
                <a:tableStyleId>{DA31C186-C125-4E34-A739-053F885C22C1}</a:tableStyleId>
              </a:tblPr>
              <a:tblGrid>
                <a:gridCol w="941400"/>
                <a:gridCol w="7874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223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R(A)</a:t>
                      </a:r>
                      <a:endParaRPr/>
                    </a:p>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W(A)</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1851" name="Google Shape;1851;p129"/>
          <p:cNvGraphicFramePr/>
          <p:nvPr/>
        </p:nvGraphicFramePr>
        <p:xfrm>
          <a:off x="152400" y="3743325"/>
          <a:ext cx="3000000" cy="3000000"/>
        </p:xfrm>
        <a:graphic>
          <a:graphicData uri="http://schemas.openxmlformats.org/drawingml/2006/table">
            <a:tbl>
              <a:tblPr>
                <a:noFill/>
                <a:tableStyleId>{DA31C186-C125-4E34-A739-053F885C22C1}</a:tableStyleId>
              </a:tblPr>
              <a:tblGrid>
                <a:gridCol w="1400175"/>
                <a:gridCol w="3078175"/>
                <a:gridCol w="2166925"/>
                <a:gridCol w="2311400"/>
              </a:tblGrid>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R1(A), W1(A), R2(A),W2(A)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b="1" i="0" sz="1600" u="none" cap="none" strike="noStrike">
                        <a:solidFill>
                          <a:srgbClr val="FFFFFF"/>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Schedule 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R1(A), R1(A), W2(A),W1(A)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Conflict Operations</a:t>
                      </a:r>
                      <a:endParaRPr/>
                    </a:p>
                    <a:p>
                      <a:pPr indent="0" lvl="0" marL="0" marR="0" rtl="0" algn="l">
                        <a:lnSpc>
                          <a:spcPct val="100000"/>
                        </a:lnSpc>
                        <a:spcBef>
                          <a:spcPts val="0"/>
                        </a:spcBef>
                        <a:spcAft>
                          <a:spcPts val="0"/>
                        </a:spcAft>
                        <a:buClr>
                          <a:schemeClr val="dk1"/>
                        </a:buClr>
                        <a:buSzPts val="1600"/>
                        <a:buFont typeface="Verdana"/>
                        <a:buNone/>
                      </a:pPr>
                      <a:r>
                        <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
        <p:nvSpPr>
          <p:cNvPr descr="TextBox 12" id="1852" name="Google Shape;1852;p129"/>
          <p:cNvSpPr txBox="1"/>
          <p:nvPr/>
        </p:nvSpPr>
        <p:spPr>
          <a:xfrm>
            <a:off x="1808163" y="1628775"/>
            <a:ext cx="1373187"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1</a:t>
            </a:r>
            <a:endParaRPr/>
          </a:p>
        </p:txBody>
      </p:sp>
      <p:sp>
        <p:nvSpPr>
          <p:cNvPr descr="TextBox 13" id="1853" name="Google Shape;1853;p129"/>
          <p:cNvSpPr txBox="1"/>
          <p:nvPr/>
        </p:nvSpPr>
        <p:spPr>
          <a:xfrm>
            <a:off x="4473575" y="1595438"/>
            <a:ext cx="13716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3</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descr="Title 1" id="1858" name="Google Shape;1858;p13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Testing for conflict-serializability of a schedule</a:t>
            </a:r>
            <a:endParaRPr/>
          </a:p>
        </p:txBody>
      </p:sp>
      <p:sp>
        <p:nvSpPr>
          <p:cNvPr descr="Content Placeholder 2" id="1859" name="Google Shape;1859;p13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42900" lvl="0" marL="374650" rtl="0" algn="l">
              <a:spcBef>
                <a:spcPts val="0"/>
              </a:spcBef>
              <a:spcAft>
                <a:spcPts val="0"/>
              </a:spcAft>
              <a:buSzPts val="2400"/>
              <a:buFont typeface="Verdana"/>
              <a:buChar char="▪"/>
            </a:pPr>
            <a:r>
              <a:rPr lang="en-US" sz="2400"/>
              <a:t>Looks at only read_Item (X) and write_Item (X) operations</a:t>
            </a:r>
            <a:endParaRPr/>
          </a:p>
          <a:p>
            <a:pPr indent="-342900" lvl="0" marL="374650" rtl="0" algn="l">
              <a:spcBef>
                <a:spcPts val="500"/>
              </a:spcBef>
              <a:spcAft>
                <a:spcPts val="0"/>
              </a:spcAft>
              <a:buSzPts val="2400"/>
              <a:buFont typeface="Verdana"/>
              <a:buChar char="▪"/>
            </a:pPr>
            <a:r>
              <a:rPr lang="en-US" sz="2400"/>
              <a:t>Constructs a </a:t>
            </a:r>
            <a:r>
              <a:rPr b="1" lang="en-US" sz="2400"/>
              <a:t>precedence graph </a:t>
            </a:r>
            <a:r>
              <a:rPr lang="en-US" sz="2400"/>
              <a:t>(serialization graph) - a graph with directed edges </a:t>
            </a:r>
            <a:endParaRPr/>
          </a:p>
          <a:p>
            <a:pPr indent="-342900" lvl="1" marL="812800" rtl="0" algn="l">
              <a:spcBef>
                <a:spcPts val="400"/>
              </a:spcBef>
              <a:spcAft>
                <a:spcPts val="0"/>
              </a:spcAft>
              <a:buSzPts val="2000"/>
              <a:buFont typeface="Verdana"/>
              <a:buChar char="▪"/>
            </a:pPr>
            <a:r>
              <a:rPr lang="en-US" sz="2000"/>
              <a:t>An edge is created from Ti  to  Tj if one of the operations in  Ti  appears before a conflicting operation in Tj</a:t>
            </a:r>
            <a:endParaRPr/>
          </a:p>
          <a:p>
            <a:pPr indent="-342900" lvl="0" marL="374650" rtl="0" algn="l">
              <a:spcBef>
                <a:spcPts val="500"/>
              </a:spcBef>
              <a:spcAft>
                <a:spcPts val="0"/>
              </a:spcAft>
              <a:buSzPts val="2400"/>
              <a:buFont typeface="Verdana"/>
              <a:buChar char="▪"/>
            </a:pPr>
            <a:r>
              <a:rPr lang="en-US" sz="2400"/>
              <a:t>The schedule is serializable if and only if the precedence graph has no cycles</a:t>
            </a:r>
            <a:endParaRPr/>
          </a:p>
        </p:txBody>
      </p:sp>
      <p:sp>
        <p:nvSpPr>
          <p:cNvPr descr="Date Placeholder 3" id="1860" name="Google Shape;1860;p13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61" name="Google Shape;1861;p13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1862" name="Google Shape;1862;p130"/>
          <p:cNvSpPr txBox="1"/>
          <p:nvPr/>
        </p:nvSpPr>
        <p:spPr>
          <a:xfrm>
            <a:off x="401638" y="5227638"/>
            <a:ext cx="8567737" cy="930275"/>
          </a:xfrm>
          <a:prstGeom prst="rect">
            <a:avLst/>
          </a:prstGeom>
          <a:noFill/>
          <a:ln>
            <a:noFill/>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800" u="none" cap="none" strike="noStrike">
                <a:solidFill>
                  <a:srgbClr val="000000"/>
                </a:solidFill>
                <a:latin typeface="Verdana"/>
                <a:ea typeface="Verdana"/>
                <a:cs typeface="Verdana"/>
                <a:sym typeface="Verdana"/>
              </a:rPr>
              <a:t>Definition of Conflict Serializability Schedule:</a:t>
            </a:r>
            <a:endParaRPr/>
          </a:p>
          <a:p>
            <a:pPr indent="0" lvl="1" marL="0" marR="0" rtl="0" algn="l">
              <a:spcBef>
                <a:spcPts val="0"/>
              </a:spcBef>
              <a:spcAft>
                <a:spcPts val="0"/>
              </a:spcAft>
              <a:buNone/>
            </a:pPr>
            <a:r>
              <a:rPr b="0" i="0" lang="en-US" sz="1800" u="none" cap="none" strike="noStrike">
                <a:solidFill>
                  <a:srgbClr val="0000FF"/>
                </a:solidFill>
                <a:latin typeface="Verdana"/>
                <a:ea typeface="Verdana"/>
                <a:cs typeface="Verdana"/>
                <a:sym typeface="Verdana"/>
              </a:rPr>
              <a:t>A schedule </a:t>
            </a:r>
            <a:r>
              <a:rPr b="1" i="0" lang="en-US" sz="1800" u="none" cap="none" strike="noStrike">
                <a:solidFill>
                  <a:srgbClr val="0000FF"/>
                </a:solidFill>
                <a:latin typeface="Verdana"/>
                <a:ea typeface="Verdana"/>
                <a:cs typeface="Verdana"/>
                <a:sym typeface="Verdana"/>
              </a:rPr>
              <a:t>S</a:t>
            </a:r>
            <a:r>
              <a:rPr b="0" i="0" lang="en-US" sz="1800" u="none" cap="none" strike="noStrike">
                <a:solidFill>
                  <a:srgbClr val="0000FF"/>
                </a:solidFill>
                <a:latin typeface="Verdana"/>
                <a:ea typeface="Verdana"/>
                <a:cs typeface="Verdana"/>
                <a:sym typeface="Verdana"/>
              </a:rPr>
              <a:t> is said to be conflict serializable if it is </a:t>
            </a:r>
            <a:r>
              <a:rPr b="1" i="0" lang="en-US" sz="1800" u="none" cap="none" strike="noStrike">
                <a:solidFill>
                  <a:srgbClr val="0000FF"/>
                </a:solidFill>
                <a:latin typeface="Verdana"/>
                <a:ea typeface="Verdana"/>
                <a:cs typeface="Verdana"/>
                <a:sym typeface="Verdana"/>
              </a:rPr>
              <a:t>conflict equivalent </a:t>
            </a:r>
            <a:endParaRPr/>
          </a:p>
          <a:p>
            <a:pPr indent="0" lvl="1" marL="0" marR="0" rtl="0" algn="l">
              <a:spcBef>
                <a:spcPts val="0"/>
              </a:spcBef>
              <a:spcAft>
                <a:spcPts val="0"/>
              </a:spcAft>
              <a:buNone/>
            </a:pPr>
            <a:r>
              <a:rPr b="0" i="0" lang="en-US" sz="1800" u="none" cap="none" strike="noStrike">
                <a:solidFill>
                  <a:srgbClr val="0000FF"/>
                </a:solidFill>
                <a:latin typeface="Verdana"/>
                <a:ea typeface="Verdana"/>
                <a:cs typeface="Verdana"/>
                <a:sym typeface="Verdana"/>
              </a:rPr>
              <a:t>to some serial schedule </a:t>
            </a:r>
            <a:r>
              <a:rPr b="1" i="0" lang="en-US" sz="1800" u="none" cap="none" strike="noStrike">
                <a:solidFill>
                  <a:srgbClr val="0000FF"/>
                </a:solidFill>
                <a:latin typeface="Verdana"/>
                <a:ea typeface="Verdana"/>
                <a:cs typeface="Verdana"/>
                <a:sym typeface="Verdana"/>
              </a:rPr>
              <a:t>S’</a:t>
            </a:r>
            <a:r>
              <a:rPr b="0" i="0" lang="en-US" sz="1800" u="none" cap="none" strike="noStrike">
                <a:solidFill>
                  <a:srgbClr val="0000FF"/>
                </a:solidFill>
                <a:latin typeface="Verdana"/>
                <a:ea typeface="Verdana"/>
                <a:cs typeface="Verdana"/>
                <a:sym typeface="Verdana"/>
              </a:rPr>
              <a:t>.</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sp>
        <p:nvSpPr>
          <p:cNvPr descr="Title 1" id="1867" name="Google Shape;1867;p13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Algorithm Testing for conflict-serializability</a:t>
            </a:r>
            <a:endParaRPr/>
          </a:p>
        </p:txBody>
      </p:sp>
      <p:sp>
        <p:nvSpPr>
          <p:cNvPr descr="Content Placeholder 2" id="1868" name="Google Shape;1868;p13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81000" lvl="0" marL="381000" rtl="0" algn="l">
              <a:spcBef>
                <a:spcPts val="0"/>
              </a:spcBef>
              <a:spcAft>
                <a:spcPts val="0"/>
              </a:spcAft>
              <a:buSzPts val="1800"/>
              <a:buFont typeface="Noto Sans Symbols"/>
              <a:buNone/>
            </a:pPr>
            <a:r>
              <a:rPr lang="en-US" sz="1800"/>
              <a:t>Algorithm:</a:t>
            </a:r>
            <a:endParaRPr/>
          </a:p>
          <a:p>
            <a:pPr indent="-381000" lvl="0" marL="381000" rtl="0" algn="l">
              <a:spcBef>
                <a:spcPts val="400"/>
              </a:spcBef>
              <a:spcAft>
                <a:spcPts val="0"/>
              </a:spcAft>
              <a:buSzPts val="1800"/>
              <a:buFont typeface="Verdana"/>
              <a:buAutoNum type="arabicPeriod"/>
            </a:pPr>
            <a:r>
              <a:rPr lang="en-US" sz="1800"/>
              <a:t>For each transaction Ti participating in schedule S, create a node labeled Ti in the precedence graph.</a:t>
            </a:r>
            <a:endParaRPr/>
          </a:p>
          <a:p>
            <a:pPr indent="-381000" lvl="0" marL="381000" rtl="0" algn="l">
              <a:spcBef>
                <a:spcPts val="400"/>
              </a:spcBef>
              <a:spcAft>
                <a:spcPts val="0"/>
              </a:spcAft>
              <a:buSzPts val="1800"/>
              <a:buFont typeface="Verdana"/>
              <a:buAutoNum type="arabicPeriod"/>
            </a:pPr>
            <a:r>
              <a:rPr lang="en-US" sz="1800"/>
              <a:t>For each case in S where </a:t>
            </a:r>
            <a:r>
              <a:rPr b="1" lang="en-US" sz="1800"/>
              <a:t>Tj</a:t>
            </a:r>
            <a:r>
              <a:rPr lang="en-US" sz="1800"/>
              <a:t> executes a </a:t>
            </a:r>
            <a:r>
              <a:rPr b="1" lang="en-US" sz="1800"/>
              <a:t>read_item(X) </a:t>
            </a:r>
            <a:r>
              <a:rPr lang="en-US" sz="1800"/>
              <a:t>after </a:t>
            </a:r>
            <a:r>
              <a:rPr b="1" lang="en-US" sz="1800"/>
              <a:t>Ti</a:t>
            </a:r>
            <a:r>
              <a:rPr lang="en-US" sz="1800"/>
              <a:t> executes a </a:t>
            </a:r>
            <a:r>
              <a:rPr b="1" lang="en-US" sz="1800"/>
              <a:t>write_item(X)</a:t>
            </a:r>
            <a:r>
              <a:rPr lang="en-US" sz="1800"/>
              <a:t>, create an edge (</a:t>
            </a:r>
            <a:r>
              <a:rPr b="1" lang="en-US" sz="1800"/>
              <a:t>Ti</a:t>
            </a:r>
            <a:r>
              <a:rPr lang="en-US" sz="1800">
                <a:latin typeface="Noto Sans Symbols"/>
                <a:ea typeface="Noto Sans Symbols"/>
                <a:cs typeface="Noto Sans Symbols"/>
                <a:sym typeface="Noto Sans Symbols"/>
              </a:rPr>
              <a:t>🡪</a:t>
            </a:r>
            <a:r>
              <a:rPr b="1" lang="en-US" sz="1800"/>
              <a:t>Tj</a:t>
            </a:r>
            <a:r>
              <a:rPr lang="en-US" sz="1800"/>
              <a:t>) in the precedence graph.</a:t>
            </a:r>
            <a:endParaRPr/>
          </a:p>
          <a:p>
            <a:pPr indent="-381000" lvl="0" marL="381000" rtl="0" algn="l">
              <a:spcBef>
                <a:spcPts val="400"/>
              </a:spcBef>
              <a:spcAft>
                <a:spcPts val="0"/>
              </a:spcAft>
              <a:buSzPts val="1800"/>
              <a:buFont typeface="Verdana"/>
              <a:buAutoNum type="arabicPeriod"/>
            </a:pPr>
            <a:r>
              <a:rPr lang="en-US" sz="1800"/>
              <a:t>For each case in S where </a:t>
            </a:r>
            <a:r>
              <a:rPr b="1" lang="en-US" sz="1800"/>
              <a:t>Tj</a:t>
            </a:r>
            <a:r>
              <a:rPr lang="en-US" sz="1800"/>
              <a:t> executes a </a:t>
            </a:r>
            <a:r>
              <a:rPr b="1" lang="en-US" sz="1800"/>
              <a:t>write_item(X)</a:t>
            </a:r>
            <a:r>
              <a:rPr lang="en-US" sz="1800"/>
              <a:t> after </a:t>
            </a:r>
            <a:r>
              <a:rPr b="1" lang="en-US" sz="1800"/>
              <a:t>Ti</a:t>
            </a:r>
            <a:r>
              <a:rPr lang="en-US" sz="1800"/>
              <a:t> executes a </a:t>
            </a:r>
            <a:r>
              <a:rPr b="1" lang="en-US" sz="1800"/>
              <a:t>read_itern (X)</a:t>
            </a:r>
            <a:r>
              <a:rPr lang="en-US" sz="1800"/>
              <a:t> ,create an edge (</a:t>
            </a:r>
            <a:r>
              <a:rPr b="1" lang="en-US" sz="1800"/>
              <a:t>Ti</a:t>
            </a:r>
            <a:r>
              <a:rPr lang="en-US" sz="1800">
                <a:latin typeface="Noto Sans Symbols"/>
                <a:ea typeface="Noto Sans Symbols"/>
                <a:cs typeface="Noto Sans Symbols"/>
                <a:sym typeface="Noto Sans Symbols"/>
              </a:rPr>
              <a:t>🡪</a:t>
            </a:r>
            <a:r>
              <a:rPr b="1" lang="en-US" sz="1800"/>
              <a:t>Tj</a:t>
            </a:r>
            <a:r>
              <a:rPr lang="en-US" sz="1800"/>
              <a:t>) in the precedence graph.</a:t>
            </a:r>
            <a:endParaRPr/>
          </a:p>
          <a:p>
            <a:pPr indent="-381000" lvl="0" marL="381000" rtl="0" algn="l">
              <a:spcBef>
                <a:spcPts val="400"/>
              </a:spcBef>
              <a:spcAft>
                <a:spcPts val="0"/>
              </a:spcAft>
              <a:buSzPts val="1800"/>
              <a:buFont typeface="Verdana"/>
              <a:buAutoNum type="arabicPeriod"/>
            </a:pPr>
            <a:r>
              <a:rPr lang="en-US" sz="1800"/>
              <a:t>For each case in S where </a:t>
            </a:r>
            <a:r>
              <a:rPr b="1" lang="en-US" sz="1800"/>
              <a:t>Tj</a:t>
            </a:r>
            <a:r>
              <a:rPr lang="en-US" sz="1800"/>
              <a:t> executes a </a:t>
            </a:r>
            <a:r>
              <a:rPr b="1" lang="en-US" sz="1800"/>
              <a:t>write_item(X)</a:t>
            </a:r>
            <a:r>
              <a:rPr lang="en-US" sz="1800"/>
              <a:t> after </a:t>
            </a:r>
            <a:r>
              <a:rPr b="1" lang="en-US" sz="1800"/>
              <a:t>Ti</a:t>
            </a:r>
            <a:r>
              <a:rPr lang="en-US" sz="1800"/>
              <a:t> executes a </a:t>
            </a:r>
            <a:r>
              <a:rPr b="1" lang="en-US" sz="1800"/>
              <a:t>write_item(X)</a:t>
            </a:r>
            <a:r>
              <a:rPr lang="en-US" sz="1800"/>
              <a:t>, create an edge (</a:t>
            </a:r>
            <a:r>
              <a:rPr b="1" lang="en-US" sz="1800"/>
              <a:t>Ti</a:t>
            </a:r>
            <a:r>
              <a:rPr lang="en-US" sz="1800">
                <a:latin typeface="Noto Sans Symbols"/>
                <a:ea typeface="Noto Sans Symbols"/>
                <a:cs typeface="Noto Sans Symbols"/>
                <a:sym typeface="Noto Sans Symbols"/>
              </a:rPr>
              <a:t>🡪</a:t>
            </a:r>
            <a:r>
              <a:rPr b="1" lang="en-US" sz="1800"/>
              <a:t>Tj</a:t>
            </a:r>
            <a:r>
              <a:rPr lang="en-US" sz="1800"/>
              <a:t>) in the precedence graph.</a:t>
            </a:r>
            <a:endParaRPr/>
          </a:p>
          <a:p>
            <a:pPr indent="-381000" lvl="0" marL="381000" rtl="0" algn="l">
              <a:spcBef>
                <a:spcPts val="400"/>
              </a:spcBef>
              <a:spcAft>
                <a:spcPts val="0"/>
              </a:spcAft>
              <a:buSzPts val="1800"/>
              <a:buFont typeface="Verdana"/>
              <a:buAutoNum type="arabicPeriod"/>
            </a:pPr>
            <a:r>
              <a:rPr lang="en-US" sz="1800"/>
              <a:t>The schedule S is </a:t>
            </a:r>
            <a:r>
              <a:rPr b="1" lang="en-US" sz="1800"/>
              <a:t>serializable</a:t>
            </a:r>
            <a:r>
              <a:rPr lang="en-US" sz="1800"/>
              <a:t> if and only if the precedence graph has </a:t>
            </a:r>
            <a:r>
              <a:rPr b="1" lang="en-US" sz="1800"/>
              <a:t>no cycles</a:t>
            </a:r>
            <a:r>
              <a:rPr lang="en-US" sz="1800"/>
              <a:t>. </a:t>
            </a:r>
            <a:endParaRPr/>
          </a:p>
        </p:txBody>
      </p:sp>
      <p:sp>
        <p:nvSpPr>
          <p:cNvPr descr="Date Placeholder 3" id="1869" name="Google Shape;1869;p13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70" name="Google Shape;1870;p13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descr="Title 1" id="1875" name="Google Shape;1875;p13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a:t>
            </a:r>
            <a:endParaRPr/>
          </a:p>
        </p:txBody>
      </p:sp>
      <p:sp>
        <p:nvSpPr>
          <p:cNvPr descr="Content Placeholder 2" id="1876" name="Google Shape;1876;p13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Construct precedence graph for the following schedule</a:t>
            </a:r>
            <a:endParaRPr/>
          </a:p>
        </p:txBody>
      </p:sp>
      <p:sp>
        <p:nvSpPr>
          <p:cNvPr descr="Date Placeholder 3" id="1877" name="Google Shape;1877;p13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78" name="Google Shape;1878;p13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879" name="Google Shape;1879;p132"/>
          <p:cNvGraphicFramePr/>
          <p:nvPr/>
        </p:nvGraphicFramePr>
        <p:xfrm>
          <a:off x="900113" y="1925638"/>
          <a:ext cx="3000000" cy="3000000"/>
        </p:xfrm>
        <a:graphic>
          <a:graphicData uri="http://schemas.openxmlformats.org/drawingml/2006/table">
            <a:tbl>
              <a:tblPr>
                <a:noFill/>
                <a:tableStyleId>{DA31C186-C125-4E34-A739-053F885C22C1}</a:tableStyleId>
              </a:tblPr>
              <a:tblGrid>
                <a:gridCol w="1344600"/>
                <a:gridCol w="1344625"/>
                <a:gridCol w="13446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880" name="Google Shape;1880;p132"/>
          <p:cNvSpPr txBox="1"/>
          <p:nvPr/>
        </p:nvSpPr>
        <p:spPr>
          <a:xfrm>
            <a:off x="1016000" y="1555750"/>
            <a:ext cx="152876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descr="Title 1" id="1885" name="Google Shape;1885;p13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Solution</a:t>
            </a:r>
            <a:endParaRPr/>
          </a:p>
        </p:txBody>
      </p:sp>
      <p:sp>
        <p:nvSpPr>
          <p:cNvPr descr="Content Placeholder 2" id="1886" name="Google Shape;1886;p13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Construct precedence graph for the following schedule</a:t>
            </a:r>
            <a:endParaRPr/>
          </a:p>
        </p:txBody>
      </p:sp>
      <p:sp>
        <p:nvSpPr>
          <p:cNvPr descr="Date Placeholder 3" id="1887" name="Google Shape;1887;p13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888" name="Google Shape;1888;p13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1889" name="Google Shape;1889;p133"/>
          <p:cNvGraphicFramePr/>
          <p:nvPr/>
        </p:nvGraphicFramePr>
        <p:xfrm>
          <a:off x="900113" y="1925638"/>
          <a:ext cx="3000000" cy="3000000"/>
        </p:xfrm>
        <a:graphic>
          <a:graphicData uri="http://schemas.openxmlformats.org/drawingml/2006/table">
            <a:tbl>
              <a:tblPr>
                <a:noFill/>
                <a:tableStyleId>{DA31C186-C125-4E34-A739-053F885C22C1}</a:tableStyleId>
              </a:tblPr>
              <a:tblGrid>
                <a:gridCol w="1344600"/>
                <a:gridCol w="1344625"/>
                <a:gridCol w="13446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1890" name="Google Shape;1890;p133"/>
          <p:cNvSpPr txBox="1"/>
          <p:nvPr/>
        </p:nvSpPr>
        <p:spPr>
          <a:xfrm>
            <a:off x="1016000" y="1555750"/>
            <a:ext cx="152876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
        <p:nvSpPr>
          <p:cNvPr descr="TextBox 8" id="1891" name="Google Shape;1891;p133"/>
          <p:cNvSpPr txBox="1"/>
          <p:nvPr/>
        </p:nvSpPr>
        <p:spPr>
          <a:xfrm>
            <a:off x="296863" y="4367213"/>
            <a:ext cx="5761037"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 R3(A), R2(A),W3(A), R1(A), W1(A)</a:t>
            </a:r>
            <a:endParaRPr/>
          </a:p>
        </p:txBody>
      </p:sp>
      <p:grpSp>
        <p:nvGrpSpPr>
          <p:cNvPr id="1892" name="Google Shape;1892;p133"/>
          <p:cNvGrpSpPr/>
          <p:nvPr/>
        </p:nvGrpSpPr>
        <p:grpSpPr>
          <a:xfrm>
            <a:off x="6400800" y="4219576"/>
            <a:ext cx="2346325" cy="1927224"/>
            <a:chOff x="0" y="0"/>
            <a:chExt cx="2347472" cy="1927099"/>
          </a:xfrm>
        </p:grpSpPr>
        <p:grpSp>
          <p:nvGrpSpPr>
            <p:cNvPr id="1893" name="Google Shape;1893;p133"/>
            <p:cNvGrpSpPr/>
            <p:nvPr/>
          </p:nvGrpSpPr>
          <p:grpSpPr>
            <a:xfrm>
              <a:off x="1627390" y="81300"/>
              <a:ext cx="720082" cy="739366"/>
              <a:chOff x="0" y="0"/>
              <a:chExt cx="720081" cy="739366"/>
            </a:xfrm>
          </p:grpSpPr>
          <p:sp>
            <p:nvSpPr>
              <p:cNvPr id="1894" name="Google Shape;1894;p133"/>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895" name="Google Shape;1895;p133"/>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1896" name="Google Shape;1896;p133"/>
            <p:cNvGrpSpPr/>
            <p:nvPr/>
          </p:nvGrpSpPr>
          <p:grpSpPr>
            <a:xfrm>
              <a:off x="0" y="81300"/>
              <a:ext cx="720081" cy="739366"/>
              <a:chOff x="0" y="0"/>
              <a:chExt cx="720081" cy="739366"/>
            </a:xfrm>
          </p:grpSpPr>
          <p:sp>
            <p:nvSpPr>
              <p:cNvPr id="1897" name="Google Shape;1897;p133"/>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898" name="Google Shape;1898;p133"/>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1899" name="Google Shape;1899;p133"/>
            <p:cNvGrpSpPr/>
            <p:nvPr/>
          </p:nvGrpSpPr>
          <p:grpSpPr>
            <a:xfrm>
              <a:off x="900792" y="1187733"/>
              <a:ext cx="720082" cy="739366"/>
              <a:chOff x="0" y="0"/>
              <a:chExt cx="720081" cy="739366"/>
            </a:xfrm>
          </p:grpSpPr>
          <p:sp>
            <p:nvSpPr>
              <p:cNvPr id="1900" name="Google Shape;1900;p133"/>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01" name="Google Shape;1901;p133"/>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1902" name="Google Shape;1902;p133"/>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1903" name="Google Shape;1903;p133"/>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1904" name="Google Shape;1904;p133"/>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1905" name="Google Shape;1905;p133"/>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1906" name="Google Shape;1906;p133"/>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1907" name="Google Shape;1907;p133"/>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descr="Title 1" id="1912" name="Google Shape;1912;p13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t/>
            </a:r>
            <a:endParaRPr/>
          </a:p>
        </p:txBody>
      </p:sp>
      <p:sp>
        <p:nvSpPr>
          <p:cNvPr descr="Content Placeholder 2" id="1913" name="Google Shape;1913;p13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000"/>
              <a:buFont typeface="Verdana"/>
              <a:buChar char="□"/>
            </a:pPr>
            <a:r>
              <a:rPr lang="en-US" sz="1000"/>
              <a:t>If there is no cycle in the precedence graph, it means we can construct a serial schedule S’ which is conflict equivalent to schedule S.</a:t>
            </a:r>
            <a:br>
              <a:rPr lang="en-US" sz="1000"/>
            </a:br>
            <a:r>
              <a:rPr lang="en-US" sz="1000"/>
              <a:t>The serial schedule S’ can be found by </a:t>
            </a:r>
            <a:r>
              <a:rPr lang="en-US" sz="1000" u="sng">
                <a:solidFill>
                  <a:srgbClr val="336699"/>
                </a:solidFill>
                <a:hlinkClick r:id="rId3">
                  <a:extLst>
                    <a:ext uri="{A12FA001-AC4F-418D-AE19-62706E023703}">
                      <ahyp:hlinkClr val="tx"/>
                    </a:ext>
                  </a:extLst>
                </a:hlinkClick>
              </a:rPr>
              <a:t>Topological Sorting</a:t>
            </a:r>
            <a:r>
              <a:rPr lang="en-US" sz="1000"/>
              <a:t> of the acyclic precedence graph. Such schedules can be more than 1</a:t>
            </a:r>
            <a:endParaRPr/>
          </a:p>
          <a:p>
            <a:pPr indent="-469900" lvl="0" marL="469900" rtl="0" algn="l">
              <a:spcBef>
                <a:spcPts val="200"/>
              </a:spcBef>
              <a:spcAft>
                <a:spcPts val="0"/>
              </a:spcAft>
              <a:buSzPts val="1000"/>
              <a:buFont typeface="Verdana"/>
              <a:buChar char="□"/>
            </a:pPr>
            <a:r>
              <a:rPr lang="en-US" sz="1000"/>
              <a:t>The serial schedule of the Conflict Serializable Schedule can be found by applying topological Sorting on the Precedence Graph of the Conflict Serializable Schedule. Note: Precedence Graph of Conflict Serial Schedule is always directed acyclic graph.</a:t>
            </a:r>
            <a:endParaRPr/>
          </a:p>
          <a:p>
            <a:pPr indent="-469900" lvl="0" marL="469900" rtl="0" algn="l">
              <a:spcBef>
                <a:spcPts val="200"/>
              </a:spcBef>
              <a:spcAft>
                <a:spcPts val="0"/>
              </a:spcAft>
              <a:buSzPts val="1000"/>
              <a:buFont typeface="Verdana"/>
              <a:buChar char="□"/>
            </a:pPr>
            <a:r>
              <a:rPr b="1" lang="en-US" sz="1000"/>
              <a:t>Approach:</a:t>
            </a:r>
            <a:r>
              <a:rPr lang="en-US" sz="1000"/>
              <a:t> Follow to below steps to find topological sorting of Precedence Graph:</a:t>
            </a:r>
            <a:endParaRPr/>
          </a:p>
          <a:p>
            <a:pPr indent="-469900" lvl="0" marL="469900" rtl="0" algn="l">
              <a:spcBef>
                <a:spcPts val="400"/>
              </a:spcBef>
              <a:spcAft>
                <a:spcPts val="0"/>
              </a:spcAft>
              <a:buSzPts val="1800"/>
              <a:buFont typeface="Verdana"/>
              <a:buChar char="□"/>
            </a:pPr>
            <a:r>
              <a:rPr lang="en-US" sz="1800" u="sng">
                <a:solidFill>
                  <a:srgbClr val="336699"/>
                </a:solidFill>
                <a:hlinkClick r:id="rId4">
                  <a:extLst>
                    <a:ext uri="{A12FA001-AC4F-418D-AE19-62706E023703}">
                      <ahyp:hlinkClr val="tx"/>
                    </a:ext>
                  </a:extLst>
                </a:hlinkClick>
              </a:rPr>
              <a:t>Find the indegree of all nodes</a:t>
            </a:r>
            <a:r>
              <a:rPr lang="en-US" sz="1800"/>
              <a:t> for the given Precedence Graph and store it in an auxiliary array.</a:t>
            </a:r>
            <a:endParaRPr/>
          </a:p>
          <a:p>
            <a:pPr indent="-469900" lvl="0" marL="469900" rtl="0" algn="l">
              <a:spcBef>
                <a:spcPts val="400"/>
              </a:spcBef>
              <a:spcAft>
                <a:spcPts val="0"/>
              </a:spcAft>
              <a:buSzPts val="1800"/>
              <a:buFont typeface="Verdana"/>
              <a:buChar char="□"/>
            </a:pPr>
            <a:r>
              <a:rPr lang="en-US" sz="1800"/>
              <a:t>Now For each node having </a:t>
            </a:r>
            <a:r>
              <a:rPr b="1" lang="en-US" sz="1800"/>
              <a:t>indegree</a:t>
            </a:r>
            <a:r>
              <a:rPr lang="en-US" sz="1800"/>
              <a:t> </a:t>
            </a:r>
            <a:r>
              <a:rPr b="1" lang="en-US" sz="1800"/>
              <a:t>0</a:t>
            </a:r>
            <a:r>
              <a:rPr lang="en-US" sz="1800"/>
              <a:t> perform the following:</a:t>
            </a:r>
            <a:endParaRPr/>
          </a:p>
          <a:p>
            <a:pPr indent="-438150" lvl="1" marL="908050" rtl="0" algn="l">
              <a:spcBef>
                <a:spcPts val="300"/>
              </a:spcBef>
              <a:spcAft>
                <a:spcPts val="0"/>
              </a:spcAft>
              <a:buSzPts val="1600"/>
              <a:buFont typeface="Verdana"/>
              <a:buChar char="■"/>
            </a:pPr>
            <a:r>
              <a:rPr lang="en-US" sz="1600"/>
              <a:t>Print the current node </a:t>
            </a:r>
            <a:r>
              <a:rPr b="1" lang="en-US" sz="1600"/>
              <a:t>T</a:t>
            </a:r>
            <a:r>
              <a:rPr lang="en-US" sz="1600"/>
              <a:t> as the order of the topological sort.</a:t>
            </a:r>
            <a:endParaRPr sz="2600"/>
          </a:p>
          <a:p>
            <a:pPr indent="-438150" lvl="1" marL="908050" rtl="0" algn="l">
              <a:spcBef>
                <a:spcPts val="300"/>
              </a:spcBef>
              <a:spcAft>
                <a:spcPts val="0"/>
              </a:spcAft>
              <a:buSzPts val="1600"/>
              <a:buFont typeface="Verdana"/>
              <a:buChar char="■"/>
            </a:pPr>
            <a:r>
              <a:rPr lang="en-US" sz="1600"/>
              <a:t>Let the node </a:t>
            </a:r>
            <a:r>
              <a:rPr b="1" lang="en-US" sz="1600"/>
              <a:t>T</a:t>
            </a:r>
            <a:r>
              <a:rPr lang="en-US" sz="1600"/>
              <a:t> be the node with in-degree </a:t>
            </a:r>
            <a:r>
              <a:rPr b="1" lang="en-US" sz="1600"/>
              <a:t>0</a:t>
            </a:r>
            <a:r>
              <a:rPr lang="en-US" sz="1600"/>
              <a:t>.</a:t>
            </a:r>
            <a:endParaRPr sz="2600"/>
          </a:p>
          <a:p>
            <a:pPr indent="-438150" lvl="1" marL="908050" rtl="0" algn="l">
              <a:spcBef>
                <a:spcPts val="300"/>
              </a:spcBef>
              <a:spcAft>
                <a:spcPts val="0"/>
              </a:spcAft>
              <a:buSzPts val="1600"/>
              <a:buFont typeface="Verdana"/>
              <a:buChar char="■"/>
            </a:pPr>
            <a:r>
              <a:rPr lang="en-US" sz="1600"/>
              <a:t>Remove </a:t>
            </a:r>
            <a:r>
              <a:rPr b="1" lang="en-US" sz="1600"/>
              <a:t>T</a:t>
            </a:r>
            <a:r>
              <a:rPr lang="en-US" sz="1600"/>
              <a:t> and all edges connecting to </a:t>
            </a:r>
            <a:r>
              <a:rPr b="1" lang="en-US" sz="1600"/>
              <a:t>T</a:t>
            </a:r>
            <a:r>
              <a:rPr lang="en-US" sz="1600"/>
              <a:t> from the graph.</a:t>
            </a:r>
            <a:endParaRPr sz="2600"/>
          </a:p>
          <a:p>
            <a:pPr indent="-438150" lvl="1" marL="908050" rtl="0" algn="l">
              <a:spcBef>
                <a:spcPts val="300"/>
              </a:spcBef>
              <a:spcAft>
                <a:spcPts val="0"/>
              </a:spcAft>
              <a:buSzPts val="1600"/>
              <a:buFont typeface="Verdana"/>
              <a:buChar char="■"/>
            </a:pPr>
            <a:r>
              <a:rPr lang="en-US" sz="1600"/>
              <a:t>Update indegree of all nodes after the above steps.</a:t>
            </a:r>
            <a:endParaRPr sz="2600"/>
          </a:p>
          <a:p>
            <a:pPr indent="-469900" lvl="0" marL="469900" rtl="0" algn="l">
              <a:spcBef>
                <a:spcPts val="400"/>
              </a:spcBef>
              <a:spcAft>
                <a:spcPts val="0"/>
              </a:spcAft>
              <a:buSzPts val="1800"/>
              <a:buFont typeface="Verdana"/>
              <a:buChar char="□"/>
            </a:pPr>
            <a:r>
              <a:rPr lang="en-US" sz="1800"/>
              <a:t>After the above steps, the topological sort of the given precedence graph can be calculated.</a:t>
            </a:r>
            <a:endParaRPr/>
          </a:p>
        </p:txBody>
      </p:sp>
      <p:sp>
        <p:nvSpPr>
          <p:cNvPr descr="Date Placeholder 3" id="1914" name="Google Shape;1914;p13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15" name="Google Shape;1915;p13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descr="Title 1" id="1920" name="Google Shape;1920;p13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a:t>
            </a:r>
            <a:endParaRPr/>
          </a:p>
        </p:txBody>
      </p:sp>
      <p:sp>
        <p:nvSpPr>
          <p:cNvPr descr="Content Placeholder 2" id="1921" name="Google Shape;1921;p13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800"/>
              <a:buFont typeface="Verdana"/>
              <a:buChar char="□"/>
            </a:pPr>
            <a:r>
              <a:rPr lang="en-US" sz="1800"/>
              <a:t>What is the Equivalent serial schedule for non-serial schedule S1:R3(A), R2(A),W3(A), R1(A), W1(A)</a:t>
            </a:r>
            <a:endParaRPr/>
          </a:p>
        </p:txBody>
      </p:sp>
      <p:sp>
        <p:nvSpPr>
          <p:cNvPr descr="Date Placeholder 3" id="1922" name="Google Shape;1922;p13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23" name="Google Shape;1923;p13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sp>
        <p:nvSpPr>
          <p:cNvPr descr="Title 1" id="1928" name="Google Shape;1928;p13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1929" name="Google Shape;1929;p13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What is the Equivalent serial schedule for non-serial scheduleS1:R3(A), R2(A),W3(A), R1(A), W1(A)</a:t>
            </a:r>
            <a:endParaRPr/>
          </a:p>
        </p:txBody>
      </p:sp>
      <p:sp>
        <p:nvSpPr>
          <p:cNvPr descr="Date Placeholder 3" id="1930" name="Google Shape;1930;p13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31" name="Google Shape;1931;p13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1932" name="Google Shape;1932;p136"/>
          <p:cNvSpPr txBox="1"/>
          <p:nvPr/>
        </p:nvSpPr>
        <p:spPr>
          <a:xfrm>
            <a:off x="363538" y="1804988"/>
            <a:ext cx="5132387" cy="1298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Schedule S1: R3(A), R2(A),W3(A), R1(A), W1(A)</a:t>
            </a:r>
            <a:endParaRPr/>
          </a:p>
        </p:txBody>
      </p:sp>
      <p:grpSp>
        <p:nvGrpSpPr>
          <p:cNvPr id="1933" name="Google Shape;1933;p136"/>
          <p:cNvGrpSpPr/>
          <p:nvPr/>
        </p:nvGrpSpPr>
        <p:grpSpPr>
          <a:xfrm>
            <a:off x="5651500" y="1663701"/>
            <a:ext cx="2347913" cy="1927224"/>
            <a:chOff x="0" y="0"/>
            <a:chExt cx="2347472" cy="1927099"/>
          </a:xfrm>
        </p:grpSpPr>
        <p:grpSp>
          <p:nvGrpSpPr>
            <p:cNvPr id="1934" name="Google Shape;1934;p136"/>
            <p:cNvGrpSpPr/>
            <p:nvPr/>
          </p:nvGrpSpPr>
          <p:grpSpPr>
            <a:xfrm>
              <a:off x="1627390" y="81300"/>
              <a:ext cx="720082" cy="739366"/>
              <a:chOff x="0" y="0"/>
              <a:chExt cx="720081" cy="739366"/>
            </a:xfrm>
          </p:grpSpPr>
          <p:sp>
            <p:nvSpPr>
              <p:cNvPr id="1935" name="Google Shape;1935;p136"/>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36" name="Google Shape;1936;p136"/>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1937" name="Google Shape;1937;p136"/>
            <p:cNvGrpSpPr/>
            <p:nvPr/>
          </p:nvGrpSpPr>
          <p:grpSpPr>
            <a:xfrm>
              <a:off x="0" y="81300"/>
              <a:ext cx="720081" cy="739366"/>
              <a:chOff x="0" y="0"/>
              <a:chExt cx="720081" cy="739366"/>
            </a:xfrm>
          </p:grpSpPr>
          <p:sp>
            <p:nvSpPr>
              <p:cNvPr id="1938" name="Google Shape;1938;p136"/>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39" name="Google Shape;1939;p136"/>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1940" name="Google Shape;1940;p136"/>
            <p:cNvGrpSpPr/>
            <p:nvPr/>
          </p:nvGrpSpPr>
          <p:grpSpPr>
            <a:xfrm>
              <a:off x="900792" y="1187733"/>
              <a:ext cx="720082" cy="739366"/>
              <a:chOff x="0" y="0"/>
              <a:chExt cx="720081" cy="739366"/>
            </a:xfrm>
          </p:grpSpPr>
          <p:sp>
            <p:nvSpPr>
              <p:cNvPr id="1941" name="Google Shape;1941;p136"/>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42" name="Google Shape;1942;p136"/>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1943" name="Google Shape;1943;p136"/>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1944" name="Google Shape;1944;p136"/>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1945" name="Google Shape;1945;p136"/>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1946" name="Google Shape;1946;p136"/>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1947" name="Google Shape;1947;p136"/>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1948" name="Google Shape;1948;p136"/>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descr="Title 1" id="1953" name="Google Shape;1953;p13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1954" name="Google Shape;1954;p13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What is the Equivalent serial schedule for non-serial scheduleS1:R3(A), R2(A),W3(A), R1(A), W1(A)</a:t>
            </a:r>
            <a:endParaRPr/>
          </a:p>
        </p:txBody>
      </p:sp>
      <p:sp>
        <p:nvSpPr>
          <p:cNvPr descr="Date Placeholder 3" id="1955" name="Google Shape;1955;p13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56" name="Google Shape;1956;p13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1957" name="Google Shape;1957;p137"/>
          <p:cNvSpPr txBox="1"/>
          <p:nvPr/>
        </p:nvSpPr>
        <p:spPr>
          <a:xfrm>
            <a:off x="363538" y="1804988"/>
            <a:ext cx="5132387" cy="1298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Schedule S1: R3(A), R2(A),W3(A), R1(A), W1(A)</a:t>
            </a:r>
            <a:endParaRPr/>
          </a:p>
        </p:txBody>
      </p:sp>
      <p:grpSp>
        <p:nvGrpSpPr>
          <p:cNvPr id="1958" name="Google Shape;1958;p137"/>
          <p:cNvGrpSpPr/>
          <p:nvPr/>
        </p:nvGrpSpPr>
        <p:grpSpPr>
          <a:xfrm>
            <a:off x="5651500" y="1484314"/>
            <a:ext cx="2347913" cy="1927224"/>
            <a:chOff x="0" y="0"/>
            <a:chExt cx="2347472" cy="1927099"/>
          </a:xfrm>
        </p:grpSpPr>
        <p:grpSp>
          <p:nvGrpSpPr>
            <p:cNvPr id="1959" name="Google Shape;1959;p137"/>
            <p:cNvGrpSpPr/>
            <p:nvPr/>
          </p:nvGrpSpPr>
          <p:grpSpPr>
            <a:xfrm>
              <a:off x="1627390" y="81300"/>
              <a:ext cx="720082" cy="739366"/>
              <a:chOff x="0" y="0"/>
              <a:chExt cx="720081" cy="739366"/>
            </a:xfrm>
          </p:grpSpPr>
          <p:sp>
            <p:nvSpPr>
              <p:cNvPr id="1960" name="Google Shape;1960;p137"/>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61" name="Google Shape;1961;p137"/>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1962" name="Google Shape;1962;p137"/>
            <p:cNvGrpSpPr/>
            <p:nvPr/>
          </p:nvGrpSpPr>
          <p:grpSpPr>
            <a:xfrm>
              <a:off x="0" y="81300"/>
              <a:ext cx="720081" cy="739366"/>
              <a:chOff x="0" y="0"/>
              <a:chExt cx="720081" cy="739366"/>
            </a:xfrm>
          </p:grpSpPr>
          <p:sp>
            <p:nvSpPr>
              <p:cNvPr id="1963" name="Google Shape;1963;p137"/>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64" name="Google Shape;1964;p137"/>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1965" name="Google Shape;1965;p137"/>
            <p:cNvGrpSpPr/>
            <p:nvPr/>
          </p:nvGrpSpPr>
          <p:grpSpPr>
            <a:xfrm>
              <a:off x="900792" y="1187733"/>
              <a:ext cx="720082" cy="739366"/>
              <a:chOff x="0" y="0"/>
              <a:chExt cx="720081" cy="739366"/>
            </a:xfrm>
          </p:grpSpPr>
          <p:sp>
            <p:nvSpPr>
              <p:cNvPr id="1966" name="Google Shape;1966;p137"/>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67" name="Google Shape;1967;p137"/>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1968" name="Google Shape;1968;p137"/>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1969" name="Google Shape;1969;p137"/>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1970" name="Google Shape;1970;p137"/>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1971" name="Google Shape;1971;p137"/>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1972" name="Google Shape;1972;p137"/>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1973" name="Google Shape;1973;p137"/>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
        <p:nvSpPr>
          <p:cNvPr descr="Right Arrow 12" id="1974" name="Google Shape;1974;p137"/>
          <p:cNvSpPr/>
          <p:nvPr/>
        </p:nvSpPr>
        <p:spPr>
          <a:xfrm>
            <a:off x="2411413" y="4421188"/>
            <a:ext cx="503237" cy="338137"/>
          </a:xfrm>
          <a:prstGeom prst="rightArrow">
            <a:avLst>
              <a:gd fmla="val 50000" name="adj1"/>
              <a:gd fmla="val 50112"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8" id="1975" name="Google Shape;1975;p137"/>
          <p:cNvSpPr txBox="1"/>
          <p:nvPr/>
        </p:nvSpPr>
        <p:spPr>
          <a:xfrm>
            <a:off x="492125" y="5300663"/>
            <a:ext cx="1885950" cy="7381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Consider first T2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indegree is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zero</a:t>
            </a:r>
            <a:endParaRPr/>
          </a:p>
        </p:txBody>
      </p:sp>
      <p:pic>
        <p:nvPicPr>
          <p:cNvPr descr="Picture 4" id="1976" name="Google Shape;1976;p137"/>
          <p:cNvPicPr preferRelativeResize="0"/>
          <p:nvPr/>
        </p:nvPicPr>
        <p:blipFill rotWithShape="1">
          <a:blip r:embed="rId3">
            <a:alphaModFix/>
          </a:blip>
          <a:srcRect b="0" l="0" r="0" t="0"/>
          <a:stretch/>
        </p:blipFill>
        <p:spPr>
          <a:xfrm>
            <a:off x="471488" y="3849688"/>
            <a:ext cx="1960562" cy="1500187"/>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0" name="Shape 1980"/>
        <p:cNvGrpSpPr/>
        <p:nvPr/>
      </p:nvGrpSpPr>
      <p:grpSpPr>
        <a:xfrm>
          <a:off x="0" y="0"/>
          <a:ext cx="0" cy="0"/>
          <a:chOff x="0" y="0"/>
          <a:chExt cx="0" cy="0"/>
        </a:xfrm>
      </p:grpSpPr>
      <p:sp>
        <p:nvSpPr>
          <p:cNvPr descr="Title 1" id="1981" name="Google Shape;1981;p13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1982" name="Google Shape;1982;p13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What is the Equivalent serial schedule for non-serial scheduleS1:R3(A), R2(A),W3(A), R1(A), W1(A)</a:t>
            </a:r>
            <a:endParaRPr/>
          </a:p>
        </p:txBody>
      </p:sp>
      <p:sp>
        <p:nvSpPr>
          <p:cNvPr descr="Date Placeholder 3" id="1983" name="Google Shape;1983;p13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1984" name="Google Shape;1984;p13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1985" name="Google Shape;1985;p138"/>
          <p:cNvSpPr txBox="1"/>
          <p:nvPr/>
        </p:nvSpPr>
        <p:spPr>
          <a:xfrm>
            <a:off x="363538" y="1804988"/>
            <a:ext cx="5132387" cy="1298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Schedule S1: R3(A), R2(A),W3(A), R1(A), W1(A)</a:t>
            </a:r>
            <a:endParaRPr/>
          </a:p>
        </p:txBody>
      </p:sp>
      <p:grpSp>
        <p:nvGrpSpPr>
          <p:cNvPr id="1986" name="Google Shape;1986;p138"/>
          <p:cNvGrpSpPr/>
          <p:nvPr/>
        </p:nvGrpSpPr>
        <p:grpSpPr>
          <a:xfrm>
            <a:off x="5651500" y="1484314"/>
            <a:ext cx="2347913" cy="1927224"/>
            <a:chOff x="0" y="0"/>
            <a:chExt cx="2347472" cy="1927099"/>
          </a:xfrm>
        </p:grpSpPr>
        <p:grpSp>
          <p:nvGrpSpPr>
            <p:cNvPr id="1987" name="Google Shape;1987;p138"/>
            <p:cNvGrpSpPr/>
            <p:nvPr/>
          </p:nvGrpSpPr>
          <p:grpSpPr>
            <a:xfrm>
              <a:off x="1627390" y="81300"/>
              <a:ext cx="720082" cy="739366"/>
              <a:chOff x="0" y="0"/>
              <a:chExt cx="720081" cy="739366"/>
            </a:xfrm>
          </p:grpSpPr>
          <p:sp>
            <p:nvSpPr>
              <p:cNvPr id="1988" name="Google Shape;1988;p138"/>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89" name="Google Shape;1989;p138"/>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1990" name="Google Shape;1990;p138"/>
            <p:cNvGrpSpPr/>
            <p:nvPr/>
          </p:nvGrpSpPr>
          <p:grpSpPr>
            <a:xfrm>
              <a:off x="0" y="81300"/>
              <a:ext cx="720081" cy="739366"/>
              <a:chOff x="0" y="0"/>
              <a:chExt cx="720081" cy="739366"/>
            </a:xfrm>
          </p:grpSpPr>
          <p:sp>
            <p:nvSpPr>
              <p:cNvPr id="1991" name="Google Shape;1991;p138"/>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92" name="Google Shape;1992;p138"/>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1993" name="Google Shape;1993;p138"/>
            <p:cNvGrpSpPr/>
            <p:nvPr/>
          </p:nvGrpSpPr>
          <p:grpSpPr>
            <a:xfrm>
              <a:off x="900792" y="1187733"/>
              <a:ext cx="720082" cy="739366"/>
              <a:chOff x="0" y="0"/>
              <a:chExt cx="720081" cy="739366"/>
            </a:xfrm>
          </p:grpSpPr>
          <p:sp>
            <p:nvSpPr>
              <p:cNvPr id="1994" name="Google Shape;1994;p138"/>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1995" name="Google Shape;1995;p138"/>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1996" name="Google Shape;1996;p138"/>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1997" name="Google Shape;1997;p138"/>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1998" name="Google Shape;1998;p138"/>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1999" name="Google Shape;1999;p138"/>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2000" name="Google Shape;2000;p138"/>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2001" name="Google Shape;2001;p138"/>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
        <p:nvSpPr>
          <p:cNvPr descr="Right Arrow 12" id="2002" name="Google Shape;2002;p138"/>
          <p:cNvSpPr/>
          <p:nvPr/>
        </p:nvSpPr>
        <p:spPr>
          <a:xfrm>
            <a:off x="2411413" y="4421188"/>
            <a:ext cx="503237" cy="338137"/>
          </a:xfrm>
          <a:prstGeom prst="rightArrow">
            <a:avLst>
              <a:gd fmla="val 50000" name="adj1"/>
              <a:gd fmla="val 50112"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2003" name="Google Shape;2003;p138"/>
          <p:cNvSpPr txBox="1"/>
          <p:nvPr/>
        </p:nvSpPr>
        <p:spPr>
          <a:xfrm>
            <a:off x="2914650" y="4403725"/>
            <a:ext cx="365125" cy="338138"/>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a:t>
            </a:r>
            <a:endParaRPr/>
          </a:p>
        </p:txBody>
      </p:sp>
      <p:sp>
        <p:nvSpPr>
          <p:cNvPr descr="TextBox 18" id="2004" name="Google Shape;2004;p138"/>
          <p:cNvSpPr txBox="1"/>
          <p:nvPr/>
        </p:nvSpPr>
        <p:spPr>
          <a:xfrm>
            <a:off x="492125" y="5300663"/>
            <a:ext cx="1885950" cy="7381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Consider first T2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indegree is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zero</a:t>
            </a:r>
            <a:endParaRPr/>
          </a:p>
        </p:txBody>
      </p:sp>
      <p:pic>
        <p:nvPicPr>
          <p:cNvPr descr="Picture 3" id="2005" name="Google Shape;2005;p138"/>
          <p:cNvPicPr preferRelativeResize="0"/>
          <p:nvPr/>
        </p:nvPicPr>
        <p:blipFill rotWithShape="1">
          <a:blip r:embed="rId3">
            <a:alphaModFix/>
          </a:blip>
          <a:srcRect b="0" l="0" r="0" t="0"/>
          <a:stretch/>
        </p:blipFill>
        <p:spPr>
          <a:xfrm>
            <a:off x="3408363" y="3849688"/>
            <a:ext cx="1846262" cy="1412875"/>
          </a:xfrm>
          <a:prstGeom prst="rect">
            <a:avLst/>
          </a:prstGeom>
          <a:noFill/>
          <a:ln>
            <a:noFill/>
          </a:ln>
        </p:spPr>
      </p:pic>
      <p:pic>
        <p:nvPicPr>
          <p:cNvPr descr="Picture 4" id="2006" name="Google Shape;2006;p138"/>
          <p:cNvPicPr preferRelativeResize="0"/>
          <p:nvPr/>
        </p:nvPicPr>
        <p:blipFill rotWithShape="1">
          <a:blip r:embed="rId4">
            <a:alphaModFix/>
          </a:blip>
          <a:srcRect b="0" l="0" r="0" t="0"/>
          <a:stretch/>
        </p:blipFill>
        <p:spPr>
          <a:xfrm>
            <a:off x="471488" y="3849688"/>
            <a:ext cx="1960562" cy="1500187"/>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descr="Title 1" id="2011" name="Google Shape;2011;p13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2012" name="Google Shape;2012;p13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What is the Equivalent serial schedule for non-serial scheduleS1:R3(A), R2(A),W3(A), R1(A), W1(A)</a:t>
            </a:r>
            <a:endParaRPr/>
          </a:p>
        </p:txBody>
      </p:sp>
      <p:sp>
        <p:nvSpPr>
          <p:cNvPr descr="Date Placeholder 3" id="2013" name="Google Shape;2013;p13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014" name="Google Shape;2014;p13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2015" name="Google Shape;2015;p139"/>
          <p:cNvSpPr txBox="1"/>
          <p:nvPr/>
        </p:nvSpPr>
        <p:spPr>
          <a:xfrm>
            <a:off x="363538" y="1804988"/>
            <a:ext cx="5132387" cy="1298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Schedule S1: R3(A), R2(A),W3(A), R1(A), W1(A)</a:t>
            </a:r>
            <a:endParaRPr/>
          </a:p>
        </p:txBody>
      </p:sp>
      <p:grpSp>
        <p:nvGrpSpPr>
          <p:cNvPr id="2016" name="Google Shape;2016;p139"/>
          <p:cNvGrpSpPr/>
          <p:nvPr/>
        </p:nvGrpSpPr>
        <p:grpSpPr>
          <a:xfrm>
            <a:off x="5651500" y="1484314"/>
            <a:ext cx="2347913" cy="1927224"/>
            <a:chOff x="0" y="0"/>
            <a:chExt cx="2347472" cy="1927099"/>
          </a:xfrm>
        </p:grpSpPr>
        <p:grpSp>
          <p:nvGrpSpPr>
            <p:cNvPr id="2017" name="Google Shape;2017;p139"/>
            <p:cNvGrpSpPr/>
            <p:nvPr/>
          </p:nvGrpSpPr>
          <p:grpSpPr>
            <a:xfrm>
              <a:off x="1627390" y="81300"/>
              <a:ext cx="720082" cy="739366"/>
              <a:chOff x="0" y="0"/>
              <a:chExt cx="720081" cy="739366"/>
            </a:xfrm>
          </p:grpSpPr>
          <p:sp>
            <p:nvSpPr>
              <p:cNvPr id="2018" name="Google Shape;2018;p139"/>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19" name="Google Shape;2019;p139"/>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2020" name="Google Shape;2020;p139"/>
            <p:cNvGrpSpPr/>
            <p:nvPr/>
          </p:nvGrpSpPr>
          <p:grpSpPr>
            <a:xfrm>
              <a:off x="0" y="81300"/>
              <a:ext cx="720081" cy="739366"/>
              <a:chOff x="0" y="0"/>
              <a:chExt cx="720081" cy="739366"/>
            </a:xfrm>
          </p:grpSpPr>
          <p:sp>
            <p:nvSpPr>
              <p:cNvPr id="2021" name="Google Shape;2021;p139"/>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22" name="Google Shape;2022;p139"/>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2023" name="Google Shape;2023;p139"/>
            <p:cNvGrpSpPr/>
            <p:nvPr/>
          </p:nvGrpSpPr>
          <p:grpSpPr>
            <a:xfrm>
              <a:off x="900792" y="1187733"/>
              <a:ext cx="720082" cy="739366"/>
              <a:chOff x="0" y="0"/>
              <a:chExt cx="720081" cy="739366"/>
            </a:xfrm>
          </p:grpSpPr>
          <p:sp>
            <p:nvSpPr>
              <p:cNvPr id="2024" name="Google Shape;2024;p139"/>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25" name="Google Shape;2025;p139"/>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2026" name="Google Shape;2026;p139"/>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2027" name="Google Shape;2027;p139"/>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2028" name="Google Shape;2028;p139"/>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2029" name="Google Shape;2029;p139"/>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2030" name="Google Shape;2030;p139"/>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2031" name="Google Shape;2031;p139"/>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
        <p:nvSpPr>
          <p:cNvPr descr="Right Arrow 12" id="2032" name="Google Shape;2032;p139"/>
          <p:cNvSpPr/>
          <p:nvPr/>
        </p:nvSpPr>
        <p:spPr>
          <a:xfrm>
            <a:off x="2411413" y="4421188"/>
            <a:ext cx="503237" cy="338137"/>
          </a:xfrm>
          <a:prstGeom prst="rightArrow">
            <a:avLst>
              <a:gd fmla="val 50000" name="adj1"/>
              <a:gd fmla="val 50112"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2033" name="Google Shape;2033;p139"/>
          <p:cNvSpPr txBox="1"/>
          <p:nvPr/>
        </p:nvSpPr>
        <p:spPr>
          <a:xfrm>
            <a:off x="2914650" y="4403725"/>
            <a:ext cx="365125" cy="338138"/>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a:t>
            </a:r>
            <a:endParaRPr/>
          </a:p>
        </p:txBody>
      </p:sp>
      <p:sp>
        <p:nvSpPr>
          <p:cNvPr descr="TextBox 18" id="2034" name="Google Shape;2034;p139"/>
          <p:cNvSpPr txBox="1"/>
          <p:nvPr/>
        </p:nvSpPr>
        <p:spPr>
          <a:xfrm>
            <a:off x="492125" y="5300663"/>
            <a:ext cx="1885950" cy="7381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Consider first T2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indegree is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zero</a:t>
            </a:r>
            <a:endParaRPr/>
          </a:p>
        </p:txBody>
      </p:sp>
      <p:sp>
        <p:nvSpPr>
          <p:cNvPr descr="Right Arrow 47" id="2035" name="Google Shape;2035;p139"/>
          <p:cNvSpPr/>
          <p:nvPr/>
        </p:nvSpPr>
        <p:spPr>
          <a:xfrm>
            <a:off x="5291138" y="4371975"/>
            <a:ext cx="504825" cy="339725"/>
          </a:xfrm>
          <a:prstGeom prst="rightArrow">
            <a:avLst>
              <a:gd fmla="val 50000" name="adj1"/>
              <a:gd fmla="val 50035"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48" id="2036" name="Google Shape;2036;p139"/>
          <p:cNvSpPr txBox="1"/>
          <p:nvPr/>
        </p:nvSpPr>
        <p:spPr>
          <a:xfrm>
            <a:off x="5795963" y="4354513"/>
            <a:ext cx="763587" cy="339725"/>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 T3</a:t>
            </a:r>
            <a:endParaRPr/>
          </a:p>
        </p:txBody>
      </p:sp>
      <p:pic>
        <p:nvPicPr>
          <p:cNvPr descr="Picture 2" id="2037" name="Google Shape;2037;p139"/>
          <p:cNvPicPr preferRelativeResize="0"/>
          <p:nvPr/>
        </p:nvPicPr>
        <p:blipFill rotWithShape="1">
          <a:blip r:embed="rId3">
            <a:alphaModFix/>
          </a:blip>
          <a:srcRect b="0" l="0" r="0" t="0"/>
          <a:stretch/>
        </p:blipFill>
        <p:spPr>
          <a:xfrm>
            <a:off x="6808788" y="3944938"/>
            <a:ext cx="1866900" cy="1427162"/>
          </a:xfrm>
          <a:prstGeom prst="rect">
            <a:avLst/>
          </a:prstGeom>
          <a:noFill/>
          <a:ln>
            <a:noFill/>
          </a:ln>
        </p:spPr>
      </p:pic>
      <p:pic>
        <p:nvPicPr>
          <p:cNvPr descr="Picture 3" id="2038" name="Google Shape;2038;p139"/>
          <p:cNvPicPr preferRelativeResize="0"/>
          <p:nvPr/>
        </p:nvPicPr>
        <p:blipFill rotWithShape="1">
          <a:blip r:embed="rId3">
            <a:alphaModFix/>
          </a:blip>
          <a:srcRect b="0" l="0" r="0" t="0"/>
          <a:stretch/>
        </p:blipFill>
        <p:spPr>
          <a:xfrm>
            <a:off x="3408363" y="3849688"/>
            <a:ext cx="1846262" cy="1412875"/>
          </a:xfrm>
          <a:prstGeom prst="rect">
            <a:avLst/>
          </a:prstGeom>
          <a:noFill/>
          <a:ln>
            <a:noFill/>
          </a:ln>
        </p:spPr>
      </p:pic>
      <p:pic>
        <p:nvPicPr>
          <p:cNvPr descr="Picture 4" id="2039" name="Google Shape;2039;p139"/>
          <p:cNvPicPr preferRelativeResize="0"/>
          <p:nvPr/>
        </p:nvPicPr>
        <p:blipFill rotWithShape="1">
          <a:blip r:embed="rId4">
            <a:alphaModFix/>
          </a:blip>
          <a:srcRect b="0" l="0" r="0" t="0"/>
          <a:stretch/>
        </p:blipFill>
        <p:spPr>
          <a:xfrm>
            <a:off x="471488" y="3849688"/>
            <a:ext cx="1960562" cy="1500187"/>
          </a:xfrm>
          <a:prstGeom prst="rect">
            <a:avLst/>
          </a:prstGeom>
          <a:noFill/>
          <a:ln>
            <a:noFill/>
          </a:ln>
        </p:spPr>
      </p:pic>
      <p:sp>
        <p:nvSpPr>
          <p:cNvPr descr="Down Arrow 62" id="2040" name="Google Shape;2040;p139"/>
          <p:cNvSpPr/>
          <p:nvPr/>
        </p:nvSpPr>
        <p:spPr>
          <a:xfrm>
            <a:off x="7639050" y="5372100"/>
            <a:ext cx="360363" cy="296863"/>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6" id="2041" name="Google Shape;2041;p139"/>
          <p:cNvSpPr txBox="1"/>
          <p:nvPr/>
        </p:nvSpPr>
        <p:spPr>
          <a:xfrm>
            <a:off x="7278688" y="5668963"/>
            <a:ext cx="1119187" cy="339725"/>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 T3, t1</a:t>
            </a:r>
            <a:endParaRPr/>
          </a:p>
        </p:txBody>
      </p:sp>
      <p:cxnSp>
        <p:nvCxnSpPr>
          <p:cNvPr descr="Straight Connector 64" id="2042" name="Google Shape;2042;p139"/>
          <p:cNvCxnSpPr/>
          <p:nvPr/>
        </p:nvCxnSpPr>
        <p:spPr>
          <a:xfrm flipH="1" rot="10800000">
            <a:off x="7278688" y="4711700"/>
            <a:ext cx="123825" cy="228600"/>
          </a:xfrm>
          <a:prstGeom prst="straightConnector1">
            <a:avLst/>
          </a:prstGeom>
          <a:noFill/>
          <a:ln cap="flat" cmpd="sng" w="28575">
            <a:solidFill>
              <a:srgbClr val="FF0000"/>
            </a:solidFill>
            <a:prstDash val="solid"/>
            <a:round/>
            <a:headEnd len="sm" w="sm" type="none"/>
            <a:tailEnd len="sm" w="sm" type="none"/>
          </a:ln>
        </p:spPr>
      </p:cxn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descr="Title 1" id="2047" name="Google Shape;2047;p14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Solution</a:t>
            </a:r>
            <a:endParaRPr/>
          </a:p>
        </p:txBody>
      </p:sp>
      <p:sp>
        <p:nvSpPr>
          <p:cNvPr descr="Content Placeholder 2" id="2048" name="Google Shape;2048;p14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What is the Equivalent serial schedule for non-serial schedule S1:R3(A), R2(A),W3(A), R1(A), W1(A)</a:t>
            </a:r>
            <a:endParaRPr/>
          </a:p>
        </p:txBody>
      </p:sp>
      <p:sp>
        <p:nvSpPr>
          <p:cNvPr descr="Date Placeholder 3" id="2049" name="Google Shape;2049;p14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050" name="Google Shape;2050;p14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8" id="2051" name="Google Shape;2051;p140"/>
          <p:cNvSpPr txBox="1"/>
          <p:nvPr/>
        </p:nvSpPr>
        <p:spPr>
          <a:xfrm>
            <a:off x="363538" y="1804988"/>
            <a:ext cx="5132387" cy="1298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T3 with operations Read(A), Write(A)</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Schedule S1: R3(A), R2(A),W3(A), R1(A), W1(A)</a:t>
            </a:r>
            <a:endParaRPr/>
          </a:p>
        </p:txBody>
      </p:sp>
      <p:grpSp>
        <p:nvGrpSpPr>
          <p:cNvPr id="2052" name="Google Shape;2052;p140"/>
          <p:cNvGrpSpPr/>
          <p:nvPr/>
        </p:nvGrpSpPr>
        <p:grpSpPr>
          <a:xfrm>
            <a:off x="5651500" y="1484314"/>
            <a:ext cx="2347913" cy="1927224"/>
            <a:chOff x="0" y="0"/>
            <a:chExt cx="2347472" cy="1927099"/>
          </a:xfrm>
        </p:grpSpPr>
        <p:grpSp>
          <p:nvGrpSpPr>
            <p:cNvPr id="2053" name="Google Shape;2053;p140"/>
            <p:cNvGrpSpPr/>
            <p:nvPr/>
          </p:nvGrpSpPr>
          <p:grpSpPr>
            <a:xfrm>
              <a:off x="1627390" y="81300"/>
              <a:ext cx="720082" cy="739366"/>
              <a:chOff x="0" y="0"/>
              <a:chExt cx="720081" cy="739366"/>
            </a:xfrm>
          </p:grpSpPr>
          <p:sp>
            <p:nvSpPr>
              <p:cNvPr id="2054" name="Google Shape;2054;p140"/>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55" name="Google Shape;2055;p140"/>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2056" name="Google Shape;2056;p140"/>
            <p:cNvGrpSpPr/>
            <p:nvPr/>
          </p:nvGrpSpPr>
          <p:grpSpPr>
            <a:xfrm>
              <a:off x="0" y="81300"/>
              <a:ext cx="720081" cy="739366"/>
              <a:chOff x="0" y="0"/>
              <a:chExt cx="720081" cy="739366"/>
            </a:xfrm>
          </p:grpSpPr>
          <p:sp>
            <p:nvSpPr>
              <p:cNvPr id="2057" name="Google Shape;2057;p140"/>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58" name="Google Shape;2058;p140"/>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2059" name="Google Shape;2059;p140"/>
            <p:cNvGrpSpPr/>
            <p:nvPr/>
          </p:nvGrpSpPr>
          <p:grpSpPr>
            <a:xfrm>
              <a:off x="900792" y="1187733"/>
              <a:ext cx="720082" cy="739366"/>
              <a:chOff x="0" y="0"/>
              <a:chExt cx="720081" cy="739366"/>
            </a:xfrm>
          </p:grpSpPr>
          <p:sp>
            <p:nvSpPr>
              <p:cNvPr id="2060" name="Google Shape;2060;p140"/>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061" name="Google Shape;2061;p140"/>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5" id="2062" name="Google Shape;2062;p140"/>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7" id="2063" name="Google Shape;2063;p140"/>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9" id="2064" name="Google Shape;2064;p140"/>
            <p:cNvCxnSpPr/>
            <p:nvPr/>
          </p:nvCxnSpPr>
          <p:spPr>
            <a:xfrm rot="10800000">
              <a:off x="360040" y="657364"/>
              <a:ext cx="540754" cy="818402"/>
            </a:xfrm>
            <a:prstGeom prst="straightConnector1">
              <a:avLst/>
            </a:prstGeom>
            <a:noFill/>
            <a:ln cap="flat" cmpd="sng" w="9525">
              <a:solidFill>
                <a:srgbClr val="000000"/>
              </a:solidFill>
              <a:prstDash val="solid"/>
              <a:round/>
              <a:headEnd len="sm" w="sm" type="none"/>
              <a:tailEnd len="med" w="med" type="triangle"/>
            </a:ln>
          </p:spPr>
        </p:cxnSp>
        <p:sp>
          <p:nvSpPr>
            <p:cNvPr descr="TextBox 20" id="2065" name="Google Shape;2065;p140"/>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1" id="2066" name="Google Shape;2066;p140"/>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22" id="2067" name="Google Shape;2067;p140"/>
            <p:cNvSpPr txBox="1"/>
            <p:nvPr/>
          </p:nvSpPr>
          <p:spPr>
            <a:xfrm>
              <a:off x="234880" y="1032954"/>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sp>
        <p:nvSpPr>
          <p:cNvPr descr="Right Arrow 12" id="2068" name="Google Shape;2068;p140"/>
          <p:cNvSpPr/>
          <p:nvPr/>
        </p:nvSpPr>
        <p:spPr>
          <a:xfrm>
            <a:off x="2411413" y="3998913"/>
            <a:ext cx="503237" cy="339725"/>
          </a:xfrm>
          <a:prstGeom prst="rightArrow">
            <a:avLst>
              <a:gd fmla="val 50000" name="adj1"/>
              <a:gd fmla="val 49878"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2069" name="Google Shape;2069;p140"/>
          <p:cNvSpPr txBox="1"/>
          <p:nvPr/>
        </p:nvSpPr>
        <p:spPr>
          <a:xfrm>
            <a:off x="2914650" y="3981450"/>
            <a:ext cx="365125" cy="339725"/>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a:t>
            </a:r>
            <a:endParaRPr/>
          </a:p>
        </p:txBody>
      </p:sp>
      <p:sp>
        <p:nvSpPr>
          <p:cNvPr descr="TextBox 18" id="2070" name="Google Shape;2070;p140"/>
          <p:cNvSpPr txBox="1"/>
          <p:nvPr/>
        </p:nvSpPr>
        <p:spPr>
          <a:xfrm>
            <a:off x="492125" y="4878388"/>
            <a:ext cx="1885950"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Consider first T2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indegree is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zero</a:t>
            </a:r>
            <a:endParaRPr/>
          </a:p>
        </p:txBody>
      </p:sp>
      <p:sp>
        <p:nvSpPr>
          <p:cNvPr descr="Right Arrow 47" id="2071" name="Google Shape;2071;p140"/>
          <p:cNvSpPr/>
          <p:nvPr/>
        </p:nvSpPr>
        <p:spPr>
          <a:xfrm>
            <a:off x="5291138" y="3951288"/>
            <a:ext cx="504825" cy="338137"/>
          </a:xfrm>
          <a:prstGeom prst="rightArrow">
            <a:avLst>
              <a:gd fmla="val 50000" name="adj1"/>
              <a:gd fmla="val 50270"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48" id="2072" name="Google Shape;2072;p140"/>
          <p:cNvSpPr txBox="1"/>
          <p:nvPr/>
        </p:nvSpPr>
        <p:spPr>
          <a:xfrm>
            <a:off x="5795963" y="3933825"/>
            <a:ext cx="763587" cy="338138"/>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 T3</a:t>
            </a:r>
            <a:endParaRPr/>
          </a:p>
        </p:txBody>
      </p:sp>
      <p:pic>
        <p:nvPicPr>
          <p:cNvPr descr="Picture 2" id="2073" name="Google Shape;2073;p140"/>
          <p:cNvPicPr preferRelativeResize="0"/>
          <p:nvPr/>
        </p:nvPicPr>
        <p:blipFill rotWithShape="1">
          <a:blip r:embed="rId3">
            <a:alphaModFix/>
          </a:blip>
          <a:srcRect b="0" l="0" r="0" t="0"/>
          <a:stretch/>
        </p:blipFill>
        <p:spPr>
          <a:xfrm>
            <a:off x="6808788" y="3522663"/>
            <a:ext cx="1866900" cy="1428750"/>
          </a:xfrm>
          <a:prstGeom prst="rect">
            <a:avLst/>
          </a:prstGeom>
          <a:noFill/>
          <a:ln>
            <a:noFill/>
          </a:ln>
        </p:spPr>
      </p:pic>
      <p:pic>
        <p:nvPicPr>
          <p:cNvPr descr="Picture 3" id="2074" name="Google Shape;2074;p140"/>
          <p:cNvPicPr preferRelativeResize="0"/>
          <p:nvPr/>
        </p:nvPicPr>
        <p:blipFill rotWithShape="1">
          <a:blip r:embed="rId3">
            <a:alphaModFix/>
          </a:blip>
          <a:srcRect b="0" l="0" r="0" t="0"/>
          <a:stretch/>
        </p:blipFill>
        <p:spPr>
          <a:xfrm>
            <a:off x="3408363" y="3429000"/>
            <a:ext cx="1846262" cy="1412875"/>
          </a:xfrm>
          <a:prstGeom prst="rect">
            <a:avLst/>
          </a:prstGeom>
          <a:noFill/>
          <a:ln>
            <a:noFill/>
          </a:ln>
        </p:spPr>
      </p:pic>
      <p:pic>
        <p:nvPicPr>
          <p:cNvPr descr="Picture 4" id="2075" name="Google Shape;2075;p140"/>
          <p:cNvPicPr preferRelativeResize="0"/>
          <p:nvPr/>
        </p:nvPicPr>
        <p:blipFill rotWithShape="1">
          <a:blip r:embed="rId4">
            <a:alphaModFix/>
          </a:blip>
          <a:srcRect b="0" l="0" r="0" t="0"/>
          <a:stretch/>
        </p:blipFill>
        <p:spPr>
          <a:xfrm>
            <a:off x="471488" y="3429000"/>
            <a:ext cx="1960562" cy="1500188"/>
          </a:xfrm>
          <a:prstGeom prst="rect">
            <a:avLst/>
          </a:prstGeom>
          <a:noFill/>
          <a:ln>
            <a:noFill/>
          </a:ln>
        </p:spPr>
      </p:pic>
      <p:sp>
        <p:nvSpPr>
          <p:cNvPr descr="Down Arrow 62" id="2076" name="Google Shape;2076;p140"/>
          <p:cNvSpPr/>
          <p:nvPr/>
        </p:nvSpPr>
        <p:spPr>
          <a:xfrm>
            <a:off x="7639050" y="4951413"/>
            <a:ext cx="360363" cy="296862"/>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6" id="2077" name="Google Shape;2077;p140"/>
          <p:cNvSpPr txBox="1"/>
          <p:nvPr/>
        </p:nvSpPr>
        <p:spPr>
          <a:xfrm>
            <a:off x="7278688" y="5248275"/>
            <a:ext cx="1163637" cy="339725"/>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T2, T3, T1</a:t>
            </a:r>
            <a:endParaRPr/>
          </a:p>
        </p:txBody>
      </p:sp>
      <p:cxnSp>
        <p:nvCxnSpPr>
          <p:cNvPr descr="Straight Connector 64" id="2078" name="Google Shape;2078;p140"/>
          <p:cNvCxnSpPr/>
          <p:nvPr/>
        </p:nvCxnSpPr>
        <p:spPr>
          <a:xfrm flipH="1" rot="10800000">
            <a:off x="7278688" y="4289425"/>
            <a:ext cx="123825" cy="230188"/>
          </a:xfrm>
          <a:prstGeom prst="straightConnector1">
            <a:avLst/>
          </a:prstGeom>
          <a:noFill/>
          <a:ln cap="flat" cmpd="sng" w="28575">
            <a:solidFill>
              <a:srgbClr val="FF0000"/>
            </a:solidFill>
            <a:prstDash val="solid"/>
            <a:round/>
            <a:headEnd len="sm" w="sm" type="none"/>
            <a:tailEnd len="sm" w="sm" type="none"/>
          </a:ln>
        </p:spPr>
      </p:cxnSp>
      <p:sp>
        <p:nvSpPr>
          <p:cNvPr descr="TextBox 65" id="2079" name="Google Shape;2079;p140"/>
          <p:cNvSpPr txBox="1"/>
          <p:nvPr/>
        </p:nvSpPr>
        <p:spPr>
          <a:xfrm>
            <a:off x="827088" y="5724525"/>
            <a:ext cx="6854825" cy="582613"/>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Equivalent Serial Schedule is: T2, T3, 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                                            R2(A), R3(A),W3(A), R1(A), W1(A)</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descr="Title 1" id="2084" name="Google Shape;2084;p14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a:t>
            </a:r>
            <a:endParaRPr/>
          </a:p>
        </p:txBody>
      </p:sp>
      <p:sp>
        <p:nvSpPr>
          <p:cNvPr descr="Content Placeholder 2" id="2085" name="Google Shape;2085;p14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Construct precedence graph for the following schedule</a:t>
            </a:r>
            <a:endParaRPr/>
          </a:p>
        </p:txBody>
      </p:sp>
      <p:sp>
        <p:nvSpPr>
          <p:cNvPr descr="Date Placeholder 3" id="2086" name="Google Shape;2086;p14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087" name="Google Shape;2087;p14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088" name="Google Shape;2088;p141"/>
          <p:cNvGraphicFramePr/>
          <p:nvPr/>
        </p:nvGraphicFramePr>
        <p:xfrm>
          <a:off x="900113" y="1925638"/>
          <a:ext cx="3000000" cy="3000000"/>
        </p:xfrm>
        <a:graphic>
          <a:graphicData uri="http://schemas.openxmlformats.org/drawingml/2006/table">
            <a:tbl>
              <a:tblPr>
                <a:noFill/>
                <a:tableStyleId>{DA31C186-C125-4E34-A739-053F885C22C1}</a:tableStyleId>
              </a:tblPr>
              <a:tblGrid>
                <a:gridCol w="1344600"/>
                <a:gridCol w="1344625"/>
                <a:gridCol w="13446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089" name="Google Shape;2089;p141"/>
          <p:cNvSpPr txBox="1"/>
          <p:nvPr/>
        </p:nvSpPr>
        <p:spPr>
          <a:xfrm>
            <a:off x="1016000" y="1555750"/>
            <a:ext cx="152876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3" name="Shape 2093"/>
        <p:cNvGrpSpPr/>
        <p:nvPr/>
      </p:nvGrpSpPr>
      <p:grpSpPr>
        <a:xfrm>
          <a:off x="0" y="0"/>
          <a:ext cx="0" cy="0"/>
          <a:chOff x="0" y="0"/>
          <a:chExt cx="0" cy="0"/>
        </a:xfrm>
      </p:grpSpPr>
      <p:sp>
        <p:nvSpPr>
          <p:cNvPr descr="Title 1" id="2094" name="Google Shape;2094;p14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a:t>
            </a:r>
            <a:endParaRPr/>
          </a:p>
        </p:txBody>
      </p:sp>
      <p:sp>
        <p:nvSpPr>
          <p:cNvPr descr="Content Placeholder 2" id="2095" name="Google Shape;2095;p14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Construct precedence graph for the following schedule</a:t>
            </a:r>
            <a:endParaRPr/>
          </a:p>
        </p:txBody>
      </p:sp>
      <p:sp>
        <p:nvSpPr>
          <p:cNvPr descr="Date Placeholder 3" id="2096" name="Google Shape;2096;p14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097" name="Google Shape;2097;p14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098" name="Google Shape;2098;p142"/>
          <p:cNvGraphicFramePr/>
          <p:nvPr/>
        </p:nvGraphicFramePr>
        <p:xfrm>
          <a:off x="900113" y="1925638"/>
          <a:ext cx="3000000" cy="3000000"/>
        </p:xfrm>
        <a:graphic>
          <a:graphicData uri="http://schemas.openxmlformats.org/drawingml/2006/table">
            <a:tbl>
              <a:tblPr>
                <a:noFill/>
                <a:tableStyleId>{DA31C186-C125-4E34-A739-053F885C22C1}</a:tableStyleId>
              </a:tblPr>
              <a:tblGrid>
                <a:gridCol w="1344600"/>
                <a:gridCol w="1344625"/>
                <a:gridCol w="13446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099" name="Google Shape;2099;p142"/>
          <p:cNvSpPr txBox="1"/>
          <p:nvPr/>
        </p:nvSpPr>
        <p:spPr>
          <a:xfrm>
            <a:off x="1016000" y="1555750"/>
            <a:ext cx="152876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a:t>
            </a:r>
            <a:endParaRPr/>
          </a:p>
        </p:txBody>
      </p:sp>
      <p:sp>
        <p:nvSpPr>
          <p:cNvPr descr="TextBox 8" id="2100" name="Google Shape;2100;p142"/>
          <p:cNvSpPr txBox="1"/>
          <p:nvPr/>
        </p:nvSpPr>
        <p:spPr>
          <a:xfrm>
            <a:off x="296863" y="4367213"/>
            <a:ext cx="5076825"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Given: Three Transactions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T1 with operations Read(A), Write(A)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T2 with operations 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T3 with operations Write(A)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Schedule S1: R1(A), W2(A), W1(A), W3(A)</a:t>
            </a:r>
            <a:endParaRPr/>
          </a:p>
        </p:txBody>
      </p:sp>
      <p:grpSp>
        <p:nvGrpSpPr>
          <p:cNvPr id="2101" name="Google Shape;2101;p142"/>
          <p:cNvGrpSpPr/>
          <p:nvPr/>
        </p:nvGrpSpPr>
        <p:grpSpPr>
          <a:xfrm>
            <a:off x="6400800" y="4219576"/>
            <a:ext cx="2346325" cy="1927224"/>
            <a:chOff x="0" y="0"/>
            <a:chExt cx="2347472" cy="1927099"/>
          </a:xfrm>
        </p:grpSpPr>
        <p:grpSp>
          <p:nvGrpSpPr>
            <p:cNvPr id="2102" name="Google Shape;2102;p142"/>
            <p:cNvGrpSpPr/>
            <p:nvPr/>
          </p:nvGrpSpPr>
          <p:grpSpPr>
            <a:xfrm>
              <a:off x="1627390" y="81300"/>
              <a:ext cx="720082" cy="739366"/>
              <a:chOff x="0" y="0"/>
              <a:chExt cx="720081" cy="739366"/>
            </a:xfrm>
          </p:grpSpPr>
          <p:sp>
            <p:nvSpPr>
              <p:cNvPr id="2103" name="Google Shape;2103;p142"/>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104" name="Google Shape;2104;p142"/>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T2</a:t>
                </a:r>
                <a:endParaRPr/>
              </a:p>
            </p:txBody>
          </p:sp>
        </p:grpSp>
        <p:grpSp>
          <p:nvGrpSpPr>
            <p:cNvPr id="2105" name="Google Shape;2105;p142"/>
            <p:cNvGrpSpPr/>
            <p:nvPr/>
          </p:nvGrpSpPr>
          <p:grpSpPr>
            <a:xfrm>
              <a:off x="0" y="81300"/>
              <a:ext cx="720081" cy="739366"/>
              <a:chOff x="0" y="0"/>
              <a:chExt cx="720081" cy="739366"/>
            </a:xfrm>
          </p:grpSpPr>
          <p:sp>
            <p:nvSpPr>
              <p:cNvPr id="2106" name="Google Shape;2106;p142"/>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107" name="Google Shape;2107;p142"/>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T1</a:t>
                </a:r>
                <a:endParaRPr/>
              </a:p>
            </p:txBody>
          </p:sp>
        </p:grpSp>
        <p:grpSp>
          <p:nvGrpSpPr>
            <p:cNvPr id="2108" name="Google Shape;2108;p142"/>
            <p:cNvGrpSpPr/>
            <p:nvPr/>
          </p:nvGrpSpPr>
          <p:grpSpPr>
            <a:xfrm>
              <a:off x="900792" y="1187733"/>
              <a:ext cx="720082" cy="739366"/>
              <a:chOff x="0" y="0"/>
              <a:chExt cx="720081" cy="739366"/>
            </a:xfrm>
          </p:grpSpPr>
          <p:sp>
            <p:nvSpPr>
              <p:cNvPr id="2109" name="Google Shape;2109;p142"/>
              <p:cNvSpPr/>
              <p:nvPr/>
            </p:nvSpPr>
            <p:spPr>
              <a:xfrm>
                <a:off x="0" y="0"/>
                <a:ext cx="720081" cy="576065"/>
              </a:xfrm>
              <a:prstGeom prst="ellipse">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110" name="Google Shape;2110;p142"/>
              <p:cNvSpPr txBox="1"/>
              <p:nvPr/>
            </p:nvSpPr>
            <p:spPr>
              <a:xfrm>
                <a:off x="155935" y="89125"/>
                <a:ext cx="408210" cy="650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T3</a:t>
                </a:r>
                <a:endParaRPr/>
              </a:p>
            </p:txBody>
          </p:sp>
        </p:grpSp>
        <p:cxnSp>
          <p:nvCxnSpPr>
            <p:cNvPr descr="Straight Arrow Connector 13" id="2111" name="Google Shape;2111;p142"/>
            <p:cNvCxnSpPr/>
            <p:nvPr/>
          </p:nvCxnSpPr>
          <p:spPr>
            <a:xfrm rot="10800000">
              <a:off x="720080" y="369332"/>
              <a:ext cx="907312" cy="1"/>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4" id="2112" name="Google Shape;2112;p142"/>
            <p:cNvCxnSpPr/>
            <p:nvPr/>
          </p:nvCxnSpPr>
          <p:spPr>
            <a:xfrm flipH="1">
              <a:off x="1515420" y="657364"/>
              <a:ext cx="472012" cy="614733"/>
            </a:xfrm>
            <a:prstGeom prst="straightConnector1">
              <a:avLst/>
            </a:prstGeom>
            <a:noFill/>
            <a:ln cap="flat" cmpd="sng" w="9525">
              <a:solidFill>
                <a:srgbClr val="000000"/>
              </a:solidFill>
              <a:prstDash val="solid"/>
              <a:round/>
              <a:headEnd len="sm" w="sm" type="none"/>
              <a:tailEnd len="med" w="med" type="triangle"/>
            </a:ln>
          </p:spPr>
        </p:cxnSp>
        <p:sp>
          <p:nvSpPr>
            <p:cNvPr descr="TextBox 16" id="2113" name="Google Shape;2113;p142"/>
            <p:cNvSpPr txBox="1"/>
            <p:nvPr/>
          </p:nvSpPr>
          <p:spPr>
            <a:xfrm>
              <a:off x="1097047" y="0"/>
              <a:ext cx="260410"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17" id="2114" name="Google Shape;2114;p142"/>
            <p:cNvSpPr txBox="1"/>
            <p:nvPr/>
          </p:nvSpPr>
          <p:spPr>
            <a:xfrm>
              <a:off x="1862271" y="84828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sp>
          <p:nvSpPr>
            <p:cNvPr descr="TextBox 18" id="2115" name="Google Shape;2115;p142"/>
            <p:cNvSpPr txBox="1"/>
            <p:nvPr/>
          </p:nvSpPr>
          <p:spPr>
            <a:xfrm>
              <a:off x="472543" y="885559"/>
              <a:ext cx="260410"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grpSp>
      <p:cxnSp>
        <p:nvCxnSpPr>
          <p:cNvPr descr="Straight Arrow Connector 22" id="2116" name="Google Shape;2116;p142"/>
          <p:cNvCxnSpPr/>
          <p:nvPr/>
        </p:nvCxnSpPr>
        <p:spPr>
          <a:xfrm>
            <a:off x="7015163" y="4792663"/>
            <a:ext cx="1117600" cy="0"/>
          </a:xfrm>
          <a:prstGeom prst="straightConnector1">
            <a:avLst/>
          </a:prstGeom>
          <a:noFill/>
          <a:ln cap="flat" cmpd="sng" w="9525">
            <a:solidFill>
              <a:srgbClr val="000000"/>
            </a:solidFill>
            <a:prstDash val="solid"/>
            <a:round/>
            <a:headEnd len="sm" w="sm" type="none"/>
            <a:tailEnd len="med" w="med" type="triangle"/>
          </a:ln>
        </p:spPr>
      </p:cxnSp>
      <p:sp>
        <p:nvSpPr>
          <p:cNvPr descr="TextBox 23" id="2117" name="Google Shape;2117;p142"/>
          <p:cNvSpPr txBox="1"/>
          <p:nvPr/>
        </p:nvSpPr>
        <p:spPr>
          <a:xfrm>
            <a:off x="7527925" y="4699000"/>
            <a:ext cx="2603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A</a:t>
            </a:r>
            <a:endParaRPr/>
          </a:p>
        </p:txBody>
      </p:sp>
      <p:cxnSp>
        <p:nvCxnSpPr>
          <p:cNvPr descr="Straight Arrow Connector 25" id="2118" name="Google Shape;2118;p142"/>
          <p:cNvCxnSpPr/>
          <p:nvPr/>
        </p:nvCxnSpPr>
        <p:spPr>
          <a:xfrm>
            <a:off x="6931025" y="4883150"/>
            <a:ext cx="474663" cy="6096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descr="Title 1" id="2123" name="Google Shape;2123;p14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 </a:t>
            </a:r>
            <a:endParaRPr/>
          </a:p>
        </p:txBody>
      </p:sp>
      <p:sp>
        <p:nvSpPr>
          <p:cNvPr descr="Content Placeholder 2" id="2124" name="Google Shape;2124;p14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Which of the following schedules is (conflict) serializable? For each serializable schedule, determine the equivalent serial schedules.</a:t>
            </a:r>
            <a:endParaRPr/>
          </a:p>
          <a:p>
            <a:pPr indent="0" lvl="0" marL="0" rtl="0" algn="l">
              <a:spcBef>
                <a:spcPts val="300"/>
              </a:spcBef>
              <a:spcAft>
                <a:spcPts val="0"/>
              </a:spcAft>
              <a:buSzPts val="1600"/>
              <a:buFont typeface="Noto Sans Symbols"/>
              <a:buNone/>
            </a:pPr>
            <a:r>
              <a:rPr lang="en-US" sz="1600"/>
              <a:t>(a) r1 (X); r3 (X); w1(X); r2(X); w3(X)</a:t>
            </a:r>
            <a:endParaRPr/>
          </a:p>
          <a:p>
            <a:pPr indent="0" lvl="0" marL="0" rtl="0" algn="l">
              <a:spcBef>
                <a:spcPts val="300"/>
              </a:spcBef>
              <a:spcAft>
                <a:spcPts val="0"/>
              </a:spcAft>
              <a:buSzPts val="1600"/>
              <a:buFont typeface="Noto Sans Symbols"/>
              <a:buNone/>
            </a:pPr>
            <a:r>
              <a:rPr lang="en-US" sz="1600"/>
              <a:t>(b) r1 (X); r3 (X); w3(X); w1(X); r2(X)</a:t>
            </a:r>
            <a:endParaRPr/>
          </a:p>
          <a:p>
            <a:pPr indent="0" lvl="0" marL="0" rtl="0" algn="l">
              <a:spcBef>
                <a:spcPts val="300"/>
              </a:spcBef>
              <a:spcAft>
                <a:spcPts val="0"/>
              </a:spcAft>
              <a:buSzPts val="1600"/>
              <a:buFont typeface="Noto Sans Symbols"/>
              <a:buNone/>
            </a:pPr>
            <a:r>
              <a:rPr lang="en-US" sz="1600"/>
              <a:t>(c) r3 (X); r2 (X); w3(X); r1(X); w1(X)</a:t>
            </a:r>
            <a:endParaRPr/>
          </a:p>
          <a:p>
            <a:pPr indent="0" lvl="0" marL="0" rtl="0" algn="l">
              <a:spcBef>
                <a:spcPts val="300"/>
              </a:spcBef>
              <a:spcAft>
                <a:spcPts val="0"/>
              </a:spcAft>
              <a:buSzPts val="1600"/>
              <a:buFont typeface="Noto Sans Symbols"/>
              <a:buNone/>
            </a:pPr>
            <a:r>
              <a:rPr lang="en-US" sz="1600"/>
              <a:t>(d) r3 (X); r2 (X); r1(X); w3(X); w1(X)</a:t>
            </a:r>
            <a:endParaRPr/>
          </a:p>
        </p:txBody>
      </p:sp>
      <p:sp>
        <p:nvSpPr>
          <p:cNvPr descr="Date Placeholder 3" id="2125" name="Google Shape;2125;p14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26" name="Google Shape;2126;p14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descr="Title 1" id="2131" name="Google Shape;2131;p14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002060"/>
                </a:solidFill>
              </a:rPr>
              <a:t>Solution</a:t>
            </a:r>
            <a:endParaRPr/>
          </a:p>
        </p:txBody>
      </p:sp>
      <p:sp>
        <p:nvSpPr>
          <p:cNvPr descr="Content Placeholder 2" id="2132" name="Google Shape;2132;p14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t/>
            </a:r>
            <a:endParaRPr sz="1600"/>
          </a:p>
        </p:txBody>
      </p:sp>
      <p:sp>
        <p:nvSpPr>
          <p:cNvPr descr="Date Placeholder 3" id="2133" name="Google Shape;2133;p14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34" name="Google Shape;2134;p14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2135" name="Google Shape;2135;p144"/>
          <p:cNvPicPr preferRelativeResize="0"/>
          <p:nvPr/>
        </p:nvPicPr>
        <p:blipFill rotWithShape="1">
          <a:blip r:embed="rId3">
            <a:alphaModFix/>
          </a:blip>
          <a:srcRect b="0" l="0" r="0" t="0"/>
          <a:stretch/>
        </p:blipFill>
        <p:spPr>
          <a:xfrm>
            <a:off x="827088" y="1628775"/>
            <a:ext cx="3240087" cy="4608513"/>
          </a:xfrm>
          <a:prstGeom prst="rect">
            <a:avLst/>
          </a:prstGeom>
          <a:noFill/>
          <a:ln>
            <a:noFill/>
          </a:ln>
        </p:spPr>
      </p:pic>
      <p:pic>
        <p:nvPicPr>
          <p:cNvPr descr="Picture 3" id="2136" name="Google Shape;2136;p144"/>
          <p:cNvPicPr preferRelativeResize="0"/>
          <p:nvPr/>
        </p:nvPicPr>
        <p:blipFill rotWithShape="1">
          <a:blip r:embed="rId4">
            <a:alphaModFix/>
          </a:blip>
          <a:srcRect b="0" l="0" r="0" t="0"/>
          <a:stretch/>
        </p:blipFill>
        <p:spPr>
          <a:xfrm>
            <a:off x="4427538" y="1217613"/>
            <a:ext cx="4105275" cy="2211387"/>
          </a:xfrm>
          <a:prstGeom prst="rect">
            <a:avLst/>
          </a:prstGeom>
          <a:noFill/>
          <a:ln>
            <a:noFill/>
          </a:ln>
        </p:spPr>
      </p:pic>
      <p:pic>
        <p:nvPicPr>
          <p:cNvPr descr="Picture 2" id="2137" name="Google Shape;2137;p144"/>
          <p:cNvPicPr preferRelativeResize="0"/>
          <p:nvPr/>
        </p:nvPicPr>
        <p:blipFill rotWithShape="1">
          <a:blip r:embed="rId5">
            <a:alphaModFix/>
          </a:blip>
          <a:srcRect b="0" l="0" r="0" t="0"/>
          <a:stretch/>
        </p:blipFill>
        <p:spPr>
          <a:xfrm>
            <a:off x="4884738" y="3944938"/>
            <a:ext cx="3211512" cy="528637"/>
          </a:xfrm>
          <a:prstGeom prst="rect">
            <a:avLst/>
          </a:prstGeom>
          <a:noFill/>
          <a:ln>
            <a:noFill/>
          </a:ln>
        </p:spPr>
      </p:pic>
      <p:pic>
        <p:nvPicPr>
          <p:cNvPr descr="Picture 3" id="2138" name="Google Shape;2138;p144"/>
          <p:cNvPicPr preferRelativeResize="0"/>
          <p:nvPr/>
        </p:nvPicPr>
        <p:blipFill rotWithShape="1">
          <a:blip r:embed="rId6">
            <a:alphaModFix/>
          </a:blip>
          <a:srcRect b="0" l="0" r="0" t="0"/>
          <a:stretch/>
        </p:blipFill>
        <p:spPr>
          <a:xfrm>
            <a:off x="5157788" y="4460875"/>
            <a:ext cx="2509837" cy="1776413"/>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descr="Title 1" id="2143" name="Google Shape;2143;p14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a:t>
            </a:r>
            <a:endParaRPr/>
          </a:p>
        </p:txBody>
      </p:sp>
      <p:sp>
        <p:nvSpPr>
          <p:cNvPr descr="Content Placeholder 2" id="2144" name="Google Shape;2144;p14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Consider the three transactions T1, T2, and T3, and the schedules S1 and S2 given below. Draw the serializibility (precedence) graphs for S1 and S2 and state whether each schedule is serializable or not. If a schedule is serializable, write down the equivalent serial schedule(s).</a:t>
            </a:r>
            <a:endParaRPr/>
          </a:p>
          <a:p>
            <a:pPr indent="0" lvl="0" marL="0" rtl="0" algn="l">
              <a:spcBef>
                <a:spcPts val="300"/>
              </a:spcBef>
              <a:spcAft>
                <a:spcPts val="0"/>
              </a:spcAft>
              <a:buSzPts val="1600"/>
              <a:buFont typeface="Noto Sans Symbols"/>
              <a:buNone/>
            </a:pPr>
            <a:r>
              <a:rPr lang="en-US" sz="1600"/>
              <a:t>T1: r1(x); r1(z); w1(x)</a:t>
            </a:r>
            <a:endParaRPr/>
          </a:p>
          <a:p>
            <a:pPr indent="0" lvl="0" marL="0" rtl="0" algn="l">
              <a:spcBef>
                <a:spcPts val="300"/>
              </a:spcBef>
              <a:spcAft>
                <a:spcPts val="0"/>
              </a:spcAft>
              <a:buSzPts val="1600"/>
              <a:buFont typeface="Noto Sans Symbols"/>
              <a:buNone/>
            </a:pPr>
            <a:r>
              <a:rPr lang="en-US" sz="1600"/>
              <a:t>T2: r2(z); r2(y); w2(z); w2(y)</a:t>
            </a:r>
            <a:endParaRPr/>
          </a:p>
          <a:p>
            <a:pPr indent="0" lvl="0" marL="0" rtl="0" algn="l">
              <a:spcBef>
                <a:spcPts val="300"/>
              </a:spcBef>
              <a:spcAft>
                <a:spcPts val="0"/>
              </a:spcAft>
              <a:buSzPts val="1600"/>
              <a:buFont typeface="Noto Sans Symbols"/>
              <a:buNone/>
            </a:pPr>
            <a:r>
              <a:rPr lang="en-US" sz="1600"/>
              <a:t>T3: r3(x); r3(y); w3(y)</a:t>
            </a:r>
            <a:endParaRPr/>
          </a:p>
          <a:p>
            <a:pPr indent="0" lvl="0" marL="0" rtl="0" algn="l">
              <a:spcBef>
                <a:spcPts val="300"/>
              </a:spcBef>
              <a:spcAft>
                <a:spcPts val="0"/>
              </a:spcAft>
              <a:buSzPts val="1600"/>
              <a:buFont typeface="Noto Sans Symbols"/>
              <a:buNone/>
            </a:pPr>
            <a:r>
              <a:rPr lang="en-US" sz="1600"/>
              <a:t>S1: r1(x); r2(z); r1(z); r3(x); r3(y); w1(x); w3(y); r2(y); w2(z); w2(y)</a:t>
            </a:r>
            <a:endParaRPr/>
          </a:p>
          <a:p>
            <a:pPr indent="0" lvl="0" marL="0" rtl="0" algn="l">
              <a:spcBef>
                <a:spcPts val="300"/>
              </a:spcBef>
              <a:spcAft>
                <a:spcPts val="0"/>
              </a:spcAft>
              <a:buSzPts val="1600"/>
              <a:buFont typeface="Noto Sans Symbols"/>
              <a:buNone/>
            </a:pPr>
            <a:r>
              <a:rPr lang="en-US" sz="1600"/>
              <a:t>S2: r1(x); r2(z); r3(x); r1(z); r2(y); r3(y); w1(x); w2(z); w3(y); w2(y)</a:t>
            </a:r>
            <a:endParaRPr/>
          </a:p>
        </p:txBody>
      </p:sp>
      <p:sp>
        <p:nvSpPr>
          <p:cNvPr descr="Date Placeholder 3" id="2145" name="Google Shape;2145;p14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46" name="Google Shape;2146;p14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descr="Title 1" id="2151" name="Google Shape;2151;p14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002060"/>
                </a:solidFill>
              </a:rPr>
              <a:t>Solution</a:t>
            </a:r>
            <a:endParaRPr/>
          </a:p>
        </p:txBody>
      </p:sp>
      <p:sp>
        <p:nvSpPr>
          <p:cNvPr descr="Content Placeholder 2" id="2152" name="Google Shape;2152;p14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79400" lvl="0" marL="469900" rtl="0" algn="l">
              <a:spcBef>
                <a:spcPts val="0"/>
              </a:spcBef>
              <a:spcAft>
                <a:spcPts val="0"/>
              </a:spcAft>
              <a:buSzPts val="3000"/>
              <a:buFont typeface="Verdana"/>
              <a:buNone/>
            </a:pPr>
            <a:r>
              <a:t/>
            </a:r>
            <a:endParaRPr/>
          </a:p>
        </p:txBody>
      </p:sp>
      <p:sp>
        <p:nvSpPr>
          <p:cNvPr descr="Date Placeholder 3" id="2153" name="Google Shape;2153;p14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54" name="Google Shape;2154;p14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2155" name="Google Shape;2155;p146"/>
          <p:cNvPicPr preferRelativeResize="0"/>
          <p:nvPr/>
        </p:nvPicPr>
        <p:blipFill rotWithShape="1">
          <a:blip r:embed="rId3">
            <a:alphaModFix/>
          </a:blip>
          <a:srcRect b="0" l="0" r="0" t="0"/>
          <a:stretch/>
        </p:blipFill>
        <p:spPr>
          <a:xfrm>
            <a:off x="898525" y="1547813"/>
            <a:ext cx="4621213" cy="4440237"/>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descr="Rectangle 2" id="2160" name="Google Shape;2160;p147"/>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000"/>
              <a:t>What you have learned until now in Unit4:Transactions</a:t>
            </a:r>
            <a:endParaRPr/>
          </a:p>
        </p:txBody>
      </p:sp>
      <p:sp>
        <p:nvSpPr>
          <p:cNvPr descr="Rectangle 3" id="2161" name="Google Shape;2161;p147"/>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1400"/>
              <a:buFont typeface="Verdana"/>
              <a:buNone/>
            </a:pPr>
            <a:r>
              <a:rPr lang="en-US" sz="1400"/>
              <a:t>Serial Schedule</a:t>
            </a:r>
            <a:endParaRPr/>
          </a:p>
          <a:p>
            <a:pPr indent="0" lvl="0" marL="0" rtl="0" algn="l">
              <a:lnSpc>
                <a:spcPct val="80000"/>
              </a:lnSpc>
              <a:spcBef>
                <a:spcPts val="300"/>
              </a:spcBef>
              <a:spcAft>
                <a:spcPts val="0"/>
              </a:spcAft>
              <a:buClr>
                <a:srgbClr val="003366"/>
              </a:buClr>
              <a:buSzPts val="1400"/>
              <a:buFont typeface="Verdana"/>
              <a:buNone/>
            </a:pPr>
            <a:r>
              <a:rPr lang="en-US" sz="1400"/>
              <a:t>Serializable Schedule</a:t>
            </a:r>
            <a:endParaRPr/>
          </a:p>
          <a:p>
            <a:pPr indent="0" lvl="0" marL="0" rtl="0" algn="l">
              <a:lnSpc>
                <a:spcPct val="80000"/>
              </a:lnSpc>
              <a:spcBef>
                <a:spcPts val="300"/>
              </a:spcBef>
              <a:spcAft>
                <a:spcPts val="0"/>
              </a:spcAft>
              <a:buClr>
                <a:srgbClr val="003366"/>
              </a:buClr>
              <a:buSzPts val="1400"/>
              <a:buFont typeface="Verdana"/>
              <a:buNone/>
            </a:pPr>
            <a:r>
              <a:rPr lang="en-US" sz="1400"/>
              <a:t>Conflict Serializable Schedule (CS)</a:t>
            </a:r>
            <a:endParaRPr/>
          </a:p>
          <a:p>
            <a:pPr indent="0" lvl="0" marL="0" rtl="0" algn="l">
              <a:lnSpc>
                <a:spcPct val="80000"/>
              </a:lnSpc>
              <a:spcBef>
                <a:spcPts val="300"/>
              </a:spcBef>
              <a:spcAft>
                <a:spcPts val="0"/>
              </a:spcAft>
              <a:buClr>
                <a:srgbClr val="003366"/>
              </a:buClr>
              <a:buSzPts val="1400"/>
              <a:buFont typeface="Verdana"/>
              <a:buNone/>
            </a:pPr>
            <a:r>
              <a:rPr lang="en-US" sz="1400"/>
              <a:t>                       - Algorithm for testing CS and Converting to Serial Schedule</a:t>
            </a:r>
            <a:endParaRPr/>
          </a:p>
        </p:txBody>
      </p:sp>
      <p:sp>
        <p:nvSpPr>
          <p:cNvPr descr="Date Placeholder 1" id="2162" name="Google Shape;2162;p147"/>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2163" name="Google Shape;2163;p147"/>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descr="Title 1" id="2168" name="Google Shape;2168;p14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Characterizing Schedules based on Serializibility</a:t>
            </a:r>
            <a:endParaRPr/>
          </a:p>
        </p:txBody>
      </p:sp>
      <p:sp>
        <p:nvSpPr>
          <p:cNvPr descr="Content Placeholder 2" id="2169" name="Google Shape;2169;p14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28600" lvl="0" marL="228600" rtl="0" algn="l">
              <a:spcBef>
                <a:spcPts val="0"/>
              </a:spcBef>
              <a:spcAft>
                <a:spcPts val="0"/>
              </a:spcAft>
              <a:buSzPts val="2000"/>
              <a:buFont typeface="Noto Sans Symbols"/>
              <a:buNone/>
            </a:pPr>
            <a:r>
              <a:rPr lang="en-US" sz="2000"/>
              <a:t>Based on Serializability </a:t>
            </a:r>
            <a:endParaRPr/>
          </a:p>
          <a:p>
            <a:pPr indent="-228600" lvl="0" marL="228600" rtl="0" algn="l">
              <a:spcBef>
                <a:spcPts val="400"/>
              </a:spcBef>
              <a:spcAft>
                <a:spcPts val="0"/>
              </a:spcAft>
              <a:buSzPts val="2000"/>
              <a:buFont typeface="Verdana"/>
              <a:buAutoNum type="arabicPeriod"/>
            </a:pPr>
            <a:r>
              <a:rPr lang="en-US" sz="2000"/>
              <a:t>Conflict Serializable Schedule </a:t>
            </a:r>
            <a:endParaRPr/>
          </a:p>
          <a:p>
            <a:pPr indent="-228600" lvl="0" marL="228600" rtl="0" algn="l">
              <a:spcBef>
                <a:spcPts val="400"/>
              </a:spcBef>
              <a:spcAft>
                <a:spcPts val="0"/>
              </a:spcAft>
              <a:buSzPts val="2000"/>
              <a:buFont typeface="Verdana"/>
              <a:buAutoNum type="arabicPeriod"/>
            </a:pPr>
            <a:r>
              <a:rPr b="1" lang="en-US" sz="2000"/>
              <a:t>View Serializable Schedule</a:t>
            </a:r>
            <a:endParaRPr/>
          </a:p>
        </p:txBody>
      </p:sp>
      <p:sp>
        <p:nvSpPr>
          <p:cNvPr descr="Date Placeholder 3" id="2170" name="Google Shape;2170;p14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71" name="Google Shape;2171;p14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descr="Title 1" id="2176" name="Google Shape;2176;p14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Serializability Schedule</a:t>
            </a:r>
            <a:endParaRPr/>
          </a:p>
        </p:txBody>
      </p:sp>
      <p:sp>
        <p:nvSpPr>
          <p:cNvPr descr="Content Placeholder 2" id="2177" name="Google Shape;2177;p14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Schedule is View Serializable if it is </a:t>
            </a:r>
            <a:r>
              <a:rPr b="1" lang="en-US" sz="2000"/>
              <a:t>view equivalent </a:t>
            </a:r>
            <a:r>
              <a:rPr lang="en-US" sz="2000"/>
              <a:t>to some </a:t>
            </a:r>
            <a:r>
              <a:rPr b="1" lang="en-US" sz="2000"/>
              <a:t>serial schedule</a:t>
            </a:r>
            <a:endParaRPr sz="2000"/>
          </a:p>
        </p:txBody>
      </p:sp>
      <p:sp>
        <p:nvSpPr>
          <p:cNvPr descr="Date Placeholder 3" id="2178" name="Google Shape;2178;p14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79" name="Google Shape;2179;p14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3" name="Shape 2183"/>
        <p:cNvGrpSpPr/>
        <p:nvPr/>
      </p:nvGrpSpPr>
      <p:grpSpPr>
        <a:xfrm>
          <a:off x="0" y="0"/>
          <a:ext cx="0" cy="0"/>
          <a:chOff x="0" y="0"/>
          <a:chExt cx="0" cy="0"/>
        </a:xfrm>
      </p:grpSpPr>
      <p:sp>
        <p:nvSpPr>
          <p:cNvPr descr="Title 1" id="2184" name="Google Shape;2184;p15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Serializability Schedule</a:t>
            </a:r>
            <a:endParaRPr/>
          </a:p>
        </p:txBody>
      </p:sp>
      <p:sp>
        <p:nvSpPr>
          <p:cNvPr descr="Content Placeholder 2" id="2185" name="Google Shape;2185;p15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Schedule is View Serializable if it is </a:t>
            </a:r>
            <a:r>
              <a:rPr b="1" lang="en-US" sz="2000"/>
              <a:t>view equivalent </a:t>
            </a:r>
            <a:r>
              <a:rPr lang="en-US" sz="2000"/>
              <a:t>to some </a:t>
            </a:r>
            <a:r>
              <a:rPr b="1" lang="en-US" sz="2000"/>
              <a:t>serial schedule</a:t>
            </a:r>
            <a:endParaRPr sz="2000"/>
          </a:p>
          <a:p>
            <a:pPr indent="-469900" lvl="0" marL="469900" rtl="0" algn="l">
              <a:spcBef>
                <a:spcPts val="400"/>
              </a:spcBef>
              <a:spcAft>
                <a:spcPts val="0"/>
              </a:spcAft>
              <a:buSzPts val="2000"/>
              <a:buFont typeface="Verdana"/>
              <a:buChar char="□"/>
            </a:pPr>
            <a:r>
              <a:rPr lang="en-US" sz="2000"/>
              <a:t>What is View equivalence ?</a:t>
            </a:r>
            <a:endParaRPr/>
          </a:p>
          <a:p>
            <a:pPr indent="168275" lvl="1" marL="301625" rtl="0" algn="l">
              <a:spcBef>
                <a:spcPts val="400"/>
              </a:spcBef>
              <a:spcAft>
                <a:spcPts val="0"/>
              </a:spcAft>
              <a:buSzPts val="1800"/>
              <a:buFont typeface="Noto Sans Symbols"/>
              <a:buNone/>
            </a:pPr>
            <a:r>
              <a:rPr lang="en-US" sz="1800"/>
              <a:t>In </a:t>
            </a:r>
            <a:r>
              <a:rPr b="1" lang="en-US" sz="1800"/>
              <a:t>View Equivalence</a:t>
            </a:r>
            <a:r>
              <a:rPr lang="en-US" sz="1800"/>
              <a:t>, respective transactions in the two schedules </a:t>
            </a:r>
            <a:r>
              <a:rPr b="1" lang="en-US" sz="1800">
                <a:solidFill>
                  <a:srgbClr val="0000FF"/>
                </a:solidFill>
              </a:rPr>
              <a:t>read </a:t>
            </a:r>
            <a:r>
              <a:rPr lang="en-US" sz="1800">
                <a:solidFill>
                  <a:srgbClr val="0000FF"/>
                </a:solidFill>
              </a:rPr>
              <a:t>and </a:t>
            </a:r>
            <a:r>
              <a:rPr b="1" lang="en-US" sz="1800">
                <a:solidFill>
                  <a:srgbClr val="0000FF"/>
                </a:solidFill>
              </a:rPr>
              <a:t>write </a:t>
            </a:r>
            <a:r>
              <a:rPr lang="en-US" sz="1800">
                <a:solidFill>
                  <a:srgbClr val="0000FF"/>
                </a:solidFill>
              </a:rPr>
              <a:t>the </a:t>
            </a:r>
            <a:r>
              <a:rPr b="1" lang="en-US" sz="1800">
                <a:solidFill>
                  <a:srgbClr val="0000FF"/>
                </a:solidFill>
              </a:rPr>
              <a:t>same data </a:t>
            </a:r>
            <a:r>
              <a:rPr lang="en-US" sz="1800">
                <a:solidFill>
                  <a:srgbClr val="0000FF"/>
                </a:solidFill>
              </a:rPr>
              <a:t>values </a:t>
            </a:r>
            <a:endParaRPr sz="2600"/>
          </a:p>
          <a:p>
            <a:pPr indent="-168275" lvl="1" marL="469900" rtl="0" algn="l">
              <a:spcBef>
                <a:spcPts val="400"/>
              </a:spcBef>
              <a:spcAft>
                <a:spcPts val="0"/>
              </a:spcAft>
              <a:buSzPts val="1800"/>
              <a:buFont typeface="Verdana"/>
              <a:buChar char="■"/>
            </a:pPr>
            <a:r>
              <a:rPr lang="en-US" sz="1800">
                <a:solidFill>
                  <a:srgbClr val="0000FF"/>
                </a:solidFill>
              </a:rPr>
              <a:t>Initial Reads: </a:t>
            </a:r>
            <a:r>
              <a:rPr b="1" lang="en-US" sz="1700"/>
              <a:t>If </a:t>
            </a:r>
            <a:r>
              <a:rPr lang="en-US" sz="1700"/>
              <a:t>in S1: r</a:t>
            </a:r>
            <a:r>
              <a:rPr baseline="-25000" lang="en-US" sz="1800"/>
              <a:t>i</a:t>
            </a:r>
            <a:r>
              <a:rPr lang="en-US" sz="1700"/>
              <a:t>(A) </a:t>
            </a:r>
            <a:r>
              <a:rPr b="1" lang="en-US" sz="1700"/>
              <a:t>reads initial </a:t>
            </a:r>
            <a:r>
              <a:rPr lang="en-US" sz="1700"/>
              <a:t>DB value, </a:t>
            </a:r>
            <a:endParaRPr sz="2600">
              <a:solidFill>
                <a:srgbClr val="0000FF"/>
              </a:solidFill>
            </a:endParaRPr>
          </a:p>
          <a:p>
            <a:pPr indent="168275" lvl="1" marL="301625" rtl="0" algn="l">
              <a:spcBef>
                <a:spcPts val="400"/>
              </a:spcBef>
              <a:spcAft>
                <a:spcPts val="0"/>
              </a:spcAft>
              <a:buSzPts val="1700"/>
              <a:buFont typeface="Noto Sans Symbols"/>
              <a:buNone/>
            </a:pPr>
            <a:r>
              <a:rPr b="1" lang="en-US" sz="1700"/>
              <a:t>                        then </a:t>
            </a:r>
            <a:r>
              <a:rPr lang="en-US" sz="1700"/>
              <a:t>in S2: r</a:t>
            </a:r>
            <a:r>
              <a:rPr baseline="-25000" lang="en-US" sz="1600"/>
              <a:t>i</a:t>
            </a:r>
            <a:r>
              <a:rPr lang="en-US" sz="1700"/>
              <a:t>(A) also reads initial DB value</a:t>
            </a:r>
            <a:endParaRPr b="1" sz="1700"/>
          </a:p>
        </p:txBody>
      </p:sp>
      <p:sp>
        <p:nvSpPr>
          <p:cNvPr descr="Date Placeholder 3" id="2186" name="Google Shape;2186;p15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87" name="Google Shape;2187;p15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188" name="Google Shape;2188;p150"/>
          <p:cNvSpPr txBox="1"/>
          <p:nvPr/>
        </p:nvSpPr>
        <p:spPr>
          <a:xfrm>
            <a:off x="6804025" y="5757863"/>
            <a:ext cx="1854200" cy="4826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Note: i,j are identifiers</a:t>
            </a:r>
            <a:endParaRPr/>
          </a:p>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of Transactions</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2" name="Shape 2192"/>
        <p:cNvGrpSpPr/>
        <p:nvPr/>
      </p:nvGrpSpPr>
      <p:grpSpPr>
        <a:xfrm>
          <a:off x="0" y="0"/>
          <a:ext cx="0" cy="0"/>
          <a:chOff x="0" y="0"/>
          <a:chExt cx="0" cy="0"/>
        </a:xfrm>
      </p:grpSpPr>
      <p:sp>
        <p:nvSpPr>
          <p:cNvPr descr="Title 1" id="2193" name="Google Shape;2193;p15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Serializability Schedule</a:t>
            </a:r>
            <a:endParaRPr/>
          </a:p>
        </p:txBody>
      </p:sp>
      <p:sp>
        <p:nvSpPr>
          <p:cNvPr descr="Content Placeholder 2" id="2194" name="Google Shape;2194;p15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Schedule is View Serializable if it is </a:t>
            </a:r>
            <a:r>
              <a:rPr b="1" lang="en-US" sz="2000"/>
              <a:t>view equivalent </a:t>
            </a:r>
            <a:r>
              <a:rPr lang="en-US" sz="2000"/>
              <a:t>to some </a:t>
            </a:r>
            <a:r>
              <a:rPr b="1" lang="en-US" sz="2000"/>
              <a:t>serial schedule</a:t>
            </a:r>
            <a:endParaRPr sz="2000"/>
          </a:p>
          <a:p>
            <a:pPr indent="-469900" lvl="0" marL="469900" rtl="0" algn="l">
              <a:spcBef>
                <a:spcPts val="400"/>
              </a:spcBef>
              <a:spcAft>
                <a:spcPts val="0"/>
              </a:spcAft>
              <a:buSzPts val="2000"/>
              <a:buFont typeface="Verdana"/>
              <a:buChar char="□"/>
            </a:pPr>
            <a:r>
              <a:rPr lang="en-US" sz="2000"/>
              <a:t>What is View equivalence ?</a:t>
            </a:r>
            <a:endParaRPr/>
          </a:p>
          <a:p>
            <a:pPr indent="107950" lvl="1" marL="361950" rtl="0" algn="l">
              <a:spcBef>
                <a:spcPts val="400"/>
              </a:spcBef>
              <a:spcAft>
                <a:spcPts val="0"/>
              </a:spcAft>
              <a:buSzPts val="1800"/>
              <a:buFont typeface="Noto Sans Symbols"/>
              <a:buNone/>
            </a:pPr>
            <a:r>
              <a:rPr lang="en-US" sz="1800"/>
              <a:t>In </a:t>
            </a:r>
            <a:r>
              <a:rPr b="1" lang="en-US" sz="1800"/>
              <a:t>View Equivalence</a:t>
            </a:r>
            <a:r>
              <a:rPr lang="en-US" sz="1800"/>
              <a:t>, respective transactions in the two schedules </a:t>
            </a:r>
            <a:r>
              <a:rPr b="1" lang="en-US" sz="1800">
                <a:solidFill>
                  <a:srgbClr val="0000FF"/>
                </a:solidFill>
              </a:rPr>
              <a:t>read </a:t>
            </a:r>
            <a:r>
              <a:rPr lang="en-US" sz="1800">
                <a:solidFill>
                  <a:srgbClr val="0000FF"/>
                </a:solidFill>
              </a:rPr>
              <a:t>and </a:t>
            </a:r>
            <a:r>
              <a:rPr b="1" lang="en-US" sz="1800">
                <a:solidFill>
                  <a:srgbClr val="0000FF"/>
                </a:solidFill>
              </a:rPr>
              <a:t>write </a:t>
            </a:r>
            <a:r>
              <a:rPr lang="en-US" sz="1800">
                <a:solidFill>
                  <a:srgbClr val="0000FF"/>
                </a:solidFill>
              </a:rPr>
              <a:t>the </a:t>
            </a:r>
            <a:r>
              <a:rPr b="1" lang="en-US" sz="1800">
                <a:solidFill>
                  <a:srgbClr val="0000FF"/>
                </a:solidFill>
              </a:rPr>
              <a:t>same data </a:t>
            </a:r>
            <a:r>
              <a:rPr lang="en-US" sz="1800">
                <a:solidFill>
                  <a:srgbClr val="0000FF"/>
                </a:solidFill>
              </a:rPr>
              <a:t>values </a:t>
            </a:r>
            <a:endParaRPr sz="2600"/>
          </a:p>
          <a:p>
            <a:pPr indent="-107950" lvl="1" marL="469900" rtl="0" algn="l">
              <a:spcBef>
                <a:spcPts val="400"/>
              </a:spcBef>
              <a:spcAft>
                <a:spcPts val="0"/>
              </a:spcAft>
              <a:buSzPts val="1800"/>
              <a:buFont typeface="Verdana"/>
              <a:buChar char="■"/>
            </a:pPr>
            <a:r>
              <a:rPr lang="en-US" sz="1800">
                <a:solidFill>
                  <a:srgbClr val="0000FF"/>
                </a:solidFill>
              </a:rPr>
              <a:t>Initial Reads: </a:t>
            </a:r>
            <a:r>
              <a:rPr b="1" lang="en-US" sz="1700"/>
              <a:t>If </a:t>
            </a:r>
            <a:r>
              <a:rPr lang="en-US" sz="1700"/>
              <a:t>in S1: r</a:t>
            </a:r>
            <a:r>
              <a:rPr lang="en-US" sz="1200"/>
              <a:t>i</a:t>
            </a:r>
            <a:r>
              <a:rPr lang="en-US" sz="1700"/>
              <a:t>(A) </a:t>
            </a:r>
            <a:r>
              <a:rPr b="1" lang="en-US" sz="1700"/>
              <a:t>reads initial </a:t>
            </a:r>
            <a:r>
              <a:rPr lang="en-US" sz="1700"/>
              <a:t>DB value, </a:t>
            </a:r>
            <a:endParaRPr sz="2600">
              <a:solidFill>
                <a:srgbClr val="0000FF"/>
              </a:solidFill>
            </a:endParaRPr>
          </a:p>
          <a:p>
            <a:pPr indent="107950" lvl="1" marL="361950" rtl="0" algn="l">
              <a:spcBef>
                <a:spcPts val="400"/>
              </a:spcBef>
              <a:spcAft>
                <a:spcPts val="0"/>
              </a:spcAft>
              <a:buSzPts val="1700"/>
              <a:buFont typeface="Noto Sans Symbols"/>
              <a:buNone/>
            </a:pPr>
            <a:r>
              <a:rPr b="1" lang="en-US" sz="1700"/>
              <a:t>                        then </a:t>
            </a:r>
            <a:r>
              <a:rPr lang="en-US" sz="1700"/>
              <a:t>in S2: r</a:t>
            </a:r>
            <a:r>
              <a:rPr lang="en-US" sz="1200"/>
              <a:t>i</a:t>
            </a:r>
            <a:r>
              <a:rPr lang="en-US" sz="1700"/>
              <a:t>(A) also reads initial DB value</a:t>
            </a:r>
            <a:endParaRPr b="1" sz="2600"/>
          </a:p>
          <a:p>
            <a:pPr indent="-107950" lvl="1" marL="469900" rtl="0" algn="l">
              <a:spcBef>
                <a:spcPts val="400"/>
              </a:spcBef>
              <a:spcAft>
                <a:spcPts val="0"/>
              </a:spcAft>
              <a:buSzPts val="1700"/>
              <a:buFont typeface="Verdana"/>
              <a:buChar char="■"/>
            </a:pPr>
            <a:r>
              <a:rPr lang="en-US" sz="1700">
                <a:solidFill>
                  <a:srgbClr val="0000FF"/>
                </a:solidFill>
              </a:rPr>
              <a:t>Same WR order</a:t>
            </a:r>
            <a:r>
              <a:rPr lang="en-US" sz="1700"/>
              <a:t>: </a:t>
            </a:r>
            <a:r>
              <a:rPr b="1" lang="en-US" sz="1700"/>
              <a:t>If </a:t>
            </a:r>
            <a:r>
              <a:rPr lang="en-US" sz="1700"/>
              <a:t>in S1: w</a:t>
            </a:r>
            <a:r>
              <a:rPr lang="en-US" sz="1200"/>
              <a:t>j</a:t>
            </a:r>
            <a:r>
              <a:rPr lang="en-US" sz="1700"/>
              <a:t>(A) –&gt; r</a:t>
            </a:r>
            <a:r>
              <a:rPr lang="en-US" sz="1200"/>
              <a:t>i</a:t>
            </a:r>
            <a:r>
              <a:rPr lang="en-US" sz="1700"/>
              <a:t>(A)</a:t>
            </a:r>
            <a:endParaRPr sz="2600">
              <a:solidFill>
                <a:srgbClr val="0000FF"/>
              </a:solidFill>
            </a:endParaRPr>
          </a:p>
          <a:p>
            <a:pPr indent="107950" lvl="1" marL="361950" rtl="0" algn="l">
              <a:spcBef>
                <a:spcPts val="400"/>
              </a:spcBef>
              <a:spcAft>
                <a:spcPts val="0"/>
              </a:spcAft>
              <a:buSzPts val="1700"/>
              <a:buFont typeface="Noto Sans Symbols"/>
              <a:buNone/>
            </a:pPr>
            <a:r>
              <a:rPr lang="en-US" sz="1700"/>
              <a:t>                               </a:t>
            </a:r>
            <a:r>
              <a:rPr b="1" lang="en-US" sz="1700"/>
              <a:t>then </a:t>
            </a:r>
            <a:r>
              <a:rPr lang="en-US" sz="1700"/>
              <a:t>in S2: w</a:t>
            </a:r>
            <a:r>
              <a:rPr lang="en-US" sz="1200"/>
              <a:t>j</a:t>
            </a:r>
            <a:r>
              <a:rPr lang="en-US" sz="1700"/>
              <a:t>(A)-&gt; r</a:t>
            </a:r>
            <a:r>
              <a:rPr lang="en-US" sz="1200"/>
              <a:t>i</a:t>
            </a:r>
            <a:r>
              <a:rPr lang="en-US" sz="1700"/>
              <a:t>(A)</a:t>
            </a:r>
            <a:endParaRPr/>
          </a:p>
        </p:txBody>
      </p:sp>
      <p:sp>
        <p:nvSpPr>
          <p:cNvPr descr="Date Placeholder 3" id="2195" name="Google Shape;2195;p15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196" name="Google Shape;2196;p15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197" name="Google Shape;2197;p151"/>
          <p:cNvSpPr txBox="1"/>
          <p:nvPr/>
        </p:nvSpPr>
        <p:spPr>
          <a:xfrm>
            <a:off x="6804025" y="5757863"/>
            <a:ext cx="1854200" cy="4826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Note: i,j are identifiers</a:t>
            </a:r>
            <a:endParaRPr/>
          </a:p>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of Transactions</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1" name="Shape 2201"/>
        <p:cNvGrpSpPr/>
        <p:nvPr/>
      </p:nvGrpSpPr>
      <p:grpSpPr>
        <a:xfrm>
          <a:off x="0" y="0"/>
          <a:ext cx="0" cy="0"/>
          <a:chOff x="0" y="0"/>
          <a:chExt cx="0" cy="0"/>
        </a:xfrm>
      </p:grpSpPr>
      <p:sp>
        <p:nvSpPr>
          <p:cNvPr descr="Title 1" id="2202" name="Google Shape;2202;p15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Serializability Schedule</a:t>
            </a:r>
            <a:endParaRPr/>
          </a:p>
        </p:txBody>
      </p:sp>
      <p:sp>
        <p:nvSpPr>
          <p:cNvPr descr="Content Placeholder 2" id="2203" name="Google Shape;2203;p15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Schedule is View Serializable if it is </a:t>
            </a:r>
            <a:r>
              <a:rPr b="1" lang="en-US" sz="2000"/>
              <a:t>view equivalent </a:t>
            </a:r>
            <a:r>
              <a:rPr lang="en-US" sz="2000"/>
              <a:t>to some </a:t>
            </a:r>
            <a:r>
              <a:rPr b="1" lang="en-US" sz="2000"/>
              <a:t>serial schedule</a:t>
            </a:r>
            <a:endParaRPr sz="2000"/>
          </a:p>
          <a:p>
            <a:pPr indent="-469900" lvl="0" marL="469900" rtl="0" algn="l">
              <a:spcBef>
                <a:spcPts val="400"/>
              </a:spcBef>
              <a:spcAft>
                <a:spcPts val="0"/>
              </a:spcAft>
              <a:buSzPts val="2000"/>
              <a:buFont typeface="Verdana"/>
              <a:buChar char="□"/>
            </a:pPr>
            <a:r>
              <a:rPr lang="en-US" sz="2000"/>
              <a:t>What is View equivalence ?</a:t>
            </a:r>
            <a:endParaRPr/>
          </a:p>
          <a:p>
            <a:pPr indent="80963" lvl="1" marL="388938" rtl="0" algn="l">
              <a:spcBef>
                <a:spcPts val="400"/>
              </a:spcBef>
              <a:spcAft>
                <a:spcPts val="0"/>
              </a:spcAft>
              <a:buSzPts val="1800"/>
              <a:buFont typeface="Noto Sans Symbols"/>
              <a:buNone/>
            </a:pPr>
            <a:r>
              <a:rPr lang="en-US" sz="1800"/>
              <a:t>In </a:t>
            </a:r>
            <a:r>
              <a:rPr b="1" lang="en-US" sz="1800"/>
              <a:t>View Equivalence</a:t>
            </a:r>
            <a:r>
              <a:rPr lang="en-US" sz="1800"/>
              <a:t>, respective transactions in the two schedules </a:t>
            </a:r>
            <a:r>
              <a:rPr b="1" lang="en-US" sz="1800">
                <a:solidFill>
                  <a:srgbClr val="0000FF"/>
                </a:solidFill>
              </a:rPr>
              <a:t>read </a:t>
            </a:r>
            <a:r>
              <a:rPr lang="en-US" sz="1800">
                <a:solidFill>
                  <a:srgbClr val="0000FF"/>
                </a:solidFill>
              </a:rPr>
              <a:t>and </a:t>
            </a:r>
            <a:r>
              <a:rPr b="1" lang="en-US" sz="1800">
                <a:solidFill>
                  <a:srgbClr val="0000FF"/>
                </a:solidFill>
              </a:rPr>
              <a:t>write </a:t>
            </a:r>
            <a:r>
              <a:rPr lang="en-US" sz="1800">
                <a:solidFill>
                  <a:srgbClr val="0000FF"/>
                </a:solidFill>
              </a:rPr>
              <a:t>the </a:t>
            </a:r>
            <a:r>
              <a:rPr b="1" lang="en-US" sz="1800">
                <a:solidFill>
                  <a:srgbClr val="0000FF"/>
                </a:solidFill>
              </a:rPr>
              <a:t>same data </a:t>
            </a:r>
            <a:r>
              <a:rPr lang="en-US" sz="1800">
                <a:solidFill>
                  <a:srgbClr val="0000FF"/>
                </a:solidFill>
              </a:rPr>
              <a:t>values </a:t>
            </a:r>
            <a:endParaRPr sz="2600"/>
          </a:p>
          <a:p>
            <a:pPr indent="-80963" lvl="1" marL="469901" rtl="0" algn="l">
              <a:spcBef>
                <a:spcPts val="400"/>
              </a:spcBef>
              <a:spcAft>
                <a:spcPts val="0"/>
              </a:spcAft>
              <a:buSzPts val="1600"/>
              <a:buFont typeface="Verdana"/>
              <a:buChar char="■"/>
            </a:pPr>
            <a:r>
              <a:rPr lang="en-US" sz="1600">
                <a:solidFill>
                  <a:srgbClr val="0000FF"/>
                </a:solidFill>
              </a:rPr>
              <a:t>Initial</a:t>
            </a:r>
            <a:r>
              <a:rPr lang="en-US" sz="1700">
                <a:solidFill>
                  <a:srgbClr val="0000FF"/>
                </a:solidFill>
              </a:rPr>
              <a:t> Read: </a:t>
            </a:r>
            <a:r>
              <a:rPr b="1" lang="en-US" sz="1700"/>
              <a:t>If </a:t>
            </a:r>
            <a:r>
              <a:rPr lang="en-US" sz="1700"/>
              <a:t>in S1: r</a:t>
            </a:r>
            <a:r>
              <a:rPr lang="en-US" sz="1200"/>
              <a:t>i</a:t>
            </a:r>
            <a:r>
              <a:rPr lang="en-US" sz="1700"/>
              <a:t>(A) </a:t>
            </a:r>
            <a:r>
              <a:rPr b="1" lang="en-US" sz="1700"/>
              <a:t>reads initial </a:t>
            </a:r>
            <a:r>
              <a:rPr lang="en-US" sz="1700"/>
              <a:t>DB value, </a:t>
            </a:r>
            <a:endParaRPr sz="2600">
              <a:solidFill>
                <a:srgbClr val="0000FF"/>
              </a:solidFill>
            </a:endParaRPr>
          </a:p>
          <a:p>
            <a:pPr indent="80963" lvl="1" marL="388938" rtl="0" algn="l">
              <a:spcBef>
                <a:spcPts val="400"/>
              </a:spcBef>
              <a:spcAft>
                <a:spcPts val="0"/>
              </a:spcAft>
              <a:buSzPts val="1700"/>
              <a:buFont typeface="Noto Sans Symbols"/>
              <a:buNone/>
            </a:pPr>
            <a:r>
              <a:rPr b="1" lang="en-US" sz="1700"/>
              <a:t>                        then </a:t>
            </a:r>
            <a:r>
              <a:rPr lang="en-US" sz="1700"/>
              <a:t>in S2: r</a:t>
            </a:r>
            <a:r>
              <a:rPr lang="en-US" sz="1200"/>
              <a:t>i</a:t>
            </a:r>
            <a:r>
              <a:rPr lang="en-US" sz="1700"/>
              <a:t>(A) also reads initial DB value</a:t>
            </a:r>
            <a:endParaRPr b="1" sz="2600"/>
          </a:p>
          <a:p>
            <a:pPr indent="-80963" lvl="1" marL="469901" rtl="0" algn="l">
              <a:spcBef>
                <a:spcPts val="400"/>
              </a:spcBef>
              <a:spcAft>
                <a:spcPts val="0"/>
              </a:spcAft>
              <a:buSzPts val="1700"/>
              <a:buFont typeface="Verdana"/>
              <a:buChar char="■"/>
            </a:pPr>
            <a:r>
              <a:rPr lang="en-US" sz="1700">
                <a:solidFill>
                  <a:srgbClr val="0000FF"/>
                </a:solidFill>
              </a:rPr>
              <a:t>Same WR order</a:t>
            </a:r>
            <a:r>
              <a:rPr lang="en-US" sz="1700"/>
              <a:t>: </a:t>
            </a:r>
            <a:r>
              <a:rPr b="1" lang="en-US" sz="1700"/>
              <a:t>If </a:t>
            </a:r>
            <a:r>
              <a:rPr lang="en-US" sz="1700"/>
              <a:t>in S1: w</a:t>
            </a:r>
            <a:r>
              <a:rPr lang="en-US" sz="1200"/>
              <a:t>j</a:t>
            </a:r>
            <a:r>
              <a:rPr lang="en-US" sz="1700"/>
              <a:t>(A) –&gt; r</a:t>
            </a:r>
            <a:r>
              <a:rPr lang="en-US" sz="1200"/>
              <a:t>i</a:t>
            </a:r>
            <a:r>
              <a:rPr lang="en-US" sz="1700"/>
              <a:t>(A)</a:t>
            </a:r>
            <a:endParaRPr sz="2600">
              <a:solidFill>
                <a:srgbClr val="0000FF"/>
              </a:solidFill>
            </a:endParaRPr>
          </a:p>
          <a:p>
            <a:pPr indent="80963" lvl="1" marL="388938" rtl="0" algn="l">
              <a:spcBef>
                <a:spcPts val="400"/>
              </a:spcBef>
              <a:spcAft>
                <a:spcPts val="0"/>
              </a:spcAft>
              <a:buSzPts val="1700"/>
              <a:buFont typeface="Noto Sans Symbols"/>
              <a:buNone/>
            </a:pPr>
            <a:r>
              <a:rPr lang="en-US" sz="1700"/>
              <a:t>                               </a:t>
            </a:r>
            <a:r>
              <a:rPr b="1" lang="en-US" sz="1700"/>
              <a:t>then </a:t>
            </a:r>
            <a:r>
              <a:rPr lang="en-US" sz="1700"/>
              <a:t>in S2: w</a:t>
            </a:r>
            <a:r>
              <a:rPr lang="en-US" sz="1200"/>
              <a:t>j</a:t>
            </a:r>
            <a:r>
              <a:rPr lang="en-US" sz="1700"/>
              <a:t>(A)-&gt; r</a:t>
            </a:r>
            <a:r>
              <a:rPr lang="en-US" sz="1200"/>
              <a:t>i</a:t>
            </a:r>
            <a:r>
              <a:rPr lang="en-US" sz="1700"/>
              <a:t>(A)</a:t>
            </a:r>
            <a:endParaRPr sz="2600"/>
          </a:p>
          <a:p>
            <a:pPr indent="-80963" lvl="1" marL="469901" rtl="0" algn="l">
              <a:spcBef>
                <a:spcPts val="400"/>
              </a:spcBef>
              <a:spcAft>
                <a:spcPts val="0"/>
              </a:spcAft>
              <a:buSzPts val="1700"/>
              <a:buFont typeface="Verdana"/>
              <a:buChar char="■"/>
            </a:pPr>
            <a:r>
              <a:rPr lang="en-US" sz="1700">
                <a:solidFill>
                  <a:srgbClr val="0000FF"/>
                </a:solidFill>
              </a:rPr>
              <a:t>Last Write: </a:t>
            </a:r>
            <a:r>
              <a:rPr b="1" lang="en-US" sz="1700"/>
              <a:t>If</a:t>
            </a:r>
            <a:r>
              <a:rPr lang="en-US" sz="1700"/>
              <a:t> in S1: w</a:t>
            </a:r>
            <a:r>
              <a:rPr lang="en-US" sz="1200"/>
              <a:t>i</a:t>
            </a:r>
            <a:r>
              <a:rPr lang="en-US" sz="1700"/>
              <a:t>(A) does </a:t>
            </a:r>
            <a:r>
              <a:rPr b="1" lang="en-US" sz="1700"/>
              <a:t>last write </a:t>
            </a:r>
            <a:r>
              <a:rPr lang="en-US" sz="1700"/>
              <a:t>on A, </a:t>
            </a:r>
            <a:endParaRPr sz="2600">
              <a:solidFill>
                <a:srgbClr val="0000FF"/>
              </a:solidFill>
            </a:endParaRPr>
          </a:p>
          <a:p>
            <a:pPr indent="80963" lvl="1" marL="388938" rtl="0" algn="l">
              <a:spcBef>
                <a:spcPts val="400"/>
              </a:spcBef>
              <a:spcAft>
                <a:spcPts val="0"/>
              </a:spcAft>
              <a:buSzPts val="1700"/>
              <a:buFont typeface="Noto Sans Symbols"/>
              <a:buNone/>
            </a:pPr>
            <a:r>
              <a:rPr b="1" lang="en-US" sz="1700"/>
              <a:t>                        then </a:t>
            </a:r>
            <a:r>
              <a:rPr lang="en-US" sz="1700"/>
              <a:t>in S2: w</a:t>
            </a:r>
            <a:r>
              <a:rPr lang="en-US" sz="1200"/>
              <a:t>i</a:t>
            </a:r>
            <a:r>
              <a:rPr lang="en-US" sz="1700"/>
              <a:t>(A) also does last write on A</a:t>
            </a:r>
            <a:endParaRPr b="1" sz="1700"/>
          </a:p>
        </p:txBody>
      </p:sp>
      <p:sp>
        <p:nvSpPr>
          <p:cNvPr descr="Date Placeholder 3" id="2204" name="Google Shape;2204;p15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05" name="Google Shape;2205;p15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206" name="Google Shape;2206;p152"/>
          <p:cNvSpPr txBox="1"/>
          <p:nvPr/>
        </p:nvSpPr>
        <p:spPr>
          <a:xfrm>
            <a:off x="7019925" y="2852738"/>
            <a:ext cx="1854200" cy="4810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Note: i,j are identifiers</a:t>
            </a:r>
            <a:endParaRPr/>
          </a:p>
          <a:p>
            <a:pPr indent="0" lvl="1" marL="0" marR="0" rtl="0" algn="l">
              <a:spcBef>
                <a:spcPts val="0"/>
              </a:spcBef>
              <a:spcAft>
                <a:spcPts val="0"/>
              </a:spcAft>
              <a:buNone/>
            </a:pPr>
            <a:r>
              <a:rPr b="0" i="0" lang="en-US" sz="1200" u="none" cap="none" strike="noStrike">
                <a:solidFill>
                  <a:srgbClr val="000000"/>
                </a:solidFill>
                <a:latin typeface="Verdana"/>
                <a:ea typeface="Verdana"/>
                <a:cs typeface="Verdana"/>
                <a:sym typeface="Verdana"/>
              </a:rPr>
              <a:t>of Transactions</a:t>
            </a:r>
            <a:endParaRPr/>
          </a:p>
        </p:txBody>
      </p:sp>
      <p:sp>
        <p:nvSpPr>
          <p:cNvPr descr="TextBox 7" id="2207" name="Google Shape;2207;p152"/>
          <p:cNvSpPr txBox="1"/>
          <p:nvPr/>
        </p:nvSpPr>
        <p:spPr>
          <a:xfrm>
            <a:off x="584200" y="5156200"/>
            <a:ext cx="7697788" cy="11715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Note: The premise behind view equivalence: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 “The view”: the read operations are said to see </a:t>
            </a:r>
            <a:r>
              <a:rPr i="1" lang="en-US" sz="1400">
                <a:solidFill>
                  <a:srgbClr val="000000"/>
                </a:solidFill>
                <a:latin typeface="Verdana"/>
                <a:ea typeface="Verdana"/>
                <a:cs typeface="Verdana"/>
                <a:sym typeface="Verdana"/>
              </a:rPr>
              <a:t>the same view </a:t>
            </a:r>
            <a:r>
              <a:rPr lang="en-US" sz="1400">
                <a:solidFill>
                  <a:srgbClr val="000000"/>
                </a:solidFill>
                <a:latin typeface="Verdana"/>
                <a:ea typeface="Verdana"/>
                <a:cs typeface="Verdana"/>
                <a:sym typeface="Verdana"/>
              </a:rPr>
              <a:t>in both schedules.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 Rule: As long as each read operation of a transaction reads the result of </a:t>
            </a:r>
            <a:r>
              <a:rPr i="1" lang="en-US" sz="1400">
                <a:solidFill>
                  <a:srgbClr val="000000"/>
                </a:solidFill>
                <a:latin typeface="Verdana"/>
                <a:ea typeface="Verdana"/>
                <a:cs typeface="Verdana"/>
                <a:sym typeface="Verdana"/>
              </a:rPr>
              <a:t>the same </a:t>
            </a:r>
            <a:endParaRPr/>
          </a:p>
          <a:p>
            <a:pPr indent="0" lvl="0" marL="0" marR="0" rtl="0" algn="l">
              <a:spcBef>
                <a:spcPts val="0"/>
              </a:spcBef>
              <a:spcAft>
                <a:spcPts val="0"/>
              </a:spcAft>
              <a:buNone/>
            </a:pPr>
            <a:r>
              <a:rPr i="1" lang="en-US" sz="1400">
                <a:solidFill>
                  <a:srgbClr val="000000"/>
                </a:solidFill>
                <a:latin typeface="Verdana"/>
                <a:ea typeface="Verdana"/>
                <a:cs typeface="Verdana"/>
                <a:sym typeface="Verdana"/>
              </a:rPr>
              <a:t>write operation </a:t>
            </a:r>
            <a:r>
              <a:rPr lang="en-US" sz="1400">
                <a:solidFill>
                  <a:srgbClr val="000000"/>
                </a:solidFill>
                <a:latin typeface="Verdana"/>
                <a:ea typeface="Verdana"/>
                <a:cs typeface="Verdana"/>
                <a:sym typeface="Verdana"/>
              </a:rPr>
              <a:t>in both schedules, the write operations of each transaction must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produce the same results.</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sp>
        <p:nvSpPr>
          <p:cNvPr descr="Title 1" id="2212" name="Google Shape;2212;p15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Equivalence Schedules</a:t>
            </a:r>
            <a:endParaRPr/>
          </a:p>
        </p:txBody>
      </p:sp>
      <p:sp>
        <p:nvSpPr>
          <p:cNvPr descr="Content Placeholder 2" id="2213" name="Google Shape;2213;p15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82563" lvl="0" marL="200025" rtl="0" algn="l">
              <a:spcBef>
                <a:spcPts val="0"/>
              </a:spcBef>
              <a:spcAft>
                <a:spcPts val="0"/>
              </a:spcAft>
              <a:buSzPts val="1400"/>
              <a:buFont typeface="Noto Sans Symbols"/>
              <a:buNone/>
            </a:pPr>
            <a:r>
              <a:rPr b="1" lang="en-US" sz="1400"/>
              <a:t>View Equivalence</a:t>
            </a:r>
            <a:r>
              <a:rPr lang="en-US" sz="1400"/>
              <a:t>, </a:t>
            </a:r>
            <a:r>
              <a:rPr b="1" lang="en-US" sz="1400"/>
              <a:t>respective transactions </a:t>
            </a:r>
            <a:r>
              <a:rPr lang="en-US" sz="1400"/>
              <a:t>in the two schedules </a:t>
            </a:r>
            <a:r>
              <a:rPr b="1" lang="en-US" sz="1400">
                <a:solidFill>
                  <a:srgbClr val="0000FF"/>
                </a:solidFill>
              </a:rPr>
              <a:t>read </a:t>
            </a:r>
            <a:r>
              <a:rPr lang="en-US" sz="1400">
                <a:solidFill>
                  <a:srgbClr val="0000FF"/>
                </a:solidFill>
              </a:rPr>
              <a:t>and </a:t>
            </a:r>
            <a:r>
              <a:rPr b="1" lang="en-US" sz="1400">
                <a:solidFill>
                  <a:srgbClr val="0000FF"/>
                </a:solidFill>
              </a:rPr>
              <a:t>write </a:t>
            </a:r>
            <a:r>
              <a:rPr lang="en-US" sz="1400">
                <a:solidFill>
                  <a:srgbClr val="0000FF"/>
                </a:solidFill>
              </a:rPr>
              <a:t>the </a:t>
            </a:r>
            <a:r>
              <a:rPr b="1" lang="en-US" sz="1400">
                <a:solidFill>
                  <a:srgbClr val="0000FF"/>
                </a:solidFill>
              </a:rPr>
              <a:t>same data </a:t>
            </a:r>
            <a:r>
              <a:rPr lang="en-US" sz="1400">
                <a:solidFill>
                  <a:srgbClr val="0000FF"/>
                </a:solidFill>
              </a:rPr>
              <a:t>values </a:t>
            </a:r>
            <a:endParaRPr/>
          </a:p>
          <a:p>
            <a:pPr indent="-182563" lvl="0" marL="200025" rtl="0" algn="l">
              <a:spcBef>
                <a:spcPts val="300"/>
              </a:spcBef>
              <a:spcAft>
                <a:spcPts val="0"/>
              </a:spcAft>
              <a:buSzPts val="1400"/>
              <a:buFont typeface="Verdana"/>
              <a:buChar char="□"/>
            </a:pPr>
            <a:r>
              <a:rPr lang="en-US" sz="1400">
                <a:solidFill>
                  <a:srgbClr val="0000FF"/>
                </a:solidFill>
              </a:rPr>
              <a:t>Initial Reads: </a:t>
            </a:r>
            <a:r>
              <a:rPr b="1" lang="en-US" sz="1400"/>
              <a:t>If </a:t>
            </a:r>
            <a:r>
              <a:rPr lang="en-US" sz="1400"/>
              <a:t>in S1: ri(A) </a:t>
            </a:r>
            <a:r>
              <a:rPr b="1" lang="en-US" sz="1400"/>
              <a:t>reads initial </a:t>
            </a:r>
            <a:r>
              <a:rPr lang="en-US" sz="1400"/>
              <a:t>DB value, </a:t>
            </a:r>
            <a:endParaRPr/>
          </a:p>
          <a:p>
            <a:pPr indent="-182563" lvl="0" marL="200025" rtl="0" algn="l">
              <a:spcBef>
                <a:spcPts val="300"/>
              </a:spcBef>
              <a:spcAft>
                <a:spcPts val="0"/>
              </a:spcAft>
              <a:buSzPts val="1400"/>
              <a:buFont typeface="Noto Sans Symbols"/>
              <a:buNone/>
            </a:pPr>
            <a:r>
              <a:rPr b="1" lang="en-US" sz="1400"/>
              <a:t>                          then </a:t>
            </a:r>
            <a:r>
              <a:rPr lang="en-US" sz="1400"/>
              <a:t>in S2: ri(A) also reads initial DB value</a:t>
            </a:r>
            <a:endParaRPr b="1" sz="1400">
              <a:solidFill>
                <a:srgbClr val="0000FF"/>
              </a:solidFill>
            </a:endParaRPr>
          </a:p>
          <a:p>
            <a:pPr indent="-182563" lvl="0" marL="200025" rtl="0" algn="l">
              <a:spcBef>
                <a:spcPts val="300"/>
              </a:spcBef>
              <a:spcAft>
                <a:spcPts val="0"/>
              </a:spcAft>
              <a:buSzPts val="1400"/>
              <a:buFont typeface="Verdana"/>
              <a:buChar char="□"/>
            </a:pPr>
            <a:r>
              <a:rPr lang="en-US" sz="1400">
                <a:solidFill>
                  <a:srgbClr val="0000FF"/>
                </a:solidFill>
              </a:rPr>
              <a:t>Same WR order</a:t>
            </a:r>
            <a:r>
              <a:rPr lang="en-US" sz="1400"/>
              <a:t>: </a:t>
            </a:r>
            <a:r>
              <a:rPr b="1" lang="en-US" sz="1400"/>
              <a:t>If </a:t>
            </a:r>
            <a:r>
              <a:rPr lang="en-US" sz="1400"/>
              <a:t>in S1: wj(A) –&gt; ri(A)</a:t>
            </a:r>
            <a:endParaRPr/>
          </a:p>
          <a:p>
            <a:pPr indent="-182563" lvl="0" marL="200025" rtl="0" algn="l">
              <a:spcBef>
                <a:spcPts val="300"/>
              </a:spcBef>
              <a:spcAft>
                <a:spcPts val="0"/>
              </a:spcAft>
              <a:buSzPts val="1400"/>
              <a:buFont typeface="Noto Sans Symbols"/>
              <a:buNone/>
            </a:pPr>
            <a:r>
              <a:rPr lang="en-US" sz="1400"/>
              <a:t>                              </a:t>
            </a:r>
            <a:r>
              <a:rPr b="1" lang="en-US" sz="1400"/>
              <a:t>then </a:t>
            </a:r>
            <a:r>
              <a:rPr lang="en-US" sz="1400"/>
              <a:t>in S2: wj(A)-&gt; ri(A)</a:t>
            </a:r>
            <a:endParaRPr/>
          </a:p>
          <a:p>
            <a:pPr indent="-182563" lvl="0" marL="200025" rtl="0" algn="l">
              <a:spcBef>
                <a:spcPts val="300"/>
              </a:spcBef>
              <a:spcAft>
                <a:spcPts val="0"/>
              </a:spcAft>
              <a:buSzPts val="1400"/>
              <a:buFont typeface="Verdana"/>
              <a:buChar char="□"/>
            </a:pPr>
            <a:r>
              <a:rPr lang="en-US" sz="1400">
                <a:solidFill>
                  <a:srgbClr val="0000FF"/>
                </a:solidFill>
              </a:rPr>
              <a:t>Final Writes: </a:t>
            </a:r>
            <a:r>
              <a:rPr b="1" lang="en-US" sz="1400"/>
              <a:t>If</a:t>
            </a:r>
            <a:r>
              <a:rPr lang="en-US" sz="1400"/>
              <a:t> in S1: wi(A) does </a:t>
            </a:r>
            <a:r>
              <a:rPr b="1" lang="en-US" sz="1400"/>
              <a:t>last write </a:t>
            </a:r>
            <a:r>
              <a:rPr lang="en-US" sz="1400"/>
              <a:t>on A, </a:t>
            </a:r>
            <a:endParaRPr/>
          </a:p>
          <a:p>
            <a:pPr indent="-182563" lvl="0" marL="200025" rtl="0" algn="l">
              <a:spcBef>
                <a:spcPts val="300"/>
              </a:spcBef>
              <a:spcAft>
                <a:spcPts val="0"/>
              </a:spcAft>
              <a:buSzPts val="1400"/>
              <a:buFont typeface="Noto Sans Symbols"/>
              <a:buNone/>
            </a:pPr>
            <a:r>
              <a:rPr b="1" lang="en-US" sz="1400"/>
              <a:t>                        then </a:t>
            </a:r>
            <a:r>
              <a:rPr lang="en-US" sz="1400"/>
              <a:t>in S2: wi(A) also does last write on A</a:t>
            </a:r>
            <a:endParaRPr b="1" sz="1400"/>
          </a:p>
        </p:txBody>
      </p:sp>
      <p:sp>
        <p:nvSpPr>
          <p:cNvPr descr="Date Placeholder 3" id="2214" name="Google Shape;2214;p15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15" name="Google Shape;2215;p15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216" name="Google Shape;2216;p153"/>
          <p:cNvGraphicFramePr/>
          <p:nvPr/>
        </p:nvGraphicFramePr>
        <p:xfrm>
          <a:off x="1330325" y="3716338"/>
          <a:ext cx="3000000" cy="3000000"/>
        </p:xfrm>
        <a:graphic>
          <a:graphicData uri="http://schemas.openxmlformats.org/drawingml/2006/table">
            <a:tbl>
              <a:tblPr>
                <a:noFill/>
                <a:tableStyleId>{DA31C186-C125-4E34-A739-053F885C22C1}</a:tableStyleId>
              </a:tblPr>
              <a:tblGrid>
                <a:gridCol w="773125"/>
                <a:gridCol w="946150"/>
                <a:gridCol w="94615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217" name="Google Shape;2217;p153"/>
          <p:cNvSpPr txBox="1"/>
          <p:nvPr/>
        </p:nvSpPr>
        <p:spPr>
          <a:xfrm>
            <a:off x="2079625" y="3355975"/>
            <a:ext cx="1212850"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S1</a:t>
            </a:r>
            <a:endParaRPr/>
          </a:p>
        </p:txBody>
      </p:sp>
      <p:graphicFrame>
        <p:nvGraphicFramePr>
          <p:cNvPr id="2218" name="Google Shape;2218;p153"/>
          <p:cNvGraphicFramePr/>
          <p:nvPr/>
        </p:nvGraphicFramePr>
        <p:xfrm>
          <a:off x="4716463" y="3711575"/>
          <a:ext cx="3000000" cy="3000000"/>
        </p:xfrm>
        <a:graphic>
          <a:graphicData uri="http://schemas.openxmlformats.org/drawingml/2006/table">
            <a:tbl>
              <a:tblPr>
                <a:noFill/>
                <a:tableStyleId>{DA31C186-C125-4E34-A739-053F885C22C1}</a:tableStyleId>
              </a:tblPr>
              <a:tblGrid>
                <a:gridCol w="773100"/>
                <a:gridCol w="946150"/>
                <a:gridCol w="94615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2219" name="Google Shape;2219;p153"/>
          <p:cNvSpPr txBox="1"/>
          <p:nvPr/>
        </p:nvSpPr>
        <p:spPr>
          <a:xfrm>
            <a:off x="5481638" y="3355975"/>
            <a:ext cx="1211262"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a:t>
            </a:r>
            <a:endParaRPr/>
          </a:p>
        </p:txBody>
      </p:sp>
      <p:sp>
        <p:nvSpPr>
          <p:cNvPr descr="TextBox 8" id="2220" name="Google Shape;2220;p153"/>
          <p:cNvSpPr txBox="1"/>
          <p:nvPr/>
        </p:nvSpPr>
        <p:spPr>
          <a:xfrm>
            <a:off x="1927225" y="5948363"/>
            <a:ext cx="4794250"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 is view equivalent to serial schedule S1</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4" name="Shape 2224"/>
        <p:cNvGrpSpPr/>
        <p:nvPr/>
      </p:nvGrpSpPr>
      <p:grpSpPr>
        <a:xfrm>
          <a:off x="0" y="0"/>
          <a:ext cx="0" cy="0"/>
          <a:chOff x="0" y="0"/>
          <a:chExt cx="0" cy="0"/>
        </a:xfrm>
      </p:grpSpPr>
      <p:sp>
        <p:nvSpPr>
          <p:cNvPr descr="Title 1" id="2225" name="Google Shape;2225;p15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Equivalence Schedules</a:t>
            </a:r>
            <a:endParaRPr/>
          </a:p>
        </p:txBody>
      </p:sp>
      <p:sp>
        <p:nvSpPr>
          <p:cNvPr descr="Content Placeholder 2" id="2226" name="Google Shape;2226;p15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82563" lvl="0" marL="200025" rtl="0" algn="l">
              <a:spcBef>
                <a:spcPts val="0"/>
              </a:spcBef>
              <a:spcAft>
                <a:spcPts val="0"/>
              </a:spcAft>
              <a:buSzPts val="1400"/>
              <a:buFont typeface="Noto Sans Symbols"/>
              <a:buNone/>
            </a:pPr>
            <a:r>
              <a:rPr b="1" lang="en-US" sz="1400">
                <a:solidFill>
                  <a:srgbClr val="000000"/>
                </a:solidFill>
              </a:rPr>
              <a:t>View Equivalence</a:t>
            </a:r>
            <a:r>
              <a:rPr lang="en-US" sz="1400">
                <a:solidFill>
                  <a:srgbClr val="000000"/>
                </a:solidFill>
              </a:rPr>
              <a:t>, </a:t>
            </a:r>
            <a:r>
              <a:rPr b="1" lang="en-US" sz="1400">
                <a:solidFill>
                  <a:srgbClr val="000000"/>
                </a:solidFill>
              </a:rPr>
              <a:t>respective transactions </a:t>
            </a:r>
            <a:r>
              <a:rPr lang="en-US" sz="1400">
                <a:solidFill>
                  <a:srgbClr val="000000"/>
                </a:solidFill>
              </a:rPr>
              <a:t>in the two schedules </a:t>
            </a:r>
            <a:r>
              <a:rPr b="1" lang="en-US" sz="1400">
                <a:solidFill>
                  <a:srgbClr val="000000"/>
                </a:solidFill>
              </a:rPr>
              <a:t>read </a:t>
            </a:r>
            <a:r>
              <a:rPr lang="en-US" sz="1400">
                <a:solidFill>
                  <a:srgbClr val="000000"/>
                </a:solidFill>
              </a:rPr>
              <a:t>and </a:t>
            </a:r>
            <a:r>
              <a:rPr b="1" lang="en-US" sz="1400">
                <a:solidFill>
                  <a:srgbClr val="000000"/>
                </a:solidFill>
              </a:rPr>
              <a:t>write </a:t>
            </a:r>
            <a:r>
              <a:rPr lang="en-US" sz="1400">
                <a:solidFill>
                  <a:srgbClr val="000000"/>
                </a:solidFill>
              </a:rPr>
              <a:t>the </a:t>
            </a:r>
            <a:r>
              <a:rPr b="1" lang="en-US" sz="1400">
                <a:solidFill>
                  <a:srgbClr val="000000"/>
                </a:solidFill>
              </a:rPr>
              <a:t>same data </a:t>
            </a:r>
            <a:r>
              <a:rPr lang="en-US" sz="1400">
                <a:solidFill>
                  <a:srgbClr val="000000"/>
                </a:solidFill>
              </a:rPr>
              <a:t>values </a:t>
            </a:r>
            <a:endParaRPr/>
          </a:p>
          <a:p>
            <a:pPr indent="-182563" lvl="0" marL="200025" rtl="0" algn="l">
              <a:spcBef>
                <a:spcPts val="300"/>
              </a:spcBef>
              <a:spcAft>
                <a:spcPts val="0"/>
              </a:spcAft>
              <a:buSzPts val="1400"/>
              <a:buFont typeface="Verdana"/>
              <a:buChar char="□"/>
            </a:pPr>
            <a:r>
              <a:rPr lang="en-US" sz="1400">
                <a:solidFill>
                  <a:srgbClr val="0000FF"/>
                </a:solidFill>
              </a:rPr>
              <a:t>Initial Reads: </a:t>
            </a:r>
            <a:r>
              <a:rPr b="1" lang="en-US" sz="1400">
                <a:solidFill>
                  <a:srgbClr val="0000FF"/>
                </a:solidFill>
              </a:rPr>
              <a:t>If </a:t>
            </a:r>
            <a:r>
              <a:rPr lang="en-US" sz="1400">
                <a:solidFill>
                  <a:srgbClr val="0000FF"/>
                </a:solidFill>
              </a:rPr>
              <a:t>in S1: ri(A) </a:t>
            </a:r>
            <a:r>
              <a:rPr b="1" lang="en-US" sz="1400">
                <a:solidFill>
                  <a:srgbClr val="0000FF"/>
                </a:solidFill>
              </a:rPr>
              <a:t>reads initial </a:t>
            </a:r>
            <a:r>
              <a:rPr lang="en-US" sz="1400">
                <a:solidFill>
                  <a:srgbClr val="0000FF"/>
                </a:solidFill>
              </a:rPr>
              <a:t>DB value, </a:t>
            </a:r>
            <a:endParaRPr/>
          </a:p>
          <a:p>
            <a:pPr indent="-182563" lvl="0" marL="200025" rtl="0" algn="l">
              <a:spcBef>
                <a:spcPts val="300"/>
              </a:spcBef>
              <a:spcAft>
                <a:spcPts val="0"/>
              </a:spcAft>
              <a:buSzPts val="1400"/>
              <a:buFont typeface="Noto Sans Symbols"/>
              <a:buNone/>
            </a:pPr>
            <a:r>
              <a:rPr b="1" lang="en-US" sz="1400">
                <a:solidFill>
                  <a:srgbClr val="0000FF"/>
                </a:solidFill>
              </a:rPr>
              <a:t>                          then </a:t>
            </a:r>
            <a:r>
              <a:rPr lang="en-US" sz="1400">
                <a:solidFill>
                  <a:srgbClr val="0000FF"/>
                </a:solidFill>
              </a:rPr>
              <a:t>in S2: ri(A) also reads initial DB value</a:t>
            </a:r>
            <a:endParaRPr/>
          </a:p>
          <a:p>
            <a:pPr indent="-182563" lvl="0" marL="200025" rtl="0" algn="l">
              <a:spcBef>
                <a:spcPts val="300"/>
              </a:spcBef>
              <a:spcAft>
                <a:spcPts val="0"/>
              </a:spcAft>
              <a:buSzPts val="1400"/>
              <a:buFont typeface="Verdana"/>
              <a:buChar char="□"/>
            </a:pPr>
            <a:r>
              <a:rPr lang="en-US" sz="1400">
                <a:solidFill>
                  <a:srgbClr val="000000"/>
                </a:solidFill>
              </a:rPr>
              <a:t>Same WR order: </a:t>
            </a:r>
            <a:r>
              <a:rPr b="1" lang="en-US" sz="1400">
                <a:solidFill>
                  <a:srgbClr val="000000"/>
                </a:solidFill>
              </a:rPr>
              <a:t>If </a:t>
            </a:r>
            <a:r>
              <a:rPr lang="en-US" sz="1400">
                <a:solidFill>
                  <a:srgbClr val="000000"/>
                </a:solidFill>
              </a:rPr>
              <a:t>in S1: wj(A) –&gt; ri(A)</a:t>
            </a:r>
            <a:endParaRPr/>
          </a:p>
          <a:p>
            <a:pPr indent="-182563" lvl="0" marL="200025" rtl="0" algn="l">
              <a:spcBef>
                <a:spcPts val="300"/>
              </a:spcBef>
              <a:spcAft>
                <a:spcPts val="0"/>
              </a:spcAft>
              <a:buSzPts val="1400"/>
              <a:buFont typeface="Noto Sans Symbols"/>
              <a:buNone/>
            </a:pPr>
            <a:r>
              <a:rPr lang="en-US" sz="1400">
                <a:solidFill>
                  <a:srgbClr val="000000"/>
                </a:solidFill>
              </a:rPr>
              <a:t>                              </a:t>
            </a:r>
            <a:r>
              <a:rPr b="1" lang="en-US" sz="1400">
                <a:solidFill>
                  <a:srgbClr val="000000"/>
                </a:solidFill>
              </a:rPr>
              <a:t>then </a:t>
            </a:r>
            <a:r>
              <a:rPr lang="en-US" sz="1400">
                <a:solidFill>
                  <a:srgbClr val="000000"/>
                </a:solidFill>
              </a:rPr>
              <a:t>in S2: wj(A)-&gt; ri(A)</a:t>
            </a:r>
            <a:endParaRPr/>
          </a:p>
          <a:p>
            <a:pPr indent="-182563" lvl="0" marL="200025" rtl="0" algn="l">
              <a:spcBef>
                <a:spcPts val="300"/>
              </a:spcBef>
              <a:spcAft>
                <a:spcPts val="0"/>
              </a:spcAft>
              <a:buSzPts val="1400"/>
              <a:buFont typeface="Verdana"/>
              <a:buChar char="□"/>
            </a:pPr>
            <a:r>
              <a:rPr lang="en-US" sz="1400">
                <a:solidFill>
                  <a:srgbClr val="000000"/>
                </a:solidFill>
              </a:rPr>
              <a:t>Final Writes: </a:t>
            </a:r>
            <a:r>
              <a:rPr b="1" lang="en-US" sz="1400">
                <a:solidFill>
                  <a:srgbClr val="000000"/>
                </a:solidFill>
              </a:rPr>
              <a:t>If</a:t>
            </a:r>
            <a:r>
              <a:rPr lang="en-US" sz="1400">
                <a:solidFill>
                  <a:srgbClr val="000000"/>
                </a:solidFill>
              </a:rPr>
              <a:t> in S1: wi(A) does </a:t>
            </a:r>
            <a:r>
              <a:rPr b="1" lang="en-US" sz="1400">
                <a:solidFill>
                  <a:srgbClr val="000000"/>
                </a:solidFill>
              </a:rPr>
              <a:t>last write </a:t>
            </a:r>
            <a:r>
              <a:rPr lang="en-US" sz="1400">
                <a:solidFill>
                  <a:srgbClr val="000000"/>
                </a:solidFill>
              </a:rPr>
              <a:t>on A, </a:t>
            </a:r>
            <a:endParaRPr/>
          </a:p>
          <a:p>
            <a:pPr indent="-182563" lvl="0" marL="200025" rtl="0" algn="l">
              <a:spcBef>
                <a:spcPts val="300"/>
              </a:spcBef>
              <a:spcAft>
                <a:spcPts val="0"/>
              </a:spcAft>
              <a:buSzPts val="1400"/>
              <a:buFont typeface="Noto Sans Symbols"/>
              <a:buNone/>
            </a:pPr>
            <a:r>
              <a:rPr b="1" lang="en-US" sz="1400">
                <a:solidFill>
                  <a:srgbClr val="000000"/>
                </a:solidFill>
              </a:rPr>
              <a:t>                        then </a:t>
            </a:r>
            <a:r>
              <a:rPr lang="en-US" sz="1400">
                <a:solidFill>
                  <a:srgbClr val="000000"/>
                </a:solidFill>
              </a:rPr>
              <a:t>in S2: wi(A) also does last write on A</a:t>
            </a:r>
            <a:endParaRPr b="1" sz="1400">
              <a:solidFill>
                <a:srgbClr val="000000"/>
              </a:solidFill>
            </a:endParaRPr>
          </a:p>
        </p:txBody>
      </p:sp>
      <p:sp>
        <p:nvSpPr>
          <p:cNvPr descr="Date Placeholder 3" id="2227" name="Google Shape;2227;p15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28" name="Google Shape;2228;p15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229" name="Google Shape;2229;p154"/>
          <p:cNvGraphicFramePr/>
          <p:nvPr/>
        </p:nvGraphicFramePr>
        <p:xfrm>
          <a:off x="755650" y="3716338"/>
          <a:ext cx="3000000" cy="3000000"/>
        </p:xfrm>
        <a:graphic>
          <a:graphicData uri="http://schemas.openxmlformats.org/drawingml/2006/table">
            <a:tbl>
              <a:tblPr>
                <a:noFill/>
                <a:tableStyleId>{DA31C186-C125-4E34-A739-053F885C22C1}</a:tableStyleId>
              </a:tblPr>
              <a:tblGrid>
                <a:gridCol w="773125"/>
                <a:gridCol w="946150"/>
                <a:gridCol w="94615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230" name="Google Shape;2230;p154"/>
          <p:cNvSpPr txBox="1"/>
          <p:nvPr/>
        </p:nvSpPr>
        <p:spPr>
          <a:xfrm>
            <a:off x="1522413" y="5935663"/>
            <a:ext cx="1211262"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S1</a:t>
            </a:r>
            <a:endParaRPr/>
          </a:p>
        </p:txBody>
      </p:sp>
      <p:graphicFrame>
        <p:nvGraphicFramePr>
          <p:cNvPr id="2231" name="Google Shape;2231;p154"/>
          <p:cNvGraphicFramePr/>
          <p:nvPr/>
        </p:nvGraphicFramePr>
        <p:xfrm>
          <a:off x="4141788" y="3711575"/>
          <a:ext cx="3000000" cy="3000000"/>
        </p:xfrm>
        <a:graphic>
          <a:graphicData uri="http://schemas.openxmlformats.org/drawingml/2006/table">
            <a:tbl>
              <a:tblPr>
                <a:noFill/>
                <a:tableStyleId>{DA31C186-C125-4E34-A739-053F885C22C1}</a:tableStyleId>
              </a:tblPr>
              <a:tblGrid>
                <a:gridCol w="773100"/>
                <a:gridCol w="946150"/>
                <a:gridCol w="946150"/>
              </a:tblGrid>
              <a:tr h="384175">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2232" name="Google Shape;2232;p154"/>
          <p:cNvSpPr txBox="1"/>
          <p:nvPr/>
        </p:nvSpPr>
        <p:spPr>
          <a:xfrm>
            <a:off x="4762500" y="5929313"/>
            <a:ext cx="1211263"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a:t>
            </a:r>
            <a:endParaRPr/>
          </a:p>
        </p:txBody>
      </p:sp>
      <p:sp>
        <p:nvSpPr>
          <p:cNvPr descr="TextBox 8" id="2233" name="Google Shape;2233;p154"/>
          <p:cNvSpPr txBox="1"/>
          <p:nvPr/>
        </p:nvSpPr>
        <p:spPr>
          <a:xfrm>
            <a:off x="1209675" y="3378200"/>
            <a:ext cx="4792663"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 is view equivalent to serial schedule S1</a:t>
            </a:r>
            <a:endParaRPr/>
          </a:p>
        </p:txBody>
      </p:sp>
      <p:sp>
        <p:nvSpPr>
          <p:cNvPr descr="TextBox 11" id="2234" name="Google Shape;2234;p154"/>
          <p:cNvSpPr txBox="1"/>
          <p:nvPr/>
        </p:nvSpPr>
        <p:spPr>
          <a:xfrm>
            <a:off x="6992938" y="4027488"/>
            <a:ext cx="1851025"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FF"/>
                </a:solidFill>
                <a:latin typeface="Verdana"/>
                <a:ea typeface="Verdana"/>
                <a:cs typeface="Verdana"/>
                <a:sym typeface="Verdana"/>
              </a:rPr>
              <a:t>Same Initial </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Reads in S1 and S2</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descr="Title 1" id="2239" name="Google Shape;2239;p15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Equivalence Schedules</a:t>
            </a:r>
            <a:endParaRPr/>
          </a:p>
        </p:txBody>
      </p:sp>
      <p:sp>
        <p:nvSpPr>
          <p:cNvPr descr="Content Placeholder 2" id="2240" name="Google Shape;2240;p15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82563" lvl="0" marL="200025" rtl="0" algn="l">
              <a:spcBef>
                <a:spcPts val="0"/>
              </a:spcBef>
              <a:spcAft>
                <a:spcPts val="0"/>
              </a:spcAft>
              <a:buSzPts val="1400"/>
              <a:buFont typeface="Noto Sans Symbols"/>
              <a:buNone/>
            </a:pPr>
            <a:r>
              <a:rPr b="1" lang="en-US" sz="1400">
                <a:solidFill>
                  <a:srgbClr val="000000"/>
                </a:solidFill>
              </a:rPr>
              <a:t>View Equivalence</a:t>
            </a:r>
            <a:r>
              <a:rPr lang="en-US" sz="1400">
                <a:solidFill>
                  <a:srgbClr val="000000"/>
                </a:solidFill>
              </a:rPr>
              <a:t>, </a:t>
            </a:r>
            <a:r>
              <a:rPr b="1" lang="en-US" sz="1400">
                <a:solidFill>
                  <a:srgbClr val="000000"/>
                </a:solidFill>
              </a:rPr>
              <a:t>respective transactions </a:t>
            </a:r>
            <a:r>
              <a:rPr lang="en-US" sz="1400">
                <a:solidFill>
                  <a:srgbClr val="000000"/>
                </a:solidFill>
              </a:rPr>
              <a:t>in the two schedules </a:t>
            </a:r>
            <a:r>
              <a:rPr b="1" lang="en-US" sz="1400">
                <a:solidFill>
                  <a:srgbClr val="000000"/>
                </a:solidFill>
              </a:rPr>
              <a:t>read </a:t>
            </a:r>
            <a:r>
              <a:rPr lang="en-US" sz="1400">
                <a:solidFill>
                  <a:srgbClr val="000000"/>
                </a:solidFill>
              </a:rPr>
              <a:t>and </a:t>
            </a:r>
            <a:r>
              <a:rPr b="1" lang="en-US" sz="1400">
                <a:solidFill>
                  <a:srgbClr val="000000"/>
                </a:solidFill>
              </a:rPr>
              <a:t>write </a:t>
            </a:r>
            <a:r>
              <a:rPr lang="en-US" sz="1400">
                <a:solidFill>
                  <a:srgbClr val="000000"/>
                </a:solidFill>
              </a:rPr>
              <a:t>the </a:t>
            </a:r>
            <a:r>
              <a:rPr b="1" lang="en-US" sz="1400">
                <a:solidFill>
                  <a:srgbClr val="000000"/>
                </a:solidFill>
              </a:rPr>
              <a:t>same data </a:t>
            </a:r>
            <a:r>
              <a:rPr lang="en-US" sz="1400">
                <a:solidFill>
                  <a:srgbClr val="000000"/>
                </a:solidFill>
              </a:rPr>
              <a:t>values </a:t>
            </a:r>
            <a:endParaRPr/>
          </a:p>
          <a:p>
            <a:pPr indent="-182563" lvl="0" marL="200025" rtl="0" algn="l">
              <a:spcBef>
                <a:spcPts val="300"/>
              </a:spcBef>
              <a:spcAft>
                <a:spcPts val="0"/>
              </a:spcAft>
              <a:buSzPts val="1400"/>
              <a:buFont typeface="Verdana"/>
              <a:buChar char="□"/>
            </a:pPr>
            <a:r>
              <a:rPr lang="en-US" sz="1400">
                <a:solidFill>
                  <a:srgbClr val="000000"/>
                </a:solidFill>
              </a:rPr>
              <a:t>Initial Reads: </a:t>
            </a:r>
            <a:r>
              <a:rPr b="1" lang="en-US" sz="1400">
                <a:solidFill>
                  <a:srgbClr val="000000"/>
                </a:solidFill>
              </a:rPr>
              <a:t>If </a:t>
            </a:r>
            <a:r>
              <a:rPr lang="en-US" sz="1400">
                <a:solidFill>
                  <a:srgbClr val="000000"/>
                </a:solidFill>
              </a:rPr>
              <a:t>in S1: ri(A) </a:t>
            </a:r>
            <a:r>
              <a:rPr b="1" lang="en-US" sz="1400">
                <a:solidFill>
                  <a:srgbClr val="000000"/>
                </a:solidFill>
              </a:rPr>
              <a:t>reads initial </a:t>
            </a:r>
            <a:r>
              <a:rPr lang="en-US" sz="1400">
                <a:solidFill>
                  <a:srgbClr val="000000"/>
                </a:solidFill>
              </a:rPr>
              <a:t>DB value, </a:t>
            </a:r>
            <a:endParaRPr/>
          </a:p>
          <a:p>
            <a:pPr indent="-182563" lvl="0" marL="200025" rtl="0" algn="l">
              <a:spcBef>
                <a:spcPts val="300"/>
              </a:spcBef>
              <a:spcAft>
                <a:spcPts val="0"/>
              </a:spcAft>
              <a:buSzPts val="1400"/>
              <a:buFont typeface="Noto Sans Symbols"/>
              <a:buNone/>
            </a:pPr>
            <a:r>
              <a:rPr b="1" lang="en-US" sz="1400">
                <a:solidFill>
                  <a:srgbClr val="000000"/>
                </a:solidFill>
              </a:rPr>
              <a:t>                          then </a:t>
            </a:r>
            <a:r>
              <a:rPr lang="en-US" sz="1400">
                <a:solidFill>
                  <a:srgbClr val="000000"/>
                </a:solidFill>
              </a:rPr>
              <a:t>in S2: ri(A) also reads initial DB value</a:t>
            </a:r>
            <a:endParaRPr/>
          </a:p>
          <a:p>
            <a:pPr indent="-182563" lvl="0" marL="200025" rtl="0" algn="l">
              <a:spcBef>
                <a:spcPts val="300"/>
              </a:spcBef>
              <a:spcAft>
                <a:spcPts val="0"/>
              </a:spcAft>
              <a:buSzPts val="1400"/>
              <a:buFont typeface="Verdana"/>
              <a:buChar char="□"/>
            </a:pPr>
            <a:r>
              <a:rPr lang="en-US" sz="1400">
                <a:solidFill>
                  <a:srgbClr val="0000FF"/>
                </a:solidFill>
              </a:rPr>
              <a:t>Same WR order: </a:t>
            </a:r>
            <a:r>
              <a:rPr b="1" lang="en-US" sz="1400">
                <a:solidFill>
                  <a:srgbClr val="0000FF"/>
                </a:solidFill>
              </a:rPr>
              <a:t>If </a:t>
            </a:r>
            <a:r>
              <a:rPr lang="en-US" sz="1400">
                <a:solidFill>
                  <a:srgbClr val="0000FF"/>
                </a:solidFill>
              </a:rPr>
              <a:t>in S1: wj(A) –&gt; ri(A)</a:t>
            </a:r>
            <a:endParaRPr/>
          </a:p>
          <a:p>
            <a:pPr indent="-182563" lvl="0" marL="200025" rtl="0" algn="l">
              <a:spcBef>
                <a:spcPts val="300"/>
              </a:spcBef>
              <a:spcAft>
                <a:spcPts val="0"/>
              </a:spcAft>
              <a:buSzPts val="1400"/>
              <a:buFont typeface="Noto Sans Symbols"/>
              <a:buNone/>
            </a:pPr>
            <a:r>
              <a:rPr lang="en-US" sz="1400">
                <a:solidFill>
                  <a:srgbClr val="0000FF"/>
                </a:solidFill>
              </a:rPr>
              <a:t>                              </a:t>
            </a:r>
            <a:r>
              <a:rPr b="1" lang="en-US" sz="1400">
                <a:solidFill>
                  <a:srgbClr val="0000FF"/>
                </a:solidFill>
              </a:rPr>
              <a:t>then </a:t>
            </a:r>
            <a:r>
              <a:rPr lang="en-US" sz="1400">
                <a:solidFill>
                  <a:srgbClr val="0000FF"/>
                </a:solidFill>
              </a:rPr>
              <a:t>in S2: wj(A)-&gt; ri(A)</a:t>
            </a:r>
            <a:endParaRPr/>
          </a:p>
          <a:p>
            <a:pPr indent="-182563" lvl="0" marL="200025" rtl="0" algn="l">
              <a:spcBef>
                <a:spcPts val="300"/>
              </a:spcBef>
              <a:spcAft>
                <a:spcPts val="0"/>
              </a:spcAft>
              <a:buSzPts val="1400"/>
              <a:buFont typeface="Verdana"/>
              <a:buChar char="□"/>
            </a:pPr>
            <a:r>
              <a:rPr lang="en-US" sz="1400">
                <a:solidFill>
                  <a:srgbClr val="000000"/>
                </a:solidFill>
              </a:rPr>
              <a:t>Final Writes: </a:t>
            </a:r>
            <a:r>
              <a:rPr b="1" lang="en-US" sz="1400">
                <a:solidFill>
                  <a:srgbClr val="000000"/>
                </a:solidFill>
              </a:rPr>
              <a:t>If</a:t>
            </a:r>
            <a:r>
              <a:rPr lang="en-US" sz="1400">
                <a:solidFill>
                  <a:srgbClr val="000000"/>
                </a:solidFill>
              </a:rPr>
              <a:t> in S1: wi(A) does </a:t>
            </a:r>
            <a:r>
              <a:rPr b="1" lang="en-US" sz="1400">
                <a:solidFill>
                  <a:srgbClr val="000000"/>
                </a:solidFill>
              </a:rPr>
              <a:t>last write </a:t>
            </a:r>
            <a:r>
              <a:rPr lang="en-US" sz="1400">
                <a:solidFill>
                  <a:srgbClr val="000000"/>
                </a:solidFill>
              </a:rPr>
              <a:t>on A, </a:t>
            </a:r>
            <a:endParaRPr/>
          </a:p>
          <a:p>
            <a:pPr indent="-182563" lvl="0" marL="200025" rtl="0" algn="l">
              <a:spcBef>
                <a:spcPts val="300"/>
              </a:spcBef>
              <a:spcAft>
                <a:spcPts val="0"/>
              </a:spcAft>
              <a:buSzPts val="1400"/>
              <a:buFont typeface="Noto Sans Symbols"/>
              <a:buNone/>
            </a:pPr>
            <a:r>
              <a:rPr b="1" lang="en-US" sz="1400">
                <a:solidFill>
                  <a:srgbClr val="000000"/>
                </a:solidFill>
              </a:rPr>
              <a:t>                        then </a:t>
            </a:r>
            <a:r>
              <a:rPr lang="en-US" sz="1400">
                <a:solidFill>
                  <a:srgbClr val="000000"/>
                </a:solidFill>
              </a:rPr>
              <a:t>in S2: wi(A) also does last write on A</a:t>
            </a:r>
            <a:endParaRPr b="1" sz="1400">
              <a:solidFill>
                <a:srgbClr val="000000"/>
              </a:solidFill>
            </a:endParaRPr>
          </a:p>
        </p:txBody>
      </p:sp>
      <p:sp>
        <p:nvSpPr>
          <p:cNvPr descr="Date Placeholder 3" id="2241" name="Google Shape;2241;p15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42" name="Google Shape;2242;p15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243" name="Google Shape;2243;p155"/>
          <p:cNvGraphicFramePr/>
          <p:nvPr/>
        </p:nvGraphicFramePr>
        <p:xfrm>
          <a:off x="755650" y="3716338"/>
          <a:ext cx="3000000" cy="3000000"/>
        </p:xfrm>
        <a:graphic>
          <a:graphicData uri="http://schemas.openxmlformats.org/drawingml/2006/table">
            <a:tbl>
              <a:tblPr>
                <a:noFill/>
                <a:tableStyleId>{DA31C186-C125-4E34-A739-053F885C22C1}</a:tableStyleId>
              </a:tblPr>
              <a:tblGrid>
                <a:gridCol w="773125"/>
                <a:gridCol w="946150"/>
                <a:gridCol w="946150"/>
              </a:tblGrid>
              <a:tr h="384175">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244" name="Google Shape;2244;p155"/>
          <p:cNvSpPr txBox="1"/>
          <p:nvPr/>
        </p:nvSpPr>
        <p:spPr>
          <a:xfrm>
            <a:off x="1522413" y="5935663"/>
            <a:ext cx="1211262"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S1</a:t>
            </a:r>
            <a:endParaRPr/>
          </a:p>
        </p:txBody>
      </p:sp>
      <p:graphicFrame>
        <p:nvGraphicFramePr>
          <p:cNvPr id="2245" name="Google Shape;2245;p155"/>
          <p:cNvGraphicFramePr/>
          <p:nvPr/>
        </p:nvGraphicFramePr>
        <p:xfrm>
          <a:off x="4141788" y="3711575"/>
          <a:ext cx="3000000" cy="3000000"/>
        </p:xfrm>
        <a:graphic>
          <a:graphicData uri="http://schemas.openxmlformats.org/drawingml/2006/table">
            <a:tbl>
              <a:tblPr>
                <a:noFill/>
                <a:tableStyleId>{DA31C186-C125-4E34-A739-053F885C22C1}</a:tableStyleId>
              </a:tblPr>
              <a:tblGrid>
                <a:gridCol w="773100"/>
                <a:gridCol w="946150"/>
                <a:gridCol w="946150"/>
              </a:tblGrid>
              <a:tr h="384175">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2246" name="Google Shape;2246;p155"/>
          <p:cNvSpPr txBox="1"/>
          <p:nvPr/>
        </p:nvSpPr>
        <p:spPr>
          <a:xfrm>
            <a:off x="4762500" y="5929313"/>
            <a:ext cx="1211263"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a:t>
            </a:r>
            <a:endParaRPr/>
          </a:p>
        </p:txBody>
      </p:sp>
      <p:sp>
        <p:nvSpPr>
          <p:cNvPr descr="TextBox 8" id="2247" name="Google Shape;2247;p155"/>
          <p:cNvSpPr txBox="1"/>
          <p:nvPr/>
        </p:nvSpPr>
        <p:spPr>
          <a:xfrm>
            <a:off x="1209675" y="3378200"/>
            <a:ext cx="4792663"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 is view equivalent to serial schedule S1</a:t>
            </a:r>
            <a:endParaRPr/>
          </a:p>
        </p:txBody>
      </p:sp>
      <p:sp>
        <p:nvSpPr>
          <p:cNvPr descr="TextBox 11" id="2248" name="Google Shape;2248;p155"/>
          <p:cNvSpPr txBox="1"/>
          <p:nvPr/>
        </p:nvSpPr>
        <p:spPr>
          <a:xfrm>
            <a:off x="6981825" y="4724400"/>
            <a:ext cx="1557338"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FF"/>
                </a:solidFill>
                <a:latin typeface="Verdana"/>
                <a:ea typeface="Verdana"/>
                <a:cs typeface="Verdana"/>
                <a:sym typeface="Verdana"/>
              </a:rPr>
              <a:t>Same Write </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Reads orders in </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S1 and S2</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2" name="Shape 2252"/>
        <p:cNvGrpSpPr/>
        <p:nvPr/>
      </p:nvGrpSpPr>
      <p:grpSpPr>
        <a:xfrm>
          <a:off x="0" y="0"/>
          <a:ext cx="0" cy="0"/>
          <a:chOff x="0" y="0"/>
          <a:chExt cx="0" cy="0"/>
        </a:xfrm>
      </p:grpSpPr>
      <p:sp>
        <p:nvSpPr>
          <p:cNvPr descr="Title 1" id="2253" name="Google Shape;2253;p15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Equivalence Schedules</a:t>
            </a:r>
            <a:endParaRPr/>
          </a:p>
        </p:txBody>
      </p:sp>
      <p:sp>
        <p:nvSpPr>
          <p:cNvPr descr="Content Placeholder 2" id="2254" name="Google Shape;2254;p15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82563" lvl="0" marL="200025" rtl="0" algn="l">
              <a:spcBef>
                <a:spcPts val="0"/>
              </a:spcBef>
              <a:spcAft>
                <a:spcPts val="0"/>
              </a:spcAft>
              <a:buSzPts val="1400"/>
              <a:buFont typeface="Noto Sans Symbols"/>
              <a:buNone/>
            </a:pPr>
            <a:r>
              <a:rPr b="1" lang="en-US" sz="1400">
                <a:solidFill>
                  <a:srgbClr val="000000"/>
                </a:solidFill>
              </a:rPr>
              <a:t>View Equivalence</a:t>
            </a:r>
            <a:r>
              <a:rPr lang="en-US" sz="1400">
                <a:solidFill>
                  <a:srgbClr val="000000"/>
                </a:solidFill>
              </a:rPr>
              <a:t>, </a:t>
            </a:r>
            <a:r>
              <a:rPr b="1" lang="en-US" sz="1400">
                <a:solidFill>
                  <a:srgbClr val="000000"/>
                </a:solidFill>
              </a:rPr>
              <a:t>respective transactions </a:t>
            </a:r>
            <a:r>
              <a:rPr lang="en-US" sz="1400">
                <a:solidFill>
                  <a:srgbClr val="000000"/>
                </a:solidFill>
              </a:rPr>
              <a:t>in the two schedules </a:t>
            </a:r>
            <a:r>
              <a:rPr b="1" lang="en-US" sz="1400">
                <a:solidFill>
                  <a:srgbClr val="000000"/>
                </a:solidFill>
              </a:rPr>
              <a:t>read </a:t>
            </a:r>
            <a:r>
              <a:rPr lang="en-US" sz="1400">
                <a:solidFill>
                  <a:srgbClr val="000000"/>
                </a:solidFill>
              </a:rPr>
              <a:t>and </a:t>
            </a:r>
            <a:r>
              <a:rPr b="1" lang="en-US" sz="1400">
                <a:solidFill>
                  <a:srgbClr val="000000"/>
                </a:solidFill>
              </a:rPr>
              <a:t>write </a:t>
            </a:r>
            <a:r>
              <a:rPr lang="en-US" sz="1400">
                <a:solidFill>
                  <a:srgbClr val="000000"/>
                </a:solidFill>
              </a:rPr>
              <a:t>the </a:t>
            </a:r>
            <a:r>
              <a:rPr b="1" lang="en-US" sz="1400">
                <a:solidFill>
                  <a:srgbClr val="000000"/>
                </a:solidFill>
              </a:rPr>
              <a:t>same data </a:t>
            </a:r>
            <a:r>
              <a:rPr lang="en-US" sz="1400">
                <a:solidFill>
                  <a:srgbClr val="000000"/>
                </a:solidFill>
              </a:rPr>
              <a:t>values </a:t>
            </a:r>
            <a:endParaRPr/>
          </a:p>
          <a:p>
            <a:pPr indent="-182563" lvl="0" marL="200025" rtl="0" algn="l">
              <a:spcBef>
                <a:spcPts val="300"/>
              </a:spcBef>
              <a:spcAft>
                <a:spcPts val="0"/>
              </a:spcAft>
              <a:buSzPts val="1400"/>
              <a:buFont typeface="Verdana"/>
              <a:buChar char="□"/>
            </a:pPr>
            <a:r>
              <a:rPr lang="en-US" sz="1400">
                <a:solidFill>
                  <a:srgbClr val="000000"/>
                </a:solidFill>
              </a:rPr>
              <a:t>Initial Reads: </a:t>
            </a:r>
            <a:r>
              <a:rPr b="1" lang="en-US" sz="1400">
                <a:solidFill>
                  <a:srgbClr val="000000"/>
                </a:solidFill>
              </a:rPr>
              <a:t>If </a:t>
            </a:r>
            <a:r>
              <a:rPr lang="en-US" sz="1400">
                <a:solidFill>
                  <a:srgbClr val="000000"/>
                </a:solidFill>
              </a:rPr>
              <a:t>in S1: ri(A) </a:t>
            </a:r>
            <a:r>
              <a:rPr b="1" lang="en-US" sz="1400">
                <a:solidFill>
                  <a:srgbClr val="000000"/>
                </a:solidFill>
              </a:rPr>
              <a:t>reads initial </a:t>
            </a:r>
            <a:r>
              <a:rPr lang="en-US" sz="1400">
                <a:solidFill>
                  <a:srgbClr val="000000"/>
                </a:solidFill>
              </a:rPr>
              <a:t>DB value, </a:t>
            </a:r>
            <a:endParaRPr/>
          </a:p>
          <a:p>
            <a:pPr indent="-182563" lvl="0" marL="200025" rtl="0" algn="l">
              <a:spcBef>
                <a:spcPts val="300"/>
              </a:spcBef>
              <a:spcAft>
                <a:spcPts val="0"/>
              </a:spcAft>
              <a:buSzPts val="1400"/>
              <a:buFont typeface="Noto Sans Symbols"/>
              <a:buNone/>
            </a:pPr>
            <a:r>
              <a:rPr b="1" lang="en-US" sz="1400">
                <a:solidFill>
                  <a:srgbClr val="000000"/>
                </a:solidFill>
              </a:rPr>
              <a:t>                          then </a:t>
            </a:r>
            <a:r>
              <a:rPr lang="en-US" sz="1400">
                <a:solidFill>
                  <a:srgbClr val="000000"/>
                </a:solidFill>
              </a:rPr>
              <a:t>in S2: ri(A) also reads initial DB value</a:t>
            </a:r>
            <a:endParaRPr/>
          </a:p>
          <a:p>
            <a:pPr indent="-182563" lvl="0" marL="200025" rtl="0" algn="l">
              <a:spcBef>
                <a:spcPts val="300"/>
              </a:spcBef>
              <a:spcAft>
                <a:spcPts val="0"/>
              </a:spcAft>
              <a:buSzPts val="1400"/>
              <a:buFont typeface="Verdana"/>
              <a:buChar char="□"/>
            </a:pPr>
            <a:r>
              <a:rPr lang="en-US" sz="1400">
                <a:solidFill>
                  <a:srgbClr val="000000"/>
                </a:solidFill>
              </a:rPr>
              <a:t>Same WR order: </a:t>
            </a:r>
            <a:r>
              <a:rPr b="1" lang="en-US" sz="1400">
                <a:solidFill>
                  <a:srgbClr val="000000"/>
                </a:solidFill>
              </a:rPr>
              <a:t>If </a:t>
            </a:r>
            <a:r>
              <a:rPr lang="en-US" sz="1400">
                <a:solidFill>
                  <a:srgbClr val="000000"/>
                </a:solidFill>
              </a:rPr>
              <a:t>in S1: wj(A) –&gt; ri(A)</a:t>
            </a:r>
            <a:endParaRPr/>
          </a:p>
          <a:p>
            <a:pPr indent="-182563" lvl="0" marL="200025" rtl="0" algn="l">
              <a:spcBef>
                <a:spcPts val="300"/>
              </a:spcBef>
              <a:spcAft>
                <a:spcPts val="0"/>
              </a:spcAft>
              <a:buSzPts val="1400"/>
              <a:buFont typeface="Noto Sans Symbols"/>
              <a:buNone/>
            </a:pPr>
            <a:r>
              <a:rPr lang="en-US" sz="1400">
                <a:solidFill>
                  <a:srgbClr val="000000"/>
                </a:solidFill>
              </a:rPr>
              <a:t>                              </a:t>
            </a:r>
            <a:r>
              <a:rPr b="1" lang="en-US" sz="1400">
                <a:solidFill>
                  <a:srgbClr val="000000"/>
                </a:solidFill>
              </a:rPr>
              <a:t>then </a:t>
            </a:r>
            <a:r>
              <a:rPr lang="en-US" sz="1400">
                <a:solidFill>
                  <a:srgbClr val="000000"/>
                </a:solidFill>
              </a:rPr>
              <a:t>in S2: wj(A)-&gt; ri(A)</a:t>
            </a:r>
            <a:endParaRPr/>
          </a:p>
          <a:p>
            <a:pPr indent="-182563" lvl="0" marL="200025" rtl="0" algn="l">
              <a:spcBef>
                <a:spcPts val="300"/>
              </a:spcBef>
              <a:spcAft>
                <a:spcPts val="0"/>
              </a:spcAft>
              <a:buSzPts val="1400"/>
              <a:buFont typeface="Verdana"/>
              <a:buChar char="□"/>
            </a:pPr>
            <a:r>
              <a:rPr lang="en-US" sz="1400">
                <a:solidFill>
                  <a:srgbClr val="0000FF"/>
                </a:solidFill>
              </a:rPr>
              <a:t>Final Writes: </a:t>
            </a:r>
            <a:r>
              <a:rPr b="1" lang="en-US" sz="1400">
                <a:solidFill>
                  <a:srgbClr val="0000FF"/>
                </a:solidFill>
              </a:rPr>
              <a:t>If</a:t>
            </a:r>
            <a:r>
              <a:rPr lang="en-US" sz="1400">
                <a:solidFill>
                  <a:srgbClr val="0000FF"/>
                </a:solidFill>
              </a:rPr>
              <a:t> in S1: wi(A) does </a:t>
            </a:r>
            <a:r>
              <a:rPr b="1" lang="en-US" sz="1400">
                <a:solidFill>
                  <a:srgbClr val="0000FF"/>
                </a:solidFill>
              </a:rPr>
              <a:t>last write </a:t>
            </a:r>
            <a:r>
              <a:rPr lang="en-US" sz="1400">
                <a:solidFill>
                  <a:srgbClr val="0000FF"/>
                </a:solidFill>
              </a:rPr>
              <a:t>on A, </a:t>
            </a:r>
            <a:endParaRPr/>
          </a:p>
          <a:p>
            <a:pPr indent="-182563" lvl="0" marL="200025" rtl="0" algn="l">
              <a:spcBef>
                <a:spcPts val="300"/>
              </a:spcBef>
              <a:spcAft>
                <a:spcPts val="0"/>
              </a:spcAft>
              <a:buSzPts val="1400"/>
              <a:buFont typeface="Noto Sans Symbols"/>
              <a:buNone/>
            </a:pPr>
            <a:r>
              <a:rPr b="1" lang="en-US" sz="1400">
                <a:solidFill>
                  <a:srgbClr val="0000FF"/>
                </a:solidFill>
              </a:rPr>
              <a:t>                        then </a:t>
            </a:r>
            <a:r>
              <a:rPr lang="en-US" sz="1400">
                <a:solidFill>
                  <a:srgbClr val="0000FF"/>
                </a:solidFill>
              </a:rPr>
              <a:t>in S2: wi(A) also does last write on A</a:t>
            </a:r>
            <a:endParaRPr b="1" sz="1400">
              <a:solidFill>
                <a:srgbClr val="0000FF"/>
              </a:solidFill>
            </a:endParaRPr>
          </a:p>
        </p:txBody>
      </p:sp>
      <p:sp>
        <p:nvSpPr>
          <p:cNvPr descr="Date Placeholder 3" id="2255" name="Google Shape;2255;p15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56" name="Google Shape;2256;p15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257" name="Google Shape;2257;p156"/>
          <p:cNvGraphicFramePr/>
          <p:nvPr/>
        </p:nvGraphicFramePr>
        <p:xfrm>
          <a:off x="755650" y="3716338"/>
          <a:ext cx="3000000" cy="3000000"/>
        </p:xfrm>
        <a:graphic>
          <a:graphicData uri="http://schemas.openxmlformats.org/drawingml/2006/table">
            <a:tbl>
              <a:tblPr>
                <a:noFill/>
                <a:tableStyleId>{DA31C186-C125-4E34-A739-053F885C22C1}</a:tableStyleId>
              </a:tblPr>
              <a:tblGrid>
                <a:gridCol w="773125"/>
                <a:gridCol w="946150"/>
                <a:gridCol w="946150"/>
              </a:tblGrid>
              <a:tr h="384175">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7" id="2258" name="Google Shape;2258;p156"/>
          <p:cNvSpPr txBox="1"/>
          <p:nvPr/>
        </p:nvSpPr>
        <p:spPr>
          <a:xfrm>
            <a:off x="1522413" y="5935663"/>
            <a:ext cx="1211262"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S1</a:t>
            </a:r>
            <a:endParaRPr/>
          </a:p>
        </p:txBody>
      </p:sp>
      <p:graphicFrame>
        <p:nvGraphicFramePr>
          <p:cNvPr id="2259" name="Google Shape;2259;p156"/>
          <p:cNvGraphicFramePr/>
          <p:nvPr/>
        </p:nvGraphicFramePr>
        <p:xfrm>
          <a:off x="4141788" y="3711575"/>
          <a:ext cx="3000000" cy="3000000"/>
        </p:xfrm>
        <a:graphic>
          <a:graphicData uri="http://schemas.openxmlformats.org/drawingml/2006/table">
            <a:tbl>
              <a:tblPr>
                <a:noFill/>
                <a:tableStyleId>{DA31C186-C125-4E34-A739-053F885C22C1}</a:tableStyleId>
              </a:tblPr>
              <a:tblGrid>
                <a:gridCol w="773100"/>
                <a:gridCol w="946150"/>
                <a:gridCol w="946150"/>
              </a:tblGrid>
              <a:tr h="384175">
                <a:tc>
                  <a:txBody>
                    <a:bodyPr/>
                    <a:lstStyle/>
                    <a:p>
                      <a:pPr indent="0" lvl="0" marL="0" marR="0" rtl="0" algn="ctr">
                        <a:lnSpc>
                          <a:spcPct val="100000"/>
                        </a:lnSpc>
                        <a:spcBef>
                          <a:spcPts val="0"/>
                        </a:spcBef>
                        <a:spcAft>
                          <a:spcPts val="0"/>
                        </a:spcAft>
                        <a:buClr>
                          <a:srgbClr val="0000FF"/>
                        </a:buClr>
                        <a:buSzPts val="1800"/>
                        <a:buFont typeface="Verdana"/>
                        <a:buNone/>
                      </a:pPr>
                      <a:r>
                        <a:rPr b="1" i="0" lang="en-US" sz="1800" u="none" cap="none" strike="noStrike">
                          <a:solidFill>
                            <a:srgbClr val="0000FF"/>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Verdana"/>
                        <a:buNone/>
                      </a:pPr>
                      <a:r>
                        <a:rPr b="1" i="0" lang="en-US" sz="18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2260" name="Google Shape;2260;p156"/>
          <p:cNvSpPr txBox="1"/>
          <p:nvPr/>
        </p:nvSpPr>
        <p:spPr>
          <a:xfrm>
            <a:off x="4762500" y="5929313"/>
            <a:ext cx="1211263" cy="3063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a:t>
            </a:r>
            <a:endParaRPr/>
          </a:p>
        </p:txBody>
      </p:sp>
      <p:sp>
        <p:nvSpPr>
          <p:cNvPr descr="TextBox 8" id="2261" name="Google Shape;2261;p156"/>
          <p:cNvSpPr txBox="1"/>
          <p:nvPr/>
        </p:nvSpPr>
        <p:spPr>
          <a:xfrm>
            <a:off x="1209675" y="3378200"/>
            <a:ext cx="4792663"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C00000"/>
                </a:solidFill>
                <a:latin typeface="Verdana"/>
                <a:ea typeface="Verdana"/>
                <a:cs typeface="Verdana"/>
                <a:sym typeface="Verdana"/>
              </a:rPr>
              <a:t>Schedule S2 is view equivalent to serial schedule S1</a:t>
            </a:r>
            <a:endParaRPr/>
          </a:p>
        </p:txBody>
      </p:sp>
      <p:sp>
        <p:nvSpPr>
          <p:cNvPr descr="TextBox 11" id="2262" name="Google Shape;2262;p156"/>
          <p:cNvSpPr txBox="1"/>
          <p:nvPr/>
        </p:nvSpPr>
        <p:spPr>
          <a:xfrm>
            <a:off x="6962775" y="5195888"/>
            <a:ext cx="1093788"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FF"/>
                </a:solidFill>
                <a:latin typeface="Verdana"/>
                <a:ea typeface="Verdana"/>
                <a:cs typeface="Verdana"/>
                <a:sym typeface="Verdana"/>
              </a:rPr>
              <a:t>Same Final</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Writes  in </a:t>
            </a:r>
            <a:endParaRPr/>
          </a:p>
          <a:p>
            <a:pPr indent="0" lvl="0" marL="0" marR="0" rtl="0" algn="l">
              <a:spcBef>
                <a:spcPts val="0"/>
              </a:spcBef>
              <a:spcAft>
                <a:spcPts val="0"/>
              </a:spcAft>
              <a:buNone/>
            </a:pPr>
            <a:r>
              <a:rPr lang="en-US" sz="1400">
                <a:solidFill>
                  <a:srgbClr val="0000FF"/>
                </a:solidFill>
                <a:latin typeface="Verdana"/>
                <a:ea typeface="Verdana"/>
                <a:cs typeface="Verdana"/>
                <a:sym typeface="Verdana"/>
              </a:rPr>
              <a:t>S1 and S2</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6" name="Shape 2266"/>
        <p:cNvGrpSpPr/>
        <p:nvPr/>
      </p:nvGrpSpPr>
      <p:grpSpPr>
        <a:xfrm>
          <a:off x="0" y="0"/>
          <a:ext cx="0" cy="0"/>
          <a:chOff x="0" y="0"/>
          <a:chExt cx="0" cy="0"/>
        </a:xfrm>
      </p:grpSpPr>
      <p:sp>
        <p:nvSpPr>
          <p:cNvPr descr="Title 1" id="2267" name="Google Shape;2267;p15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View Equivalence</a:t>
            </a:r>
            <a:endParaRPr/>
          </a:p>
        </p:txBody>
      </p:sp>
      <p:sp>
        <p:nvSpPr>
          <p:cNvPr descr="Content Placeholder 2" id="2268" name="Google Shape;2268;p15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b="1" lang="en-US" sz="1800"/>
              <a:t>View Serializability Summary:</a:t>
            </a:r>
            <a:endParaRPr/>
          </a:p>
          <a:p>
            <a:pPr indent="0" lvl="0" marL="0" rtl="0" algn="l">
              <a:spcBef>
                <a:spcPts val="400"/>
              </a:spcBef>
              <a:spcAft>
                <a:spcPts val="0"/>
              </a:spcAft>
              <a:buSzPts val="1800"/>
              <a:buFont typeface="Noto Sans Symbols"/>
              <a:buNone/>
            </a:pPr>
            <a:r>
              <a:rPr lang="en-US" sz="1800"/>
              <a:t>i. Same Transaction </a:t>
            </a:r>
            <a:r>
              <a:rPr b="1" lang="en-US" sz="1800"/>
              <a:t>Reads Data First.</a:t>
            </a:r>
            <a:endParaRPr sz="1800"/>
          </a:p>
          <a:p>
            <a:pPr indent="0" lvl="0" marL="0" rtl="0" algn="l">
              <a:spcBef>
                <a:spcPts val="400"/>
              </a:spcBef>
              <a:spcAft>
                <a:spcPts val="0"/>
              </a:spcAft>
              <a:buSzPts val="1800"/>
              <a:buFont typeface="Noto Sans Symbols"/>
              <a:buNone/>
            </a:pPr>
            <a:r>
              <a:rPr lang="en-US" sz="1800"/>
              <a:t>ii. Same </a:t>
            </a:r>
            <a:r>
              <a:rPr b="1" lang="en-US" sz="1800"/>
              <a:t>WR Order </a:t>
            </a:r>
            <a:r>
              <a:rPr lang="en-US" sz="1800"/>
              <a:t>of actions.</a:t>
            </a:r>
            <a:endParaRPr/>
          </a:p>
          <a:p>
            <a:pPr indent="0" lvl="0" marL="0" rtl="0" algn="l">
              <a:spcBef>
                <a:spcPts val="400"/>
              </a:spcBef>
              <a:spcAft>
                <a:spcPts val="0"/>
              </a:spcAft>
              <a:buSzPts val="1800"/>
              <a:buFont typeface="Noto Sans Symbols"/>
              <a:buNone/>
            </a:pPr>
            <a:r>
              <a:rPr lang="en-US" sz="1800"/>
              <a:t>iii. Same Transaction </a:t>
            </a:r>
            <a:r>
              <a:rPr b="1" lang="en-US" sz="1800"/>
              <a:t>Writes Data Last.</a:t>
            </a:r>
            <a:endParaRPr sz="1800"/>
          </a:p>
        </p:txBody>
      </p:sp>
      <p:sp>
        <p:nvSpPr>
          <p:cNvPr descr="Date Placeholder 3" id="2269" name="Google Shape;2269;p15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70" name="Google Shape;2270;p15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descr="Title 1" id="2275" name="Google Shape;2275;p15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Summarizing Serializability Schedules</a:t>
            </a:r>
            <a:endParaRPr/>
          </a:p>
        </p:txBody>
      </p:sp>
      <p:sp>
        <p:nvSpPr>
          <p:cNvPr descr="Content Placeholder 2" id="2276" name="Google Shape;2276;p15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3000"/>
              <a:buFont typeface="Verdana"/>
              <a:buChar char="□"/>
            </a:pPr>
            <a:r>
              <a:rPr lang="en-US"/>
              <a:t>Venn diagram</a:t>
            </a:r>
            <a:endParaRPr/>
          </a:p>
        </p:txBody>
      </p:sp>
      <p:sp>
        <p:nvSpPr>
          <p:cNvPr descr="Date Placeholder 3" id="2277" name="Google Shape;2277;p15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78" name="Google Shape;2278;p15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2279" name="Google Shape;2279;p158"/>
          <p:cNvPicPr preferRelativeResize="0"/>
          <p:nvPr/>
        </p:nvPicPr>
        <p:blipFill rotWithShape="1">
          <a:blip r:embed="rId3">
            <a:alphaModFix/>
          </a:blip>
          <a:srcRect b="0" l="0" r="0" t="0"/>
          <a:stretch/>
        </p:blipFill>
        <p:spPr>
          <a:xfrm>
            <a:off x="1906588" y="1916113"/>
            <a:ext cx="2736850" cy="1874837"/>
          </a:xfrm>
          <a:prstGeom prst="rect">
            <a:avLst/>
          </a:prstGeom>
          <a:noFill/>
          <a:ln>
            <a:noFill/>
          </a:ln>
        </p:spPr>
      </p:pic>
      <p:sp>
        <p:nvSpPr>
          <p:cNvPr descr="TextBox 6" id="2280" name="Google Shape;2280;p158"/>
          <p:cNvSpPr txBox="1"/>
          <p:nvPr/>
        </p:nvSpPr>
        <p:spPr>
          <a:xfrm>
            <a:off x="4832350" y="2640013"/>
            <a:ext cx="4113213" cy="7397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Note: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Any Conflict serializable schedules is also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View serializable schedule but not vice-versa</a:t>
            </a:r>
            <a:endParaRPr/>
          </a:p>
        </p:txBody>
      </p:sp>
      <p:sp>
        <p:nvSpPr>
          <p:cNvPr descr="TextBox 7" id="2281" name="Google Shape;2281;p158"/>
          <p:cNvSpPr txBox="1"/>
          <p:nvPr/>
        </p:nvSpPr>
        <p:spPr>
          <a:xfrm>
            <a:off x="873125" y="4724400"/>
            <a:ext cx="7116763" cy="1171575"/>
          </a:xfrm>
          <a:prstGeom prst="rect">
            <a:avLst/>
          </a:prstGeom>
          <a:noFill/>
          <a:ln>
            <a:noFill/>
          </a:ln>
        </p:spPr>
        <p:txBody>
          <a:bodyPr anchorCtr="0" anchor="t" bIns="45700" lIns="45700" spcFirstLastPara="1" rIns="45700" wrap="square" tIns="45700">
            <a:spAutoFit/>
          </a:bodyPr>
          <a:lstStyle/>
          <a:p>
            <a:pPr indent="-114300" lvl="0" marL="114300" marR="0" rtl="0" algn="l">
              <a:spcBef>
                <a:spcPts val="0"/>
              </a:spcBef>
              <a:spcAft>
                <a:spcPts val="0"/>
              </a:spcAft>
              <a:buNone/>
            </a:pPr>
            <a:r>
              <a:rPr lang="en-US" sz="1400">
                <a:solidFill>
                  <a:srgbClr val="000000"/>
                </a:solidFill>
                <a:latin typeface="Verdana"/>
                <a:ea typeface="Verdana"/>
                <a:cs typeface="Verdana"/>
                <a:sym typeface="Verdana"/>
              </a:rPr>
              <a:t>Note:</a:t>
            </a:r>
            <a:endParaRPr/>
          </a:p>
          <a:p>
            <a:pPr indent="-114300" lvl="0" marL="114300"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There is an algorithm to test whether a schedule S is view serial schedule. </a:t>
            </a:r>
            <a:endParaRPr/>
          </a:p>
          <a:p>
            <a:pPr indent="-114300" lvl="0" marL="114300"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However, the problem of testing view serializability has been shown to be </a:t>
            </a:r>
            <a:endParaRPr/>
          </a:p>
          <a:p>
            <a:pPr indent="-114300" lvl="0" marL="114300" marR="0" rtl="0" algn="l">
              <a:spcBef>
                <a:spcPts val="0"/>
              </a:spcBef>
              <a:spcAft>
                <a:spcPts val="0"/>
              </a:spcAft>
              <a:buNone/>
            </a:pPr>
            <a:r>
              <a:rPr lang="en-US" sz="1400">
                <a:solidFill>
                  <a:srgbClr val="000000"/>
                </a:solidFill>
                <a:latin typeface="Verdana"/>
                <a:ea typeface="Verdana"/>
                <a:cs typeface="Verdana"/>
                <a:sym typeface="Verdana"/>
              </a:rPr>
              <a:t>NP-hard, meaning that finding an efficient polynomial time algorithm for </a:t>
            </a:r>
            <a:endParaRPr/>
          </a:p>
          <a:p>
            <a:pPr indent="-114300" lvl="0" marL="114300" marR="0" rtl="0" algn="l">
              <a:spcBef>
                <a:spcPts val="0"/>
              </a:spcBef>
              <a:spcAft>
                <a:spcPts val="0"/>
              </a:spcAft>
              <a:buNone/>
            </a:pPr>
            <a:r>
              <a:rPr lang="en-US" sz="1400">
                <a:solidFill>
                  <a:srgbClr val="000000"/>
                </a:solidFill>
                <a:latin typeface="Verdana"/>
                <a:ea typeface="Verdana"/>
                <a:cs typeface="Verdana"/>
                <a:sym typeface="Verdana"/>
              </a:rPr>
              <a:t>this problem is highly unlikely.</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descr="Title 1" id="2286" name="Google Shape;2286;p15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Characterizing Schedules</a:t>
            </a:r>
            <a:endParaRPr/>
          </a:p>
        </p:txBody>
      </p:sp>
      <p:sp>
        <p:nvSpPr>
          <p:cNvPr descr="Content Placeholder 2" id="2287" name="Google Shape;2287;p15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Characterizing different schedules based on the following two properties: </a:t>
            </a:r>
            <a:endParaRPr/>
          </a:p>
          <a:p>
            <a:pPr indent="0" lvl="0" marL="0" rtl="0" algn="l">
              <a:spcBef>
                <a:spcPts val="300"/>
              </a:spcBef>
              <a:spcAft>
                <a:spcPts val="0"/>
              </a:spcAft>
              <a:buSzPts val="1600"/>
              <a:buFont typeface="Noto Sans Symbols"/>
              <a:buNone/>
            </a:pPr>
            <a:r>
              <a:rPr b="1" lang="en-US" sz="1600"/>
              <a:t>A. Based on Serializability </a:t>
            </a:r>
            <a:endParaRPr/>
          </a:p>
          <a:p>
            <a:pPr indent="0" lvl="0" marL="0" rtl="0" algn="l">
              <a:spcBef>
                <a:spcPts val="300"/>
              </a:spcBef>
              <a:spcAft>
                <a:spcPts val="0"/>
              </a:spcAft>
              <a:buSzPts val="1600"/>
              <a:buFont typeface="Noto Sans Symbols"/>
              <a:buNone/>
            </a:pPr>
            <a:r>
              <a:rPr lang="en-US" sz="1600"/>
              <a:t>- We shall ignore Commits and Aborts for this section</a:t>
            </a:r>
            <a:endParaRPr/>
          </a:p>
          <a:p>
            <a:pPr indent="0" lvl="0" marL="0" rtl="0" algn="l">
              <a:spcBef>
                <a:spcPts val="300"/>
              </a:spcBef>
              <a:spcAft>
                <a:spcPts val="0"/>
              </a:spcAft>
              <a:buSzPts val="1600"/>
              <a:buFont typeface="Noto Sans Symbols"/>
              <a:buNone/>
            </a:pPr>
            <a:r>
              <a:rPr lang="en-US" sz="1600"/>
              <a:t>- Characterize which </a:t>
            </a:r>
            <a:r>
              <a:rPr b="1" lang="en-US" sz="1600"/>
              <a:t>schedules are correct </a:t>
            </a:r>
            <a:r>
              <a:rPr lang="en-US" sz="1600"/>
              <a:t>when concurrent transactions are executing. </a:t>
            </a:r>
            <a:endParaRPr/>
          </a:p>
          <a:p>
            <a:pPr indent="-342900" lvl="1" marL="781050" rtl="0" algn="l">
              <a:spcBef>
                <a:spcPts val="300"/>
              </a:spcBef>
              <a:spcAft>
                <a:spcPts val="0"/>
              </a:spcAft>
              <a:buSzPts val="1400"/>
              <a:buFont typeface="Verdana"/>
              <a:buAutoNum type="arabicPeriod"/>
            </a:pPr>
            <a:r>
              <a:rPr lang="en-US" sz="1400"/>
              <a:t>Conflict Serializable Schedule </a:t>
            </a:r>
            <a:endParaRPr sz="2600"/>
          </a:p>
          <a:p>
            <a:pPr indent="-342900" lvl="1" marL="781050" rtl="0" algn="l">
              <a:spcBef>
                <a:spcPts val="300"/>
              </a:spcBef>
              <a:spcAft>
                <a:spcPts val="0"/>
              </a:spcAft>
              <a:buSzPts val="1400"/>
              <a:buFont typeface="Verdana"/>
              <a:buAutoNum type="arabicPeriod"/>
            </a:pPr>
            <a:r>
              <a:rPr lang="en-US" sz="1400"/>
              <a:t>View Serializable Schedule </a:t>
            </a:r>
            <a:endParaRPr sz="2600"/>
          </a:p>
          <a:p>
            <a:pPr indent="0" lvl="0" marL="0" rtl="0" algn="l">
              <a:spcBef>
                <a:spcPts val="300"/>
              </a:spcBef>
              <a:spcAft>
                <a:spcPts val="0"/>
              </a:spcAft>
              <a:buSzPts val="1600"/>
              <a:buFont typeface="Noto Sans Symbols"/>
              <a:buNone/>
            </a:pPr>
            <a:r>
              <a:rPr b="1" lang="en-US" sz="1600"/>
              <a:t>B. Based on Recoverability </a:t>
            </a:r>
            <a:endParaRPr/>
          </a:p>
          <a:p>
            <a:pPr indent="0" lvl="0" marL="0" rtl="0" algn="l">
              <a:spcBef>
                <a:spcPts val="300"/>
              </a:spcBef>
              <a:spcAft>
                <a:spcPts val="0"/>
              </a:spcAft>
              <a:buSzPts val="1600"/>
              <a:buFont typeface="Noto Sans Symbols"/>
              <a:buNone/>
            </a:pPr>
            <a:r>
              <a:rPr lang="en-US" sz="1600"/>
              <a:t>- Commits and Aborts become important for this section</a:t>
            </a:r>
            <a:endParaRPr/>
          </a:p>
          <a:p>
            <a:pPr indent="0" lvl="0" marL="0" rtl="0" algn="l">
              <a:spcBef>
                <a:spcPts val="300"/>
              </a:spcBef>
              <a:spcAft>
                <a:spcPts val="0"/>
              </a:spcAft>
              <a:buSzPts val="1600"/>
              <a:buFont typeface="Noto Sans Symbols"/>
              <a:buNone/>
            </a:pPr>
            <a:r>
              <a:rPr lang="en-US" sz="1600"/>
              <a:t>- Characterize which </a:t>
            </a:r>
            <a:r>
              <a:rPr b="1" lang="en-US" sz="1600"/>
              <a:t>schedules can be recovered</a:t>
            </a:r>
            <a:r>
              <a:rPr lang="en-US" sz="1600"/>
              <a:t> and how easily. </a:t>
            </a:r>
            <a:endParaRPr/>
          </a:p>
          <a:p>
            <a:pPr indent="-342900" lvl="1" marL="781050" rtl="0" algn="l">
              <a:spcBef>
                <a:spcPts val="300"/>
              </a:spcBef>
              <a:spcAft>
                <a:spcPts val="0"/>
              </a:spcAft>
              <a:buSzPts val="1400"/>
              <a:buFont typeface="Verdana"/>
              <a:buAutoNum type="arabicPeriod"/>
            </a:pPr>
            <a:r>
              <a:rPr lang="en-US" sz="1400"/>
              <a:t>Recoverable Schedule </a:t>
            </a:r>
            <a:endParaRPr sz="2600"/>
          </a:p>
          <a:p>
            <a:pPr indent="-342900" lvl="1" marL="781050" rtl="0" algn="l">
              <a:spcBef>
                <a:spcPts val="300"/>
              </a:spcBef>
              <a:spcAft>
                <a:spcPts val="0"/>
              </a:spcAft>
              <a:buSzPts val="1400"/>
              <a:buFont typeface="Verdana"/>
              <a:buAutoNum type="arabicPeriod"/>
            </a:pPr>
            <a:r>
              <a:rPr lang="en-US" sz="1400"/>
              <a:t>Cascadeless schedule </a:t>
            </a:r>
            <a:endParaRPr sz="2600"/>
          </a:p>
          <a:p>
            <a:pPr indent="-342900" lvl="1" marL="781050" rtl="0" algn="l">
              <a:spcBef>
                <a:spcPts val="300"/>
              </a:spcBef>
              <a:spcAft>
                <a:spcPts val="0"/>
              </a:spcAft>
              <a:buSzPts val="1400"/>
              <a:buFont typeface="Verdana"/>
              <a:buAutoNum type="arabicPeriod"/>
            </a:pPr>
            <a:r>
              <a:rPr lang="en-US" sz="1400"/>
              <a:t>Strict Schedules</a:t>
            </a:r>
            <a:endParaRPr/>
          </a:p>
        </p:txBody>
      </p:sp>
      <p:sp>
        <p:nvSpPr>
          <p:cNvPr descr="Date Placeholder 3" id="2288" name="Google Shape;2288;p15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89" name="Google Shape;2289;p15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3" name="Shape 2293"/>
        <p:cNvGrpSpPr/>
        <p:nvPr/>
      </p:nvGrpSpPr>
      <p:grpSpPr>
        <a:xfrm>
          <a:off x="0" y="0"/>
          <a:ext cx="0" cy="0"/>
          <a:chOff x="0" y="0"/>
          <a:chExt cx="0" cy="0"/>
        </a:xfrm>
      </p:grpSpPr>
      <p:sp>
        <p:nvSpPr>
          <p:cNvPr descr="Title 1" id="2294" name="Google Shape;2294;p16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Note</a:t>
            </a:r>
            <a:endParaRPr/>
          </a:p>
        </p:txBody>
      </p:sp>
      <p:sp>
        <p:nvSpPr>
          <p:cNvPr descr="Content Placeholder 2" id="2295" name="Google Shape;2295;p16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just">
              <a:spcBef>
                <a:spcPts val="0"/>
              </a:spcBef>
              <a:spcAft>
                <a:spcPts val="0"/>
              </a:spcAft>
              <a:buSzPts val="2400"/>
              <a:buFont typeface="Noto Sans Symbols"/>
              <a:buNone/>
            </a:pPr>
            <a:r>
              <a:rPr b="1" lang="en-US" sz="2400"/>
              <a:t>Commit</a:t>
            </a:r>
            <a:r>
              <a:rPr lang="en-US" sz="2400"/>
              <a:t> simply means to </a:t>
            </a:r>
            <a:r>
              <a:rPr lang="en-US" sz="2400">
                <a:solidFill>
                  <a:srgbClr val="0000FF"/>
                </a:solidFill>
              </a:rPr>
              <a:t>permanently save all the changes </a:t>
            </a:r>
            <a:r>
              <a:rPr lang="en-US" sz="2400"/>
              <a:t>which you have made in the current transaction. </a:t>
            </a:r>
            <a:endParaRPr b="1" sz="2400"/>
          </a:p>
          <a:p>
            <a:pPr indent="0" lvl="0" marL="0" rtl="0" algn="just">
              <a:spcBef>
                <a:spcPts val="700"/>
              </a:spcBef>
              <a:spcAft>
                <a:spcPts val="0"/>
              </a:spcAft>
              <a:buSzPts val="2400"/>
              <a:buFont typeface="Noto Sans Symbols"/>
              <a:buNone/>
            </a:pPr>
            <a:r>
              <a:t/>
            </a:r>
            <a:endParaRPr sz="2400"/>
          </a:p>
          <a:p>
            <a:pPr indent="0" lvl="0" marL="0" rtl="0" algn="just">
              <a:spcBef>
                <a:spcPts val="500"/>
              </a:spcBef>
              <a:spcAft>
                <a:spcPts val="0"/>
              </a:spcAft>
              <a:buSzPts val="2400"/>
              <a:buFont typeface="Noto Sans Symbols"/>
              <a:buNone/>
            </a:pPr>
            <a:r>
              <a:rPr b="1" lang="en-US" sz="2400"/>
              <a:t>Abort</a:t>
            </a:r>
            <a:r>
              <a:rPr lang="en-US" sz="2400"/>
              <a:t> means to </a:t>
            </a:r>
            <a:r>
              <a:rPr lang="en-US" sz="2400">
                <a:solidFill>
                  <a:srgbClr val="0000FF"/>
                </a:solidFill>
              </a:rPr>
              <a:t>disrupt the action by killing the current ongoing transaction</a:t>
            </a:r>
            <a:r>
              <a:rPr lang="en-US" sz="2400"/>
              <a:t>. </a:t>
            </a:r>
            <a:endParaRPr b="1" sz="2400"/>
          </a:p>
          <a:p>
            <a:pPr indent="0" lvl="0" marL="0" rtl="0" algn="just">
              <a:spcBef>
                <a:spcPts val="700"/>
              </a:spcBef>
              <a:spcAft>
                <a:spcPts val="0"/>
              </a:spcAft>
              <a:buSzPts val="2400"/>
              <a:buFont typeface="Noto Sans Symbols"/>
              <a:buNone/>
            </a:pPr>
            <a:r>
              <a:t/>
            </a:r>
            <a:endParaRPr b="1" sz="2400"/>
          </a:p>
          <a:p>
            <a:pPr indent="0" lvl="0" marL="0" rtl="0" algn="just">
              <a:spcBef>
                <a:spcPts val="500"/>
              </a:spcBef>
              <a:spcAft>
                <a:spcPts val="0"/>
              </a:spcAft>
              <a:buSzPts val="2400"/>
              <a:buFont typeface="Noto Sans Symbols"/>
              <a:buNone/>
            </a:pPr>
            <a:r>
              <a:rPr b="1" lang="en-US" sz="2400"/>
              <a:t>Rollback</a:t>
            </a:r>
            <a:r>
              <a:rPr lang="en-US" sz="2400"/>
              <a:t> refers to </a:t>
            </a:r>
            <a:r>
              <a:rPr lang="en-US" sz="2400">
                <a:solidFill>
                  <a:srgbClr val="0000FF"/>
                </a:solidFill>
              </a:rPr>
              <a:t>reverting to a previous stable state</a:t>
            </a:r>
            <a:r>
              <a:rPr lang="en-US" sz="2400"/>
              <a:t> in the case of transactions.</a:t>
            </a:r>
            <a:endParaRPr b="1" sz="2400"/>
          </a:p>
        </p:txBody>
      </p:sp>
      <p:sp>
        <p:nvSpPr>
          <p:cNvPr descr="Date Placeholder 3" id="2296" name="Google Shape;2296;p16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297" name="Google Shape;2297;p16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descr="Title 1" id="2302" name="Google Shape;2302;p16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Characterizing Schedules based on Recoverability </a:t>
            </a:r>
            <a:endParaRPr/>
          </a:p>
        </p:txBody>
      </p:sp>
      <p:sp>
        <p:nvSpPr>
          <p:cNvPr descr="Content Placeholder 2" id="2303" name="Google Shape;2303;p16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73050" lvl="0" marL="273050" rtl="0" algn="l">
              <a:spcBef>
                <a:spcPts val="0"/>
              </a:spcBef>
              <a:spcAft>
                <a:spcPts val="0"/>
              </a:spcAft>
              <a:buSzPts val="2000"/>
              <a:buFont typeface="Noto Sans Symbols"/>
              <a:buNone/>
            </a:pPr>
            <a:r>
              <a:rPr b="1" lang="en-US" sz="2000"/>
              <a:t>Based on Recoverability </a:t>
            </a:r>
            <a:endParaRPr/>
          </a:p>
          <a:p>
            <a:pPr indent="-273050" lvl="0" marL="273050" rtl="0" algn="l">
              <a:spcBef>
                <a:spcPts val="400"/>
              </a:spcBef>
              <a:spcAft>
                <a:spcPts val="0"/>
              </a:spcAft>
              <a:buSzPts val="2000"/>
              <a:buFont typeface="Noto Sans Symbols"/>
              <a:buNone/>
            </a:pPr>
            <a:r>
              <a:rPr lang="en-US" sz="2000"/>
              <a:t>Characterize which </a:t>
            </a:r>
            <a:r>
              <a:rPr b="1" lang="en-US" sz="2000"/>
              <a:t>schedules can be recovered </a:t>
            </a:r>
            <a:r>
              <a:rPr lang="en-US" sz="2000"/>
              <a:t>and how easily. </a:t>
            </a:r>
            <a:endParaRPr/>
          </a:p>
          <a:p>
            <a:pPr indent="-273050" lvl="0" marL="273050" rtl="0" algn="l">
              <a:spcBef>
                <a:spcPts val="400"/>
              </a:spcBef>
              <a:spcAft>
                <a:spcPts val="0"/>
              </a:spcAft>
              <a:buSzPts val="2000"/>
              <a:buFont typeface="Verdana"/>
              <a:buAutoNum type="arabicPeriod"/>
            </a:pPr>
            <a:r>
              <a:rPr lang="en-US" sz="2000"/>
              <a:t>Recoverable Schedule </a:t>
            </a:r>
            <a:endParaRPr/>
          </a:p>
          <a:p>
            <a:pPr indent="-273050" lvl="0" marL="273050" rtl="0" algn="l">
              <a:spcBef>
                <a:spcPts val="400"/>
              </a:spcBef>
              <a:spcAft>
                <a:spcPts val="0"/>
              </a:spcAft>
              <a:buSzPts val="2000"/>
              <a:buFont typeface="Verdana"/>
              <a:buAutoNum type="arabicPeriod"/>
            </a:pPr>
            <a:r>
              <a:rPr lang="en-US" sz="2000"/>
              <a:t>Cascadeless or Avoid Cascading Rollback schedule </a:t>
            </a:r>
            <a:endParaRPr/>
          </a:p>
          <a:p>
            <a:pPr indent="-273050" lvl="0" marL="273050" rtl="0" algn="l">
              <a:spcBef>
                <a:spcPts val="400"/>
              </a:spcBef>
              <a:spcAft>
                <a:spcPts val="0"/>
              </a:spcAft>
              <a:buSzPts val="2000"/>
              <a:buFont typeface="Verdana"/>
              <a:buAutoNum type="arabicPeriod"/>
            </a:pPr>
            <a:r>
              <a:rPr lang="en-US" sz="2000"/>
              <a:t>Strict Schedules</a:t>
            </a:r>
            <a:endParaRPr/>
          </a:p>
        </p:txBody>
      </p:sp>
      <p:sp>
        <p:nvSpPr>
          <p:cNvPr descr="Date Placeholder 3" id="2304" name="Google Shape;2304;p16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05" name="Google Shape;2305;p16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descr="Title 1" id="2310" name="Google Shape;2310;p16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11" name="Google Shape;2311;p16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Recoverability is a situation where we can recover database system to a consistent way after failure.</a:t>
            </a:r>
            <a:endParaRPr/>
          </a:p>
          <a:p>
            <a:pPr indent="-234950" lvl="0" marL="234950" rtl="0" algn="l">
              <a:spcBef>
                <a:spcPts val="300"/>
              </a:spcBef>
              <a:spcAft>
                <a:spcPts val="0"/>
              </a:spcAft>
              <a:buSzPts val="1600"/>
              <a:buFont typeface="Verdana"/>
              <a:buChar char="□"/>
            </a:pPr>
            <a:r>
              <a:rPr lang="en-US" sz="1600"/>
              <a:t>Recoverable schedule: A </a:t>
            </a:r>
            <a:r>
              <a:rPr b="1" lang="en-US" sz="1600"/>
              <a:t>schedule S </a:t>
            </a:r>
            <a:r>
              <a:rPr lang="en-US" sz="1600"/>
              <a:t>is </a:t>
            </a:r>
            <a:r>
              <a:rPr b="1" lang="en-US" sz="1600"/>
              <a:t>recoverable </a:t>
            </a:r>
            <a:r>
              <a:rPr lang="en-US" sz="1600"/>
              <a:t>if no transaction </a:t>
            </a:r>
            <a:r>
              <a:rPr b="1" lang="en-US" sz="1600"/>
              <a:t>T </a:t>
            </a:r>
            <a:r>
              <a:rPr lang="en-US" sz="1600"/>
              <a:t>in </a:t>
            </a:r>
            <a:r>
              <a:rPr b="1" lang="en-US" sz="1600"/>
              <a:t>S </a:t>
            </a:r>
            <a:r>
              <a:rPr lang="en-US" sz="1600"/>
              <a:t>commits until all transactions </a:t>
            </a:r>
            <a:r>
              <a:rPr b="1" lang="en-US" sz="1600"/>
              <a:t>T’</a:t>
            </a:r>
            <a:r>
              <a:rPr lang="en-US" sz="1600"/>
              <a:t>, that have written an item that </a:t>
            </a:r>
            <a:r>
              <a:rPr b="1" lang="en-US" sz="1600"/>
              <a:t>T </a:t>
            </a:r>
            <a:r>
              <a:rPr lang="en-US" sz="1600"/>
              <a:t>reads, have committed.</a:t>
            </a:r>
            <a:endParaRPr/>
          </a:p>
        </p:txBody>
      </p:sp>
      <p:sp>
        <p:nvSpPr>
          <p:cNvPr descr="Date Placeholder 3" id="2312" name="Google Shape;2312;p16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13" name="Google Shape;2313;p16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descr="Title 1" id="2318" name="Google Shape;2318;p16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19" name="Google Shape;2319;p16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Recoverability is a situation where we can recover database system to a consistent way after failure.</a:t>
            </a:r>
            <a:endParaRPr/>
          </a:p>
          <a:p>
            <a:pPr indent="-234950" lvl="0" marL="234950" rtl="0" algn="l">
              <a:spcBef>
                <a:spcPts val="300"/>
              </a:spcBef>
              <a:spcAft>
                <a:spcPts val="0"/>
              </a:spcAft>
              <a:buSzPts val="1600"/>
              <a:buFont typeface="Verdana"/>
              <a:buChar char="□"/>
            </a:pPr>
            <a:r>
              <a:rPr lang="en-US" sz="1600"/>
              <a:t>Recoverable schedule: A </a:t>
            </a:r>
            <a:r>
              <a:rPr b="1" lang="en-US" sz="1600"/>
              <a:t>schedule S </a:t>
            </a:r>
            <a:r>
              <a:rPr lang="en-US" sz="1600"/>
              <a:t>is </a:t>
            </a:r>
            <a:r>
              <a:rPr b="1" lang="en-US" sz="1600"/>
              <a:t>recoverable </a:t>
            </a:r>
            <a:r>
              <a:rPr lang="en-US" sz="1600"/>
              <a:t>if no transaction </a:t>
            </a:r>
            <a:r>
              <a:rPr b="1" lang="en-US" sz="1600"/>
              <a:t>T </a:t>
            </a:r>
            <a:r>
              <a:rPr lang="en-US" sz="1600"/>
              <a:t>in </a:t>
            </a:r>
            <a:r>
              <a:rPr b="1" lang="en-US" sz="1600"/>
              <a:t>S </a:t>
            </a:r>
            <a:r>
              <a:rPr lang="en-US" sz="1600"/>
              <a:t>commits until all transactions </a:t>
            </a:r>
            <a:r>
              <a:rPr b="1" lang="en-US" sz="1600"/>
              <a:t>T’</a:t>
            </a:r>
            <a:r>
              <a:rPr lang="en-US" sz="1600"/>
              <a:t>, that have written an item that </a:t>
            </a:r>
            <a:r>
              <a:rPr b="1" lang="en-US" sz="1600"/>
              <a:t>T </a:t>
            </a:r>
            <a:r>
              <a:rPr lang="en-US" sz="1600"/>
              <a:t>reads, have committed.</a:t>
            </a:r>
            <a:endParaRPr/>
          </a:p>
        </p:txBody>
      </p:sp>
      <p:sp>
        <p:nvSpPr>
          <p:cNvPr descr="Date Placeholder 3" id="2320" name="Google Shape;2320;p16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21" name="Google Shape;2321;p16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322" name="Google Shape;2322;p163"/>
          <p:cNvSpPr txBox="1"/>
          <p:nvPr/>
        </p:nvSpPr>
        <p:spPr>
          <a:xfrm>
            <a:off x="6200775" y="4560888"/>
            <a:ext cx="2921000" cy="527050"/>
          </a:xfrm>
          <a:prstGeom prst="rect">
            <a:avLst/>
          </a:prstGeom>
          <a:noFill/>
          <a:ln cap="flat" cmpd="sng" w="9525">
            <a:solidFill>
              <a:srgbClr val="0000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Note: A committed transaction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should never be rolled back</a:t>
            </a:r>
            <a:endParaRPr/>
          </a:p>
        </p:txBody>
      </p:sp>
      <p:sp>
        <p:nvSpPr>
          <p:cNvPr descr="TextBox 10" id="2323" name="Google Shape;2323;p163"/>
          <p:cNvSpPr txBox="1"/>
          <p:nvPr/>
        </p:nvSpPr>
        <p:spPr>
          <a:xfrm>
            <a:off x="3608388" y="2808288"/>
            <a:ext cx="233521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Recoverable Schedule</a:t>
            </a:r>
            <a:endParaRPr/>
          </a:p>
        </p:txBody>
      </p:sp>
      <p:graphicFrame>
        <p:nvGraphicFramePr>
          <p:cNvPr id="2324" name="Google Shape;2324;p163"/>
          <p:cNvGraphicFramePr/>
          <p:nvPr/>
        </p:nvGraphicFramePr>
        <p:xfrm>
          <a:off x="3635375" y="3117850"/>
          <a:ext cx="3000000" cy="3000000"/>
        </p:xfrm>
        <a:graphic>
          <a:graphicData uri="http://schemas.openxmlformats.org/drawingml/2006/table">
            <a:tbl>
              <a:tblPr>
                <a:noFill/>
                <a:tableStyleId>{DA31C186-C125-4E34-A739-053F885C22C1}</a:tableStyleId>
              </a:tblPr>
              <a:tblGrid>
                <a:gridCol w="1079500"/>
                <a:gridCol w="122397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8" name="Shape 2328"/>
        <p:cNvGrpSpPr/>
        <p:nvPr/>
      </p:nvGrpSpPr>
      <p:grpSpPr>
        <a:xfrm>
          <a:off x="0" y="0"/>
          <a:ext cx="0" cy="0"/>
          <a:chOff x="0" y="0"/>
          <a:chExt cx="0" cy="0"/>
        </a:xfrm>
      </p:grpSpPr>
      <p:sp>
        <p:nvSpPr>
          <p:cNvPr descr="Title 1" id="2329" name="Google Shape;2329;p16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30" name="Google Shape;2330;p16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Recoverability is a situation where we can recover database system to a consistent way after failure.</a:t>
            </a:r>
            <a:endParaRPr/>
          </a:p>
          <a:p>
            <a:pPr indent="-234950" lvl="0" marL="234950" rtl="0" algn="l">
              <a:spcBef>
                <a:spcPts val="300"/>
              </a:spcBef>
              <a:spcAft>
                <a:spcPts val="0"/>
              </a:spcAft>
              <a:buSzPts val="1600"/>
              <a:buFont typeface="Verdana"/>
              <a:buChar char="□"/>
            </a:pPr>
            <a:r>
              <a:rPr lang="en-US" sz="1600"/>
              <a:t>Recoverable schedule: A </a:t>
            </a:r>
            <a:r>
              <a:rPr b="1" lang="en-US" sz="1600"/>
              <a:t>schedule S </a:t>
            </a:r>
            <a:r>
              <a:rPr lang="en-US" sz="1600"/>
              <a:t>is </a:t>
            </a:r>
            <a:r>
              <a:rPr b="1" lang="en-US" sz="1600"/>
              <a:t>recoverable </a:t>
            </a:r>
            <a:r>
              <a:rPr lang="en-US" sz="1600"/>
              <a:t>if no transaction </a:t>
            </a:r>
            <a:r>
              <a:rPr b="1" lang="en-US" sz="1600"/>
              <a:t>T </a:t>
            </a:r>
            <a:r>
              <a:rPr lang="en-US" sz="1600"/>
              <a:t>in </a:t>
            </a:r>
            <a:r>
              <a:rPr b="1" lang="en-US" sz="1600"/>
              <a:t>S </a:t>
            </a:r>
            <a:r>
              <a:rPr lang="en-US" sz="1600"/>
              <a:t>commits until all transactions </a:t>
            </a:r>
            <a:r>
              <a:rPr b="1" lang="en-US" sz="1600"/>
              <a:t>T’</a:t>
            </a:r>
            <a:r>
              <a:rPr lang="en-US" sz="1600"/>
              <a:t>, that have written an item that </a:t>
            </a:r>
            <a:r>
              <a:rPr b="1" lang="en-US" sz="1600"/>
              <a:t>T reads, have committed.</a:t>
            </a:r>
            <a:endParaRPr sz="1600"/>
          </a:p>
        </p:txBody>
      </p:sp>
      <p:sp>
        <p:nvSpPr>
          <p:cNvPr descr="Date Placeholder 3" id="2331" name="Google Shape;2331;p16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32" name="Google Shape;2332;p16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333" name="Google Shape;2333;p164"/>
          <p:cNvSpPr txBox="1"/>
          <p:nvPr/>
        </p:nvSpPr>
        <p:spPr>
          <a:xfrm>
            <a:off x="6200775" y="4560888"/>
            <a:ext cx="2921000" cy="527050"/>
          </a:xfrm>
          <a:prstGeom prst="rect">
            <a:avLst/>
          </a:prstGeom>
          <a:noFill/>
          <a:ln cap="flat" cmpd="sng" w="9525">
            <a:solidFill>
              <a:srgbClr val="0000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Note: A committed transaction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should never be rolled back</a:t>
            </a:r>
            <a:endParaRPr/>
          </a:p>
        </p:txBody>
      </p:sp>
      <p:sp>
        <p:nvSpPr>
          <p:cNvPr descr="TextBox 8" id="2334" name="Google Shape;2334;p164"/>
          <p:cNvSpPr txBox="1"/>
          <p:nvPr/>
        </p:nvSpPr>
        <p:spPr>
          <a:xfrm>
            <a:off x="296863" y="2859088"/>
            <a:ext cx="283051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Non-Recoverable Schedule</a:t>
            </a:r>
            <a:endParaRPr/>
          </a:p>
        </p:txBody>
      </p:sp>
      <p:graphicFrame>
        <p:nvGraphicFramePr>
          <p:cNvPr id="2335" name="Google Shape;2335;p164"/>
          <p:cNvGraphicFramePr/>
          <p:nvPr/>
        </p:nvGraphicFramePr>
        <p:xfrm>
          <a:off x="485775" y="3189288"/>
          <a:ext cx="3000000" cy="3000000"/>
        </p:xfrm>
        <a:graphic>
          <a:graphicData uri="http://schemas.openxmlformats.org/drawingml/2006/table">
            <a:tbl>
              <a:tblPr>
                <a:noFill/>
                <a:tableStyleId>{DA31C186-C125-4E34-A739-053F885C22C1}</a:tableStyleId>
              </a:tblPr>
              <a:tblGrid>
                <a:gridCol w="1079500"/>
                <a:gridCol w="122397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0" id="2336" name="Google Shape;2336;p164"/>
          <p:cNvSpPr txBox="1"/>
          <p:nvPr/>
        </p:nvSpPr>
        <p:spPr>
          <a:xfrm>
            <a:off x="3608388" y="2808288"/>
            <a:ext cx="233521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Recoverable Schedule</a:t>
            </a:r>
            <a:endParaRPr/>
          </a:p>
        </p:txBody>
      </p:sp>
      <p:graphicFrame>
        <p:nvGraphicFramePr>
          <p:cNvPr id="2337" name="Google Shape;2337;p164"/>
          <p:cNvGraphicFramePr/>
          <p:nvPr/>
        </p:nvGraphicFramePr>
        <p:xfrm>
          <a:off x="3635375" y="3117850"/>
          <a:ext cx="3000000" cy="3000000"/>
        </p:xfrm>
        <a:graphic>
          <a:graphicData uri="http://schemas.openxmlformats.org/drawingml/2006/table">
            <a:tbl>
              <a:tblPr>
                <a:noFill/>
                <a:tableStyleId>{DA31C186-C125-4E34-A739-053F885C22C1}</a:tableStyleId>
              </a:tblPr>
              <a:tblGrid>
                <a:gridCol w="1079500"/>
                <a:gridCol w="122397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X=X-5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1" name="Shape 2341"/>
        <p:cNvGrpSpPr/>
        <p:nvPr/>
      </p:nvGrpSpPr>
      <p:grpSpPr>
        <a:xfrm>
          <a:off x="0" y="0"/>
          <a:ext cx="0" cy="0"/>
          <a:chOff x="0" y="0"/>
          <a:chExt cx="0" cy="0"/>
        </a:xfrm>
      </p:grpSpPr>
      <p:sp>
        <p:nvSpPr>
          <p:cNvPr descr="Title 1" id="2342" name="Google Shape;2342;p16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43" name="Google Shape;2343;p16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800"/>
              <a:buFont typeface="Noto Sans Symbols"/>
              <a:buNone/>
            </a:pPr>
            <a:r>
              <a:rPr lang="en-US" sz="1800"/>
              <a:t>Recoverability is a situation where we can recover database system to a consistent way after failure.</a:t>
            </a:r>
            <a:endParaRPr/>
          </a:p>
          <a:p>
            <a:pPr indent="-234950" lvl="0" marL="234950" rtl="0" algn="l">
              <a:spcBef>
                <a:spcPts val="400"/>
              </a:spcBef>
              <a:spcAft>
                <a:spcPts val="0"/>
              </a:spcAft>
              <a:buSzPts val="1800"/>
              <a:buFont typeface="Verdana"/>
              <a:buChar char="□"/>
            </a:pPr>
            <a:r>
              <a:rPr lang="en-US" sz="1800"/>
              <a:t>Recoverable schedule: A </a:t>
            </a:r>
            <a:r>
              <a:rPr b="1" lang="en-US" sz="1800"/>
              <a:t>schedule S </a:t>
            </a:r>
            <a:r>
              <a:rPr lang="en-US" sz="1800"/>
              <a:t>is </a:t>
            </a:r>
            <a:r>
              <a:rPr b="1" lang="en-US" sz="1800"/>
              <a:t>recoverable </a:t>
            </a:r>
            <a:r>
              <a:rPr lang="en-US" sz="1800"/>
              <a:t>if no transaction </a:t>
            </a:r>
            <a:r>
              <a:rPr b="1" lang="en-US" sz="1800"/>
              <a:t>T </a:t>
            </a:r>
            <a:r>
              <a:rPr lang="en-US" sz="1800"/>
              <a:t>in </a:t>
            </a:r>
            <a:r>
              <a:rPr b="1" lang="en-US" sz="1800"/>
              <a:t>S </a:t>
            </a:r>
            <a:r>
              <a:rPr lang="en-US" sz="1800"/>
              <a:t>commits until all transactions </a:t>
            </a:r>
            <a:r>
              <a:rPr b="1" lang="en-US" sz="1800"/>
              <a:t>T’</a:t>
            </a:r>
            <a:r>
              <a:rPr lang="en-US" sz="1800"/>
              <a:t>, that have written an item that </a:t>
            </a:r>
            <a:r>
              <a:rPr b="1" lang="en-US" sz="1800"/>
              <a:t>T </a:t>
            </a:r>
            <a:r>
              <a:rPr lang="en-US" sz="1800"/>
              <a:t>reads, have committed.</a:t>
            </a:r>
            <a:endParaRPr/>
          </a:p>
        </p:txBody>
      </p:sp>
      <p:sp>
        <p:nvSpPr>
          <p:cNvPr descr="Date Placeholder 3" id="2344" name="Google Shape;2344;p16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45" name="Google Shape;2345;p16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0" id="2346" name="Google Shape;2346;p165"/>
          <p:cNvSpPr txBox="1"/>
          <p:nvPr/>
        </p:nvSpPr>
        <p:spPr>
          <a:xfrm>
            <a:off x="800100" y="2873375"/>
            <a:ext cx="575786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Question: Following is Recoverable Schedule ? Yes / No</a:t>
            </a:r>
            <a:endParaRPr/>
          </a:p>
        </p:txBody>
      </p:sp>
      <p:graphicFrame>
        <p:nvGraphicFramePr>
          <p:cNvPr id="2347" name="Google Shape;2347;p165"/>
          <p:cNvGraphicFramePr/>
          <p:nvPr/>
        </p:nvGraphicFramePr>
        <p:xfrm>
          <a:off x="1331913" y="3278188"/>
          <a:ext cx="3000000" cy="3000000"/>
        </p:xfrm>
        <a:graphic>
          <a:graphicData uri="http://schemas.openxmlformats.org/drawingml/2006/table">
            <a:tbl>
              <a:tblPr>
                <a:noFill/>
                <a:tableStyleId>{DA31C186-C125-4E34-A739-053F885C22C1}</a:tableStyleId>
              </a:tblPr>
              <a:tblGrid>
                <a:gridCol w="863600"/>
                <a:gridCol w="107950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descr="Title 1" id="2352" name="Google Shape;2352;p16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53" name="Google Shape;2353;p16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Recoverability is a situation where we can recover database system to a consistent way after failure.</a:t>
            </a:r>
            <a:endParaRPr/>
          </a:p>
          <a:p>
            <a:pPr indent="-234950" lvl="0" marL="234950" rtl="0" algn="l">
              <a:spcBef>
                <a:spcPts val="300"/>
              </a:spcBef>
              <a:spcAft>
                <a:spcPts val="0"/>
              </a:spcAft>
              <a:buSzPts val="1600"/>
              <a:buFont typeface="Verdana"/>
              <a:buChar char="□"/>
            </a:pPr>
            <a:r>
              <a:rPr lang="en-US" sz="1600"/>
              <a:t>Recoverable schedule: A </a:t>
            </a:r>
            <a:r>
              <a:rPr b="1" lang="en-US" sz="1600"/>
              <a:t>schedule S </a:t>
            </a:r>
            <a:r>
              <a:rPr lang="en-US" sz="1600"/>
              <a:t>is </a:t>
            </a:r>
            <a:r>
              <a:rPr b="1" lang="en-US" sz="1600"/>
              <a:t>recoverable </a:t>
            </a:r>
            <a:r>
              <a:rPr lang="en-US" sz="1600"/>
              <a:t>if no transaction </a:t>
            </a:r>
            <a:r>
              <a:rPr b="1" lang="en-US" sz="1600"/>
              <a:t>T </a:t>
            </a:r>
            <a:r>
              <a:rPr lang="en-US" sz="1600"/>
              <a:t>in </a:t>
            </a:r>
            <a:r>
              <a:rPr b="1" lang="en-US" sz="1600"/>
              <a:t>S </a:t>
            </a:r>
            <a:r>
              <a:rPr lang="en-US" sz="1600"/>
              <a:t>commits until all transactions </a:t>
            </a:r>
            <a:r>
              <a:rPr b="1" lang="en-US" sz="1600"/>
              <a:t>T’</a:t>
            </a:r>
            <a:r>
              <a:rPr lang="en-US" sz="1600"/>
              <a:t>, that have written an item that </a:t>
            </a:r>
            <a:r>
              <a:rPr b="1" lang="en-US" sz="1600"/>
              <a:t>T </a:t>
            </a:r>
            <a:r>
              <a:rPr lang="en-US" sz="1600"/>
              <a:t>reads, have committed.</a:t>
            </a:r>
            <a:endParaRPr/>
          </a:p>
        </p:txBody>
      </p:sp>
      <p:sp>
        <p:nvSpPr>
          <p:cNvPr descr="Date Placeholder 3" id="2354" name="Google Shape;2354;p16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55" name="Google Shape;2355;p16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356" name="Google Shape;2356;p166"/>
          <p:cNvSpPr txBox="1"/>
          <p:nvPr/>
        </p:nvSpPr>
        <p:spPr>
          <a:xfrm>
            <a:off x="3594100" y="3984625"/>
            <a:ext cx="5503863" cy="958850"/>
          </a:xfrm>
          <a:prstGeom prst="rect">
            <a:avLst/>
          </a:prstGeom>
          <a:noFill/>
          <a:ln cap="flat" cmpd="sng" w="9525">
            <a:solidFill>
              <a:srgbClr val="0000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Answer: </a:t>
            </a:r>
            <a:r>
              <a:rPr b="1" lang="en-US" sz="1400">
                <a:solidFill>
                  <a:srgbClr val="000000"/>
                </a:solidFill>
                <a:latin typeface="Verdana"/>
                <a:ea typeface="Verdana"/>
                <a:cs typeface="Verdana"/>
                <a:sym typeface="Verdana"/>
              </a:rPr>
              <a:t>NO</a:t>
            </a:r>
            <a:endParaRPr/>
          </a:p>
          <a:p>
            <a:pPr indent="0" lvl="0" marL="0" marR="0" rtl="0" algn="l">
              <a:spcBef>
                <a:spcPts val="0"/>
              </a:spcBef>
              <a:spcAft>
                <a:spcPts val="0"/>
              </a:spcAft>
              <a:buNone/>
            </a:pPr>
            <a:r>
              <a:t/>
            </a:r>
            <a:endParaRPr b="1" sz="1400">
              <a:solidFill>
                <a:srgbClr val="000000"/>
              </a:solidFill>
              <a:latin typeface="Verdana"/>
              <a:ea typeface="Verdana"/>
              <a:cs typeface="Verdana"/>
              <a:sym typeface="Verdana"/>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Why NOT recoverable?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a:t>
            </a:r>
            <a:r>
              <a:rPr b="1" lang="en-US" sz="1400">
                <a:solidFill>
                  <a:srgbClr val="000000"/>
                </a:solidFill>
                <a:latin typeface="Verdana"/>
                <a:ea typeface="Verdana"/>
                <a:cs typeface="Verdana"/>
                <a:sym typeface="Verdana"/>
              </a:rPr>
              <a:t>T2 </a:t>
            </a:r>
            <a:r>
              <a:rPr lang="en-US" sz="1400">
                <a:solidFill>
                  <a:srgbClr val="000000"/>
                </a:solidFill>
                <a:latin typeface="Verdana"/>
                <a:ea typeface="Verdana"/>
                <a:cs typeface="Verdana"/>
                <a:sym typeface="Verdana"/>
              </a:rPr>
              <a:t>made a </a:t>
            </a:r>
            <a:r>
              <a:rPr b="1" lang="en-US" sz="1400">
                <a:solidFill>
                  <a:srgbClr val="000000"/>
                </a:solidFill>
                <a:latin typeface="Verdana"/>
                <a:ea typeface="Verdana"/>
                <a:cs typeface="Verdana"/>
                <a:sym typeface="Verdana"/>
              </a:rPr>
              <a:t>dirty read </a:t>
            </a:r>
            <a:r>
              <a:rPr lang="en-US" sz="1400">
                <a:solidFill>
                  <a:srgbClr val="000000"/>
                </a:solidFill>
                <a:latin typeface="Verdana"/>
                <a:ea typeface="Verdana"/>
                <a:cs typeface="Verdana"/>
                <a:sym typeface="Verdana"/>
              </a:rPr>
              <a:t>and committed before </a:t>
            </a:r>
            <a:r>
              <a:rPr b="1" lang="en-US" sz="1400">
                <a:solidFill>
                  <a:srgbClr val="000000"/>
                </a:solidFill>
                <a:latin typeface="Verdana"/>
                <a:ea typeface="Verdana"/>
                <a:cs typeface="Verdana"/>
                <a:sym typeface="Verdana"/>
              </a:rPr>
              <a:t>T1 </a:t>
            </a:r>
            <a:endParaRPr sz="1400">
              <a:solidFill>
                <a:srgbClr val="000000"/>
              </a:solidFill>
              <a:latin typeface="Verdana"/>
              <a:ea typeface="Verdana"/>
              <a:cs typeface="Verdana"/>
              <a:sym typeface="Verdana"/>
            </a:endParaRPr>
          </a:p>
        </p:txBody>
      </p:sp>
      <p:sp>
        <p:nvSpPr>
          <p:cNvPr descr="TextBox 10" id="2357" name="Google Shape;2357;p166"/>
          <p:cNvSpPr txBox="1"/>
          <p:nvPr/>
        </p:nvSpPr>
        <p:spPr>
          <a:xfrm>
            <a:off x="1016000" y="2808288"/>
            <a:ext cx="575786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Question: Following is Recoverable Schedule ? Yes / No</a:t>
            </a:r>
            <a:endParaRPr/>
          </a:p>
        </p:txBody>
      </p:sp>
      <p:graphicFrame>
        <p:nvGraphicFramePr>
          <p:cNvPr id="2358" name="Google Shape;2358;p166"/>
          <p:cNvGraphicFramePr/>
          <p:nvPr/>
        </p:nvGraphicFramePr>
        <p:xfrm>
          <a:off x="1331913" y="3278188"/>
          <a:ext cx="3000000" cy="3000000"/>
        </p:xfrm>
        <a:graphic>
          <a:graphicData uri="http://schemas.openxmlformats.org/drawingml/2006/table">
            <a:tbl>
              <a:tblPr>
                <a:noFill/>
                <a:tableStyleId>{DA31C186-C125-4E34-A739-053F885C22C1}</a:tableStyleId>
              </a:tblPr>
              <a:tblGrid>
                <a:gridCol w="863600"/>
                <a:gridCol w="107950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8" id="2359" name="Google Shape;2359;p166"/>
          <p:cNvCxnSpPr/>
          <p:nvPr/>
        </p:nvCxnSpPr>
        <p:spPr>
          <a:xfrm>
            <a:off x="2051050" y="4148138"/>
            <a:ext cx="287338" cy="215900"/>
          </a:xfrm>
          <a:prstGeom prst="straightConnector1">
            <a:avLst/>
          </a:prstGeom>
          <a:noFill/>
          <a:ln cap="flat" cmpd="sng" w="38100">
            <a:solidFill>
              <a:srgbClr val="FF0000"/>
            </a:solidFill>
            <a:prstDash val="solid"/>
            <a:round/>
            <a:headEnd len="sm" w="sm" type="none"/>
            <a:tailEnd len="med" w="med" type="triangle"/>
          </a:ln>
        </p:spPr>
      </p:cxnSp>
      <p:sp>
        <p:nvSpPr>
          <p:cNvPr descr="TextBox 9" id="2360" name="Google Shape;2360;p166"/>
          <p:cNvSpPr txBox="1"/>
          <p:nvPr/>
        </p:nvSpPr>
        <p:spPr>
          <a:xfrm>
            <a:off x="2185988" y="3984625"/>
            <a:ext cx="1046162"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Dirty Read</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descr="Title 1" id="2365" name="Google Shape;2365;p16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Recoverable Schedule</a:t>
            </a:r>
            <a:endParaRPr/>
          </a:p>
        </p:txBody>
      </p:sp>
      <p:sp>
        <p:nvSpPr>
          <p:cNvPr descr="Content Placeholder 2" id="2366" name="Google Shape;2366;p16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Recoverability is a situation where we can recover database system to a consistent way after failure.</a:t>
            </a:r>
            <a:endParaRPr/>
          </a:p>
          <a:p>
            <a:pPr indent="-234950" lvl="0" marL="234950" rtl="0" algn="l">
              <a:spcBef>
                <a:spcPts val="300"/>
              </a:spcBef>
              <a:spcAft>
                <a:spcPts val="0"/>
              </a:spcAft>
              <a:buSzPts val="1600"/>
              <a:buFont typeface="Verdana"/>
              <a:buChar char="□"/>
            </a:pPr>
            <a:r>
              <a:rPr lang="en-US" sz="1600"/>
              <a:t>Recoverable schedule: A </a:t>
            </a:r>
            <a:r>
              <a:rPr b="1" lang="en-US" sz="1600"/>
              <a:t>schedule S </a:t>
            </a:r>
            <a:r>
              <a:rPr lang="en-US" sz="1600"/>
              <a:t>is </a:t>
            </a:r>
            <a:r>
              <a:rPr b="1" lang="en-US" sz="1600"/>
              <a:t>recoverable </a:t>
            </a:r>
            <a:r>
              <a:rPr lang="en-US" sz="1600"/>
              <a:t>if no transaction </a:t>
            </a:r>
            <a:r>
              <a:rPr b="1" lang="en-US" sz="1600"/>
              <a:t>T </a:t>
            </a:r>
            <a:r>
              <a:rPr lang="en-US" sz="1600"/>
              <a:t>in </a:t>
            </a:r>
            <a:r>
              <a:rPr b="1" lang="en-US" sz="1600"/>
              <a:t>S </a:t>
            </a:r>
            <a:r>
              <a:rPr lang="en-US" sz="1600"/>
              <a:t>commits until all transactions </a:t>
            </a:r>
            <a:r>
              <a:rPr b="1" lang="en-US" sz="1600"/>
              <a:t>T’</a:t>
            </a:r>
            <a:r>
              <a:rPr lang="en-US" sz="1600"/>
              <a:t>, that have written an item that </a:t>
            </a:r>
            <a:r>
              <a:rPr b="1" lang="en-US" sz="1600"/>
              <a:t>T </a:t>
            </a:r>
            <a:r>
              <a:rPr lang="en-US" sz="1600"/>
              <a:t>reads, have committed.</a:t>
            </a:r>
            <a:endParaRPr/>
          </a:p>
        </p:txBody>
      </p:sp>
      <p:sp>
        <p:nvSpPr>
          <p:cNvPr descr="Date Placeholder 3" id="2367" name="Google Shape;2367;p16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68" name="Google Shape;2368;p16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369" name="Google Shape;2369;p167"/>
          <p:cNvSpPr txBox="1"/>
          <p:nvPr/>
        </p:nvSpPr>
        <p:spPr>
          <a:xfrm>
            <a:off x="3635375" y="3209925"/>
            <a:ext cx="5492750" cy="2470150"/>
          </a:xfrm>
          <a:prstGeom prst="rect">
            <a:avLst/>
          </a:prstGeom>
          <a:noFill/>
          <a:ln cap="flat" cmpd="sng" w="9525">
            <a:solidFill>
              <a:srgbClr val="0000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NO</a:t>
            </a:r>
            <a:endParaRPr/>
          </a:p>
          <a:p>
            <a:pPr indent="0" lvl="0" marL="0" marR="0" rtl="0" algn="l">
              <a:spcBef>
                <a:spcPts val="0"/>
              </a:spcBef>
              <a:spcAft>
                <a:spcPts val="0"/>
              </a:spcAft>
              <a:buNone/>
            </a:pPr>
            <a:r>
              <a:t/>
            </a:r>
            <a:endParaRPr b="1" sz="1400">
              <a:solidFill>
                <a:srgbClr val="000000"/>
              </a:solidFill>
              <a:latin typeface="Verdana"/>
              <a:ea typeface="Verdana"/>
              <a:cs typeface="Verdana"/>
              <a:sym typeface="Verdana"/>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Why it not a recoverable schedule?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a:t>
            </a:r>
            <a:r>
              <a:rPr b="1" lang="en-US" sz="1400">
                <a:solidFill>
                  <a:srgbClr val="000000"/>
                </a:solidFill>
                <a:latin typeface="Verdana"/>
                <a:ea typeface="Verdana"/>
                <a:cs typeface="Verdana"/>
                <a:sym typeface="Verdana"/>
              </a:rPr>
              <a:t>T2 </a:t>
            </a:r>
            <a:r>
              <a:rPr lang="en-US" sz="1400">
                <a:solidFill>
                  <a:srgbClr val="000000"/>
                </a:solidFill>
                <a:latin typeface="Verdana"/>
                <a:ea typeface="Verdana"/>
                <a:cs typeface="Verdana"/>
                <a:sym typeface="Verdana"/>
              </a:rPr>
              <a:t>made a </a:t>
            </a:r>
            <a:r>
              <a:rPr b="1" lang="en-US" sz="1400">
                <a:solidFill>
                  <a:srgbClr val="000000"/>
                </a:solidFill>
                <a:latin typeface="Verdana"/>
                <a:ea typeface="Verdana"/>
                <a:cs typeface="Verdana"/>
                <a:sym typeface="Verdana"/>
              </a:rPr>
              <a:t>dirty read </a:t>
            </a:r>
            <a:r>
              <a:rPr lang="en-US" sz="1400">
                <a:solidFill>
                  <a:srgbClr val="000000"/>
                </a:solidFill>
                <a:latin typeface="Verdana"/>
                <a:ea typeface="Verdana"/>
                <a:cs typeface="Verdana"/>
                <a:sym typeface="Verdana"/>
              </a:rPr>
              <a:t>and  committed before </a:t>
            </a:r>
            <a:r>
              <a:rPr b="1" lang="en-US" sz="1400">
                <a:solidFill>
                  <a:srgbClr val="000000"/>
                </a:solidFill>
                <a:latin typeface="Verdana"/>
                <a:ea typeface="Verdana"/>
                <a:cs typeface="Verdana"/>
                <a:sym typeface="Verdana"/>
              </a:rPr>
              <a:t>T1 </a:t>
            </a:r>
            <a:endParaRPr/>
          </a:p>
          <a:p>
            <a:pPr indent="0" lvl="0" marL="0" marR="0" rtl="0" algn="l">
              <a:spcBef>
                <a:spcPts val="0"/>
              </a:spcBef>
              <a:spcAft>
                <a:spcPts val="0"/>
              </a:spcAft>
              <a:buNone/>
            </a:pPr>
            <a:r>
              <a:t/>
            </a:r>
            <a:endParaRPr b="1" sz="1400">
              <a:solidFill>
                <a:srgbClr val="000000"/>
              </a:solidFill>
              <a:latin typeface="Verdana"/>
              <a:ea typeface="Verdana"/>
              <a:cs typeface="Verdana"/>
              <a:sym typeface="Verdana"/>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But why is the schedule Nonrecoverable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•Because when the </a:t>
            </a:r>
            <a:r>
              <a:rPr b="1" lang="en-US" sz="1400">
                <a:solidFill>
                  <a:srgbClr val="000000"/>
                </a:solidFill>
                <a:latin typeface="Verdana"/>
                <a:ea typeface="Verdana"/>
                <a:cs typeface="Verdana"/>
                <a:sym typeface="Verdana"/>
              </a:rPr>
              <a:t>recovery manager </a:t>
            </a:r>
            <a:r>
              <a:rPr lang="en-US" sz="1400">
                <a:solidFill>
                  <a:srgbClr val="000000"/>
                </a:solidFill>
                <a:latin typeface="Verdana"/>
                <a:ea typeface="Verdana"/>
                <a:cs typeface="Verdana"/>
                <a:sym typeface="Verdana"/>
              </a:rPr>
              <a:t>rolls back</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(step a) </a:t>
            </a:r>
            <a:r>
              <a:rPr b="1" lang="en-US" sz="1400">
                <a:solidFill>
                  <a:srgbClr val="000000"/>
                </a:solidFill>
                <a:latin typeface="Verdana"/>
                <a:ea typeface="Verdana"/>
                <a:cs typeface="Verdana"/>
                <a:sym typeface="Verdana"/>
              </a:rPr>
              <a:t>T1 </a:t>
            </a:r>
            <a:r>
              <a:rPr lang="en-US" sz="1400">
                <a:solidFill>
                  <a:srgbClr val="000000"/>
                </a:solidFill>
                <a:latin typeface="Verdana"/>
                <a:ea typeface="Verdana"/>
                <a:cs typeface="Verdana"/>
                <a:sym typeface="Verdana"/>
              </a:rPr>
              <a:t>then A gets its initial value.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•But T2 has already utilized this wrong value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and committed something to the DB</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•The DB is consequently in an inconsistent state!</a:t>
            </a:r>
            <a:endParaRPr/>
          </a:p>
        </p:txBody>
      </p:sp>
      <p:sp>
        <p:nvSpPr>
          <p:cNvPr descr="TextBox 10" id="2370" name="Google Shape;2370;p167"/>
          <p:cNvSpPr txBox="1"/>
          <p:nvPr/>
        </p:nvSpPr>
        <p:spPr>
          <a:xfrm>
            <a:off x="1016000" y="2808288"/>
            <a:ext cx="798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Question: Following is Recoverable Schedule ? Yes / NoRecoverable Schedule</a:t>
            </a:r>
            <a:endParaRPr/>
          </a:p>
        </p:txBody>
      </p:sp>
      <p:graphicFrame>
        <p:nvGraphicFramePr>
          <p:cNvPr id="2371" name="Google Shape;2371;p167"/>
          <p:cNvGraphicFramePr/>
          <p:nvPr/>
        </p:nvGraphicFramePr>
        <p:xfrm>
          <a:off x="1331913" y="3278188"/>
          <a:ext cx="3000000" cy="3000000"/>
        </p:xfrm>
        <a:graphic>
          <a:graphicData uri="http://schemas.openxmlformats.org/drawingml/2006/table">
            <a:tbl>
              <a:tblPr>
                <a:noFill/>
                <a:tableStyleId>{DA31C186-C125-4E34-A739-053F885C22C1}</a:tableStyleId>
              </a:tblPr>
              <a:tblGrid>
                <a:gridCol w="863600"/>
                <a:gridCol w="107950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8" id="2372" name="Google Shape;2372;p167"/>
          <p:cNvCxnSpPr/>
          <p:nvPr/>
        </p:nvCxnSpPr>
        <p:spPr>
          <a:xfrm>
            <a:off x="2051050" y="4148138"/>
            <a:ext cx="287338" cy="215900"/>
          </a:xfrm>
          <a:prstGeom prst="straightConnector1">
            <a:avLst/>
          </a:prstGeom>
          <a:noFill/>
          <a:ln cap="flat" cmpd="sng" w="38100">
            <a:solidFill>
              <a:srgbClr val="FF0000"/>
            </a:solidFill>
            <a:prstDash val="solid"/>
            <a:round/>
            <a:headEnd len="sm" w="sm" type="none"/>
            <a:tailEnd len="med" w="med" type="triangle"/>
          </a:ln>
        </p:spPr>
      </p:cxnSp>
      <p:sp>
        <p:nvSpPr>
          <p:cNvPr descr="TextBox 9" id="2373" name="Google Shape;2373;p167"/>
          <p:cNvSpPr txBox="1"/>
          <p:nvPr/>
        </p:nvSpPr>
        <p:spPr>
          <a:xfrm>
            <a:off x="2185988" y="3984625"/>
            <a:ext cx="1046162" cy="307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Dirty Read</a:t>
            </a:r>
            <a:endParaRPr/>
          </a:p>
        </p:txBody>
      </p:sp>
      <p:grpSp>
        <p:nvGrpSpPr>
          <p:cNvPr id="2374" name="Google Shape;2374;p167"/>
          <p:cNvGrpSpPr/>
          <p:nvPr/>
        </p:nvGrpSpPr>
        <p:grpSpPr>
          <a:xfrm>
            <a:off x="538164" y="3605213"/>
            <a:ext cx="720724" cy="2282825"/>
            <a:chOff x="0" y="-1"/>
            <a:chExt cx="720102" cy="2282941"/>
          </a:xfrm>
        </p:grpSpPr>
        <p:sp>
          <p:nvSpPr>
            <p:cNvPr id="2375" name="Google Shape;2375;p167"/>
            <p:cNvSpPr/>
            <p:nvPr/>
          </p:nvSpPr>
          <p:spPr>
            <a:xfrm rot="10800000">
              <a:off x="0" y="-1"/>
              <a:ext cx="720102" cy="2282941"/>
            </a:xfrm>
            <a:custGeom>
              <a:rect b="b" l="l" r="r" t="t"/>
              <a:pathLst>
                <a:path extrusionOk="0" h="21600" w="20879">
                  <a:moveTo>
                    <a:pt x="0" y="20206"/>
                  </a:moveTo>
                  <a:lnTo>
                    <a:pt x="5220" y="18193"/>
                  </a:lnTo>
                  <a:lnTo>
                    <a:pt x="5220" y="19143"/>
                  </a:lnTo>
                  <a:cubicBezTo>
                    <a:pt x="13858" y="18104"/>
                    <a:pt x="20124" y="14623"/>
                    <a:pt x="20815" y="10480"/>
                  </a:cubicBezTo>
                  <a:cubicBezTo>
                    <a:pt x="21600" y="15183"/>
                    <a:pt x="15025" y="19471"/>
                    <a:pt x="5220" y="20650"/>
                  </a:cubicBezTo>
                  <a:lnTo>
                    <a:pt x="5220" y="21600"/>
                  </a:lnTo>
                  <a:close/>
                  <a:moveTo>
                    <a:pt x="20878" y="11233"/>
                  </a:moveTo>
                  <a:cubicBezTo>
                    <a:pt x="20878" y="5862"/>
                    <a:pt x="11531" y="1507"/>
                    <a:pt x="0" y="1507"/>
                  </a:cubicBezTo>
                  <a:lnTo>
                    <a:pt x="0" y="0"/>
                  </a:lnTo>
                  <a:cubicBezTo>
                    <a:pt x="11531" y="0"/>
                    <a:pt x="20878" y="4354"/>
                    <a:pt x="20878" y="9726"/>
                  </a:cubicBezTo>
                  <a:close/>
                </a:path>
              </a:pathLst>
            </a:custGeom>
            <a:solidFill>
              <a:schemeClr val="accent1"/>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376" name="Google Shape;2376;p167"/>
            <p:cNvSpPr/>
            <p:nvPr/>
          </p:nvSpPr>
          <p:spPr>
            <a:xfrm rot="10800000">
              <a:off x="21" y="1095697"/>
              <a:ext cx="720081" cy="1187243"/>
            </a:xfrm>
            <a:custGeom>
              <a:rect b="b" l="l" r="r" t="t"/>
              <a:pathLst>
                <a:path extrusionOk="0" h="21600" w="21600">
                  <a:moveTo>
                    <a:pt x="21600" y="21600"/>
                  </a:moveTo>
                  <a:cubicBezTo>
                    <a:pt x="21600" y="11271"/>
                    <a:pt x="11929" y="2898"/>
                    <a:pt x="0" y="2898"/>
                  </a:cubicBezTo>
                  <a:lnTo>
                    <a:pt x="0" y="0"/>
                  </a:lnTo>
                  <a:cubicBezTo>
                    <a:pt x="11929" y="0"/>
                    <a:pt x="21600" y="8373"/>
                    <a:pt x="21600" y="18702"/>
                  </a:cubicBezTo>
                  <a:close/>
                </a:path>
              </a:pathLst>
            </a:custGeom>
            <a:solidFill>
              <a:srgbClr val="000000">
                <a:alpha val="20000"/>
              </a:srgbClr>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id="2377" name="Google Shape;2377;p167"/>
            <p:cNvSpPr/>
            <p:nvPr/>
          </p:nvSpPr>
          <p:spPr>
            <a:xfrm rot="10800000">
              <a:off x="21" y="-1"/>
              <a:ext cx="720081" cy="2282941"/>
            </a:xfrm>
            <a:custGeom>
              <a:rect b="b" l="l" r="r" t="t"/>
              <a:pathLst>
                <a:path extrusionOk="0" h="21600" w="21600">
                  <a:moveTo>
                    <a:pt x="21600" y="11233"/>
                  </a:moveTo>
                  <a:cubicBezTo>
                    <a:pt x="21600" y="5862"/>
                    <a:pt x="11929" y="1507"/>
                    <a:pt x="0" y="1507"/>
                  </a:cubicBezTo>
                  <a:lnTo>
                    <a:pt x="0" y="0"/>
                  </a:lnTo>
                  <a:cubicBezTo>
                    <a:pt x="11929" y="0"/>
                    <a:pt x="21600" y="4354"/>
                    <a:pt x="21600" y="9726"/>
                  </a:cubicBezTo>
                  <a:lnTo>
                    <a:pt x="21600" y="11233"/>
                  </a:lnTo>
                  <a:cubicBezTo>
                    <a:pt x="21600" y="15668"/>
                    <a:pt x="14937" y="19541"/>
                    <a:pt x="5400" y="20650"/>
                  </a:cubicBezTo>
                  <a:lnTo>
                    <a:pt x="5400" y="21600"/>
                  </a:lnTo>
                  <a:lnTo>
                    <a:pt x="0" y="20206"/>
                  </a:lnTo>
                  <a:lnTo>
                    <a:pt x="5400" y="18193"/>
                  </a:lnTo>
                  <a:lnTo>
                    <a:pt x="5400" y="19143"/>
                  </a:lnTo>
                  <a:cubicBezTo>
                    <a:pt x="14337" y="18104"/>
                    <a:pt x="20820" y="14623"/>
                    <a:pt x="21535" y="10480"/>
                  </a:cubicBezTo>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pSp>
      <p:sp>
        <p:nvSpPr>
          <p:cNvPr descr="TextBox 13" id="2378" name="Google Shape;2378;p167"/>
          <p:cNvSpPr txBox="1"/>
          <p:nvPr/>
        </p:nvSpPr>
        <p:spPr>
          <a:xfrm>
            <a:off x="312738" y="5783263"/>
            <a:ext cx="842962"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Step a:</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Rollback</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descr="Title 1" id="2383" name="Google Shape;2383;p16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Recoverable Schedules</a:t>
            </a:r>
            <a:endParaRPr/>
          </a:p>
        </p:txBody>
      </p:sp>
      <p:sp>
        <p:nvSpPr>
          <p:cNvPr descr="Content Placeholder 2" id="2384" name="Google Shape;2384;p16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recoverable schedule </a:t>
            </a:r>
            <a:endParaRPr/>
          </a:p>
        </p:txBody>
      </p:sp>
      <p:sp>
        <p:nvSpPr>
          <p:cNvPr descr="Date Placeholder 3" id="2385" name="Google Shape;2385;p16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86" name="Google Shape;2386;p16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387" name="Google Shape;2387;p168"/>
          <p:cNvPicPr preferRelativeResize="0"/>
          <p:nvPr/>
        </p:nvPicPr>
        <p:blipFill rotWithShape="1">
          <a:blip r:embed="rId3">
            <a:alphaModFix/>
          </a:blip>
          <a:srcRect b="0" l="0" r="0" t="0"/>
          <a:stretch/>
        </p:blipFill>
        <p:spPr>
          <a:xfrm>
            <a:off x="898525" y="1955800"/>
            <a:ext cx="5527675" cy="608013"/>
          </a:xfrm>
          <a:prstGeom prst="rect">
            <a:avLst/>
          </a:prstGeom>
          <a:noFill/>
          <a:ln>
            <a:noFill/>
          </a:ln>
        </p:spPr>
      </p:pic>
      <p:sp>
        <p:nvSpPr>
          <p:cNvPr descr="TextBox 10" id="2388" name="Google Shape;2388;p168"/>
          <p:cNvSpPr txBox="1"/>
          <p:nvPr/>
        </p:nvSpPr>
        <p:spPr>
          <a:xfrm>
            <a:off x="439738" y="4497388"/>
            <a:ext cx="8031162" cy="1654175"/>
          </a:xfrm>
          <a:prstGeom prst="rect">
            <a:avLst/>
          </a:prstGeom>
          <a:noFill/>
          <a:ln>
            <a:noFill/>
          </a:ln>
        </p:spPr>
        <p:txBody>
          <a:bodyPr anchorCtr="0" anchor="t" bIns="45700" lIns="45700" spcFirstLastPara="1" rIns="45700" wrap="square" tIns="45700">
            <a:spAutoFit/>
          </a:bodyPr>
          <a:lstStyle/>
          <a:p>
            <a:pPr indent="-47625" lvl="0" marL="47625" marR="0" rtl="0" algn="l">
              <a:spcBef>
                <a:spcPts val="0"/>
              </a:spcBef>
              <a:spcAft>
                <a:spcPts val="0"/>
              </a:spcAft>
              <a:buNone/>
            </a:pPr>
            <a:r>
              <a:rPr b="1" lang="en-US" sz="1400">
                <a:solidFill>
                  <a:srgbClr val="000000"/>
                </a:solidFill>
                <a:latin typeface="Verdana"/>
                <a:ea typeface="Verdana"/>
                <a:cs typeface="Verdana"/>
                <a:sym typeface="Verdana"/>
              </a:rPr>
              <a:t>Recoverable schedule</a:t>
            </a:r>
            <a:r>
              <a:rPr lang="en-US" sz="1400">
                <a:solidFill>
                  <a:srgbClr val="000000"/>
                </a:solidFill>
                <a:latin typeface="Verdana"/>
                <a:ea typeface="Verdana"/>
                <a:cs typeface="Verdana"/>
                <a:sym typeface="Verdana"/>
              </a:rPr>
              <a:t>: A schedule is recoverable if the following condition is satisfied:</a:t>
            </a:r>
            <a:endParaRPr/>
          </a:p>
          <a:p>
            <a:pPr indent="-88900" lvl="0" marL="47625"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Tj should commit after Ti  if Tj has read any data item written by Ti.</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    -&gt; This schedule is </a:t>
            </a:r>
            <a:r>
              <a:rPr lang="en-US" sz="1600">
                <a:solidFill>
                  <a:srgbClr val="FF0000"/>
                </a:solidFill>
                <a:latin typeface="Verdana"/>
                <a:ea typeface="Verdana"/>
                <a:cs typeface="Verdana"/>
                <a:sym typeface="Verdana"/>
              </a:rPr>
              <a:t>recoverable</a:t>
            </a:r>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    -&gt; This schedule is </a:t>
            </a:r>
            <a:r>
              <a:rPr lang="en-US" sz="1600">
                <a:solidFill>
                  <a:srgbClr val="008000"/>
                </a:solidFill>
                <a:latin typeface="Verdana"/>
                <a:ea typeface="Verdana"/>
                <a:cs typeface="Verdana"/>
                <a:sym typeface="Verdana"/>
              </a:rPr>
              <a:t>non-recoverable</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2" name="Shape 2392"/>
        <p:cNvGrpSpPr/>
        <p:nvPr/>
      </p:nvGrpSpPr>
      <p:grpSpPr>
        <a:xfrm>
          <a:off x="0" y="0"/>
          <a:ext cx="0" cy="0"/>
          <a:chOff x="0" y="0"/>
          <a:chExt cx="0" cy="0"/>
        </a:xfrm>
      </p:grpSpPr>
      <p:sp>
        <p:nvSpPr>
          <p:cNvPr descr="Title 1" id="2393" name="Google Shape;2393;p16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Recoverable Schedules</a:t>
            </a:r>
            <a:endParaRPr/>
          </a:p>
        </p:txBody>
      </p:sp>
      <p:sp>
        <p:nvSpPr>
          <p:cNvPr descr="Content Placeholder 2" id="2394" name="Google Shape;2394;p16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recoverable schedule </a:t>
            </a:r>
            <a:endParaRPr/>
          </a:p>
        </p:txBody>
      </p:sp>
      <p:sp>
        <p:nvSpPr>
          <p:cNvPr descr="Date Placeholder 3" id="2395" name="Google Shape;2395;p16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396" name="Google Shape;2396;p16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4" id="2397" name="Google Shape;2397;p169"/>
          <p:cNvPicPr preferRelativeResize="0"/>
          <p:nvPr/>
        </p:nvPicPr>
        <p:blipFill rotWithShape="1">
          <a:blip r:embed="rId3">
            <a:alphaModFix/>
          </a:blip>
          <a:srcRect b="0" l="0" r="0" t="0"/>
          <a:stretch/>
        </p:blipFill>
        <p:spPr>
          <a:xfrm>
            <a:off x="898525" y="1955800"/>
            <a:ext cx="3981450" cy="438150"/>
          </a:xfrm>
          <a:prstGeom prst="rect">
            <a:avLst/>
          </a:prstGeom>
          <a:noFill/>
          <a:ln>
            <a:noFill/>
          </a:ln>
        </p:spPr>
      </p:pic>
      <p:sp>
        <p:nvSpPr>
          <p:cNvPr descr="TextBox 10" id="2398" name="Google Shape;2398;p169"/>
          <p:cNvSpPr txBox="1"/>
          <p:nvPr/>
        </p:nvSpPr>
        <p:spPr>
          <a:xfrm>
            <a:off x="439738" y="4497388"/>
            <a:ext cx="8031162" cy="1603375"/>
          </a:xfrm>
          <a:prstGeom prst="rect">
            <a:avLst/>
          </a:prstGeom>
          <a:noFill/>
          <a:ln>
            <a:noFill/>
          </a:ln>
        </p:spPr>
        <p:txBody>
          <a:bodyPr anchorCtr="0" anchor="t" bIns="45700" lIns="45700" spcFirstLastPara="1" rIns="45700" wrap="square" tIns="45700">
            <a:spAutoFit/>
          </a:bodyPr>
          <a:lstStyle/>
          <a:p>
            <a:pPr indent="-47625" lvl="0" marL="47625" marR="0" rtl="0" algn="l">
              <a:spcBef>
                <a:spcPts val="0"/>
              </a:spcBef>
              <a:spcAft>
                <a:spcPts val="0"/>
              </a:spcAft>
              <a:buNone/>
            </a:pPr>
            <a:r>
              <a:rPr b="1" lang="en-US" sz="1400">
                <a:solidFill>
                  <a:srgbClr val="000000"/>
                </a:solidFill>
                <a:latin typeface="Verdana"/>
                <a:ea typeface="Verdana"/>
                <a:cs typeface="Verdana"/>
                <a:sym typeface="Verdana"/>
              </a:rPr>
              <a:t>Recoverable schedule</a:t>
            </a:r>
            <a:r>
              <a:rPr lang="en-US" sz="1400">
                <a:solidFill>
                  <a:srgbClr val="000000"/>
                </a:solidFill>
                <a:latin typeface="Verdana"/>
                <a:ea typeface="Verdana"/>
                <a:cs typeface="Verdana"/>
                <a:sym typeface="Verdana"/>
              </a:rPr>
              <a:t>: A schedule is recoverable if the following condition is satisfied:</a:t>
            </a:r>
            <a:endParaRPr/>
          </a:p>
          <a:p>
            <a:pPr indent="-88900" lvl="0" marL="47625"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Tj should commit after Ti  if Tj has read any data item written by Ti.</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a:p>
            <a:pPr indent="-47625" lvl="0" marL="47625"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Cj</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recoverable</a:t>
            </a:r>
            <a:endParaRPr/>
          </a:p>
          <a:p>
            <a:pPr indent="-47625" lvl="0" marL="47625"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Cj</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non-recoverable</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p:txBody>
      </p:sp>
      <p:sp>
        <p:nvSpPr>
          <p:cNvPr descr="TextBox 6" id="2399" name="Google Shape;2399;p169"/>
          <p:cNvSpPr txBox="1"/>
          <p:nvPr/>
        </p:nvSpPr>
        <p:spPr>
          <a:xfrm>
            <a:off x="179388" y="2852738"/>
            <a:ext cx="8053387" cy="747712"/>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Non-recoverable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 T2 reads the data item R2(y) written by T3 w3(y)</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Schedule is non-recoverable because transaction T2 commits C2  before T3 commits C3.</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3" name="Shape 2403"/>
        <p:cNvGrpSpPr/>
        <p:nvPr/>
      </p:nvGrpSpPr>
      <p:grpSpPr>
        <a:xfrm>
          <a:off x="0" y="0"/>
          <a:ext cx="0" cy="0"/>
          <a:chOff x="0" y="0"/>
          <a:chExt cx="0" cy="0"/>
        </a:xfrm>
      </p:grpSpPr>
      <p:sp>
        <p:nvSpPr>
          <p:cNvPr descr="Title 1" id="2404" name="Google Shape;2404;p17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 </a:t>
            </a:r>
            <a:endParaRPr/>
          </a:p>
        </p:txBody>
      </p:sp>
      <p:sp>
        <p:nvSpPr>
          <p:cNvPr descr="Date Placeholder 3" id="2405" name="Google Shape;2405;p17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06" name="Google Shape;2406;p17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2407" name="Google Shape;2407;p170"/>
          <p:cNvPicPr preferRelativeResize="0"/>
          <p:nvPr/>
        </p:nvPicPr>
        <p:blipFill rotWithShape="1">
          <a:blip r:embed="rId3">
            <a:alphaModFix/>
          </a:blip>
          <a:srcRect b="0" l="0" r="0" t="0"/>
          <a:stretch/>
        </p:blipFill>
        <p:spPr>
          <a:xfrm>
            <a:off x="538163" y="1204913"/>
            <a:ext cx="4681537" cy="2689225"/>
          </a:xfrm>
          <a:prstGeom prst="rect">
            <a:avLst/>
          </a:prstGeom>
          <a:noFill/>
          <a:ln>
            <a:noFill/>
          </a:ln>
        </p:spPr>
      </p:pic>
      <p:sp>
        <p:nvSpPr>
          <p:cNvPr descr="TextBox 17" id="2408" name="Google Shape;2408;p170"/>
          <p:cNvSpPr txBox="1"/>
          <p:nvPr/>
        </p:nvSpPr>
        <p:spPr>
          <a:xfrm>
            <a:off x="439738" y="4497388"/>
            <a:ext cx="8031162" cy="1654175"/>
          </a:xfrm>
          <a:prstGeom prst="rect">
            <a:avLst/>
          </a:prstGeom>
          <a:noFill/>
          <a:ln>
            <a:noFill/>
          </a:ln>
        </p:spPr>
        <p:txBody>
          <a:bodyPr anchorCtr="0" anchor="t" bIns="45700" lIns="45700" spcFirstLastPara="1" rIns="45700" wrap="square" tIns="45700">
            <a:spAutoFit/>
          </a:bodyPr>
          <a:lstStyle/>
          <a:p>
            <a:pPr indent="-47625" lvl="0" marL="47625" marR="0" rtl="0" algn="l">
              <a:spcBef>
                <a:spcPts val="0"/>
              </a:spcBef>
              <a:spcAft>
                <a:spcPts val="0"/>
              </a:spcAft>
              <a:buNone/>
            </a:pPr>
            <a:r>
              <a:rPr b="1" lang="en-US" sz="1400">
                <a:solidFill>
                  <a:srgbClr val="000000"/>
                </a:solidFill>
                <a:latin typeface="Verdana"/>
                <a:ea typeface="Verdana"/>
                <a:cs typeface="Verdana"/>
                <a:sym typeface="Verdana"/>
              </a:rPr>
              <a:t>Recoverable schedule</a:t>
            </a:r>
            <a:r>
              <a:rPr lang="en-US" sz="1400">
                <a:solidFill>
                  <a:srgbClr val="000000"/>
                </a:solidFill>
                <a:latin typeface="Verdana"/>
                <a:ea typeface="Verdana"/>
                <a:cs typeface="Verdana"/>
                <a:sym typeface="Verdana"/>
              </a:rPr>
              <a:t>: A schedule is recoverable if the following condition is satisfied:</a:t>
            </a:r>
            <a:endParaRPr/>
          </a:p>
          <a:p>
            <a:pPr indent="-88900" lvl="0" marL="47625"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Tj should commit after Ti  if Tj has read any data item written by Ti.</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    -&gt; This schedule is </a:t>
            </a:r>
            <a:r>
              <a:rPr lang="en-US" sz="1600">
                <a:solidFill>
                  <a:srgbClr val="FF0000"/>
                </a:solidFill>
                <a:latin typeface="Verdana"/>
                <a:ea typeface="Verdana"/>
                <a:cs typeface="Verdana"/>
                <a:sym typeface="Verdana"/>
              </a:rPr>
              <a:t>recoverable</a:t>
            </a:r>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    -&gt; This schedule is </a:t>
            </a:r>
            <a:r>
              <a:rPr lang="en-US" sz="1600">
                <a:solidFill>
                  <a:srgbClr val="008000"/>
                </a:solidFill>
                <a:latin typeface="Verdana"/>
                <a:ea typeface="Verdana"/>
                <a:cs typeface="Verdana"/>
                <a:sym typeface="Verdana"/>
              </a:rPr>
              <a:t>non-recoverable</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descr="Title 1" id="2413" name="Google Shape;2413;p17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solidFill>
                  <a:srgbClr val="FF0000"/>
                </a:solidFill>
              </a:rPr>
              <a:t>Problem to Solve </a:t>
            </a:r>
            <a:endParaRPr/>
          </a:p>
        </p:txBody>
      </p:sp>
      <p:sp>
        <p:nvSpPr>
          <p:cNvPr descr="Date Placeholder 3" id="2414" name="Google Shape;2414;p17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15" name="Google Shape;2415;p17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2416" name="Google Shape;2416;p171"/>
          <p:cNvPicPr preferRelativeResize="0"/>
          <p:nvPr/>
        </p:nvPicPr>
        <p:blipFill rotWithShape="1">
          <a:blip r:embed="rId3">
            <a:alphaModFix/>
          </a:blip>
          <a:srcRect b="0" l="0" r="0" t="0"/>
          <a:stretch/>
        </p:blipFill>
        <p:spPr>
          <a:xfrm>
            <a:off x="395288" y="1130300"/>
            <a:ext cx="3743325" cy="2151063"/>
          </a:xfrm>
          <a:prstGeom prst="rect">
            <a:avLst/>
          </a:prstGeom>
          <a:noFill/>
          <a:ln>
            <a:noFill/>
          </a:ln>
        </p:spPr>
      </p:pic>
      <p:sp>
        <p:nvSpPr>
          <p:cNvPr descr="TextBox 9" id="2417" name="Google Shape;2417;p171"/>
          <p:cNvSpPr txBox="1"/>
          <p:nvPr/>
        </p:nvSpPr>
        <p:spPr>
          <a:xfrm>
            <a:off x="4303225" y="6194025"/>
            <a:ext cx="2244600" cy="338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S1 Non-Recoverable </a:t>
            </a:r>
            <a:endParaRPr/>
          </a:p>
        </p:txBody>
      </p:sp>
      <p:graphicFrame>
        <p:nvGraphicFramePr>
          <p:cNvPr id="2418" name="Google Shape;2418;p171"/>
          <p:cNvGraphicFramePr/>
          <p:nvPr/>
        </p:nvGraphicFramePr>
        <p:xfrm>
          <a:off x="4641850" y="2684463"/>
          <a:ext cx="3000000" cy="3000000"/>
        </p:xfrm>
        <a:graphic>
          <a:graphicData uri="http://schemas.openxmlformats.org/drawingml/2006/table">
            <a:tbl>
              <a:tblPr>
                <a:noFill/>
                <a:tableStyleId>{DA31C186-C125-4E34-A739-053F885C22C1}</a:tableStyleId>
              </a:tblPr>
              <a:tblGrid>
                <a:gridCol w="944575"/>
                <a:gridCol w="100805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graphicFrame>
        <p:nvGraphicFramePr>
          <p:cNvPr id="2419" name="Google Shape;2419;p171"/>
          <p:cNvGraphicFramePr/>
          <p:nvPr/>
        </p:nvGraphicFramePr>
        <p:xfrm>
          <a:off x="7011988" y="2649538"/>
          <a:ext cx="3000000" cy="3000000"/>
        </p:xfrm>
        <a:graphic>
          <a:graphicData uri="http://schemas.openxmlformats.org/drawingml/2006/table">
            <a:tbl>
              <a:tblPr>
                <a:noFill/>
                <a:tableStyleId>{DA31C186-C125-4E34-A739-053F885C22C1}</a:tableStyleId>
              </a:tblPr>
              <a:tblGrid>
                <a:gridCol w="944550"/>
                <a:gridCol w="100807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W2(X)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W1(Y)</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412750">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3" id="2420" name="Google Shape;2420;p171"/>
          <p:cNvSpPr txBox="1"/>
          <p:nvPr/>
        </p:nvSpPr>
        <p:spPr>
          <a:xfrm>
            <a:off x="7162800" y="5813425"/>
            <a:ext cx="1747838"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S2 Recoverable </a:t>
            </a:r>
            <a:endParaRPr/>
          </a:p>
        </p:txBody>
      </p:sp>
      <p:sp>
        <p:nvSpPr>
          <p:cNvPr descr="TextBox 6" id="2421" name="Google Shape;2421;p171"/>
          <p:cNvSpPr txBox="1"/>
          <p:nvPr/>
        </p:nvSpPr>
        <p:spPr>
          <a:xfrm>
            <a:off x="5408613" y="2338388"/>
            <a:ext cx="4064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S1</a:t>
            </a:r>
            <a:endParaRPr/>
          </a:p>
        </p:txBody>
      </p:sp>
      <p:sp>
        <p:nvSpPr>
          <p:cNvPr descr="TextBox 15" id="2422" name="Google Shape;2422;p171"/>
          <p:cNvSpPr txBox="1"/>
          <p:nvPr/>
        </p:nvSpPr>
        <p:spPr>
          <a:xfrm>
            <a:off x="7742238" y="2301875"/>
            <a:ext cx="4048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S2</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6" name="Shape 2426"/>
        <p:cNvGrpSpPr/>
        <p:nvPr/>
      </p:nvGrpSpPr>
      <p:grpSpPr>
        <a:xfrm>
          <a:off x="0" y="0"/>
          <a:ext cx="0" cy="0"/>
          <a:chOff x="0" y="0"/>
          <a:chExt cx="0" cy="0"/>
        </a:xfrm>
      </p:grpSpPr>
      <p:sp>
        <p:nvSpPr>
          <p:cNvPr descr="Title 1" id="2427" name="Google Shape;2427;p17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Recoverable Schedules</a:t>
            </a:r>
            <a:endParaRPr/>
          </a:p>
        </p:txBody>
      </p:sp>
      <p:sp>
        <p:nvSpPr>
          <p:cNvPr descr="Content Placeholder 2" id="2428" name="Google Shape;2428;p17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recoverable schedule </a:t>
            </a:r>
            <a:endParaRPr/>
          </a:p>
        </p:txBody>
      </p:sp>
      <p:sp>
        <p:nvSpPr>
          <p:cNvPr descr="Date Placeholder 3" id="2429" name="Google Shape;2429;p17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30" name="Google Shape;2430;p17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0" id="2431" name="Google Shape;2431;p172"/>
          <p:cNvSpPr txBox="1"/>
          <p:nvPr/>
        </p:nvSpPr>
        <p:spPr>
          <a:xfrm>
            <a:off x="439738" y="4497388"/>
            <a:ext cx="8031162" cy="1654175"/>
          </a:xfrm>
          <a:prstGeom prst="rect">
            <a:avLst/>
          </a:prstGeom>
          <a:noFill/>
          <a:ln>
            <a:noFill/>
          </a:ln>
        </p:spPr>
        <p:txBody>
          <a:bodyPr anchorCtr="0" anchor="t" bIns="45700" lIns="45700" spcFirstLastPara="1" rIns="45700" wrap="square" tIns="45700">
            <a:spAutoFit/>
          </a:bodyPr>
          <a:lstStyle/>
          <a:p>
            <a:pPr indent="-47625" lvl="0" marL="47625" marR="0" rtl="0" algn="l">
              <a:spcBef>
                <a:spcPts val="0"/>
              </a:spcBef>
              <a:spcAft>
                <a:spcPts val="0"/>
              </a:spcAft>
              <a:buNone/>
            </a:pPr>
            <a:r>
              <a:rPr b="1" lang="en-US" sz="1400">
                <a:solidFill>
                  <a:srgbClr val="000000"/>
                </a:solidFill>
                <a:latin typeface="Verdana"/>
                <a:ea typeface="Verdana"/>
                <a:cs typeface="Verdana"/>
                <a:sym typeface="Verdana"/>
              </a:rPr>
              <a:t>Recoverable schedule</a:t>
            </a:r>
            <a:r>
              <a:rPr lang="en-US" sz="1400">
                <a:solidFill>
                  <a:srgbClr val="000000"/>
                </a:solidFill>
                <a:latin typeface="Verdana"/>
                <a:ea typeface="Verdana"/>
                <a:cs typeface="Verdana"/>
                <a:sym typeface="Verdana"/>
              </a:rPr>
              <a:t>: A schedule is recoverable if the following condition is satisfied:</a:t>
            </a:r>
            <a:endParaRPr/>
          </a:p>
          <a:p>
            <a:pPr indent="-88900" lvl="0" marL="47625"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Tj should commit after Ti  if Tj has read any data item written by Ti.</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    -&gt; This schedule is </a:t>
            </a:r>
            <a:r>
              <a:rPr lang="en-US" sz="1600">
                <a:solidFill>
                  <a:srgbClr val="FF0000"/>
                </a:solidFill>
                <a:latin typeface="Verdana"/>
                <a:ea typeface="Verdana"/>
                <a:cs typeface="Verdana"/>
                <a:sym typeface="Verdana"/>
              </a:rPr>
              <a:t>recoverable</a:t>
            </a:r>
            <a:endParaRPr/>
          </a:p>
          <a:p>
            <a:pPr indent="-47625" lvl="0" marL="47625"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Cj</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a:t>
            </a:r>
            <a:r>
              <a:rPr lang="en-US" sz="1600">
                <a:solidFill>
                  <a:srgbClr val="000000"/>
                </a:solidFill>
                <a:latin typeface="Verdana"/>
                <a:ea typeface="Verdana"/>
                <a:cs typeface="Verdana"/>
                <a:sym typeface="Verdana"/>
              </a:rPr>
              <a:t>    -&gt; This schedule is </a:t>
            </a:r>
            <a:r>
              <a:rPr lang="en-US" sz="1600">
                <a:solidFill>
                  <a:srgbClr val="008000"/>
                </a:solidFill>
                <a:latin typeface="Verdana"/>
                <a:ea typeface="Verdana"/>
                <a:cs typeface="Verdana"/>
                <a:sym typeface="Verdana"/>
              </a:rPr>
              <a:t>non-recoverable</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2" id="2432" name="Google Shape;2432;p172"/>
          <p:cNvPicPr preferRelativeResize="0"/>
          <p:nvPr/>
        </p:nvPicPr>
        <p:blipFill rotWithShape="1">
          <a:blip r:embed="rId3">
            <a:alphaModFix/>
          </a:blip>
          <a:srcRect b="0" l="0" r="0" t="0"/>
          <a:stretch/>
        </p:blipFill>
        <p:spPr>
          <a:xfrm>
            <a:off x="971550" y="2060575"/>
            <a:ext cx="6858000" cy="238125"/>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6" name="Shape 2436"/>
        <p:cNvGrpSpPr/>
        <p:nvPr/>
      </p:nvGrpSpPr>
      <p:grpSpPr>
        <a:xfrm>
          <a:off x="0" y="0"/>
          <a:ext cx="0" cy="0"/>
          <a:chOff x="0" y="0"/>
          <a:chExt cx="0" cy="0"/>
        </a:xfrm>
      </p:grpSpPr>
      <p:sp>
        <p:nvSpPr>
          <p:cNvPr descr="Title 1" id="2437" name="Google Shape;2437;p17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Recoverable Schedules</a:t>
            </a:r>
            <a:endParaRPr/>
          </a:p>
        </p:txBody>
      </p:sp>
      <p:sp>
        <p:nvSpPr>
          <p:cNvPr descr="Content Placeholder 2" id="2438" name="Google Shape;2438;p17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recoverable schedule </a:t>
            </a:r>
            <a:endParaRPr/>
          </a:p>
        </p:txBody>
      </p:sp>
      <p:sp>
        <p:nvSpPr>
          <p:cNvPr descr="Date Placeholder 3" id="2439" name="Google Shape;2439;p17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40" name="Google Shape;2440;p17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0" id="2441" name="Google Shape;2441;p173"/>
          <p:cNvSpPr txBox="1"/>
          <p:nvPr/>
        </p:nvSpPr>
        <p:spPr>
          <a:xfrm>
            <a:off x="439738" y="4497388"/>
            <a:ext cx="8031162" cy="1603375"/>
          </a:xfrm>
          <a:prstGeom prst="rect">
            <a:avLst/>
          </a:prstGeom>
          <a:noFill/>
          <a:ln>
            <a:noFill/>
          </a:ln>
        </p:spPr>
        <p:txBody>
          <a:bodyPr anchorCtr="0" anchor="t" bIns="45700" lIns="45700" spcFirstLastPara="1" rIns="45700" wrap="square" tIns="45700">
            <a:spAutoFit/>
          </a:bodyPr>
          <a:lstStyle/>
          <a:p>
            <a:pPr indent="-47625" lvl="0" marL="47625" marR="0" rtl="0" algn="l">
              <a:spcBef>
                <a:spcPts val="0"/>
              </a:spcBef>
              <a:spcAft>
                <a:spcPts val="0"/>
              </a:spcAft>
              <a:buNone/>
            </a:pPr>
            <a:r>
              <a:rPr b="1" lang="en-US" sz="1400">
                <a:solidFill>
                  <a:srgbClr val="000000"/>
                </a:solidFill>
                <a:latin typeface="Verdana"/>
                <a:ea typeface="Verdana"/>
                <a:cs typeface="Verdana"/>
                <a:sym typeface="Verdana"/>
              </a:rPr>
              <a:t>Recoverable schedule</a:t>
            </a:r>
            <a:r>
              <a:rPr lang="en-US" sz="1400">
                <a:solidFill>
                  <a:srgbClr val="000000"/>
                </a:solidFill>
                <a:latin typeface="Verdana"/>
                <a:ea typeface="Verdana"/>
                <a:cs typeface="Verdana"/>
                <a:sym typeface="Verdana"/>
              </a:rPr>
              <a:t>: A schedule is recoverable if the following condition is satisfied:</a:t>
            </a:r>
            <a:endParaRPr/>
          </a:p>
          <a:p>
            <a:pPr indent="-88900" lvl="0" marL="47625" marR="0" rtl="0" algn="l">
              <a:spcBef>
                <a:spcPts val="0"/>
              </a:spcBef>
              <a:spcAft>
                <a:spcPts val="0"/>
              </a:spcAft>
              <a:buClr>
                <a:srgbClr val="000000"/>
              </a:buClr>
              <a:buSzPts val="1400"/>
              <a:buFont typeface="Verdana"/>
              <a:buChar char="-"/>
            </a:pPr>
            <a:r>
              <a:rPr lang="en-US" sz="1400">
                <a:solidFill>
                  <a:srgbClr val="000000"/>
                </a:solidFill>
                <a:latin typeface="Verdana"/>
                <a:ea typeface="Verdana"/>
                <a:cs typeface="Verdana"/>
                <a:sym typeface="Verdana"/>
              </a:rPr>
              <a:t>Tj should commit after Ti  if Tj has read any data item written by Ti.</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a:p>
            <a:pPr indent="-47625" lvl="0" marL="47625"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Cj</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recoverable</a:t>
            </a:r>
            <a:endParaRPr/>
          </a:p>
          <a:p>
            <a:pPr indent="-47625" lvl="0" marL="47625"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Cj</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non-recoverable</a:t>
            </a:r>
            <a:endParaRPr/>
          </a:p>
          <a:p>
            <a:pPr indent="-47625" lvl="0" marL="47625" marR="0" rtl="0" algn="l">
              <a:spcBef>
                <a:spcPts val="0"/>
              </a:spcBef>
              <a:spcAft>
                <a:spcPts val="0"/>
              </a:spcAft>
              <a:buNone/>
            </a:pPr>
            <a:r>
              <a:t/>
            </a:r>
            <a:endParaRPr sz="1400">
              <a:solidFill>
                <a:srgbClr val="000000"/>
              </a:solidFill>
              <a:latin typeface="Verdana"/>
              <a:ea typeface="Verdana"/>
              <a:cs typeface="Verdana"/>
              <a:sym typeface="Verdana"/>
            </a:endParaRPr>
          </a:p>
        </p:txBody>
      </p:sp>
      <p:sp>
        <p:nvSpPr>
          <p:cNvPr descr="TextBox 6" id="2442" name="Google Shape;2442;p173"/>
          <p:cNvSpPr txBox="1"/>
          <p:nvPr/>
        </p:nvSpPr>
        <p:spPr>
          <a:xfrm>
            <a:off x="606425" y="2852738"/>
            <a:ext cx="2528888" cy="315912"/>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Non-recoverable </a:t>
            </a:r>
            <a:endParaRPr b="1" sz="1400">
              <a:solidFill>
                <a:srgbClr val="000000"/>
              </a:solidFill>
              <a:latin typeface="Verdana"/>
              <a:ea typeface="Verdana"/>
              <a:cs typeface="Verdana"/>
              <a:sym typeface="Verdana"/>
            </a:endParaRPr>
          </a:p>
        </p:txBody>
      </p:sp>
      <p:pic>
        <p:nvPicPr>
          <p:cNvPr descr="Picture 2" id="2443" name="Google Shape;2443;p173"/>
          <p:cNvPicPr preferRelativeResize="0"/>
          <p:nvPr/>
        </p:nvPicPr>
        <p:blipFill rotWithShape="1">
          <a:blip r:embed="rId3">
            <a:alphaModFix/>
          </a:blip>
          <a:srcRect b="0" l="0" r="0" t="0"/>
          <a:stretch/>
        </p:blipFill>
        <p:spPr>
          <a:xfrm>
            <a:off x="971550" y="2060575"/>
            <a:ext cx="6858000" cy="238125"/>
          </a:xfrm>
          <a:prstGeom prst="rect">
            <a:avLst/>
          </a:prstGeom>
          <a:noFill/>
          <a:ln>
            <a:noFill/>
          </a:ln>
        </p:spPr>
      </p:pic>
      <p:pic>
        <p:nvPicPr>
          <p:cNvPr descr="Picture 3" id="2444" name="Google Shape;2444;p173"/>
          <p:cNvPicPr preferRelativeResize="0"/>
          <p:nvPr/>
        </p:nvPicPr>
        <p:blipFill rotWithShape="1">
          <a:blip r:embed="rId4">
            <a:alphaModFix/>
          </a:blip>
          <a:srcRect b="0" l="0" r="0" t="0"/>
          <a:stretch/>
        </p:blipFill>
        <p:spPr>
          <a:xfrm>
            <a:off x="585788" y="3355975"/>
            <a:ext cx="7972425" cy="4953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8" name="Shape 2448"/>
        <p:cNvGrpSpPr/>
        <p:nvPr/>
      </p:nvGrpSpPr>
      <p:grpSpPr>
        <a:xfrm>
          <a:off x="0" y="0"/>
          <a:ext cx="0" cy="0"/>
          <a:chOff x="0" y="0"/>
          <a:chExt cx="0" cy="0"/>
        </a:xfrm>
      </p:grpSpPr>
      <p:sp>
        <p:nvSpPr>
          <p:cNvPr descr="Title 1" id="2449" name="Google Shape;2449;p17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Characterizing Schedules based on Recoverability </a:t>
            </a:r>
            <a:endParaRPr/>
          </a:p>
        </p:txBody>
      </p:sp>
      <p:sp>
        <p:nvSpPr>
          <p:cNvPr descr="Content Placeholder 2" id="2450" name="Google Shape;2450;p17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42900" lvl="0" marL="342900" rtl="0" algn="l">
              <a:spcBef>
                <a:spcPts val="0"/>
              </a:spcBef>
              <a:spcAft>
                <a:spcPts val="0"/>
              </a:spcAft>
              <a:buSzPts val="2000"/>
              <a:buFont typeface="Noto Sans Symbols"/>
              <a:buNone/>
            </a:pPr>
            <a:r>
              <a:rPr b="1" lang="en-US" sz="2000"/>
              <a:t>Based on Recoverability </a:t>
            </a:r>
            <a:endParaRPr/>
          </a:p>
          <a:p>
            <a:pPr indent="-342900" lvl="0" marL="342900" rtl="0" algn="l">
              <a:spcBef>
                <a:spcPts val="400"/>
              </a:spcBef>
              <a:spcAft>
                <a:spcPts val="0"/>
              </a:spcAft>
              <a:buSzPts val="2000"/>
              <a:buFont typeface="Verdana"/>
              <a:buAutoNum type="arabicPeriod"/>
            </a:pPr>
            <a:r>
              <a:rPr lang="en-US" sz="2000"/>
              <a:t>Recoverable Schedule </a:t>
            </a:r>
            <a:endParaRPr/>
          </a:p>
          <a:p>
            <a:pPr indent="-342900" lvl="0" marL="342900" rtl="0" algn="l">
              <a:spcBef>
                <a:spcPts val="400"/>
              </a:spcBef>
              <a:spcAft>
                <a:spcPts val="0"/>
              </a:spcAft>
              <a:buSzPts val="2000"/>
              <a:buFont typeface="Verdana"/>
              <a:buAutoNum type="arabicPeriod"/>
            </a:pPr>
            <a:r>
              <a:rPr b="1" lang="en-US" sz="2000"/>
              <a:t>Cascadeless or Avoid Cascading Rollback schedule </a:t>
            </a:r>
            <a:endParaRPr/>
          </a:p>
          <a:p>
            <a:pPr indent="-342900" lvl="0" marL="342900" rtl="0" algn="l">
              <a:spcBef>
                <a:spcPts val="400"/>
              </a:spcBef>
              <a:spcAft>
                <a:spcPts val="0"/>
              </a:spcAft>
              <a:buSzPts val="2000"/>
              <a:buFont typeface="Verdana"/>
              <a:buAutoNum type="arabicPeriod"/>
            </a:pPr>
            <a:r>
              <a:rPr lang="en-US" sz="2000"/>
              <a:t>Strict Schedules</a:t>
            </a:r>
            <a:endParaRPr/>
          </a:p>
        </p:txBody>
      </p:sp>
      <p:sp>
        <p:nvSpPr>
          <p:cNvPr descr="Date Placeholder 3" id="2451" name="Google Shape;2451;p17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52" name="Google Shape;2452;p17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6" name="Shape 2456"/>
        <p:cNvGrpSpPr/>
        <p:nvPr/>
      </p:nvGrpSpPr>
      <p:grpSpPr>
        <a:xfrm>
          <a:off x="0" y="0"/>
          <a:ext cx="0" cy="0"/>
          <a:chOff x="0" y="0"/>
          <a:chExt cx="0" cy="0"/>
        </a:xfrm>
      </p:grpSpPr>
      <p:sp>
        <p:nvSpPr>
          <p:cNvPr descr="Footer Placeholder 4" id="2457" name="Google Shape;2457;p175"/>
          <p:cNvSpPr txBox="1"/>
          <p:nvPr/>
        </p:nvSpPr>
        <p:spPr>
          <a:xfrm>
            <a:off x="3168650" y="64008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BMSCE</a:t>
            </a:r>
            <a:endParaRPr/>
          </a:p>
        </p:txBody>
      </p:sp>
      <p:sp>
        <p:nvSpPr>
          <p:cNvPr descr="Title 1" id="2458" name="Google Shape;2458;p17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Cascading Abort</a:t>
            </a:r>
            <a:endParaRPr/>
          </a:p>
        </p:txBody>
      </p:sp>
      <p:sp>
        <p:nvSpPr>
          <p:cNvPr descr="Content Placeholder 2" id="2459" name="Google Shape;2459;p17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000"/>
              <a:buFont typeface="Noto Sans Symbols"/>
              <a:buNone/>
            </a:pPr>
            <a:r>
              <a:rPr b="1" lang="en-US" sz="2000"/>
              <a:t>What is Cascading? </a:t>
            </a:r>
            <a:r>
              <a:rPr lang="en-US" sz="2000"/>
              <a:t>When effect of one thing is migrated to other and followed by another.</a:t>
            </a:r>
            <a:endParaRPr b="1" sz="2000"/>
          </a:p>
        </p:txBody>
      </p:sp>
      <p:sp>
        <p:nvSpPr>
          <p:cNvPr descr="Date Placeholder 3" id="2460" name="Google Shape;2460;p17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61" name="Google Shape;2461;p17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462" name="Google Shape;2462;p175"/>
          <p:cNvSpPr txBox="1"/>
          <p:nvPr/>
        </p:nvSpPr>
        <p:spPr>
          <a:xfrm>
            <a:off x="2808288" y="2203450"/>
            <a:ext cx="2055812"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Cascading Abort or</a:t>
            </a:r>
            <a:endParaRPr/>
          </a:p>
          <a:p>
            <a:pPr indent="0" lvl="0" marL="0" marR="0" rtl="0" algn="l">
              <a:spcBef>
                <a:spcPts val="0"/>
              </a:spcBef>
              <a:spcAft>
                <a:spcPts val="0"/>
              </a:spcAft>
              <a:buNone/>
            </a:pPr>
            <a:r>
              <a:rPr lang="en-US" sz="1600">
                <a:solidFill>
                  <a:srgbClr val="C00000"/>
                </a:solidFill>
                <a:latin typeface="Verdana"/>
                <a:ea typeface="Verdana"/>
                <a:cs typeface="Verdana"/>
                <a:sym typeface="Verdana"/>
              </a:rPr>
              <a:t>Cascading Rollback</a:t>
            </a:r>
            <a:endParaRPr/>
          </a:p>
        </p:txBody>
      </p:sp>
      <p:graphicFrame>
        <p:nvGraphicFramePr>
          <p:cNvPr id="2463" name="Google Shape;2463;p175"/>
          <p:cNvGraphicFramePr/>
          <p:nvPr/>
        </p:nvGraphicFramePr>
        <p:xfrm>
          <a:off x="2573338" y="2808288"/>
          <a:ext cx="3000000" cy="3000000"/>
        </p:xfrm>
        <a:graphic>
          <a:graphicData uri="http://schemas.openxmlformats.org/drawingml/2006/table">
            <a:tbl>
              <a:tblPr>
                <a:noFill/>
                <a:tableStyleId>{DA31C186-C125-4E34-A739-053F885C22C1}</a:tableStyleId>
              </a:tblPr>
              <a:tblGrid>
                <a:gridCol w="1050925"/>
                <a:gridCol w="874700"/>
                <a:gridCol w="93662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7" name="Shape 2467"/>
        <p:cNvGrpSpPr/>
        <p:nvPr/>
      </p:nvGrpSpPr>
      <p:grpSpPr>
        <a:xfrm>
          <a:off x="0" y="0"/>
          <a:ext cx="0" cy="0"/>
          <a:chOff x="0" y="0"/>
          <a:chExt cx="0" cy="0"/>
        </a:xfrm>
      </p:grpSpPr>
      <p:sp>
        <p:nvSpPr>
          <p:cNvPr descr="Footer Placeholder 4" id="2468" name="Google Shape;2468;p176"/>
          <p:cNvSpPr txBox="1"/>
          <p:nvPr/>
        </p:nvSpPr>
        <p:spPr>
          <a:xfrm>
            <a:off x="3168650" y="64008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BMSCE</a:t>
            </a:r>
            <a:endParaRPr/>
          </a:p>
        </p:txBody>
      </p:sp>
      <p:sp>
        <p:nvSpPr>
          <p:cNvPr descr="Title 1" id="2469" name="Google Shape;2469;p17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Cascading Abort</a:t>
            </a:r>
            <a:endParaRPr/>
          </a:p>
        </p:txBody>
      </p:sp>
      <p:sp>
        <p:nvSpPr>
          <p:cNvPr descr="Content Placeholder 2" id="2470" name="Google Shape;2470;p17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000"/>
              <a:buFont typeface="Noto Sans Symbols"/>
              <a:buNone/>
            </a:pPr>
            <a:r>
              <a:rPr b="1" lang="en-US" sz="2000"/>
              <a:t>What is Cascading? </a:t>
            </a:r>
            <a:r>
              <a:rPr lang="en-US" sz="2000"/>
              <a:t>When effect of one thing is migrated to other and followed by another.</a:t>
            </a:r>
            <a:endParaRPr b="1" sz="2000"/>
          </a:p>
        </p:txBody>
      </p:sp>
      <p:sp>
        <p:nvSpPr>
          <p:cNvPr descr="Date Placeholder 3" id="2471" name="Google Shape;2471;p17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72" name="Google Shape;2472;p17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2473" name="Google Shape;2473;p176"/>
          <p:cNvSpPr txBox="1"/>
          <p:nvPr/>
        </p:nvSpPr>
        <p:spPr>
          <a:xfrm>
            <a:off x="2808288" y="2203450"/>
            <a:ext cx="2055812"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Cascading Abort or</a:t>
            </a:r>
            <a:endParaRPr/>
          </a:p>
          <a:p>
            <a:pPr indent="0" lvl="0" marL="0" marR="0" rtl="0" algn="l">
              <a:spcBef>
                <a:spcPts val="0"/>
              </a:spcBef>
              <a:spcAft>
                <a:spcPts val="0"/>
              </a:spcAft>
              <a:buNone/>
            </a:pPr>
            <a:r>
              <a:rPr lang="en-US" sz="1600">
                <a:solidFill>
                  <a:srgbClr val="C00000"/>
                </a:solidFill>
                <a:latin typeface="Verdana"/>
                <a:ea typeface="Verdana"/>
                <a:cs typeface="Verdana"/>
                <a:sym typeface="Verdana"/>
              </a:rPr>
              <a:t>Cascading Rollback</a:t>
            </a:r>
            <a:endParaRPr/>
          </a:p>
        </p:txBody>
      </p:sp>
      <p:graphicFrame>
        <p:nvGraphicFramePr>
          <p:cNvPr id="2474" name="Google Shape;2474;p176"/>
          <p:cNvGraphicFramePr/>
          <p:nvPr/>
        </p:nvGraphicFramePr>
        <p:xfrm>
          <a:off x="2573338" y="2808288"/>
          <a:ext cx="3000000" cy="3000000"/>
        </p:xfrm>
        <a:graphic>
          <a:graphicData uri="http://schemas.openxmlformats.org/drawingml/2006/table">
            <a:tbl>
              <a:tblPr>
                <a:noFill/>
                <a:tableStyleId>{DA31C186-C125-4E34-A739-053F885C22C1}</a:tableStyleId>
              </a:tblPr>
              <a:tblGrid>
                <a:gridCol w="1050925"/>
                <a:gridCol w="874700"/>
                <a:gridCol w="93662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Abort3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12" id="2475" name="Google Shape;2475;p176"/>
          <p:cNvCxnSpPr/>
          <p:nvPr/>
        </p:nvCxnSpPr>
        <p:spPr>
          <a:xfrm>
            <a:off x="2266950" y="5143500"/>
            <a:ext cx="377825" cy="0"/>
          </a:xfrm>
          <a:prstGeom prst="straightConnector1">
            <a:avLst/>
          </a:prstGeom>
          <a:noFill/>
          <a:ln cap="flat" cmpd="sng" w="28575">
            <a:solidFill>
              <a:srgbClr val="000000"/>
            </a:solidFill>
            <a:prstDash val="solid"/>
            <a:round/>
            <a:headEnd len="sm" w="sm" type="none"/>
            <a:tailEnd len="med" w="med" type="triangle"/>
          </a:ln>
        </p:spPr>
      </p:cxnSp>
      <p:sp>
        <p:nvSpPr>
          <p:cNvPr descr="TextBox 13" id="2476" name="Google Shape;2476;p176"/>
          <p:cNvSpPr txBox="1"/>
          <p:nvPr/>
        </p:nvSpPr>
        <p:spPr>
          <a:xfrm>
            <a:off x="538163" y="4464050"/>
            <a:ext cx="1774825" cy="1397000"/>
          </a:xfrm>
          <a:prstGeom prst="rect">
            <a:avLst/>
          </a:prstGeom>
          <a:noFill/>
          <a:ln cap="flat" cmpd="sng" w="9525">
            <a:solidFill>
              <a:srgbClr val="000000"/>
            </a:solidFill>
            <a:prstDash val="dash"/>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If system fails</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here then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Transaction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T1 aborts similarly</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T2 aborts and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T3 aborts</a:t>
            </a:r>
            <a:endParaRPr/>
          </a:p>
        </p:txBody>
      </p:sp>
      <p:sp>
        <p:nvSpPr>
          <p:cNvPr descr="Right Brace 6" id="2477" name="Google Shape;2477;p176"/>
          <p:cNvSpPr/>
          <p:nvPr/>
        </p:nvSpPr>
        <p:spPr>
          <a:xfrm>
            <a:off x="5507038" y="5156200"/>
            <a:ext cx="215900" cy="1008063"/>
          </a:xfrm>
          <a:custGeom>
            <a:rect b="b" l="l" r="r" t="t"/>
            <a:pathLst>
              <a:path extrusionOk="0" h="21600" w="21600">
                <a:moveTo>
                  <a:pt x="0" y="0"/>
                </a:moveTo>
                <a:cubicBezTo>
                  <a:pt x="5965" y="0"/>
                  <a:pt x="10800" y="173"/>
                  <a:pt x="10800" y="386"/>
                </a:cubicBezTo>
                <a:lnTo>
                  <a:pt x="10800" y="10414"/>
                </a:lnTo>
                <a:cubicBezTo>
                  <a:pt x="10800" y="10627"/>
                  <a:pt x="15635" y="10800"/>
                  <a:pt x="21600" y="10800"/>
                </a:cubicBezTo>
                <a:cubicBezTo>
                  <a:pt x="15635" y="10800"/>
                  <a:pt x="10800" y="10973"/>
                  <a:pt x="10800" y="11186"/>
                </a:cubicBezTo>
                <a:lnTo>
                  <a:pt x="10800" y="21214"/>
                </a:lnTo>
                <a:cubicBezTo>
                  <a:pt x="10800" y="21427"/>
                  <a:pt x="5965" y="21600"/>
                  <a:pt x="0" y="21600"/>
                </a:cubicBezTo>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9" id="2478" name="Google Shape;2478;p176"/>
          <p:cNvSpPr txBox="1"/>
          <p:nvPr/>
        </p:nvSpPr>
        <p:spPr>
          <a:xfrm>
            <a:off x="5781675" y="5491163"/>
            <a:ext cx="26447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Cascading Rollback</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descr="Footer Placeholder 4" id="2483" name="Google Shape;2483;p177"/>
          <p:cNvSpPr txBox="1"/>
          <p:nvPr/>
        </p:nvSpPr>
        <p:spPr>
          <a:xfrm>
            <a:off x="3168650" y="6400800"/>
            <a:ext cx="2805113" cy="26352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CSE, BMSCE</a:t>
            </a:r>
            <a:endParaRPr/>
          </a:p>
        </p:txBody>
      </p:sp>
      <p:sp>
        <p:nvSpPr>
          <p:cNvPr descr="Title 1" id="2484" name="Google Shape;2484;p17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Cascadeless Schedule</a:t>
            </a:r>
            <a:endParaRPr/>
          </a:p>
        </p:txBody>
      </p:sp>
      <p:sp>
        <p:nvSpPr>
          <p:cNvPr descr="Content Placeholder 2" id="2485" name="Google Shape;2485;p17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Cascadeless Schedule: Schedule that Avoids Cascading Rollbacks</a:t>
            </a:r>
            <a:endParaRPr/>
          </a:p>
          <a:p>
            <a:pPr indent="-234950" lvl="0" marL="234950" rtl="0" algn="l">
              <a:spcBef>
                <a:spcPts val="400"/>
              </a:spcBef>
              <a:spcAft>
                <a:spcPts val="0"/>
              </a:spcAft>
              <a:buSzPts val="1800"/>
              <a:buFont typeface="Verdana"/>
              <a:buChar char="□"/>
            </a:pPr>
            <a:r>
              <a:rPr lang="en-US" sz="1800"/>
              <a:t>A schedule is said to be cascadeless schedule or avoid cascading rollback, if every transaction in the schedule reads only items that were written by committed transactions</a:t>
            </a:r>
            <a:endParaRPr/>
          </a:p>
        </p:txBody>
      </p:sp>
      <p:sp>
        <p:nvSpPr>
          <p:cNvPr descr="Date Placeholder 3" id="2486" name="Google Shape;2486;p17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87" name="Google Shape;2487;p17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9" id="2488" name="Google Shape;2488;p177"/>
          <p:cNvSpPr txBox="1"/>
          <p:nvPr/>
        </p:nvSpPr>
        <p:spPr>
          <a:xfrm>
            <a:off x="3192463" y="2506663"/>
            <a:ext cx="23352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Cascadeless Schedule</a:t>
            </a:r>
            <a:endParaRPr/>
          </a:p>
        </p:txBody>
      </p:sp>
      <p:graphicFrame>
        <p:nvGraphicFramePr>
          <p:cNvPr id="2489" name="Google Shape;2489;p177"/>
          <p:cNvGraphicFramePr/>
          <p:nvPr/>
        </p:nvGraphicFramePr>
        <p:xfrm>
          <a:off x="2771775" y="2824163"/>
          <a:ext cx="3000000" cy="3000000"/>
        </p:xfrm>
        <a:graphic>
          <a:graphicData uri="http://schemas.openxmlformats.org/drawingml/2006/table">
            <a:tbl>
              <a:tblPr>
                <a:noFill/>
                <a:tableStyleId>{DA31C186-C125-4E34-A739-053F885C22C1}</a:tableStyleId>
              </a:tblPr>
              <a:tblGrid>
                <a:gridCol w="1008075"/>
                <a:gridCol w="1008050"/>
                <a:gridCol w="107950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3" name="Shape 2493"/>
        <p:cNvGrpSpPr/>
        <p:nvPr/>
      </p:nvGrpSpPr>
      <p:grpSpPr>
        <a:xfrm>
          <a:off x="0" y="0"/>
          <a:ext cx="0" cy="0"/>
          <a:chOff x="0" y="0"/>
          <a:chExt cx="0" cy="0"/>
        </a:xfrm>
      </p:grpSpPr>
      <p:sp>
        <p:nvSpPr>
          <p:cNvPr descr="Title 1" id="2494" name="Google Shape;2494;p17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Cascadeless Schedules</a:t>
            </a:r>
            <a:endParaRPr/>
          </a:p>
        </p:txBody>
      </p:sp>
      <p:sp>
        <p:nvSpPr>
          <p:cNvPr descr="Content Placeholder 2" id="2495" name="Google Shape;2495;p17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cascadeless schedule </a:t>
            </a:r>
            <a:endParaRPr/>
          </a:p>
        </p:txBody>
      </p:sp>
      <p:sp>
        <p:nvSpPr>
          <p:cNvPr descr="Date Placeholder 3" id="2496" name="Google Shape;2496;p17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497" name="Google Shape;2497;p17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1" id="2498" name="Google Shape;2498;p178"/>
          <p:cNvSpPr txBox="1"/>
          <p:nvPr/>
        </p:nvSpPr>
        <p:spPr>
          <a:xfrm>
            <a:off x="368300" y="3932238"/>
            <a:ext cx="8650288" cy="19081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Cascadeless: A schedule is said to be cascadeless, if every transaction in the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schedule </a:t>
            </a:r>
            <a:r>
              <a:rPr lang="en-US" sz="1400" u="sng">
                <a:solidFill>
                  <a:srgbClr val="000000"/>
                </a:solidFill>
                <a:latin typeface="Verdana"/>
                <a:ea typeface="Verdana"/>
                <a:cs typeface="Verdana"/>
                <a:sym typeface="Verdana"/>
              </a:rPr>
              <a:t>reads</a:t>
            </a:r>
            <a:r>
              <a:rPr lang="en-US" sz="1400">
                <a:solidFill>
                  <a:srgbClr val="000000"/>
                </a:solidFill>
                <a:latin typeface="Verdana"/>
                <a:ea typeface="Verdana"/>
                <a:cs typeface="Verdana"/>
                <a:sym typeface="Verdana"/>
              </a:rPr>
              <a:t> only items that </a:t>
            </a:r>
            <a:r>
              <a:rPr lang="en-US" sz="1400" u="sng">
                <a:solidFill>
                  <a:srgbClr val="000000"/>
                </a:solidFill>
                <a:latin typeface="Verdana"/>
                <a:ea typeface="Verdana"/>
                <a:cs typeface="Verdana"/>
                <a:sym typeface="Verdana"/>
              </a:rPr>
              <a:t>were</a:t>
            </a:r>
            <a:r>
              <a:rPr lang="en-US" sz="1400">
                <a:solidFill>
                  <a:srgbClr val="000000"/>
                </a:solidFill>
                <a:latin typeface="Verdana"/>
                <a:ea typeface="Verdana"/>
                <a:cs typeface="Verdana"/>
                <a:sym typeface="Verdana"/>
              </a:rPr>
              <a:t> written by commited (or aborted) transactions.</a:t>
            </a:r>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Cascadeless schedule</a:t>
            </a:r>
            <a:r>
              <a:rPr lang="en-US" sz="1400">
                <a:solidFill>
                  <a:srgbClr val="000000"/>
                </a:solidFill>
                <a:latin typeface="Verdana"/>
                <a:ea typeface="Verdana"/>
                <a:cs typeface="Verdana"/>
                <a:sym typeface="Verdana"/>
              </a:rPr>
              <a:t>: A schedule is cascadeless if the following condition is satisfied:</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 Tj reads X only </a:t>
            </a:r>
            <a:r>
              <a:rPr b="1" i="1" lang="en-US" sz="1600">
                <a:solidFill>
                  <a:srgbClr val="000000"/>
                </a:solidFill>
                <a:latin typeface="Verdana"/>
                <a:ea typeface="Verdana"/>
                <a:cs typeface="Verdana"/>
                <a:sym typeface="Verdana"/>
              </a:rPr>
              <a:t>after </a:t>
            </a:r>
            <a:r>
              <a:rPr lang="en-US" sz="1600">
                <a:solidFill>
                  <a:srgbClr val="000000"/>
                </a:solidFill>
                <a:latin typeface="Verdana"/>
                <a:ea typeface="Verdana"/>
                <a:cs typeface="Verdana"/>
                <a:sym typeface="Verdana"/>
              </a:rPr>
              <a:t>Ti has written to X and committed (aborted  or terminated).</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t>
            </a:r>
            <a:r>
              <a:rPr lang="en-US" sz="1800">
                <a:solidFill>
                  <a:srgbClr val="0000FF"/>
                </a:solidFill>
                <a:latin typeface="Verdana"/>
                <a:ea typeface="Verdana"/>
                <a:cs typeface="Verdana"/>
                <a:sym typeface="Verdana"/>
              </a:rPr>
              <a:t>Wi(x)</a:t>
            </a:r>
            <a:r>
              <a:rPr lang="en-US" sz="1800">
                <a:solidFill>
                  <a:srgbClr val="000000"/>
                </a:solidFill>
                <a:latin typeface="Verdana"/>
                <a:ea typeface="Verdana"/>
                <a:cs typeface="Verdana"/>
                <a:sym typeface="Verdana"/>
              </a:rPr>
              <a:t>…………</a:t>
            </a:r>
            <a:r>
              <a:rPr lang="en-US" sz="1800">
                <a:solidFill>
                  <a:srgbClr val="0000FF"/>
                </a:solidFill>
                <a:latin typeface="Verdana"/>
                <a:ea typeface="Verdana"/>
                <a:cs typeface="Verdana"/>
                <a:sym typeface="Verdana"/>
              </a:rPr>
              <a:t>Ci(x)/Ai(x)</a:t>
            </a:r>
            <a:r>
              <a:rPr lang="en-US" sz="1800">
                <a:solidFill>
                  <a:srgbClr val="000000"/>
                </a:solidFill>
                <a:latin typeface="Verdana"/>
                <a:ea typeface="Verdana"/>
                <a:cs typeface="Verdana"/>
                <a:sym typeface="Verdana"/>
              </a:rPr>
              <a:t>……….</a:t>
            </a:r>
            <a:r>
              <a:rPr lang="en-US" sz="1800">
                <a:solidFill>
                  <a:srgbClr val="C00000"/>
                </a:solidFill>
                <a:latin typeface="Verdana"/>
                <a:ea typeface="Verdana"/>
                <a:cs typeface="Verdana"/>
                <a:sym typeface="Verdana"/>
              </a:rPr>
              <a:t>Rj(x)</a:t>
            </a:r>
            <a:r>
              <a:rPr lang="en-US" sz="1800">
                <a:solidFill>
                  <a:srgbClr val="000000"/>
                </a:solidFill>
                <a:latin typeface="Verdana"/>
                <a:ea typeface="Verdana"/>
                <a:cs typeface="Verdana"/>
                <a:sym typeface="Verdana"/>
              </a:rPr>
              <a:t>    -&gt; This schedule is </a:t>
            </a:r>
            <a:r>
              <a:rPr lang="en-US" sz="1800">
                <a:solidFill>
                  <a:srgbClr val="FF0000"/>
                </a:solidFill>
                <a:latin typeface="Verdana"/>
                <a:ea typeface="Verdana"/>
                <a:cs typeface="Verdana"/>
                <a:sym typeface="Verdana"/>
              </a:rPr>
              <a:t>Cascadeless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2" id="2499" name="Google Shape;2499;p178"/>
          <p:cNvPicPr preferRelativeResize="0"/>
          <p:nvPr/>
        </p:nvPicPr>
        <p:blipFill rotWithShape="1">
          <a:blip r:embed="rId3">
            <a:alphaModFix/>
          </a:blip>
          <a:srcRect b="0" l="0" r="0" t="0"/>
          <a:stretch/>
        </p:blipFill>
        <p:spPr>
          <a:xfrm>
            <a:off x="1219200" y="1987550"/>
            <a:ext cx="6361113" cy="360363"/>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3" name="Shape 2503"/>
        <p:cNvGrpSpPr/>
        <p:nvPr/>
      </p:nvGrpSpPr>
      <p:grpSpPr>
        <a:xfrm>
          <a:off x="0" y="0"/>
          <a:ext cx="0" cy="0"/>
          <a:chOff x="0" y="0"/>
          <a:chExt cx="0" cy="0"/>
        </a:xfrm>
      </p:grpSpPr>
      <p:sp>
        <p:nvSpPr>
          <p:cNvPr descr="Title 1" id="2504" name="Google Shape;2504;p17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Cascadeless Schedules</a:t>
            </a:r>
            <a:endParaRPr/>
          </a:p>
        </p:txBody>
      </p:sp>
      <p:sp>
        <p:nvSpPr>
          <p:cNvPr descr="Content Placeholder 2" id="2505" name="Google Shape;2505;p17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cascadeless schedule </a:t>
            </a:r>
            <a:endParaRPr/>
          </a:p>
        </p:txBody>
      </p:sp>
      <p:sp>
        <p:nvSpPr>
          <p:cNvPr descr="Date Placeholder 3" id="2506" name="Google Shape;2506;p17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07" name="Google Shape;2507;p17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508" name="Google Shape;2508;p179"/>
          <p:cNvSpPr txBox="1"/>
          <p:nvPr/>
        </p:nvSpPr>
        <p:spPr>
          <a:xfrm>
            <a:off x="1008063" y="2617788"/>
            <a:ext cx="6605587" cy="747712"/>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Yes, Cascadeless</a:t>
            </a:r>
            <a:endParaRPr b="1"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T2 reads x after the last transaction that writes x i.e. T1 has committed.</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Hence S is Cascadeless</a:t>
            </a:r>
            <a:endParaRPr/>
          </a:p>
        </p:txBody>
      </p:sp>
      <p:sp>
        <p:nvSpPr>
          <p:cNvPr descr="TextBox 11" id="2509" name="Google Shape;2509;p179"/>
          <p:cNvSpPr txBox="1"/>
          <p:nvPr/>
        </p:nvSpPr>
        <p:spPr>
          <a:xfrm>
            <a:off x="368300" y="3932238"/>
            <a:ext cx="8023225" cy="1819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Cascadeless: A schedule is said to be cascadeless, if every transaction in the </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schedule </a:t>
            </a:r>
            <a:r>
              <a:rPr lang="en-US" sz="1400" u="sng">
                <a:solidFill>
                  <a:srgbClr val="000000"/>
                </a:solidFill>
                <a:latin typeface="Verdana"/>
                <a:ea typeface="Verdana"/>
                <a:cs typeface="Verdana"/>
                <a:sym typeface="Verdana"/>
              </a:rPr>
              <a:t>reads</a:t>
            </a:r>
            <a:r>
              <a:rPr lang="en-US" sz="1400">
                <a:solidFill>
                  <a:srgbClr val="000000"/>
                </a:solidFill>
                <a:latin typeface="Verdana"/>
                <a:ea typeface="Verdana"/>
                <a:cs typeface="Verdana"/>
                <a:sym typeface="Verdana"/>
              </a:rPr>
              <a:t> only items that </a:t>
            </a:r>
            <a:r>
              <a:rPr lang="en-US" sz="1400" u="sng">
                <a:solidFill>
                  <a:srgbClr val="000000"/>
                </a:solidFill>
                <a:latin typeface="Verdana"/>
                <a:ea typeface="Verdana"/>
                <a:cs typeface="Verdana"/>
                <a:sym typeface="Verdana"/>
              </a:rPr>
              <a:t>were</a:t>
            </a:r>
            <a:r>
              <a:rPr lang="en-US" sz="1400">
                <a:solidFill>
                  <a:srgbClr val="000000"/>
                </a:solidFill>
                <a:latin typeface="Verdana"/>
                <a:ea typeface="Verdana"/>
                <a:cs typeface="Verdana"/>
                <a:sym typeface="Verdana"/>
              </a:rPr>
              <a:t> written by commited (or aborted) transactions.</a:t>
            </a:r>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Cascadeless schedule</a:t>
            </a:r>
            <a:r>
              <a:rPr lang="en-US" sz="1400">
                <a:solidFill>
                  <a:srgbClr val="000000"/>
                </a:solidFill>
                <a:latin typeface="Verdana"/>
                <a:ea typeface="Verdana"/>
                <a:cs typeface="Verdana"/>
                <a:sym typeface="Verdana"/>
              </a:rPr>
              <a:t>: A schedule is cascadeless if the following condition is satisfied:</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 Tj reads X only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committed (aborted  or terminated).</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Ci(x)/Ai(x)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Rj(x)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Cascadeless</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2" id="2510" name="Google Shape;2510;p179"/>
          <p:cNvPicPr preferRelativeResize="0"/>
          <p:nvPr/>
        </p:nvPicPr>
        <p:blipFill rotWithShape="1">
          <a:blip r:embed="rId3">
            <a:alphaModFix/>
          </a:blip>
          <a:srcRect b="0" l="0" r="0" t="0"/>
          <a:stretch/>
        </p:blipFill>
        <p:spPr>
          <a:xfrm>
            <a:off x="1219200" y="1987550"/>
            <a:ext cx="6361113" cy="360363"/>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4" name="Shape 2514"/>
        <p:cNvGrpSpPr/>
        <p:nvPr/>
      </p:nvGrpSpPr>
      <p:grpSpPr>
        <a:xfrm>
          <a:off x="0" y="0"/>
          <a:ext cx="0" cy="0"/>
          <a:chOff x="0" y="0"/>
          <a:chExt cx="0" cy="0"/>
        </a:xfrm>
      </p:grpSpPr>
      <p:sp>
        <p:nvSpPr>
          <p:cNvPr descr="Title 1" id="2515" name="Google Shape;2515;p18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Characterizing Schedules based on Recoverability </a:t>
            </a:r>
            <a:endParaRPr/>
          </a:p>
        </p:txBody>
      </p:sp>
      <p:sp>
        <p:nvSpPr>
          <p:cNvPr descr="Content Placeholder 2" id="2516" name="Google Shape;2516;p18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42900" lvl="0" marL="342900" rtl="0" algn="l">
              <a:spcBef>
                <a:spcPts val="0"/>
              </a:spcBef>
              <a:spcAft>
                <a:spcPts val="0"/>
              </a:spcAft>
              <a:buSzPts val="2000"/>
              <a:buFont typeface="Noto Sans Symbols"/>
              <a:buNone/>
            </a:pPr>
            <a:r>
              <a:rPr b="1" lang="en-US" sz="2000"/>
              <a:t>Based on Recoverability </a:t>
            </a:r>
            <a:endParaRPr/>
          </a:p>
          <a:p>
            <a:pPr indent="-342900" lvl="0" marL="342900" rtl="0" algn="l">
              <a:spcBef>
                <a:spcPts val="400"/>
              </a:spcBef>
              <a:spcAft>
                <a:spcPts val="0"/>
              </a:spcAft>
              <a:buSzPts val="2000"/>
              <a:buFont typeface="Verdana"/>
              <a:buAutoNum type="arabicPeriod"/>
            </a:pPr>
            <a:r>
              <a:rPr lang="en-US" sz="2000"/>
              <a:t>Recoverable Schedule </a:t>
            </a:r>
            <a:endParaRPr/>
          </a:p>
          <a:p>
            <a:pPr indent="-342900" lvl="0" marL="342900" rtl="0" algn="l">
              <a:spcBef>
                <a:spcPts val="400"/>
              </a:spcBef>
              <a:spcAft>
                <a:spcPts val="0"/>
              </a:spcAft>
              <a:buSzPts val="2000"/>
              <a:buFont typeface="Verdana"/>
              <a:buAutoNum type="arabicPeriod"/>
            </a:pPr>
            <a:r>
              <a:rPr lang="en-US" sz="2000"/>
              <a:t>Cascadeless or Avoid Cascading Rollback schedule </a:t>
            </a:r>
            <a:endParaRPr/>
          </a:p>
          <a:p>
            <a:pPr indent="-342900" lvl="0" marL="342900" rtl="0" algn="l">
              <a:spcBef>
                <a:spcPts val="400"/>
              </a:spcBef>
              <a:spcAft>
                <a:spcPts val="0"/>
              </a:spcAft>
              <a:buSzPts val="2000"/>
              <a:buFont typeface="Verdana"/>
              <a:buAutoNum type="arabicPeriod"/>
            </a:pPr>
            <a:r>
              <a:rPr b="1" lang="en-US" sz="2000"/>
              <a:t>Strict Schedules</a:t>
            </a:r>
            <a:endParaRPr/>
          </a:p>
        </p:txBody>
      </p:sp>
      <p:sp>
        <p:nvSpPr>
          <p:cNvPr descr="Date Placeholder 3" id="2517" name="Google Shape;2517;p18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18" name="Google Shape;2518;p18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descr="Title 1" id="2523" name="Google Shape;2523;p18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Strict Schedule </a:t>
            </a:r>
            <a:endParaRPr/>
          </a:p>
        </p:txBody>
      </p:sp>
      <p:sp>
        <p:nvSpPr>
          <p:cNvPr descr="Content Placeholder 2" id="2524" name="Google Shape;2524;p18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17475" lvl="0" marL="117475" rtl="0" algn="l">
              <a:spcBef>
                <a:spcPts val="0"/>
              </a:spcBef>
              <a:spcAft>
                <a:spcPts val="0"/>
              </a:spcAft>
              <a:buSzPts val="1800"/>
              <a:buFont typeface="Verdana"/>
              <a:buChar char="□"/>
            </a:pPr>
            <a:r>
              <a:rPr lang="en-US" sz="1800"/>
              <a:t>A restrictive type of schedule, called </a:t>
            </a:r>
            <a:r>
              <a:rPr b="1" lang="en-US" sz="1800"/>
              <a:t>strict schedule</a:t>
            </a:r>
            <a:r>
              <a:rPr lang="en-US" sz="1800"/>
              <a:t>, in which transaction neither read nor write an item X until the last transaction that wrote X has committed (terminated or aborted). </a:t>
            </a:r>
            <a:endParaRPr/>
          </a:p>
          <a:p>
            <a:pPr indent="-117475" lvl="0" marL="117475" rtl="0" algn="l">
              <a:spcBef>
                <a:spcPts val="400"/>
              </a:spcBef>
              <a:spcAft>
                <a:spcPts val="0"/>
              </a:spcAft>
              <a:buSzPts val="1800"/>
              <a:buFont typeface="Noto Sans Symbols"/>
              <a:buNone/>
            </a:pPr>
            <a:r>
              <a:rPr lang="en-US" sz="1800"/>
              <a:t>Formally, if it satisfies the following conditions:</a:t>
            </a:r>
            <a:endParaRPr/>
          </a:p>
          <a:p>
            <a:pPr indent="-117475" lvl="0" marL="117475" rtl="0" algn="l">
              <a:spcBef>
                <a:spcPts val="400"/>
              </a:spcBef>
              <a:spcAft>
                <a:spcPts val="0"/>
              </a:spcAft>
              <a:buSzPts val="1800"/>
              <a:buFont typeface="Noto Sans Symbols"/>
              <a:buNone/>
            </a:pPr>
            <a:r>
              <a:rPr lang="en-US" sz="1800"/>
              <a:t>–Tj </a:t>
            </a:r>
            <a:r>
              <a:rPr b="1" lang="en-US" sz="1800"/>
              <a:t>reads </a:t>
            </a:r>
            <a:r>
              <a:rPr lang="en-US" sz="1800"/>
              <a:t>a data item X </a:t>
            </a:r>
            <a:r>
              <a:rPr b="1" i="1" lang="en-US" sz="1800"/>
              <a:t>after </a:t>
            </a:r>
            <a:r>
              <a:rPr lang="en-US" sz="1800"/>
              <a:t>Ti has written to X and Ti is committed (aborted or  terminated)</a:t>
            </a:r>
            <a:endParaRPr/>
          </a:p>
          <a:p>
            <a:pPr indent="-117475" lvl="0" marL="117475" rtl="0" algn="l">
              <a:spcBef>
                <a:spcPts val="400"/>
              </a:spcBef>
              <a:spcAft>
                <a:spcPts val="0"/>
              </a:spcAft>
              <a:buSzPts val="1800"/>
              <a:buFont typeface="Noto Sans Symbols"/>
              <a:buNone/>
            </a:pPr>
            <a:r>
              <a:rPr lang="en-US" sz="1800"/>
              <a:t>–Tj </a:t>
            </a:r>
            <a:r>
              <a:rPr b="1" lang="en-US" sz="1800"/>
              <a:t>writes </a:t>
            </a:r>
            <a:r>
              <a:rPr lang="en-US" sz="1800"/>
              <a:t>a data item X </a:t>
            </a:r>
            <a:r>
              <a:rPr b="1" i="1" lang="en-US" sz="1800"/>
              <a:t>after </a:t>
            </a:r>
            <a:r>
              <a:rPr lang="en-US" sz="1800"/>
              <a:t>Ti has written to X and Ti is committed (aborted or  terminated)</a:t>
            </a:r>
            <a:endParaRPr/>
          </a:p>
        </p:txBody>
      </p:sp>
      <p:sp>
        <p:nvSpPr>
          <p:cNvPr descr="Date Placeholder 3" id="2525" name="Google Shape;2525;p18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26" name="Google Shape;2526;p18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527" name="Google Shape;2527;p181"/>
          <p:cNvSpPr txBox="1"/>
          <p:nvPr/>
        </p:nvSpPr>
        <p:spPr>
          <a:xfrm>
            <a:off x="3032125" y="3856038"/>
            <a:ext cx="164941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Strict Schedule</a:t>
            </a:r>
            <a:endParaRPr/>
          </a:p>
        </p:txBody>
      </p:sp>
      <p:graphicFrame>
        <p:nvGraphicFramePr>
          <p:cNvPr id="2528" name="Google Shape;2528;p181"/>
          <p:cNvGraphicFramePr/>
          <p:nvPr/>
        </p:nvGraphicFramePr>
        <p:xfrm>
          <a:off x="2555875" y="4195763"/>
          <a:ext cx="3000000" cy="3000000"/>
        </p:xfrm>
        <a:graphic>
          <a:graphicData uri="http://schemas.openxmlformats.org/drawingml/2006/table">
            <a:tbl>
              <a:tblPr>
                <a:noFill/>
                <a:tableStyleId>{DA31C186-C125-4E34-A739-053F885C22C1}</a:tableStyleId>
              </a:tblPr>
              <a:tblGrid>
                <a:gridCol w="1157300"/>
                <a:gridCol w="1157275"/>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Commit1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2" name="Shape 2532"/>
        <p:cNvGrpSpPr/>
        <p:nvPr/>
      </p:nvGrpSpPr>
      <p:grpSpPr>
        <a:xfrm>
          <a:off x="0" y="0"/>
          <a:ext cx="0" cy="0"/>
          <a:chOff x="0" y="0"/>
          <a:chExt cx="0" cy="0"/>
        </a:xfrm>
      </p:grpSpPr>
      <p:sp>
        <p:nvSpPr>
          <p:cNvPr descr="Title 1" id="2533" name="Google Shape;2533;p18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34" name="Google Shape;2534;p18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35" name="Google Shape;2535;p18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36" name="Google Shape;2536;p18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2" id="2537" name="Google Shape;2537;p182"/>
          <p:cNvSpPr txBox="1"/>
          <p:nvPr/>
        </p:nvSpPr>
        <p:spPr>
          <a:xfrm>
            <a:off x="657225" y="3644900"/>
            <a:ext cx="7667625" cy="23002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Rj(x)/Wj(x)</a:t>
            </a:r>
            <a:r>
              <a:rPr lang="en-US" sz="1600">
                <a:solidFill>
                  <a:srgbClr val="000000"/>
                </a:solidFill>
                <a:latin typeface="Verdana"/>
                <a:ea typeface="Verdana"/>
                <a:cs typeface="Verdana"/>
                <a:sym typeface="Verdana"/>
              </a:rPr>
              <a:t>   -&gt; This schedule is </a:t>
            </a:r>
            <a:r>
              <a:rPr lang="en-US" sz="16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Wi(x)</a:t>
            </a:r>
            <a:r>
              <a:rPr lang="en-US" sz="1600">
                <a:solidFill>
                  <a:srgbClr val="000000"/>
                </a:solidFill>
                <a:latin typeface="Verdana"/>
                <a:ea typeface="Verdana"/>
                <a:cs typeface="Verdana"/>
                <a:sym typeface="Verdana"/>
              </a:rPr>
              <a:t>…………</a:t>
            </a:r>
            <a:r>
              <a:rPr lang="en-US" sz="1600">
                <a:solidFill>
                  <a:srgbClr val="0000FF"/>
                </a:solidFill>
                <a:latin typeface="Verdana"/>
                <a:ea typeface="Verdana"/>
                <a:cs typeface="Verdana"/>
                <a:sym typeface="Verdana"/>
              </a:rPr>
              <a:t>Rj(x)/Wj(x )</a:t>
            </a:r>
            <a:r>
              <a:rPr lang="en-US" sz="1600">
                <a:solidFill>
                  <a:srgbClr val="000000"/>
                </a:solidFill>
                <a:latin typeface="Verdana"/>
                <a:ea typeface="Verdana"/>
                <a:cs typeface="Verdana"/>
                <a:sym typeface="Verdana"/>
              </a:rPr>
              <a:t>…..</a:t>
            </a:r>
            <a:r>
              <a:rPr lang="en-US" sz="1600">
                <a:solidFill>
                  <a:srgbClr val="C00000"/>
                </a:solidFill>
                <a:latin typeface="Verdana"/>
                <a:ea typeface="Verdana"/>
                <a:cs typeface="Verdana"/>
                <a:sym typeface="Verdana"/>
              </a:rPr>
              <a:t>Ci(x)</a:t>
            </a:r>
            <a:r>
              <a:rPr lang="en-US" sz="1600">
                <a:solidFill>
                  <a:srgbClr val="000000"/>
                </a:solidFill>
                <a:latin typeface="Verdana"/>
                <a:ea typeface="Verdana"/>
                <a:cs typeface="Verdana"/>
                <a:sym typeface="Verdana"/>
              </a:rPr>
              <a:t>           -&gt; This schedule is </a:t>
            </a:r>
            <a:r>
              <a:rPr lang="en-US" sz="16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2" id="2538" name="Google Shape;2538;p182"/>
          <p:cNvPicPr preferRelativeResize="0"/>
          <p:nvPr/>
        </p:nvPicPr>
        <p:blipFill rotWithShape="1">
          <a:blip r:embed="rId3">
            <a:alphaModFix/>
          </a:blip>
          <a:srcRect b="0" l="0" r="0" t="0"/>
          <a:stretch/>
        </p:blipFill>
        <p:spPr>
          <a:xfrm>
            <a:off x="754063" y="1771650"/>
            <a:ext cx="6858000" cy="584200"/>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sp>
        <p:nvSpPr>
          <p:cNvPr descr="Title 1" id="2543" name="Google Shape;2543;p18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44" name="Google Shape;2544;p18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45" name="Google Shape;2545;p18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46" name="Google Shape;2546;p18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2" id="2547" name="Google Shape;2547;p183"/>
          <p:cNvSpPr txBox="1"/>
          <p:nvPr/>
        </p:nvSpPr>
        <p:spPr>
          <a:xfrm>
            <a:off x="657225" y="3644900"/>
            <a:ext cx="7667625" cy="22494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 )</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sp>
        <p:nvSpPr>
          <p:cNvPr descr="TextBox 6" id="2548" name="Google Shape;2548;p183"/>
          <p:cNvSpPr txBox="1"/>
          <p:nvPr/>
        </p:nvSpPr>
        <p:spPr>
          <a:xfrm>
            <a:off x="914400" y="2419350"/>
            <a:ext cx="2000250" cy="317500"/>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Strict</a:t>
            </a:r>
            <a:endParaRPr b="1" sz="1400">
              <a:solidFill>
                <a:srgbClr val="000000"/>
              </a:solidFill>
              <a:latin typeface="Verdana"/>
              <a:ea typeface="Verdana"/>
              <a:cs typeface="Verdana"/>
              <a:sym typeface="Verdana"/>
            </a:endParaRPr>
          </a:p>
        </p:txBody>
      </p:sp>
      <p:pic>
        <p:nvPicPr>
          <p:cNvPr descr="Picture 2" id="2549" name="Google Shape;2549;p183"/>
          <p:cNvPicPr preferRelativeResize="0"/>
          <p:nvPr/>
        </p:nvPicPr>
        <p:blipFill rotWithShape="1">
          <a:blip r:embed="rId3">
            <a:alphaModFix/>
          </a:blip>
          <a:srcRect b="0" l="0" r="0" t="0"/>
          <a:stretch/>
        </p:blipFill>
        <p:spPr>
          <a:xfrm>
            <a:off x="754063" y="1771650"/>
            <a:ext cx="6858000" cy="266700"/>
          </a:xfrm>
          <a:prstGeom prst="rect">
            <a:avLst/>
          </a:prstGeom>
          <a:noFill/>
          <a:ln>
            <a:noFill/>
          </a:ln>
        </p:spPr>
      </p:pic>
      <p:pic>
        <p:nvPicPr>
          <p:cNvPr descr="Picture 3" id="2550" name="Google Shape;2550;p183"/>
          <p:cNvPicPr preferRelativeResize="0"/>
          <p:nvPr/>
        </p:nvPicPr>
        <p:blipFill rotWithShape="1">
          <a:blip r:embed="rId4">
            <a:alphaModFix/>
          </a:blip>
          <a:srcRect b="0" l="0" r="0" t="0"/>
          <a:stretch/>
        </p:blipFill>
        <p:spPr>
          <a:xfrm>
            <a:off x="611188" y="2779713"/>
            <a:ext cx="7943850" cy="542925"/>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4" name="Shape 2554"/>
        <p:cNvGrpSpPr/>
        <p:nvPr/>
      </p:nvGrpSpPr>
      <p:grpSpPr>
        <a:xfrm>
          <a:off x="0" y="0"/>
          <a:ext cx="0" cy="0"/>
          <a:chOff x="0" y="0"/>
          <a:chExt cx="0" cy="0"/>
        </a:xfrm>
      </p:grpSpPr>
      <p:sp>
        <p:nvSpPr>
          <p:cNvPr descr="Title 1" id="2555" name="Google Shape;2555;p18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56" name="Google Shape;2556;p18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57" name="Google Shape;2557;p18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58" name="Google Shape;2558;p18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2" id="2559" name="Google Shape;2559;p184"/>
          <p:cNvSpPr txBox="1"/>
          <p:nvPr/>
        </p:nvSpPr>
        <p:spPr>
          <a:xfrm>
            <a:off x="657225" y="3644900"/>
            <a:ext cx="7667625" cy="22494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 )</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3" id="2560" name="Google Shape;2560;p184"/>
          <p:cNvPicPr preferRelativeResize="0"/>
          <p:nvPr/>
        </p:nvPicPr>
        <p:blipFill rotWithShape="1">
          <a:blip r:embed="rId3">
            <a:alphaModFix/>
          </a:blip>
          <a:srcRect b="0" l="0" r="0" t="0"/>
          <a:stretch/>
        </p:blipFill>
        <p:spPr>
          <a:xfrm>
            <a:off x="898525" y="1712913"/>
            <a:ext cx="7316788" cy="512762"/>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descr="Title 1" id="2565" name="Google Shape;2565;p18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66" name="Google Shape;2566;p18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67" name="Google Shape;2567;p18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68" name="Google Shape;2568;p18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12" id="2569" name="Google Shape;2569;p185"/>
          <p:cNvSpPr txBox="1"/>
          <p:nvPr/>
        </p:nvSpPr>
        <p:spPr>
          <a:xfrm>
            <a:off x="657225" y="3644900"/>
            <a:ext cx="7667625" cy="22494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 )</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3" id="2570" name="Google Shape;2570;p185"/>
          <p:cNvPicPr preferRelativeResize="0"/>
          <p:nvPr/>
        </p:nvPicPr>
        <p:blipFill rotWithShape="1">
          <a:blip r:embed="rId3">
            <a:alphaModFix/>
          </a:blip>
          <a:srcRect b="0" l="0" r="0" t="0"/>
          <a:stretch/>
        </p:blipFill>
        <p:spPr>
          <a:xfrm>
            <a:off x="898525" y="1916113"/>
            <a:ext cx="6848475" cy="276225"/>
          </a:xfrm>
          <a:prstGeom prst="rect">
            <a:avLst/>
          </a:prstGeom>
          <a:noFill/>
          <a:ln>
            <a:noFill/>
          </a:ln>
        </p:spPr>
      </p:pic>
      <p:grpSp>
        <p:nvGrpSpPr>
          <p:cNvPr id="2571" name="Google Shape;2571;p185"/>
          <p:cNvGrpSpPr/>
          <p:nvPr/>
        </p:nvGrpSpPr>
        <p:grpSpPr>
          <a:xfrm>
            <a:off x="898525" y="2762251"/>
            <a:ext cx="5184775" cy="747711"/>
            <a:chOff x="0" y="0"/>
            <a:chExt cx="5184577" cy="748665"/>
          </a:xfrm>
        </p:grpSpPr>
        <p:sp>
          <p:nvSpPr>
            <p:cNvPr descr="TextBox 6" id="2572" name="Google Shape;2572;p185"/>
            <p:cNvSpPr txBox="1"/>
            <p:nvPr/>
          </p:nvSpPr>
          <p:spPr>
            <a:xfrm>
              <a:off x="0" y="0"/>
              <a:ext cx="5184577" cy="748665"/>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Not, Strict</a:t>
              </a:r>
              <a:endParaRPr/>
            </a:p>
            <a:p>
              <a:pPr indent="0" lvl="0" marL="0" marR="0" rtl="0" algn="l">
                <a:spcBef>
                  <a:spcPts val="0"/>
                </a:spcBef>
                <a:spcAft>
                  <a:spcPts val="0"/>
                </a:spcAft>
                <a:buNone/>
              </a:pPr>
              <a:r>
                <a:t/>
              </a:r>
              <a:endParaRPr sz="1400">
                <a:solidFill>
                  <a:srgbClr val="000000"/>
                </a:solidFill>
                <a:latin typeface="Verdana"/>
                <a:ea typeface="Verdana"/>
                <a:cs typeface="Verdana"/>
                <a:sym typeface="Verdana"/>
              </a:endParaRPr>
            </a:p>
          </p:txBody>
        </p:sp>
        <p:pic>
          <p:nvPicPr>
            <p:cNvPr descr="Picture 4" id="2573" name="Google Shape;2573;p185"/>
            <p:cNvPicPr preferRelativeResize="0"/>
            <p:nvPr/>
          </p:nvPicPr>
          <p:blipFill rotWithShape="1">
            <a:blip r:embed="rId4">
              <a:alphaModFix/>
            </a:blip>
            <a:srcRect b="0" l="0" r="0" t="0"/>
            <a:stretch/>
          </p:blipFill>
          <p:spPr>
            <a:xfrm>
              <a:off x="144015" y="307828"/>
              <a:ext cx="4591051" cy="340245"/>
            </a:xfrm>
            <a:prstGeom prst="rect">
              <a:avLst/>
            </a:prstGeom>
            <a:noFill/>
            <a:ln>
              <a:noFill/>
            </a:ln>
          </p:spPr>
        </p:pic>
      </p:gr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7" name="Shape 2577"/>
        <p:cNvGrpSpPr/>
        <p:nvPr/>
      </p:nvGrpSpPr>
      <p:grpSpPr>
        <a:xfrm>
          <a:off x="0" y="0"/>
          <a:ext cx="0" cy="0"/>
          <a:chOff x="0" y="0"/>
          <a:chExt cx="0" cy="0"/>
        </a:xfrm>
      </p:grpSpPr>
      <p:sp>
        <p:nvSpPr>
          <p:cNvPr descr="Title 1" id="2578" name="Google Shape;2578;p18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79" name="Google Shape;2579;p18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80" name="Google Shape;2580;p18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81" name="Google Shape;2581;p18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2582" name="Google Shape;2582;p186"/>
          <p:cNvPicPr preferRelativeResize="0"/>
          <p:nvPr/>
        </p:nvPicPr>
        <p:blipFill rotWithShape="1">
          <a:blip r:embed="rId3">
            <a:alphaModFix/>
          </a:blip>
          <a:srcRect b="0" l="0" r="0" t="0"/>
          <a:stretch/>
        </p:blipFill>
        <p:spPr>
          <a:xfrm>
            <a:off x="898525" y="2028825"/>
            <a:ext cx="3876675" cy="400050"/>
          </a:xfrm>
          <a:prstGeom prst="rect">
            <a:avLst/>
          </a:prstGeom>
          <a:noFill/>
          <a:ln>
            <a:noFill/>
          </a:ln>
        </p:spPr>
      </p:pic>
      <p:sp>
        <p:nvSpPr>
          <p:cNvPr descr="TextBox 12" id="2583" name="Google Shape;2583;p186"/>
          <p:cNvSpPr txBox="1"/>
          <p:nvPr/>
        </p:nvSpPr>
        <p:spPr>
          <a:xfrm>
            <a:off x="657225" y="3644900"/>
            <a:ext cx="7667625" cy="22494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 )</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7" name="Shape 2587"/>
        <p:cNvGrpSpPr/>
        <p:nvPr/>
      </p:nvGrpSpPr>
      <p:grpSpPr>
        <a:xfrm>
          <a:off x="0" y="0"/>
          <a:ext cx="0" cy="0"/>
          <a:chOff x="0" y="0"/>
          <a:chExt cx="0" cy="0"/>
        </a:xfrm>
      </p:grpSpPr>
      <p:sp>
        <p:nvSpPr>
          <p:cNvPr descr="Title 1" id="2588" name="Google Shape;2588;p18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solidFill>
                  <a:srgbClr val="FF0000"/>
                </a:solidFill>
              </a:rPr>
              <a:t>Problem to Solve on Strict Schedules</a:t>
            </a:r>
            <a:endParaRPr/>
          </a:p>
        </p:txBody>
      </p:sp>
      <p:sp>
        <p:nvSpPr>
          <p:cNvPr descr="Content Placeholder 2" id="2589" name="Google Shape;2589;p18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Check whether the following schedule is strict schedule </a:t>
            </a:r>
            <a:endParaRPr/>
          </a:p>
        </p:txBody>
      </p:sp>
      <p:sp>
        <p:nvSpPr>
          <p:cNvPr descr="Date Placeholder 3" id="2590" name="Google Shape;2590;p18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591" name="Google Shape;2591;p18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2592" name="Google Shape;2592;p187"/>
          <p:cNvSpPr txBox="1"/>
          <p:nvPr/>
        </p:nvSpPr>
        <p:spPr>
          <a:xfrm>
            <a:off x="898525" y="2852738"/>
            <a:ext cx="1900238" cy="315912"/>
          </a:xfrm>
          <a:prstGeom prst="rect">
            <a:avLst/>
          </a:prstGeom>
          <a:noFill/>
          <a:ln cap="flat" cmpd="sng" w="9525">
            <a:solidFill>
              <a:srgbClr val="FF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Answer: </a:t>
            </a:r>
            <a:r>
              <a:rPr lang="en-US" sz="1400">
                <a:solidFill>
                  <a:srgbClr val="000000"/>
                </a:solidFill>
                <a:latin typeface="Verdana"/>
                <a:ea typeface="Verdana"/>
                <a:cs typeface="Verdana"/>
                <a:sym typeface="Verdana"/>
              </a:rPr>
              <a:t>Yes, Strict</a:t>
            </a:r>
            <a:endParaRPr b="1" sz="1400">
              <a:solidFill>
                <a:srgbClr val="000000"/>
              </a:solidFill>
              <a:latin typeface="Verdana"/>
              <a:ea typeface="Verdana"/>
              <a:cs typeface="Verdana"/>
              <a:sym typeface="Verdana"/>
            </a:endParaRPr>
          </a:p>
        </p:txBody>
      </p:sp>
      <p:pic>
        <p:nvPicPr>
          <p:cNvPr descr="Picture 3" id="2593" name="Google Shape;2593;p187"/>
          <p:cNvPicPr preferRelativeResize="0"/>
          <p:nvPr/>
        </p:nvPicPr>
        <p:blipFill rotWithShape="1">
          <a:blip r:embed="rId3">
            <a:alphaModFix/>
          </a:blip>
          <a:srcRect b="0" l="0" r="0" t="0"/>
          <a:stretch/>
        </p:blipFill>
        <p:spPr>
          <a:xfrm>
            <a:off x="898525" y="2028825"/>
            <a:ext cx="3876675" cy="400050"/>
          </a:xfrm>
          <a:prstGeom prst="rect">
            <a:avLst/>
          </a:prstGeom>
          <a:noFill/>
          <a:ln>
            <a:noFill/>
          </a:ln>
        </p:spPr>
      </p:pic>
      <p:sp>
        <p:nvSpPr>
          <p:cNvPr descr="TextBox 12" id="2594" name="Google Shape;2594;p187"/>
          <p:cNvSpPr txBox="1"/>
          <p:nvPr/>
        </p:nvSpPr>
        <p:spPr>
          <a:xfrm>
            <a:off x="657225" y="3644900"/>
            <a:ext cx="7667625" cy="2249488"/>
          </a:xfrm>
          <a:prstGeom prst="rect">
            <a:avLst/>
          </a:prstGeom>
          <a:noFill/>
          <a:ln>
            <a:noFill/>
          </a:ln>
        </p:spPr>
        <p:txBody>
          <a:bodyPr anchorCtr="0" anchor="t" bIns="45700" lIns="45700" spcFirstLastPara="1" rIns="45700" wrap="square" tIns="45700">
            <a:spAutoFit/>
          </a:bodyPr>
          <a:lstStyle/>
          <a:p>
            <a:pPr indent="-38100" lvl="0" marL="38100" marR="0" rtl="0" algn="l">
              <a:spcBef>
                <a:spcPts val="0"/>
              </a:spcBef>
              <a:spcAft>
                <a:spcPts val="0"/>
              </a:spcAft>
              <a:buNone/>
            </a:pPr>
            <a:r>
              <a:rPr b="1" lang="en-US" sz="1400">
                <a:solidFill>
                  <a:srgbClr val="000000"/>
                </a:solidFill>
                <a:latin typeface="Verdana"/>
                <a:ea typeface="Verdana"/>
                <a:cs typeface="Verdana"/>
                <a:sym typeface="Verdana"/>
              </a:rPr>
              <a:t>Strict schedule</a:t>
            </a:r>
            <a:r>
              <a:rPr lang="en-US" sz="1400">
                <a:solidFill>
                  <a:srgbClr val="000000"/>
                </a:solidFill>
                <a:latin typeface="Verdana"/>
                <a:ea typeface="Verdana"/>
                <a:cs typeface="Verdana"/>
                <a:sym typeface="Verdana"/>
              </a:rPr>
              <a:t>: A schedule is strict if it satisfies the following conditions:</a:t>
            </a:r>
            <a:endParaRPr/>
          </a:p>
          <a:p>
            <a:pPr indent="-88900" lvl="0" marL="38100" marR="0" rtl="0" algn="l">
              <a:spcBef>
                <a:spcPts val="0"/>
              </a:spcBef>
              <a:spcAft>
                <a:spcPts val="0"/>
              </a:spcAft>
              <a:buClr>
                <a:srgbClr val="000000"/>
              </a:buClr>
              <a:buSzPts val="1400"/>
              <a:buFont typeface="Verdana"/>
              <a:buAutoNum type="arabicPeriod"/>
            </a:pPr>
            <a:r>
              <a:rPr lang="en-US" sz="1400">
                <a:solidFill>
                  <a:srgbClr val="000000"/>
                </a:solidFill>
                <a:latin typeface="Verdana"/>
                <a:ea typeface="Verdana"/>
                <a:cs typeface="Verdana"/>
                <a:sym typeface="Verdana"/>
              </a:rPr>
              <a:t>Tj reads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2. Tj writes a data item X </a:t>
            </a:r>
            <a:r>
              <a:rPr b="1" i="1" lang="en-US" sz="1400">
                <a:solidFill>
                  <a:srgbClr val="000000"/>
                </a:solidFill>
                <a:latin typeface="Verdana"/>
                <a:ea typeface="Verdana"/>
                <a:cs typeface="Verdana"/>
                <a:sym typeface="Verdana"/>
              </a:rPr>
              <a:t>after </a:t>
            </a:r>
            <a:r>
              <a:rPr lang="en-US" sz="1400">
                <a:solidFill>
                  <a:srgbClr val="000000"/>
                </a:solidFill>
                <a:latin typeface="Verdana"/>
                <a:ea typeface="Verdana"/>
                <a:cs typeface="Verdana"/>
                <a:sym typeface="Verdana"/>
              </a:rPr>
              <a:t>Ti has written to X and Ti is committed (aborted or </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terminated)</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a:t>
            </a:r>
            <a:r>
              <a:rPr lang="en-US" sz="1400">
                <a:solidFill>
                  <a:srgbClr val="000000"/>
                </a:solidFill>
                <a:latin typeface="Verdana"/>
                <a:ea typeface="Verdana"/>
                <a:cs typeface="Verdana"/>
                <a:sym typeface="Verdana"/>
              </a:rPr>
              <a:t>   -&gt; This schedule is </a:t>
            </a:r>
            <a:r>
              <a:rPr lang="en-US" sz="1400">
                <a:solidFill>
                  <a:srgbClr val="FF0000"/>
                </a:solidFill>
                <a:latin typeface="Verdana"/>
                <a:ea typeface="Verdana"/>
                <a:cs typeface="Verdana"/>
                <a:sym typeface="Verdana"/>
              </a:rPr>
              <a:t>Strict</a:t>
            </a:r>
            <a:endParaRPr/>
          </a:p>
          <a:p>
            <a:pPr indent="-38100" lvl="0" marL="38100" marR="0" rtl="0" algn="l">
              <a:spcBef>
                <a:spcPts val="0"/>
              </a:spcBef>
              <a:spcAft>
                <a:spcPts val="0"/>
              </a:spcAft>
              <a:buNone/>
            </a:pP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Wi(x)</a:t>
            </a:r>
            <a:r>
              <a:rPr lang="en-US" sz="1400">
                <a:solidFill>
                  <a:srgbClr val="000000"/>
                </a:solidFill>
                <a:latin typeface="Verdana"/>
                <a:ea typeface="Verdana"/>
                <a:cs typeface="Verdana"/>
                <a:sym typeface="Verdana"/>
              </a:rPr>
              <a:t>…………</a:t>
            </a:r>
            <a:r>
              <a:rPr lang="en-US" sz="1400">
                <a:solidFill>
                  <a:srgbClr val="0000FF"/>
                </a:solidFill>
                <a:latin typeface="Verdana"/>
                <a:ea typeface="Verdana"/>
                <a:cs typeface="Verdana"/>
                <a:sym typeface="Verdana"/>
              </a:rPr>
              <a:t>Rj(x)/Wj(x )</a:t>
            </a:r>
            <a:r>
              <a:rPr lang="en-US" sz="1400">
                <a:solidFill>
                  <a:srgbClr val="000000"/>
                </a:solidFill>
                <a:latin typeface="Verdana"/>
                <a:ea typeface="Verdana"/>
                <a:cs typeface="Verdana"/>
                <a:sym typeface="Verdana"/>
              </a:rPr>
              <a:t>…..</a:t>
            </a:r>
            <a:r>
              <a:rPr lang="en-US" sz="1400">
                <a:solidFill>
                  <a:srgbClr val="C00000"/>
                </a:solidFill>
                <a:latin typeface="Verdana"/>
                <a:ea typeface="Verdana"/>
                <a:cs typeface="Verdana"/>
                <a:sym typeface="Verdana"/>
              </a:rPr>
              <a:t>Ci(x)</a:t>
            </a:r>
            <a:r>
              <a:rPr lang="en-US" sz="1400">
                <a:solidFill>
                  <a:srgbClr val="000000"/>
                </a:solidFill>
                <a:latin typeface="Verdana"/>
                <a:ea typeface="Verdana"/>
                <a:cs typeface="Verdana"/>
                <a:sym typeface="Verdana"/>
              </a:rPr>
              <a:t>           -&gt; This schedule is </a:t>
            </a:r>
            <a:r>
              <a:rPr lang="en-US" sz="1400">
                <a:solidFill>
                  <a:srgbClr val="008000"/>
                </a:solidFill>
                <a:latin typeface="Verdana"/>
                <a:ea typeface="Verdana"/>
                <a:cs typeface="Verdana"/>
                <a:sym typeface="Verdana"/>
              </a:rPr>
              <a:t>not strict</a:t>
            </a:r>
            <a:endParaRPr/>
          </a:p>
          <a:p>
            <a:pPr indent="-38100" lvl="0" marL="38100" marR="0" rtl="0" algn="l">
              <a:spcBef>
                <a:spcPts val="0"/>
              </a:spcBef>
              <a:spcAft>
                <a:spcPts val="0"/>
              </a:spcAft>
              <a:buNone/>
            </a:pPr>
            <a:r>
              <a:t/>
            </a:r>
            <a:endParaRPr sz="1400">
              <a:solidFill>
                <a:srgbClr val="000000"/>
              </a:solidFill>
              <a:latin typeface="Verdana"/>
              <a:ea typeface="Verdana"/>
              <a:cs typeface="Verdana"/>
              <a:sym typeface="Verdana"/>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8" name="Shape 2598"/>
        <p:cNvGrpSpPr/>
        <p:nvPr/>
      </p:nvGrpSpPr>
      <p:grpSpPr>
        <a:xfrm>
          <a:off x="0" y="0"/>
          <a:ext cx="0" cy="0"/>
          <a:chOff x="0" y="0"/>
          <a:chExt cx="0" cy="0"/>
        </a:xfrm>
      </p:grpSpPr>
      <p:sp>
        <p:nvSpPr>
          <p:cNvPr descr="Title 1" id="2599" name="Google Shape;2599;p18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Summary of Schedules based on Recoverability</a:t>
            </a:r>
            <a:endParaRPr/>
          </a:p>
        </p:txBody>
      </p:sp>
      <p:sp>
        <p:nvSpPr>
          <p:cNvPr descr="Date Placeholder 3" id="2600" name="Google Shape;2600;p18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01" name="Google Shape;2601;p18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2602" name="Google Shape;2602;p188"/>
          <p:cNvGrpSpPr/>
          <p:nvPr/>
        </p:nvGrpSpPr>
        <p:grpSpPr>
          <a:xfrm>
            <a:off x="754063" y="1268413"/>
            <a:ext cx="7273925" cy="3959225"/>
            <a:chOff x="-1" y="-1"/>
            <a:chExt cx="7272809" cy="3960442"/>
          </a:xfrm>
        </p:grpSpPr>
        <p:sp>
          <p:nvSpPr>
            <p:cNvPr descr="Rectangle 3" id="2603" name="Google Shape;2603;p188"/>
            <p:cNvSpPr/>
            <p:nvPr/>
          </p:nvSpPr>
          <p:spPr>
            <a:xfrm>
              <a:off x="-1" y="-1"/>
              <a:ext cx="7272809" cy="396044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Rectangle 3" id="2604" name="Google Shape;2604;p188"/>
            <p:cNvSpPr/>
            <p:nvPr/>
          </p:nvSpPr>
          <p:spPr>
            <a:xfrm>
              <a:off x="366216" y="576063"/>
              <a:ext cx="6604001" cy="316292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pSp>
          <p:nvGrpSpPr>
            <p:cNvPr id="2605" name="Google Shape;2605;p188"/>
            <p:cNvGrpSpPr/>
            <p:nvPr/>
          </p:nvGrpSpPr>
          <p:grpSpPr>
            <a:xfrm>
              <a:off x="1013916" y="1275183"/>
              <a:ext cx="5295901" cy="2181201"/>
              <a:chOff x="0" y="-1"/>
              <a:chExt cx="5295900" cy="2181202"/>
            </a:xfrm>
          </p:grpSpPr>
          <p:sp>
            <p:nvSpPr>
              <p:cNvPr id="2606" name="Google Shape;2606;p188"/>
              <p:cNvSpPr/>
              <p:nvPr/>
            </p:nvSpPr>
            <p:spPr>
              <a:xfrm>
                <a:off x="0" y="-1"/>
                <a:ext cx="5295900" cy="218120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2607" name="Google Shape;2607;p188"/>
              <p:cNvSpPr txBox="1"/>
              <p:nvPr/>
            </p:nvSpPr>
            <p:spPr>
              <a:xfrm>
                <a:off x="1132025" y="905180"/>
                <a:ext cx="3031850" cy="370841"/>
              </a:xfrm>
              <a:prstGeom prst="rect">
                <a:avLst/>
              </a:prstGeom>
              <a:noFill/>
              <a:ln>
                <a:noFill/>
              </a:ln>
            </p:spPr>
            <p:txBody>
              <a:bodyPr anchorCtr="0" anchor="ctr" bIns="45700" lIns="45700" spcFirstLastPara="1" rIns="45700" wrap="square" tIns="45700">
                <a:spAutoFit/>
              </a:bodyPr>
              <a:lstStyle/>
              <a:p>
                <a:pPr indent="0" lvl="0" marL="0" marR="0" rtl="0" algn="ctr">
                  <a:spcBef>
                    <a:spcPts val="0"/>
                  </a:spcBef>
                  <a:spcAft>
                    <a:spcPts val="0"/>
                  </a:spcAft>
                  <a:buNone/>
                </a:pPr>
                <a:r>
                  <a:rPr lang="en-US" sz="1800">
                    <a:solidFill>
                      <a:srgbClr val="000000"/>
                    </a:solidFill>
                    <a:latin typeface="Verdana"/>
                    <a:ea typeface="Verdana"/>
                    <a:cs typeface="Verdana"/>
                    <a:sym typeface="Verdana"/>
                  </a:rPr>
                  <a:t>Avoids cascading rollback</a:t>
                </a:r>
                <a:endParaRPr/>
              </a:p>
            </p:txBody>
          </p:sp>
        </p:grpSp>
        <p:sp>
          <p:nvSpPr>
            <p:cNvPr descr="Rectangle 5" id="2608" name="Google Shape;2608;p188"/>
            <p:cNvSpPr/>
            <p:nvPr/>
          </p:nvSpPr>
          <p:spPr>
            <a:xfrm>
              <a:off x="1521916" y="1911051"/>
              <a:ext cx="4330701" cy="125730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 Box 8" id="2609" name="Google Shape;2609;p188"/>
            <p:cNvSpPr txBox="1"/>
            <p:nvPr/>
          </p:nvSpPr>
          <p:spPr>
            <a:xfrm>
              <a:off x="595993" y="761106"/>
              <a:ext cx="3737702" cy="396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Recoverable Schedule</a:t>
              </a:r>
              <a:endParaRPr/>
            </a:p>
          </p:txBody>
        </p:sp>
        <p:sp>
          <p:nvSpPr>
            <p:cNvPr descr="Text Box 9" id="2610" name="Google Shape;2610;p188"/>
            <p:cNvSpPr txBox="1"/>
            <p:nvPr/>
          </p:nvSpPr>
          <p:spPr>
            <a:xfrm>
              <a:off x="1246660" y="1275183"/>
              <a:ext cx="2884084" cy="396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Cascadeless schedule </a:t>
              </a:r>
              <a:endParaRPr/>
            </a:p>
          </p:txBody>
        </p:sp>
        <p:sp>
          <p:nvSpPr>
            <p:cNvPr descr="Text Box 10" id="2611" name="Google Shape;2611;p188"/>
            <p:cNvSpPr txBox="1"/>
            <p:nvPr/>
          </p:nvSpPr>
          <p:spPr>
            <a:xfrm>
              <a:off x="1694634" y="2088232"/>
              <a:ext cx="2436109" cy="396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Strict Schedule</a:t>
              </a:r>
              <a:endParaRPr/>
            </a:p>
          </p:txBody>
        </p:sp>
        <p:sp>
          <p:nvSpPr>
            <p:cNvPr descr="Text Box 8" id="2612" name="Google Shape;2612;p188"/>
            <p:cNvSpPr txBox="1"/>
            <p:nvPr/>
          </p:nvSpPr>
          <p:spPr>
            <a:xfrm>
              <a:off x="189736" y="21498"/>
              <a:ext cx="3737701" cy="3962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All Schedules</a:t>
              </a:r>
              <a:endParaRPr/>
            </a:p>
          </p:txBody>
        </p:sp>
      </p:grpSp>
      <p:sp>
        <p:nvSpPr>
          <p:cNvPr descr="TextBox 18" id="2613" name="Google Shape;2613;p188"/>
          <p:cNvSpPr txBox="1"/>
          <p:nvPr/>
        </p:nvSpPr>
        <p:spPr>
          <a:xfrm>
            <a:off x="728663" y="5570538"/>
            <a:ext cx="6532562" cy="7381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Note: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 Strict schedules are Cascadeless and Recoverable schedule</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 Cascadeless schedules are Recoverable schedule</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7" name="Shape 2617"/>
        <p:cNvGrpSpPr/>
        <p:nvPr/>
      </p:nvGrpSpPr>
      <p:grpSpPr>
        <a:xfrm>
          <a:off x="0" y="0"/>
          <a:ext cx="0" cy="0"/>
          <a:chOff x="0" y="0"/>
          <a:chExt cx="0" cy="0"/>
        </a:xfrm>
      </p:grpSpPr>
      <p:sp>
        <p:nvSpPr>
          <p:cNvPr descr="Title 1" id="2618" name="Google Shape;2618;p18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Transactions and Schedule</a:t>
            </a:r>
            <a:endParaRPr/>
          </a:p>
        </p:txBody>
      </p:sp>
      <p:sp>
        <p:nvSpPr>
          <p:cNvPr descr="Content Placeholder 2" id="2619" name="Google Shape;2619;p18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01600" lvl="0" marL="41275" rtl="0" algn="l">
              <a:spcBef>
                <a:spcPts val="0"/>
              </a:spcBef>
              <a:spcAft>
                <a:spcPts val="0"/>
              </a:spcAft>
              <a:buSzPts val="1600"/>
              <a:buFont typeface="Verdana"/>
              <a:buChar char="□"/>
            </a:pPr>
            <a:r>
              <a:rPr lang="en-US" sz="1600"/>
              <a:t>Transactions and Schedules </a:t>
            </a:r>
            <a:endParaRPr/>
          </a:p>
          <a:p>
            <a:pPr indent="-41275" lvl="0" marL="41275" rtl="0" algn="l">
              <a:spcBef>
                <a:spcPts val="300"/>
              </a:spcBef>
              <a:spcAft>
                <a:spcPts val="0"/>
              </a:spcAft>
              <a:buSzPts val="1600"/>
              <a:buFont typeface="Noto Sans Symbols"/>
              <a:buNone/>
            </a:pPr>
            <a:r>
              <a:rPr lang="en-US" sz="1600"/>
              <a:t>– Serial Schedule  … one after the other… </a:t>
            </a:r>
            <a:endParaRPr/>
          </a:p>
          <a:p>
            <a:pPr indent="-41275" lvl="0" marL="41275" rtl="0" algn="l">
              <a:spcBef>
                <a:spcPts val="300"/>
              </a:spcBef>
              <a:spcAft>
                <a:spcPts val="0"/>
              </a:spcAft>
              <a:buSzPts val="1600"/>
              <a:buFont typeface="Noto Sans Symbols"/>
              <a:buNone/>
            </a:pPr>
            <a:r>
              <a:rPr lang="en-US" sz="1600"/>
              <a:t>– Complete Schedule … with Commit, Abort </a:t>
            </a:r>
            <a:endParaRPr/>
          </a:p>
          <a:p>
            <a:pPr indent="-41275" lvl="0" marL="41275" rtl="0" algn="l">
              <a:spcBef>
                <a:spcPts val="300"/>
              </a:spcBef>
              <a:spcAft>
                <a:spcPts val="0"/>
              </a:spcAft>
              <a:buSzPts val="1600"/>
              <a:buFont typeface="Noto Sans Symbols"/>
              <a:buNone/>
            </a:pPr>
            <a:r>
              <a:rPr b="1" lang="en-US" sz="1600">
                <a:solidFill>
                  <a:srgbClr val="C00000"/>
                </a:solidFill>
              </a:rPr>
              <a:t>Serializability </a:t>
            </a:r>
            <a:endParaRPr/>
          </a:p>
          <a:p>
            <a:pPr indent="-41275" lvl="0" marL="41275" rtl="0" algn="l">
              <a:spcBef>
                <a:spcPts val="300"/>
              </a:spcBef>
              <a:spcAft>
                <a:spcPts val="0"/>
              </a:spcAft>
              <a:buSzPts val="1600"/>
              <a:buFont typeface="Noto Sans Symbols"/>
              <a:buNone/>
            </a:pPr>
            <a:r>
              <a:rPr lang="en-US" sz="1600"/>
              <a:t>– “</a:t>
            </a:r>
            <a:r>
              <a:rPr lang="en-US" sz="1600">
                <a:solidFill>
                  <a:srgbClr val="008000"/>
                </a:solidFill>
              </a:rPr>
              <a:t>Correctness Measure</a:t>
            </a:r>
            <a:r>
              <a:rPr lang="en-US" sz="1600"/>
              <a:t>” of some Schedule </a:t>
            </a:r>
            <a:endParaRPr/>
          </a:p>
          <a:p>
            <a:pPr indent="-41275" lvl="0" marL="41275" rtl="0" algn="l">
              <a:spcBef>
                <a:spcPts val="300"/>
              </a:spcBef>
              <a:spcAft>
                <a:spcPts val="0"/>
              </a:spcAft>
              <a:buSzPts val="1600"/>
              <a:buFont typeface="Noto Sans Symbols"/>
              <a:buNone/>
            </a:pPr>
            <a:r>
              <a:rPr lang="en-US" sz="1600"/>
              <a:t>– </a:t>
            </a:r>
            <a:r>
              <a:rPr lang="en-US" sz="1600">
                <a:solidFill>
                  <a:srgbClr val="C00000"/>
                </a:solidFill>
              </a:rPr>
              <a:t>Why is it useful? </a:t>
            </a:r>
            <a:r>
              <a:rPr lang="en-US" sz="1600"/>
              <a:t>It answers the question: “Will an interleaved schedule execute correctly </a:t>
            </a:r>
            <a:endParaRPr/>
          </a:p>
          <a:p>
            <a:pPr indent="-41275" lvl="0" marL="41275" rtl="0" algn="l">
              <a:spcBef>
                <a:spcPts val="300"/>
              </a:spcBef>
              <a:spcAft>
                <a:spcPts val="0"/>
              </a:spcAft>
              <a:buSzPts val="1600"/>
              <a:buFont typeface="Noto Sans Symbols"/>
              <a:buNone/>
            </a:pPr>
            <a:r>
              <a:rPr lang="en-US" sz="1600"/>
              <a:t>– i.e., a Serializable schedule will execute as correctly as serial schedule … but in an interleaved manner! </a:t>
            </a:r>
            <a:endParaRPr/>
          </a:p>
          <a:p>
            <a:pPr indent="-41275" lvl="0" marL="41275" rtl="0" algn="l">
              <a:spcBef>
                <a:spcPts val="300"/>
              </a:spcBef>
              <a:spcAft>
                <a:spcPts val="0"/>
              </a:spcAft>
              <a:buSzPts val="1600"/>
              <a:buFont typeface="Noto Sans Symbols"/>
              <a:buNone/>
            </a:pPr>
            <a:r>
              <a:rPr b="1" lang="en-US" sz="1600">
                <a:solidFill>
                  <a:srgbClr val="0000FF"/>
                </a:solidFill>
              </a:rPr>
              <a:t>Recoverability</a:t>
            </a:r>
            <a:r>
              <a:rPr lang="en-US" sz="1600">
                <a:solidFill>
                  <a:srgbClr val="0000FF"/>
                </a:solidFill>
              </a:rPr>
              <a:t> </a:t>
            </a:r>
            <a:endParaRPr/>
          </a:p>
          <a:p>
            <a:pPr indent="-41275" lvl="0" marL="41275" rtl="0" algn="l">
              <a:spcBef>
                <a:spcPts val="300"/>
              </a:spcBef>
              <a:spcAft>
                <a:spcPts val="0"/>
              </a:spcAft>
              <a:buSzPts val="1600"/>
              <a:buFont typeface="Noto Sans Symbols"/>
              <a:buNone/>
            </a:pPr>
            <a:r>
              <a:rPr lang="en-US" sz="1600"/>
              <a:t>– “</a:t>
            </a:r>
            <a:r>
              <a:rPr lang="en-US" sz="1600">
                <a:solidFill>
                  <a:srgbClr val="FF00FF"/>
                </a:solidFill>
              </a:rPr>
              <a:t>Recoverability Measure</a:t>
            </a:r>
            <a:r>
              <a:rPr lang="en-US" sz="1600"/>
              <a:t>” of some Schedule. </a:t>
            </a:r>
            <a:endParaRPr/>
          </a:p>
          <a:p>
            <a:pPr indent="-41275" lvl="0" marL="41275" rtl="0" algn="l">
              <a:spcBef>
                <a:spcPts val="300"/>
              </a:spcBef>
              <a:spcAft>
                <a:spcPts val="0"/>
              </a:spcAft>
              <a:buSzPts val="1600"/>
              <a:buFont typeface="Noto Sans Symbols"/>
              <a:buNone/>
            </a:pPr>
            <a:r>
              <a:rPr lang="en-US" sz="1600"/>
              <a:t>– </a:t>
            </a:r>
            <a:r>
              <a:rPr lang="en-US" sz="1600">
                <a:solidFill>
                  <a:srgbClr val="0000FF"/>
                </a:solidFill>
              </a:rPr>
              <a:t>Why is it useful? </a:t>
            </a:r>
            <a:r>
              <a:rPr lang="en-US" sz="1600"/>
              <a:t>It answers the question: “Do we need to rollback a some (or all) transactions in an interleaved schedule after some Failure (e.g., ABORT)” </a:t>
            </a:r>
            <a:endParaRPr/>
          </a:p>
          <a:p>
            <a:pPr indent="-41275" lvl="0" marL="41275" rtl="0" algn="l">
              <a:spcBef>
                <a:spcPts val="300"/>
              </a:spcBef>
              <a:spcAft>
                <a:spcPts val="0"/>
              </a:spcAft>
              <a:buSzPts val="1600"/>
              <a:buFont typeface="Noto Sans Symbols"/>
              <a:buNone/>
            </a:pPr>
            <a:r>
              <a:rPr lang="en-US" sz="1600"/>
              <a:t>– i.e., in a Recoverable schedule no transaction needs to be rolled back once committed!</a:t>
            </a:r>
            <a:endParaRPr/>
          </a:p>
        </p:txBody>
      </p:sp>
      <p:sp>
        <p:nvSpPr>
          <p:cNvPr descr="Date Placeholder 3" id="2620" name="Google Shape;2620;p18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21" name="Google Shape;2621;p18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5" name="Shape 2625"/>
        <p:cNvGrpSpPr/>
        <p:nvPr/>
      </p:nvGrpSpPr>
      <p:grpSpPr>
        <a:xfrm>
          <a:off x="0" y="0"/>
          <a:ext cx="0" cy="0"/>
          <a:chOff x="0" y="0"/>
          <a:chExt cx="0" cy="0"/>
        </a:xfrm>
      </p:grpSpPr>
      <p:sp>
        <p:nvSpPr>
          <p:cNvPr descr="Rectangle 2" id="2626" name="Google Shape;2626;p190"/>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Next what you are going learn is………</a:t>
            </a:r>
            <a:endParaRPr/>
          </a:p>
        </p:txBody>
      </p:sp>
      <p:sp>
        <p:nvSpPr>
          <p:cNvPr descr="Rectangle 3" id="2627" name="Google Shape;2627;p190"/>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b="1" lang="en-US" sz="2000"/>
              <a:t>Concurrency Control Protocols</a:t>
            </a:r>
            <a:endParaRPr/>
          </a:p>
          <a:p>
            <a:pPr indent="0" lvl="0" marL="0" rtl="0" algn="l">
              <a:lnSpc>
                <a:spcPct val="80000"/>
              </a:lnSpc>
              <a:spcBef>
                <a:spcPts val="400"/>
              </a:spcBef>
              <a:spcAft>
                <a:spcPts val="0"/>
              </a:spcAft>
              <a:buClr>
                <a:srgbClr val="003366"/>
              </a:buClr>
              <a:buSzPts val="2000"/>
              <a:buFont typeface="Verdana"/>
              <a:buNone/>
            </a:pPr>
            <a:r>
              <a:rPr lang="en-US" sz="2000"/>
              <a:t> - To ensure when to give access to data item when transactions are getting executed concurrently or in interleaved way</a:t>
            </a:r>
            <a:endParaRPr/>
          </a:p>
        </p:txBody>
      </p:sp>
      <p:sp>
        <p:nvSpPr>
          <p:cNvPr descr="Date Placeholder 1" id="2628" name="Google Shape;2628;p190"/>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2629" name="Google Shape;2629;p190"/>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3" name="Shape 2633"/>
        <p:cNvGrpSpPr/>
        <p:nvPr/>
      </p:nvGrpSpPr>
      <p:grpSpPr>
        <a:xfrm>
          <a:off x="0" y="0"/>
          <a:ext cx="0" cy="0"/>
          <a:chOff x="0" y="0"/>
          <a:chExt cx="0" cy="0"/>
        </a:xfrm>
      </p:grpSpPr>
      <p:sp>
        <p:nvSpPr>
          <p:cNvPr descr="Title 1" id="2634" name="Google Shape;2634;p19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635" name="Google Shape;2635;p19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36" name="Google Shape;2636;p19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2637" name="Google Shape;2637;p191"/>
          <p:cNvPicPr preferRelativeResize="0"/>
          <p:nvPr/>
        </p:nvPicPr>
        <p:blipFill rotWithShape="1">
          <a:blip r:embed="rId3">
            <a:alphaModFix/>
          </a:blip>
          <a:srcRect b="0" l="0" r="0" t="0"/>
          <a:stretch/>
        </p:blipFill>
        <p:spPr>
          <a:xfrm>
            <a:off x="2119313" y="3278188"/>
            <a:ext cx="533400" cy="928687"/>
          </a:xfrm>
          <a:prstGeom prst="rect">
            <a:avLst/>
          </a:prstGeom>
          <a:noFill/>
          <a:ln>
            <a:noFill/>
          </a:ln>
        </p:spPr>
      </p:pic>
      <p:pic>
        <p:nvPicPr>
          <p:cNvPr descr="Picture 4" id="2638" name="Google Shape;2638;p191"/>
          <p:cNvPicPr preferRelativeResize="0"/>
          <p:nvPr/>
        </p:nvPicPr>
        <p:blipFill rotWithShape="1">
          <a:blip r:embed="rId4">
            <a:alphaModFix/>
          </a:blip>
          <a:srcRect b="0" l="0" r="0" t="0"/>
          <a:stretch/>
        </p:blipFill>
        <p:spPr>
          <a:xfrm>
            <a:off x="6464300" y="3316288"/>
            <a:ext cx="457200" cy="823912"/>
          </a:xfrm>
          <a:prstGeom prst="rect">
            <a:avLst/>
          </a:prstGeom>
          <a:noFill/>
          <a:ln>
            <a:noFill/>
          </a:ln>
        </p:spPr>
      </p:pic>
      <p:grpSp>
        <p:nvGrpSpPr>
          <p:cNvPr id="2639" name="Google Shape;2639;p191"/>
          <p:cNvGrpSpPr/>
          <p:nvPr/>
        </p:nvGrpSpPr>
        <p:grpSpPr>
          <a:xfrm>
            <a:off x="3233738" y="3427413"/>
            <a:ext cx="2668587" cy="593724"/>
            <a:chOff x="0" y="0"/>
            <a:chExt cx="2668137" cy="593090"/>
          </a:xfrm>
        </p:grpSpPr>
        <p:sp>
          <p:nvSpPr>
            <p:cNvPr id="2640" name="Google Shape;2640;p191"/>
            <p:cNvSpPr/>
            <p:nvPr/>
          </p:nvSpPr>
          <p:spPr>
            <a:xfrm>
              <a:off x="0" y="0"/>
              <a:ext cx="2668137" cy="525131"/>
            </a:xfrm>
            <a:prstGeom prst="rect">
              <a:avLst/>
            </a:prstGeom>
            <a:noFill/>
            <a:ln cap="flat" cmpd="sng" w="38100">
              <a:solidFill>
                <a:srgbClr val="FF99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ctr">
                <a:spcBef>
                  <a:spcPts val="0"/>
                </a:spcBef>
                <a:spcAft>
                  <a:spcPts val="0"/>
                </a:spcAft>
                <a:buNone/>
              </a:pPr>
              <a:r>
                <a:t/>
              </a:r>
              <a:endParaRPr sz="1800">
                <a:solidFill>
                  <a:srgbClr val="000000"/>
                </a:solidFill>
                <a:latin typeface="Verdana"/>
                <a:ea typeface="Verdana"/>
                <a:cs typeface="Verdana"/>
                <a:sym typeface="Verdana"/>
              </a:endParaRPr>
            </a:p>
          </p:txBody>
        </p:sp>
        <p:sp>
          <p:nvSpPr>
            <p:cNvPr id="2641" name="Google Shape;2641;p191"/>
            <p:cNvSpPr txBox="1"/>
            <p:nvPr/>
          </p:nvSpPr>
          <p:spPr>
            <a:xfrm>
              <a:off x="64769" y="19050"/>
              <a:ext cx="2538598" cy="57404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600">
                  <a:solidFill>
                    <a:srgbClr val="000000"/>
                  </a:solidFill>
                  <a:latin typeface="Verdana"/>
                  <a:ea typeface="Verdana"/>
                  <a:cs typeface="Verdana"/>
                  <a:sym typeface="Verdana"/>
                </a:rPr>
                <a:t>Train Ticket Booking Software </a:t>
              </a:r>
              <a:endParaRPr/>
            </a:p>
          </p:txBody>
        </p:sp>
      </p:grpSp>
      <p:cxnSp>
        <p:nvCxnSpPr>
          <p:cNvPr descr="Straight Arrow Connector 9" id="2642" name="Google Shape;2642;p191"/>
          <p:cNvCxnSpPr/>
          <p:nvPr/>
        </p:nvCxnSpPr>
        <p:spPr>
          <a:xfrm>
            <a:off x="2560638" y="3686175"/>
            <a:ext cx="635000" cy="44450"/>
          </a:xfrm>
          <a:prstGeom prst="straightConnector1">
            <a:avLst/>
          </a:prstGeom>
          <a:noFill/>
          <a:ln cap="flat" cmpd="sng" w="38100">
            <a:solidFill>
              <a:srgbClr val="00B050"/>
            </a:solidFill>
            <a:prstDash val="solid"/>
            <a:round/>
            <a:headEnd len="sm" w="sm" type="none"/>
            <a:tailEnd len="med" w="med" type="triangle"/>
          </a:ln>
        </p:spPr>
      </p:cxnSp>
      <p:cxnSp>
        <p:nvCxnSpPr>
          <p:cNvPr descr="Straight Arrow Connector 10" id="2643" name="Google Shape;2643;p191"/>
          <p:cNvCxnSpPr/>
          <p:nvPr/>
        </p:nvCxnSpPr>
        <p:spPr>
          <a:xfrm rot="10800000">
            <a:off x="5902325" y="3686175"/>
            <a:ext cx="561975" cy="0"/>
          </a:xfrm>
          <a:prstGeom prst="straightConnector1">
            <a:avLst/>
          </a:prstGeom>
          <a:noFill/>
          <a:ln cap="flat" cmpd="sng" w="38100">
            <a:solidFill>
              <a:srgbClr val="00B050"/>
            </a:solidFill>
            <a:prstDash val="solid"/>
            <a:round/>
            <a:headEnd len="sm" w="sm" type="none"/>
            <a:tailEnd len="med" w="med" type="triangle"/>
          </a:ln>
        </p:spPr>
      </p:cxnSp>
      <p:sp>
        <p:nvSpPr>
          <p:cNvPr descr="TextBox 11" id="2644" name="Google Shape;2644;p191"/>
          <p:cNvSpPr txBox="1"/>
          <p:nvPr/>
        </p:nvSpPr>
        <p:spPr>
          <a:xfrm>
            <a:off x="439738" y="1042988"/>
            <a:ext cx="5186362"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Consider an example of Train Reservation System</a:t>
            </a:r>
            <a:endParaRPr/>
          </a:p>
        </p:txBody>
      </p:sp>
      <p:sp>
        <p:nvSpPr>
          <p:cNvPr descr="TextBox 12" id="2645" name="Google Shape;2645;p191"/>
          <p:cNvSpPr txBox="1"/>
          <p:nvPr/>
        </p:nvSpPr>
        <p:spPr>
          <a:xfrm>
            <a:off x="1239838" y="3557588"/>
            <a:ext cx="76993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User1</a:t>
            </a:r>
            <a:endParaRPr/>
          </a:p>
        </p:txBody>
      </p:sp>
      <p:sp>
        <p:nvSpPr>
          <p:cNvPr descr="TextBox 13" id="2646" name="Google Shape;2646;p191"/>
          <p:cNvSpPr txBox="1"/>
          <p:nvPr/>
        </p:nvSpPr>
        <p:spPr>
          <a:xfrm>
            <a:off x="6967538" y="3543300"/>
            <a:ext cx="7683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User2</a:t>
            </a:r>
            <a:endParaRPr/>
          </a:p>
        </p:txBody>
      </p:sp>
      <p:sp>
        <p:nvSpPr>
          <p:cNvPr descr="Down Arrow 14" id="2647" name="Google Shape;2647;p191"/>
          <p:cNvSpPr/>
          <p:nvPr/>
        </p:nvSpPr>
        <p:spPr>
          <a:xfrm rot="10598870">
            <a:off x="4376738" y="3078163"/>
            <a:ext cx="322262" cy="360362"/>
          </a:xfrm>
          <a:custGeom>
            <a:rect b="b" l="l" r="r" t="t"/>
            <a:pathLst>
              <a:path extrusionOk="0" h="21600" w="21600">
                <a:moveTo>
                  <a:pt x="0" y="11934"/>
                </a:moveTo>
                <a:lnTo>
                  <a:pt x="5400" y="11934"/>
                </a:lnTo>
                <a:lnTo>
                  <a:pt x="5400" y="0"/>
                </a:lnTo>
                <a:lnTo>
                  <a:pt x="16200" y="0"/>
                </a:lnTo>
                <a:lnTo>
                  <a:pt x="16200" y="11934"/>
                </a:lnTo>
                <a:lnTo>
                  <a:pt x="21600" y="11934"/>
                </a:lnTo>
                <a:lnTo>
                  <a:pt x="10800" y="21600"/>
                </a:lnTo>
                <a:close/>
              </a:path>
            </a:pathLst>
          </a:cu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5" id="2648" name="Google Shape;2648;p191"/>
          <p:cNvSpPr txBox="1"/>
          <p:nvPr/>
        </p:nvSpPr>
        <p:spPr>
          <a:xfrm>
            <a:off x="209550" y="4219575"/>
            <a:ext cx="3490913" cy="533400"/>
          </a:xfrm>
          <a:prstGeom prst="rect">
            <a:avLst/>
          </a:prstGeom>
          <a:noFill/>
          <a:ln cap="flat" cmpd="sng" w="9525">
            <a:solidFill>
              <a:srgbClr val="0000FF"/>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User1: Wants to </a:t>
            </a:r>
            <a:r>
              <a:rPr b="1" lang="en-US" sz="1400">
                <a:solidFill>
                  <a:srgbClr val="000000"/>
                </a:solidFill>
                <a:latin typeface="Verdana"/>
                <a:ea typeface="Verdana"/>
                <a:cs typeface="Verdana"/>
                <a:sym typeface="Verdana"/>
              </a:rPr>
              <a:t>reserve </a:t>
            </a:r>
            <a:r>
              <a:rPr lang="en-US" sz="1400">
                <a:solidFill>
                  <a:srgbClr val="000000"/>
                </a:solidFill>
                <a:latin typeface="Verdana"/>
                <a:ea typeface="Verdana"/>
                <a:cs typeface="Verdana"/>
                <a:sym typeface="Verdana"/>
              </a:rPr>
              <a:t> 5 seats on </a:t>
            </a:r>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express</a:t>
            </a:r>
            <a:endParaRPr b="1" sz="1400">
              <a:solidFill>
                <a:srgbClr val="000000"/>
              </a:solidFill>
              <a:latin typeface="Verdana"/>
              <a:ea typeface="Verdana"/>
              <a:cs typeface="Verdana"/>
              <a:sym typeface="Verdana"/>
            </a:endParaRPr>
          </a:p>
        </p:txBody>
      </p:sp>
      <p:sp>
        <p:nvSpPr>
          <p:cNvPr descr="TextBox 16" id="2649" name="Google Shape;2649;p191"/>
          <p:cNvSpPr txBox="1"/>
          <p:nvPr/>
        </p:nvSpPr>
        <p:spPr>
          <a:xfrm>
            <a:off x="5075238" y="4291013"/>
            <a:ext cx="3430587" cy="533400"/>
          </a:xfrm>
          <a:prstGeom prst="rect">
            <a:avLst/>
          </a:prstGeom>
          <a:noFill/>
          <a:ln cap="flat" cmpd="sng" w="9525">
            <a:solidFill>
              <a:srgbClr val="CC00CC"/>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User2: Wants to </a:t>
            </a:r>
            <a:r>
              <a:rPr b="1" lang="en-US" sz="1400">
                <a:solidFill>
                  <a:srgbClr val="000000"/>
                </a:solidFill>
                <a:latin typeface="Verdana"/>
                <a:ea typeface="Verdana"/>
                <a:cs typeface="Verdana"/>
                <a:sym typeface="Verdana"/>
              </a:rPr>
              <a:t>reserve</a:t>
            </a:r>
            <a:r>
              <a:rPr lang="en-US" sz="1400">
                <a:solidFill>
                  <a:srgbClr val="000000"/>
                </a:solidFill>
                <a:latin typeface="Verdana"/>
                <a:ea typeface="Verdana"/>
                <a:cs typeface="Verdana"/>
                <a:sym typeface="Verdana"/>
              </a:rPr>
              <a:t> 4 seats on </a:t>
            </a:r>
            <a:endParaRPr/>
          </a:p>
          <a:p>
            <a:pPr indent="0" lvl="0" marL="0" marR="0" rtl="0" algn="l">
              <a:spcBef>
                <a:spcPts val="0"/>
              </a:spcBef>
              <a:spcAft>
                <a:spcPts val="0"/>
              </a:spcAft>
              <a:buNone/>
            </a:pPr>
            <a:r>
              <a:rPr b="1" lang="en-US" sz="1400">
                <a:solidFill>
                  <a:srgbClr val="000000"/>
                </a:solidFill>
                <a:latin typeface="Verdana"/>
                <a:ea typeface="Verdana"/>
                <a:cs typeface="Verdana"/>
                <a:sym typeface="Verdana"/>
              </a:rPr>
              <a:t>Tippu</a:t>
            </a:r>
            <a:r>
              <a:rPr lang="en-US" sz="1400">
                <a:solidFill>
                  <a:srgbClr val="000000"/>
                </a:solidFill>
                <a:latin typeface="Verdana"/>
                <a:ea typeface="Verdana"/>
                <a:cs typeface="Verdana"/>
                <a:sym typeface="Verdana"/>
              </a:rPr>
              <a:t> express</a:t>
            </a:r>
            <a:endParaRPr b="1" sz="1400">
              <a:solidFill>
                <a:srgbClr val="000000"/>
              </a:solidFill>
              <a:latin typeface="Verdana"/>
              <a:ea typeface="Verdana"/>
              <a:cs typeface="Verdana"/>
              <a:sym typeface="Verdana"/>
            </a:endParaRPr>
          </a:p>
        </p:txBody>
      </p:sp>
      <p:sp>
        <p:nvSpPr>
          <p:cNvPr descr="TextBox 18" id="2650" name="Google Shape;2650;p191"/>
          <p:cNvSpPr txBox="1"/>
          <p:nvPr/>
        </p:nvSpPr>
        <p:spPr>
          <a:xfrm>
            <a:off x="538163" y="5138738"/>
            <a:ext cx="2763837" cy="8239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Read(TippuSeats)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TippuSeats=TippuSeats-5</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Write(TippuSeats)</a:t>
            </a:r>
            <a:endParaRPr/>
          </a:p>
        </p:txBody>
      </p:sp>
      <p:sp>
        <p:nvSpPr>
          <p:cNvPr descr="TextBox 19" id="2651" name="Google Shape;2651;p191"/>
          <p:cNvSpPr txBox="1"/>
          <p:nvPr/>
        </p:nvSpPr>
        <p:spPr>
          <a:xfrm>
            <a:off x="1016000" y="4783138"/>
            <a:ext cx="16192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C3300"/>
                </a:solidFill>
                <a:latin typeface="Verdana"/>
                <a:ea typeface="Verdana"/>
                <a:cs typeface="Verdana"/>
                <a:sym typeface="Verdana"/>
              </a:rPr>
              <a:t>Transaction </a:t>
            </a:r>
            <a:r>
              <a:rPr b="1" lang="en-US" sz="1600">
                <a:solidFill>
                  <a:srgbClr val="CC3300"/>
                </a:solidFill>
                <a:latin typeface="Verdana"/>
                <a:ea typeface="Verdana"/>
                <a:cs typeface="Verdana"/>
                <a:sym typeface="Verdana"/>
              </a:rPr>
              <a:t>T1</a:t>
            </a:r>
            <a:endParaRPr sz="1600">
              <a:solidFill>
                <a:srgbClr val="CC3300"/>
              </a:solidFill>
              <a:latin typeface="Verdana"/>
              <a:ea typeface="Verdana"/>
              <a:cs typeface="Verdana"/>
              <a:sym typeface="Verdana"/>
            </a:endParaRPr>
          </a:p>
        </p:txBody>
      </p:sp>
      <p:sp>
        <p:nvSpPr>
          <p:cNvPr descr="TextBox 20" id="2652" name="Google Shape;2652;p191"/>
          <p:cNvSpPr txBox="1"/>
          <p:nvPr/>
        </p:nvSpPr>
        <p:spPr>
          <a:xfrm>
            <a:off x="5237163" y="5197475"/>
            <a:ext cx="2763837" cy="8255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Read(TippuSeats)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TippuSeats=TippuSeats-4</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Write(TippuSeats)</a:t>
            </a:r>
            <a:endParaRPr/>
          </a:p>
        </p:txBody>
      </p:sp>
      <p:sp>
        <p:nvSpPr>
          <p:cNvPr descr="TextBox 21" id="2653" name="Google Shape;2653;p191"/>
          <p:cNvSpPr txBox="1"/>
          <p:nvPr/>
        </p:nvSpPr>
        <p:spPr>
          <a:xfrm>
            <a:off x="5808663" y="4841875"/>
            <a:ext cx="16192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C3300"/>
                </a:solidFill>
                <a:latin typeface="Verdana"/>
                <a:ea typeface="Verdana"/>
                <a:cs typeface="Verdana"/>
                <a:sym typeface="Verdana"/>
              </a:rPr>
              <a:t>Transaction </a:t>
            </a:r>
            <a:r>
              <a:rPr b="1" lang="en-US" sz="1600">
                <a:solidFill>
                  <a:srgbClr val="CC3300"/>
                </a:solidFill>
                <a:latin typeface="Verdana"/>
                <a:ea typeface="Verdana"/>
                <a:cs typeface="Verdana"/>
                <a:sym typeface="Verdana"/>
              </a:rPr>
              <a:t>T2</a:t>
            </a:r>
            <a:endParaRPr sz="1600">
              <a:solidFill>
                <a:srgbClr val="CC3300"/>
              </a:solidFill>
              <a:latin typeface="Verdana"/>
              <a:ea typeface="Verdana"/>
              <a:cs typeface="Verdana"/>
              <a:sym typeface="Verdana"/>
            </a:endParaRPr>
          </a:p>
        </p:txBody>
      </p:sp>
      <p:pic>
        <p:nvPicPr>
          <p:cNvPr descr="Picture 1" id="2654" name="Google Shape;2654;p191"/>
          <p:cNvPicPr preferRelativeResize="0"/>
          <p:nvPr/>
        </p:nvPicPr>
        <p:blipFill rotWithShape="1">
          <a:blip r:embed="rId5">
            <a:alphaModFix/>
          </a:blip>
          <a:srcRect b="0" l="0" r="0" t="0"/>
          <a:stretch/>
        </p:blipFill>
        <p:spPr>
          <a:xfrm>
            <a:off x="855663" y="1352550"/>
            <a:ext cx="7412037" cy="1685925"/>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descr="Title 1" id="2659" name="Google Shape;2659;p19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660" name="Google Shape;2660;p19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61" name="Google Shape;2661;p19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662" name="Google Shape;2662;p192"/>
          <p:cNvGraphicFramePr/>
          <p:nvPr/>
        </p:nvGraphicFramePr>
        <p:xfrm>
          <a:off x="930275" y="1916113"/>
          <a:ext cx="3000000" cy="3000000"/>
        </p:xfrm>
        <a:graphic>
          <a:graphicData uri="http://schemas.openxmlformats.org/drawingml/2006/table">
            <a:tbl>
              <a:tblPr>
                <a:noFill/>
                <a:tableStyleId>{DA31C186-C125-4E34-A739-053F885C22C1}</a:tableStyleId>
              </a:tblPr>
              <a:tblGrid>
                <a:gridCol w="1043000"/>
                <a:gridCol w="2851150"/>
                <a:gridCol w="3060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2663" name="Google Shape;2663;p192"/>
          <p:cNvSpPr txBox="1"/>
          <p:nvPr/>
        </p:nvSpPr>
        <p:spPr>
          <a:xfrm>
            <a:off x="512763" y="1268413"/>
            <a:ext cx="7089775" cy="573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Case 1: When the </a:t>
            </a:r>
            <a:r>
              <a:rPr b="1" lang="en-US" sz="1600">
                <a:solidFill>
                  <a:srgbClr val="000000"/>
                </a:solidFill>
                <a:latin typeface="Verdana"/>
                <a:ea typeface="Verdana"/>
                <a:cs typeface="Verdana"/>
                <a:sym typeface="Verdana"/>
              </a:rPr>
              <a:t>User1 </a:t>
            </a:r>
            <a:r>
              <a:rPr lang="en-US" sz="1600">
                <a:solidFill>
                  <a:srgbClr val="000000"/>
                </a:solidFill>
                <a:latin typeface="Verdana"/>
                <a:ea typeface="Verdana"/>
                <a:cs typeface="Verdana"/>
                <a:sym typeface="Verdana"/>
              </a:rPr>
              <a:t>Logins at </a:t>
            </a:r>
            <a:r>
              <a:rPr b="1" lang="en-US" sz="1600">
                <a:solidFill>
                  <a:srgbClr val="000000"/>
                </a:solidFill>
                <a:latin typeface="Verdana"/>
                <a:ea typeface="Verdana"/>
                <a:cs typeface="Verdana"/>
                <a:sym typeface="Verdana"/>
              </a:rPr>
              <a:t>4:00pm</a:t>
            </a:r>
            <a:r>
              <a:rPr lang="en-US" sz="1600">
                <a:solidFill>
                  <a:srgbClr val="000000"/>
                </a:solidFill>
                <a:latin typeface="Verdana"/>
                <a:ea typeface="Verdana"/>
                <a:cs typeface="Verdana"/>
                <a:sym typeface="Verdana"/>
              </a:rPr>
              <a:t> to booking system and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User 2</a:t>
            </a:r>
            <a:r>
              <a:rPr lang="en-US" sz="1600">
                <a:solidFill>
                  <a:srgbClr val="000000"/>
                </a:solidFill>
                <a:latin typeface="Verdana"/>
                <a:ea typeface="Verdana"/>
                <a:cs typeface="Verdana"/>
                <a:sym typeface="Verdana"/>
              </a:rPr>
              <a:t> Logins at </a:t>
            </a:r>
            <a:r>
              <a:rPr b="1" lang="en-US" sz="1600">
                <a:solidFill>
                  <a:srgbClr val="000000"/>
                </a:solidFill>
                <a:latin typeface="Verdana"/>
                <a:ea typeface="Verdana"/>
                <a:cs typeface="Verdana"/>
                <a:sym typeface="Verdana"/>
              </a:rPr>
              <a:t>4:03pm</a:t>
            </a:r>
            <a:r>
              <a:rPr lang="en-US" sz="1600">
                <a:solidFill>
                  <a:srgbClr val="000000"/>
                </a:solidFill>
                <a:latin typeface="Verdana"/>
                <a:ea typeface="Verdana"/>
                <a:cs typeface="Verdana"/>
                <a:sym typeface="Verdana"/>
              </a:rPr>
              <a:t> to booking system</a:t>
            </a:r>
            <a:endParaRPr b="1" sz="1600">
              <a:solidFill>
                <a:srgbClr val="000000"/>
              </a:solidFill>
              <a:latin typeface="Verdana"/>
              <a:ea typeface="Verdana"/>
              <a:cs typeface="Verdana"/>
              <a:sym typeface="Verdana"/>
            </a:endParaRPr>
          </a:p>
        </p:txBody>
      </p:sp>
      <p:sp>
        <p:nvSpPr>
          <p:cNvPr descr="Flowchart: Magnetic Disk 24" id="2664" name="Google Shape;2664;p192"/>
          <p:cNvSpPr/>
          <p:nvPr/>
        </p:nvSpPr>
        <p:spPr>
          <a:xfrm>
            <a:off x="1403350" y="4724400"/>
            <a:ext cx="2232025"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665" name="Google Shape;2665;p192"/>
          <p:cNvSpPr txBox="1"/>
          <p:nvPr/>
        </p:nvSpPr>
        <p:spPr>
          <a:xfrm>
            <a:off x="1841500" y="5227638"/>
            <a:ext cx="1455738"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a:t>
            </a:r>
            <a:endParaRPr/>
          </a:p>
        </p:txBody>
      </p:sp>
      <p:sp>
        <p:nvSpPr>
          <p:cNvPr descr="TextBox 26" id="2666" name="Google Shape;2666;p192"/>
          <p:cNvSpPr txBox="1"/>
          <p:nvPr/>
        </p:nvSpPr>
        <p:spPr>
          <a:xfrm>
            <a:off x="1782763" y="6019800"/>
            <a:ext cx="14668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Initial Value</a:t>
            </a:r>
            <a:endParaRPr/>
          </a:p>
        </p:txBody>
      </p:sp>
      <p:sp>
        <p:nvSpPr>
          <p:cNvPr descr="Flowchart: Magnetic Disk 27" id="2667" name="Google Shape;2667;p192"/>
          <p:cNvSpPr/>
          <p:nvPr/>
        </p:nvSpPr>
        <p:spPr>
          <a:xfrm>
            <a:off x="5435600" y="4714875"/>
            <a:ext cx="2232025"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8" id="2668" name="Google Shape;2668;p192"/>
          <p:cNvSpPr txBox="1"/>
          <p:nvPr/>
        </p:nvSpPr>
        <p:spPr>
          <a:xfrm>
            <a:off x="5873750" y="5219700"/>
            <a:ext cx="1455738"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80 71</a:t>
            </a:r>
            <a:endParaRPr/>
          </a:p>
        </p:txBody>
      </p:sp>
      <p:sp>
        <p:nvSpPr>
          <p:cNvPr descr="TextBox 29" id="2669" name="Google Shape;2669;p192"/>
          <p:cNvSpPr txBox="1"/>
          <p:nvPr/>
        </p:nvSpPr>
        <p:spPr>
          <a:xfrm>
            <a:off x="5910263" y="6011863"/>
            <a:ext cx="134937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Final Value</a:t>
            </a:r>
            <a:endParaRPr/>
          </a:p>
        </p:txBody>
      </p:sp>
      <p:sp>
        <p:nvSpPr>
          <p:cNvPr descr="TextBox 30" id="2670" name="Google Shape;2670;p192"/>
          <p:cNvSpPr txBox="1"/>
          <p:nvPr/>
        </p:nvSpPr>
        <p:spPr>
          <a:xfrm>
            <a:off x="179388" y="5219700"/>
            <a:ext cx="117951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4" name="Shape 2674"/>
        <p:cNvGrpSpPr/>
        <p:nvPr/>
      </p:nvGrpSpPr>
      <p:grpSpPr>
        <a:xfrm>
          <a:off x="0" y="0"/>
          <a:ext cx="0" cy="0"/>
          <a:chOff x="0" y="0"/>
          <a:chExt cx="0" cy="0"/>
        </a:xfrm>
      </p:grpSpPr>
      <p:sp>
        <p:nvSpPr>
          <p:cNvPr descr="Title 1" id="2675" name="Google Shape;2675;p19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676" name="Google Shape;2676;p19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77" name="Google Shape;2677;p19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678" name="Google Shape;2678;p193"/>
          <p:cNvGraphicFramePr/>
          <p:nvPr/>
        </p:nvGraphicFramePr>
        <p:xfrm>
          <a:off x="930275" y="1916113"/>
          <a:ext cx="3000000" cy="3000000"/>
        </p:xfrm>
        <a:graphic>
          <a:graphicData uri="http://schemas.openxmlformats.org/drawingml/2006/table">
            <a:tbl>
              <a:tblPr>
                <a:noFill/>
                <a:tableStyleId>{DA31C186-C125-4E34-A739-053F885C22C1}</a:tableStyleId>
              </a:tblPr>
              <a:tblGrid>
                <a:gridCol w="1043000"/>
                <a:gridCol w="2851150"/>
                <a:gridCol w="3060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2679" name="Google Shape;2679;p193"/>
          <p:cNvSpPr txBox="1"/>
          <p:nvPr/>
        </p:nvSpPr>
        <p:spPr>
          <a:xfrm>
            <a:off x="512763" y="1268413"/>
            <a:ext cx="7091362" cy="573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Case 2: When the </a:t>
            </a:r>
            <a:r>
              <a:rPr b="1" lang="en-US" sz="1600">
                <a:solidFill>
                  <a:srgbClr val="000000"/>
                </a:solidFill>
                <a:latin typeface="Verdana"/>
                <a:ea typeface="Verdana"/>
                <a:cs typeface="Verdana"/>
                <a:sym typeface="Verdana"/>
              </a:rPr>
              <a:t>User1</a:t>
            </a:r>
            <a:r>
              <a:rPr lang="en-US" sz="1600">
                <a:solidFill>
                  <a:srgbClr val="000000"/>
                </a:solidFill>
                <a:latin typeface="Verdana"/>
                <a:ea typeface="Verdana"/>
                <a:cs typeface="Verdana"/>
                <a:sym typeface="Verdana"/>
              </a:rPr>
              <a:t> Logins at </a:t>
            </a:r>
            <a:r>
              <a:rPr b="1" lang="en-US" sz="1600">
                <a:solidFill>
                  <a:srgbClr val="000000"/>
                </a:solidFill>
                <a:latin typeface="Verdana"/>
                <a:ea typeface="Verdana"/>
                <a:cs typeface="Verdana"/>
                <a:sym typeface="Verdana"/>
              </a:rPr>
              <a:t>4:03pm</a:t>
            </a:r>
            <a:r>
              <a:rPr lang="en-US" sz="1600">
                <a:solidFill>
                  <a:srgbClr val="000000"/>
                </a:solidFill>
                <a:latin typeface="Verdana"/>
                <a:ea typeface="Verdana"/>
                <a:cs typeface="Verdana"/>
                <a:sym typeface="Verdana"/>
              </a:rPr>
              <a:t> to booking system and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User 2</a:t>
            </a:r>
            <a:r>
              <a:rPr lang="en-US" sz="1600">
                <a:solidFill>
                  <a:srgbClr val="000000"/>
                </a:solidFill>
                <a:latin typeface="Verdana"/>
                <a:ea typeface="Verdana"/>
                <a:cs typeface="Verdana"/>
                <a:sym typeface="Verdana"/>
              </a:rPr>
              <a:t> Logins at </a:t>
            </a:r>
            <a:r>
              <a:rPr b="1" lang="en-US" sz="1600">
                <a:solidFill>
                  <a:srgbClr val="000000"/>
                </a:solidFill>
                <a:latin typeface="Verdana"/>
                <a:ea typeface="Verdana"/>
                <a:cs typeface="Verdana"/>
                <a:sym typeface="Verdana"/>
              </a:rPr>
              <a:t>4:00pm</a:t>
            </a:r>
            <a:r>
              <a:rPr lang="en-US" sz="1600">
                <a:solidFill>
                  <a:srgbClr val="000000"/>
                </a:solidFill>
                <a:latin typeface="Verdana"/>
                <a:ea typeface="Verdana"/>
                <a:cs typeface="Verdana"/>
                <a:sym typeface="Verdana"/>
              </a:rPr>
              <a:t> to booking system</a:t>
            </a:r>
            <a:endParaRPr b="1" sz="1600">
              <a:solidFill>
                <a:srgbClr val="000000"/>
              </a:solidFill>
              <a:latin typeface="Verdana"/>
              <a:ea typeface="Verdana"/>
              <a:cs typeface="Verdana"/>
              <a:sym typeface="Verdana"/>
            </a:endParaRPr>
          </a:p>
        </p:txBody>
      </p:sp>
      <p:sp>
        <p:nvSpPr>
          <p:cNvPr descr="Flowchart: Magnetic Disk 24" id="2680" name="Google Shape;2680;p193"/>
          <p:cNvSpPr/>
          <p:nvPr/>
        </p:nvSpPr>
        <p:spPr>
          <a:xfrm>
            <a:off x="1403350" y="4724400"/>
            <a:ext cx="2232025"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681" name="Google Shape;2681;p193"/>
          <p:cNvSpPr txBox="1"/>
          <p:nvPr/>
        </p:nvSpPr>
        <p:spPr>
          <a:xfrm>
            <a:off x="1841500" y="5227638"/>
            <a:ext cx="1455738"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a:t>
            </a:r>
            <a:endParaRPr/>
          </a:p>
        </p:txBody>
      </p:sp>
      <p:sp>
        <p:nvSpPr>
          <p:cNvPr descr="TextBox 26" id="2682" name="Google Shape;2682;p193"/>
          <p:cNvSpPr txBox="1"/>
          <p:nvPr/>
        </p:nvSpPr>
        <p:spPr>
          <a:xfrm>
            <a:off x="1782763" y="6019800"/>
            <a:ext cx="14668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Initial Value</a:t>
            </a:r>
            <a:endParaRPr/>
          </a:p>
        </p:txBody>
      </p:sp>
      <p:sp>
        <p:nvSpPr>
          <p:cNvPr descr="Flowchart: Magnetic Disk 27" id="2683" name="Google Shape;2683;p193"/>
          <p:cNvSpPr/>
          <p:nvPr/>
        </p:nvSpPr>
        <p:spPr>
          <a:xfrm>
            <a:off x="5435600" y="4714875"/>
            <a:ext cx="2232025"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8" id="2684" name="Google Shape;2684;p193"/>
          <p:cNvSpPr txBox="1"/>
          <p:nvPr/>
        </p:nvSpPr>
        <p:spPr>
          <a:xfrm>
            <a:off x="5873750" y="5219700"/>
            <a:ext cx="1455738"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80 71</a:t>
            </a:r>
            <a:endParaRPr/>
          </a:p>
        </p:txBody>
      </p:sp>
      <p:sp>
        <p:nvSpPr>
          <p:cNvPr descr="TextBox 29" id="2685" name="Google Shape;2685;p193"/>
          <p:cNvSpPr txBox="1"/>
          <p:nvPr/>
        </p:nvSpPr>
        <p:spPr>
          <a:xfrm>
            <a:off x="5910263" y="6011863"/>
            <a:ext cx="134937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Final Value</a:t>
            </a:r>
            <a:endParaRPr/>
          </a:p>
        </p:txBody>
      </p:sp>
      <p:sp>
        <p:nvSpPr>
          <p:cNvPr descr="TextBox 6" id="2686" name="Google Shape;2686;p193"/>
          <p:cNvSpPr txBox="1"/>
          <p:nvPr/>
        </p:nvSpPr>
        <p:spPr>
          <a:xfrm>
            <a:off x="179388" y="5219700"/>
            <a:ext cx="117951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0" name="Shape 2690"/>
        <p:cNvGrpSpPr/>
        <p:nvPr/>
      </p:nvGrpSpPr>
      <p:grpSpPr>
        <a:xfrm>
          <a:off x="0" y="0"/>
          <a:ext cx="0" cy="0"/>
          <a:chOff x="0" y="0"/>
          <a:chExt cx="0" cy="0"/>
        </a:xfrm>
      </p:grpSpPr>
      <p:sp>
        <p:nvSpPr>
          <p:cNvPr descr="Title 1" id="2691" name="Google Shape;2691;p19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692" name="Google Shape;2692;p19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693" name="Google Shape;2693;p19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694" name="Google Shape;2694;p194"/>
          <p:cNvGraphicFramePr/>
          <p:nvPr/>
        </p:nvGraphicFramePr>
        <p:xfrm>
          <a:off x="930275" y="1916113"/>
          <a:ext cx="3000000" cy="3000000"/>
        </p:xfrm>
        <a:graphic>
          <a:graphicData uri="http://schemas.openxmlformats.org/drawingml/2006/table">
            <a:tbl>
              <a:tblPr>
                <a:noFill/>
                <a:tableStyleId>{DA31C186-C125-4E34-A739-053F885C22C1}</a:tableStyleId>
              </a:tblPr>
              <a:tblGrid>
                <a:gridCol w="1043000"/>
                <a:gridCol w="2851150"/>
                <a:gridCol w="3060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22" id="2695" name="Google Shape;2695;p194"/>
          <p:cNvSpPr txBox="1"/>
          <p:nvPr/>
        </p:nvSpPr>
        <p:spPr>
          <a:xfrm>
            <a:off x="512763" y="1268413"/>
            <a:ext cx="7058025" cy="573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Case 3: When the </a:t>
            </a:r>
            <a:r>
              <a:rPr b="1" lang="en-US" sz="1600">
                <a:solidFill>
                  <a:srgbClr val="000000"/>
                </a:solidFill>
                <a:latin typeface="Verdana"/>
                <a:ea typeface="Verdana"/>
                <a:cs typeface="Verdana"/>
                <a:sym typeface="Verdana"/>
              </a:rPr>
              <a:t>User1</a:t>
            </a:r>
            <a:r>
              <a:rPr lang="en-US" sz="1600">
                <a:solidFill>
                  <a:srgbClr val="000000"/>
                </a:solidFill>
                <a:latin typeface="Verdana"/>
                <a:ea typeface="Verdana"/>
                <a:cs typeface="Verdana"/>
                <a:sym typeface="Verdana"/>
              </a:rPr>
              <a:t> Logins at </a:t>
            </a:r>
            <a:r>
              <a:rPr b="1" lang="en-US" sz="1600">
                <a:solidFill>
                  <a:srgbClr val="000000"/>
                </a:solidFill>
                <a:latin typeface="Verdana"/>
                <a:ea typeface="Verdana"/>
                <a:cs typeface="Verdana"/>
                <a:sym typeface="Verdana"/>
              </a:rPr>
              <a:t>4:00</a:t>
            </a:r>
            <a:r>
              <a:rPr lang="en-US" sz="1600">
                <a:solidFill>
                  <a:srgbClr val="000000"/>
                </a:solidFill>
                <a:latin typeface="Verdana"/>
                <a:ea typeface="Verdana"/>
                <a:cs typeface="Verdana"/>
                <a:sym typeface="Verdana"/>
              </a:rPr>
              <a:t>pm to booking system and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User 2</a:t>
            </a:r>
            <a:r>
              <a:rPr lang="en-US" sz="1600">
                <a:solidFill>
                  <a:srgbClr val="000000"/>
                </a:solidFill>
                <a:latin typeface="Verdana"/>
                <a:ea typeface="Verdana"/>
                <a:cs typeface="Verdana"/>
                <a:sym typeface="Verdana"/>
              </a:rPr>
              <a:t> Logins at </a:t>
            </a:r>
            <a:r>
              <a:rPr b="1" lang="en-US" sz="1600">
                <a:solidFill>
                  <a:srgbClr val="000000"/>
                </a:solidFill>
                <a:latin typeface="Verdana"/>
                <a:ea typeface="Verdana"/>
                <a:cs typeface="Verdana"/>
                <a:sym typeface="Verdana"/>
              </a:rPr>
              <a:t>4:01</a:t>
            </a:r>
            <a:r>
              <a:rPr lang="en-US" sz="1600">
                <a:solidFill>
                  <a:srgbClr val="000000"/>
                </a:solidFill>
                <a:latin typeface="Verdana"/>
                <a:ea typeface="Verdana"/>
                <a:cs typeface="Verdana"/>
                <a:sym typeface="Verdana"/>
              </a:rPr>
              <a:t>pm to booking system</a:t>
            </a:r>
            <a:endParaRPr b="1" sz="1600">
              <a:solidFill>
                <a:srgbClr val="000000"/>
              </a:solidFill>
              <a:latin typeface="Verdana"/>
              <a:ea typeface="Verdana"/>
              <a:cs typeface="Verdana"/>
              <a:sym typeface="Verdana"/>
            </a:endParaRPr>
          </a:p>
        </p:txBody>
      </p:sp>
      <p:sp>
        <p:nvSpPr>
          <p:cNvPr descr="Flowchart: Magnetic Disk 24" id="2696" name="Google Shape;2696;p194"/>
          <p:cNvSpPr/>
          <p:nvPr/>
        </p:nvSpPr>
        <p:spPr>
          <a:xfrm>
            <a:off x="1403350" y="4724400"/>
            <a:ext cx="2232025"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697" name="Google Shape;2697;p194"/>
          <p:cNvSpPr txBox="1"/>
          <p:nvPr/>
        </p:nvSpPr>
        <p:spPr>
          <a:xfrm>
            <a:off x="1841500" y="5227638"/>
            <a:ext cx="1455738"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a:t>
            </a:r>
            <a:endParaRPr/>
          </a:p>
        </p:txBody>
      </p:sp>
      <p:sp>
        <p:nvSpPr>
          <p:cNvPr descr="TextBox 26" id="2698" name="Google Shape;2698;p194"/>
          <p:cNvSpPr txBox="1"/>
          <p:nvPr/>
        </p:nvSpPr>
        <p:spPr>
          <a:xfrm>
            <a:off x="1782763" y="6019800"/>
            <a:ext cx="14668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Initial Value</a:t>
            </a:r>
            <a:endParaRPr/>
          </a:p>
        </p:txBody>
      </p:sp>
      <p:sp>
        <p:nvSpPr>
          <p:cNvPr descr="TextBox 6" id="2699" name="Google Shape;2699;p194"/>
          <p:cNvSpPr txBox="1"/>
          <p:nvPr/>
        </p:nvSpPr>
        <p:spPr>
          <a:xfrm>
            <a:off x="179388" y="5219700"/>
            <a:ext cx="1179512"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8" id="2700" name="Google Shape;2700;p194"/>
          <p:cNvSpPr txBox="1"/>
          <p:nvPr/>
        </p:nvSpPr>
        <p:spPr>
          <a:xfrm>
            <a:off x="4545013" y="4868863"/>
            <a:ext cx="4157662" cy="1208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What will be the final value Of TippuSeats when above  Transactions are executed ?</a:t>
            </a:r>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sp>
        <p:nvSpPr>
          <p:cNvPr descr="Title 1" id="2705" name="Google Shape;2705;p19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706" name="Google Shape;2706;p19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07" name="Google Shape;2707;p19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22" id="2708" name="Google Shape;2708;p195"/>
          <p:cNvSpPr txBox="1"/>
          <p:nvPr/>
        </p:nvSpPr>
        <p:spPr>
          <a:xfrm>
            <a:off x="512763" y="1141413"/>
            <a:ext cx="6948487"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Case 3: When the User1 Logins at 4:00pm to booking system and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User 2 Logins at 4:01pm to booking system</a:t>
            </a:r>
            <a:endParaRPr/>
          </a:p>
        </p:txBody>
      </p:sp>
      <p:sp>
        <p:nvSpPr>
          <p:cNvPr descr="Flowchart: Magnetic Disk 24" id="2709" name="Google Shape;2709;p195"/>
          <p:cNvSpPr/>
          <p:nvPr/>
        </p:nvSpPr>
        <p:spPr>
          <a:xfrm>
            <a:off x="1231900" y="4013200"/>
            <a:ext cx="2233613"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10" name="Google Shape;2710;p195"/>
          <p:cNvSpPr txBox="1"/>
          <p:nvPr/>
        </p:nvSpPr>
        <p:spPr>
          <a:xfrm>
            <a:off x="1670050" y="4518025"/>
            <a:ext cx="14573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a:t>
            </a:r>
            <a:endParaRPr/>
          </a:p>
        </p:txBody>
      </p:sp>
      <p:sp>
        <p:nvSpPr>
          <p:cNvPr descr="TextBox 26" id="2711" name="Google Shape;2711;p195"/>
          <p:cNvSpPr txBox="1"/>
          <p:nvPr/>
        </p:nvSpPr>
        <p:spPr>
          <a:xfrm>
            <a:off x="1612900" y="5310188"/>
            <a:ext cx="14668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Initial Value</a:t>
            </a:r>
            <a:endParaRPr/>
          </a:p>
        </p:txBody>
      </p:sp>
      <p:sp>
        <p:nvSpPr>
          <p:cNvPr descr="Flowchart: Magnetic Disk 27" id="2712" name="Google Shape;2712;p195"/>
          <p:cNvSpPr/>
          <p:nvPr/>
        </p:nvSpPr>
        <p:spPr>
          <a:xfrm>
            <a:off x="4040188" y="4003675"/>
            <a:ext cx="2233612"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8" id="2713" name="Google Shape;2713;p195"/>
          <p:cNvSpPr txBox="1"/>
          <p:nvPr/>
        </p:nvSpPr>
        <p:spPr>
          <a:xfrm>
            <a:off x="4478338" y="4508500"/>
            <a:ext cx="14573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 </a:t>
            </a:r>
            <a:r>
              <a:rPr lang="en-US" sz="1800">
                <a:solidFill>
                  <a:srgbClr val="FF0000"/>
                </a:solidFill>
                <a:latin typeface="Verdana"/>
                <a:ea typeface="Verdana"/>
                <a:cs typeface="Verdana"/>
                <a:sym typeface="Verdana"/>
              </a:rPr>
              <a:t>76</a:t>
            </a:r>
            <a:endParaRPr sz="1800">
              <a:solidFill>
                <a:srgbClr val="0000FF"/>
              </a:solidFill>
              <a:latin typeface="Verdana"/>
              <a:ea typeface="Verdana"/>
              <a:cs typeface="Verdana"/>
              <a:sym typeface="Verdana"/>
            </a:endParaRPr>
          </a:p>
        </p:txBody>
      </p:sp>
      <p:sp>
        <p:nvSpPr>
          <p:cNvPr descr="TextBox 29" id="2714" name="Google Shape;2714;p195"/>
          <p:cNvSpPr txBox="1"/>
          <p:nvPr/>
        </p:nvSpPr>
        <p:spPr>
          <a:xfrm>
            <a:off x="4516438" y="5300663"/>
            <a:ext cx="134937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Final Value</a:t>
            </a:r>
            <a:endParaRPr/>
          </a:p>
        </p:txBody>
      </p:sp>
      <p:sp>
        <p:nvSpPr>
          <p:cNvPr descr="TextBox 6" id="2715" name="Google Shape;2715;p195"/>
          <p:cNvSpPr txBox="1"/>
          <p:nvPr/>
        </p:nvSpPr>
        <p:spPr>
          <a:xfrm>
            <a:off x="7938" y="4508500"/>
            <a:ext cx="11811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7" id="2716" name="Google Shape;2716;p195"/>
          <p:cNvSpPr txBox="1"/>
          <p:nvPr/>
        </p:nvSpPr>
        <p:spPr>
          <a:xfrm>
            <a:off x="6435725" y="4154488"/>
            <a:ext cx="2582863"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Database is in</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Inconsistent state</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WRONG value </a:t>
            </a:r>
            <a:r>
              <a:rPr b="1" lang="en-US" sz="1600">
                <a:solidFill>
                  <a:srgbClr val="FF0000"/>
                </a:solidFill>
                <a:latin typeface="Verdana"/>
                <a:ea typeface="Verdana"/>
                <a:cs typeface="Verdana"/>
                <a:sym typeface="Verdana"/>
              </a:rPr>
              <a:t>76</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Updated for Tippu Seats</a:t>
            </a:r>
            <a:endParaRPr/>
          </a:p>
        </p:txBody>
      </p:sp>
      <p:pic>
        <p:nvPicPr>
          <p:cNvPr descr="Picture 2" id="2717" name="Google Shape;2717;p195"/>
          <p:cNvPicPr preferRelativeResize="0"/>
          <p:nvPr/>
        </p:nvPicPr>
        <p:blipFill rotWithShape="1">
          <a:blip r:embed="rId3">
            <a:alphaModFix/>
          </a:blip>
          <a:srcRect b="0" l="0" r="0" t="0"/>
          <a:stretch/>
        </p:blipFill>
        <p:spPr>
          <a:xfrm>
            <a:off x="1090613" y="1822450"/>
            <a:ext cx="5568950" cy="2109788"/>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1" name="Shape 2721"/>
        <p:cNvGrpSpPr/>
        <p:nvPr/>
      </p:nvGrpSpPr>
      <p:grpSpPr>
        <a:xfrm>
          <a:off x="0" y="0"/>
          <a:ext cx="0" cy="0"/>
          <a:chOff x="0" y="0"/>
          <a:chExt cx="0" cy="0"/>
        </a:xfrm>
      </p:grpSpPr>
      <p:sp>
        <p:nvSpPr>
          <p:cNvPr descr="Title 1" id="2722" name="Google Shape;2722;p19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Date Placeholder 3" id="2723" name="Google Shape;2723;p19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24" name="Google Shape;2724;p19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22" id="2725" name="Google Shape;2725;p196"/>
          <p:cNvSpPr txBox="1"/>
          <p:nvPr/>
        </p:nvSpPr>
        <p:spPr>
          <a:xfrm>
            <a:off x="512763" y="1141413"/>
            <a:ext cx="6948487"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Case 3: When the User1 Logins at 4:00pm to booking system and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User 2 Logins at 4:01pm to booking system</a:t>
            </a:r>
            <a:endParaRPr/>
          </a:p>
        </p:txBody>
      </p:sp>
      <p:sp>
        <p:nvSpPr>
          <p:cNvPr descr="Flowchart: Magnetic Disk 24" id="2726" name="Google Shape;2726;p196"/>
          <p:cNvSpPr/>
          <p:nvPr/>
        </p:nvSpPr>
        <p:spPr>
          <a:xfrm>
            <a:off x="1231900" y="4013200"/>
            <a:ext cx="2233613"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27" name="Google Shape;2727;p196"/>
          <p:cNvSpPr txBox="1"/>
          <p:nvPr/>
        </p:nvSpPr>
        <p:spPr>
          <a:xfrm>
            <a:off x="1670050" y="4518025"/>
            <a:ext cx="14573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a:t>
            </a:r>
            <a:endParaRPr/>
          </a:p>
        </p:txBody>
      </p:sp>
      <p:sp>
        <p:nvSpPr>
          <p:cNvPr descr="TextBox 26" id="2728" name="Google Shape;2728;p196"/>
          <p:cNvSpPr txBox="1"/>
          <p:nvPr/>
        </p:nvSpPr>
        <p:spPr>
          <a:xfrm>
            <a:off x="1612900" y="5310188"/>
            <a:ext cx="146685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Initial Value</a:t>
            </a:r>
            <a:endParaRPr/>
          </a:p>
        </p:txBody>
      </p:sp>
      <p:sp>
        <p:nvSpPr>
          <p:cNvPr descr="Flowchart: Magnetic Disk 27" id="2729" name="Google Shape;2729;p196"/>
          <p:cNvSpPr/>
          <p:nvPr/>
        </p:nvSpPr>
        <p:spPr>
          <a:xfrm>
            <a:off x="4040188" y="4003675"/>
            <a:ext cx="2233612" cy="1296988"/>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8" id="2730" name="Google Shape;2730;p196"/>
          <p:cNvSpPr txBox="1"/>
          <p:nvPr/>
        </p:nvSpPr>
        <p:spPr>
          <a:xfrm>
            <a:off x="4478338" y="4508500"/>
            <a:ext cx="14573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     80 </a:t>
            </a:r>
            <a:r>
              <a:rPr lang="en-US" sz="1800">
                <a:solidFill>
                  <a:srgbClr val="FF0000"/>
                </a:solidFill>
                <a:latin typeface="Verdana"/>
                <a:ea typeface="Verdana"/>
                <a:cs typeface="Verdana"/>
                <a:sym typeface="Verdana"/>
              </a:rPr>
              <a:t>76</a:t>
            </a:r>
            <a:endParaRPr sz="1800">
              <a:solidFill>
                <a:srgbClr val="0000FF"/>
              </a:solidFill>
              <a:latin typeface="Verdana"/>
              <a:ea typeface="Verdana"/>
              <a:cs typeface="Verdana"/>
              <a:sym typeface="Verdana"/>
            </a:endParaRPr>
          </a:p>
        </p:txBody>
      </p:sp>
      <p:sp>
        <p:nvSpPr>
          <p:cNvPr descr="TextBox 29" id="2731" name="Google Shape;2731;p196"/>
          <p:cNvSpPr txBox="1"/>
          <p:nvPr/>
        </p:nvSpPr>
        <p:spPr>
          <a:xfrm>
            <a:off x="4516438" y="5300663"/>
            <a:ext cx="1349375"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Final Value</a:t>
            </a:r>
            <a:endParaRPr/>
          </a:p>
        </p:txBody>
      </p:sp>
      <p:sp>
        <p:nvSpPr>
          <p:cNvPr descr="TextBox 6" id="2732" name="Google Shape;2732;p196"/>
          <p:cNvSpPr txBox="1"/>
          <p:nvPr/>
        </p:nvSpPr>
        <p:spPr>
          <a:xfrm>
            <a:off x="7938" y="4508500"/>
            <a:ext cx="1181100"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7" id="2733" name="Google Shape;2733;p196"/>
          <p:cNvSpPr txBox="1"/>
          <p:nvPr/>
        </p:nvSpPr>
        <p:spPr>
          <a:xfrm>
            <a:off x="6318250" y="4154488"/>
            <a:ext cx="2503488"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Database is in</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Inconsistent state</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WRONG value </a:t>
            </a:r>
            <a:r>
              <a:rPr b="1" lang="en-US" sz="1600">
                <a:solidFill>
                  <a:srgbClr val="FF0000"/>
                </a:solidFill>
                <a:latin typeface="Verdana"/>
                <a:ea typeface="Verdana"/>
                <a:cs typeface="Verdana"/>
                <a:sym typeface="Verdana"/>
              </a:rPr>
              <a:t>76</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Updaed for Tippu Seats</a:t>
            </a:r>
            <a:endParaRPr/>
          </a:p>
        </p:txBody>
      </p:sp>
      <p:pic>
        <p:nvPicPr>
          <p:cNvPr descr="Picture 2" id="2734" name="Google Shape;2734;p196"/>
          <p:cNvPicPr preferRelativeResize="0"/>
          <p:nvPr/>
        </p:nvPicPr>
        <p:blipFill rotWithShape="1">
          <a:blip r:embed="rId3">
            <a:alphaModFix/>
          </a:blip>
          <a:srcRect b="0" l="0" r="0" t="0"/>
          <a:stretch/>
        </p:blipFill>
        <p:spPr>
          <a:xfrm>
            <a:off x="1090613" y="1822450"/>
            <a:ext cx="5568950" cy="2109788"/>
          </a:xfrm>
          <a:prstGeom prst="rect">
            <a:avLst/>
          </a:prstGeom>
          <a:noFill/>
          <a:ln>
            <a:noFill/>
          </a:ln>
        </p:spPr>
      </p:pic>
      <p:sp>
        <p:nvSpPr>
          <p:cNvPr descr="TextBox 8" id="2735" name="Google Shape;2735;p196"/>
          <p:cNvSpPr txBox="1"/>
          <p:nvPr/>
        </p:nvSpPr>
        <p:spPr>
          <a:xfrm>
            <a:off x="6308725" y="5284788"/>
            <a:ext cx="2673350"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To avoid this type of</a:t>
            </a:r>
            <a:endParaRPr/>
          </a:p>
          <a:p>
            <a:pPr indent="0" lvl="0" marL="0" marR="0" rtl="0" algn="l">
              <a:spcBef>
                <a:spcPts val="0"/>
              </a:spcBef>
              <a:spcAft>
                <a:spcPts val="0"/>
              </a:spcAft>
              <a:buNone/>
            </a:pPr>
            <a:r>
              <a:rPr b="1" lang="en-US" sz="1600">
                <a:solidFill>
                  <a:srgbClr val="006600"/>
                </a:solidFill>
                <a:latin typeface="Verdana"/>
                <a:ea typeface="Verdana"/>
                <a:cs typeface="Verdana"/>
                <a:sym typeface="Verdana"/>
              </a:rPr>
              <a:t>Problems Concurrency</a:t>
            </a:r>
            <a:endParaRPr/>
          </a:p>
          <a:p>
            <a:pPr indent="0" lvl="0" marL="0" marR="0" rtl="0" algn="l">
              <a:spcBef>
                <a:spcPts val="0"/>
              </a:spcBef>
              <a:spcAft>
                <a:spcPts val="0"/>
              </a:spcAft>
              <a:buNone/>
            </a:pPr>
            <a:r>
              <a:rPr b="1" lang="en-US" sz="1600">
                <a:solidFill>
                  <a:srgbClr val="006600"/>
                </a:solidFill>
                <a:latin typeface="Verdana"/>
                <a:ea typeface="Verdana"/>
                <a:cs typeface="Verdana"/>
                <a:sym typeface="Verdana"/>
              </a:rPr>
              <a:t>Control Protocols</a:t>
            </a:r>
            <a:endParaRPr/>
          </a:p>
          <a:p>
            <a:pPr indent="0" lvl="0" marL="0" marR="0" rtl="0" algn="l">
              <a:spcBef>
                <a:spcPts val="0"/>
              </a:spcBef>
              <a:spcAft>
                <a:spcPts val="0"/>
              </a:spcAft>
              <a:buNone/>
            </a:pPr>
            <a:r>
              <a:rPr b="1" lang="en-US" sz="1600">
                <a:solidFill>
                  <a:srgbClr val="006600"/>
                </a:solidFill>
                <a:latin typeface="Verdana"/>
                <a:ea typeface="Verdana"/>
                <a:cs typeface="Verdana"/>
                <a:sym typeface="Verdana"/>
              </a:rPr>
              <a:t>will be used</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9" name="Shape 2739"/>
        <p:cNvGrpSpPr/>
        <p:nvPr/>
      </p:nvGrpSpPr>
      <p:grpSpPr>
        <a:xfrm>
          <a:off x="0" y="0"/>
          <a:ext cx="0" cy="0"/>
          <a:chOff x="0" y="0"/>
          <a:chExt cx="0" cy="0"/>
        </a:xfrm>
      </p:grpSpPr>
      <p:sp>
        <p:nvSpPr>
          <p:cNvPr descr="Title 1" id="2740" name="Google Shape;2740;p19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Why we need Concurrency Control Protocols ?</a:t>
            </a:r>
            <a:endParaRPr/>
          </a:p>
        </p:txBody>
      </p:sp>
      <p:sp>
        <p:nvSpPr>
          <p:cNvPr descr="Content Placeholder 2" id="2741" name="Google Shape;2741;p19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just">
              <a:spcBef>
                <a:spcPts val="0"/>
              </a:spcBef>
              <a:spcAft>
                <a:spcPts val="0"/>
              </a:spcAft>
              <a:buSzPts val="2000"/>
              <a:buFont typeface="Verdana"/>
              <a:buChar char="□"/>
            </a:pPr>
            <a:r>
              <a:rPr lang="en-US" sz="2000"/>
              <a:t>When two or more users or transactions wants to access the </a:t>
            </a:r>
            <a:r>
              <a:rPr b="1" lang="en-US" sz="2000"/>
              <a:t>same data item </a:t>
            </a:r>
            <a:r>
              <a:rPr lang="en-US" sz="2000"/>
              <a:t>then concurrency control protocols should be followed to leave database to a consistent state after completion of executing transactions.</a:t>
            </a:r>
            <a:endParaRPr/>
          </a:p>
          <a:p>
            <a:pPr indent="-469900" lvl="0" marL="469900" rtl="0" algn="just">
              <a:spcBef>
                <a:spcPts val="400"/>
              </a:spcBef>
              <a:spcAft>
                <a:spcPts val="0"/>
              </a:spcAft>
              <a:buSzPts val="2000"/>
              <a:buFont typeface="Verdana"/>
              <a:buChar char="□"/>
            </a:pPr>
            <a:r>
              <a:rPr lang="en-US" sz="2000"/>
              <a:t> One type of Concurrency protocols are </a:t>
            </a:r>
            <a:r>
              <a:rPr b="1" lang="en-US" sz="2000"/>
              <a:t>LOCK based protocols</a:t>
            </a:r>
            <a:endParaRPr/>
          </a:p>
          <a:p>
            <a:pPr indent="-469900" lvl="0" marL="469900" rtl="0" algn="just">
              <a:spcBef>
                <a:spcPts val="400"/>
              </a:spcBef>
              <a:spcAft>
                <a:spcPts val="0"/>
              </a:spcAft>
              <a:buSzPts val="2000"/>
              <a:buFont typeface="Verdana"/>
              <a:buChar char="□"/>
            </a:pPr>
            <a:r>
              <a:rPr lang="en-US" sz="2000"/>
              <a:t>Under LOCK based protocol any transaction that needs to access the data item should first obtain the LOCK on the data item</a:t>
            </a:r>
            <a:endParaRPr/>
          </a:p>
        </p:txBody>
      </p:sp>
      <p:sp>
        <p:nvSpPr>
          <p:cNvPr descr="Date Placeholder 3" id="2742" name="Google Shape;2742;p19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43" name="Google Shape;2743;p19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descr="Title 1" id="2748" name="Google Shape;2748;p19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749" name="Google Shape;2749;p19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50" name="Google Shape;2750;p19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24" id="2751" name="Google Shape;2751;p198"/>
          <p:cNvSpPr/>
          <p:nvPr/>
        </p:nvSpPr>
        <p:spPr>
          <a:xfrm>
            <a:off x="1403350" y="4818063"/>
            <a:ext cx="2592388"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52" name="Google Shape;2752;p198"/>
          <p:cNvSpPr txBox="1"/>
          <p:nvPr/>
        </p:nvSpPr>
        <p:spPr>
          <a:xfrm>
            <a:off x="1619250" y="5321300"/>
            <a:ext cx="1316038"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a:t>
            </a:r>
            <a:endParaRPr/>
          </a:p>
        </p:txBody>
      </p:sp>
      <p:sp>
        <p:nvSpPr>
          <p:cNvPr descr="TextBox 26" id="2753" name="Google Shape;2753;p198"/>
          <p:cNvSpPr txBox="1"/>
          <p:nvPr/>
        </p:nvSpPr>
        <p:spPr>
          <a:xfrm>
            <a:off x="2032000" y="6088063"/>
            <a:ext cx="1314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Initial Value</a:t>
            </a:r>
            <a:endParaRPr/>
          </a:p>
        </p:txBody>
      </p:sp>
      <p:sp>
        <p:nvSpPr>
          <p:cNvPr descr="TextBox 6" id="2754" name="Google Shape;2754;p198"/>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755" name="Google Shape;2755;p198"/>
          <p:cNvSpPr txBox="1"/>
          <p:nvPr/>
        </p:nvSpPr>
        <p:spPr>
          <a:xfrm>
            <a:off x="3027363" y="5313363"/>
            <a:ext cx="719137"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endParaRPr/>
          </a:p>
        </p:txBody>
      </p:sp>
      <p:pic>
        <p:nvPicPr>
          <p:cNvPr descr="Picture 2" id="2756" name="Google Shape;2756;p198"/>
          <p:cNvPicPr preferRelativeResize="0"/>
          <p:nvPr/>
        </p:nvPicPr>
        <p:blipFill rotWithShape="1">
          <a:blip r:embed="rId3">
            <a:alphaModFix/>
          </a:blip>
          <a:srcRect b="0" l="0" r="0" t="0"/>
          <a:stretch/>
        </p:blipFill>
        <p:spPr>
          <a:xfrm>
            <a:off x="927100" y="2389188"/>
            <a:ext cx="5570538" cy="2111375"/>
          </a:xfrm>
          <a:prstGeom prst="rect">
            <a:avLst/>
          </a:prstGeom>
          <a:noFill/>
          <a:ln>
            <a:noFill/>
          </a:ln>
        </p:spPr>
      </p:pic>
      <p:sp>
        <p:nvSpPr>
          <p:cNvPr descr="TextBox 12" id="2757" name="Google Shape;2757;p198"/>
          <p:cNvSpPr txBox="1"/>
          <p:nvPr/>
        </p:nvSpPr>
        <p:spPr>
          <a:xfrm>
            <a:off x="544513" y="1141413"/>
            <a:ext cx="8069262"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For the following transactions schedule we will see by using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LOCK based protocol, how to obtain correct value i.e., leaving the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 system in a consistent state after execution of transactions</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1" name="Shape 2761"/>
        <p:cNvGrpSpPr/>
        <p:nvPr/>
      </p:nvGrpSpPr>
      <p:grpSpPr>
        <a:xfrm>
          <a:off x="0" y="0"/>
          <a:ext cx="0" cy="0"/>
          <a:chOff x="0" y="0"/>
          <a:chExt cx="0" cy="0"/>
        </a:xfrm>
      </p:grpSpPr>
      <p:sp>
        <p:nvSpPr>
          <p:cNvPr descr="Title 1" id="2762" name="Google Shape;2762;p19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763" name="Google Shape;2763;p19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64" name="Google Shape;2764;p19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765" name="Google Shape;2765;p199"/>
          <p:cNvGraphicFramePr/>
          <p:nvPr/>
        </p:nvGraphicFramePr>
        <p:xfrm>
          <a:off x="277813" y="1085850"/>
          <a:ext cx="3000000" cy="3000000"/>
        </p:xfrm>
        <a:graphic>
          <a:graphicData uri="http://schemas.openxmlformats.org/drawingml/2006/table">
            <a:tbl>
              <a:tblPr>
                <a:noFill/>
                <a:tableStyleId>{DA31C186-C125-4E34-A739-053F885C22C1}</a:tableStyleId>
              </a:tblPr>
              <a:tblGrid>
                <a:gridCol w="1008050"/>
                <a:gridCol w="3240100"/>
                <a:gridCol w="4176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lowchart: Magnetic Disk 24" id="2766" name="Google Shape;2766;p199"/>
          <p:cNvSpPr/>
          <p:nvPr/>
        </p:nvSpPr>
        <p:spPr>
          <a:xfrm>
            <a:off x="1403350" y="4818063"/>
            <a:ext cx="2592388"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67" name="Google Shape;2767;p199"/>
          <p:cNvSpPr txBox="1"/>
          <p:nvPr/>
        </p:nvSpPr>
        <p:spPr>
          <a:xfrm>
            <a:off x="1619250" y="5321300"/>
            <a:ext cx="1316038"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a:t>
            </a:r>
            <a:endParaRPr/>
          </a:p>
        </p:txBody>
      </p:sp>
      <p:sp>
        <p:nvSpPr>
          <p:cNvPr descr="TextBox 6" id="2768" name="Google Shape;2768;p199"/>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769" name="Google Shape;2769;p199"/>
          <p:cNvSpPr txBox="1"/>
          <p:nvPr/>
        </p:nvSpPr>
        <p:spPr>
          <a:xfrm>
            <a:off x="3027363" y="5313363"/>
            <a:ext cx="719137"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r>
              <a:rPr b="1" lang="en-US" sz="1600">
                <a:solidFill>
                  <a:srgbClr val="0000FF"/>
                </a:solidFill>
                <a:latin typeface="Verdana"/>
                <a:ea typeface="Verdana"/>
                <a:cs typeface="Verdana"/>
                <a:sym typeface="Verdana"/>
              </a:rPr>
              <a:t>1</a:t>
            </a:r>
            <a:endParaRPr sz="1600">
              <a:solidFill>
                <a:srgbClr val="0000FF"/>
              </a:solidFill>
              <a:latin typeface="Verdana"/>
              <a:ea typeface="Verdana"/>
              <a:cs typeface="Verdana"/>
              <a:sym typeface="Verdana"/>
            </a:endParaRPr>
          </a:p>
        </p:txBody>
      </p:sp>
      <p:sp>
        <p:nvSpPr>
          <p:cNvPr descr="TextBox 7" id="2770" name="Google Shape;2770;p199"/>
          <p:cNvSpPr txBox="1"/>
          <p:nvPr/>
        </p:nvSpPr>
        <p:spPr>
          <a:xfrm>
            <a:off x="4284663" y="5229225"/>
            <a:ext cx="4667250" cy="814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When Transaction T1 executes,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LOCK(TippuSeats), LOCK variable value of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TippuSeats will be changed from zero to one</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4" name="Shape 2774"/>
        <p:cNvGrpSpPr/>
        <p:nvPr/>
      </p:nvGrpSpPr>
      <p:grpSpPr>
        <a:xfrm>
          <a:off x="0" y="0"/>
          <a:ext cx="0" cy="0"/>
          <a:chOff x="0" y="0"/>
          <a:chExt cx="0" cy="0"/>
        </a:xfrm>
      </p:grpSpPr>
      <p:sp>
        <p:nvSpPr>
          <p:cNvPr descr="Title 1" id="2775" name="Google Shape;2775;p20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776" name="Google Shape;2776;p20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77" name="Google Shape;2777;p20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778" name="Google Shape;2778;p200"/>
          <p:cNvGraphicFramePr/>
          <p:nvPr/>
        </p:nvGraphicFramePr>
        <p:xfrm>
          <a:off x="277813" y="1085850"/>
          <a:ext cx="3000000" cy="3000000"/>
        </p:xfrm>
        <a:graphic>
          <a:graphicData uri="http://schemas.openxmlformats.org/drawingml/2006/table">
            <a:tbl>
              <a:tblPr>
                <a:noFill/>
                <a:tableStyleId>{DA31C186-C125-4E34-A739-053F885C22C1}</a:tableStyleId>
              </a:tblPr>
              <a:tblGrid>
                <a:gridCol w="1008050"/>
                <a:gridCol w="3240100"/>
                <a:gridCol w="4176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T2 will</a:t>
                      </a:r>
                      <a:r>
                        <a:rPr b="1" i="0" lang="en-US" sz="1600" u="none" cap="none" strike="noStrike">
                          <a:solidFill>
                            <a:srgbClr val="000000"/>
                          </a:solidFill>
                          <a:latin typeface="Verdana"/>
                          <a:ea typeface="Verdana"/>
                          <a:cs typeface="Verdana"/>
                          <a:sym typeface="Verdana"/>
                        </a:rPr>
                        <a:t> WAIT </a:t>
                      </a:r>
                      <a:r>
                        <a:rPr b="0" i="0" lang="en-US" sz="1600" u="none" cap="none" strike="noStrike">
                          <a:solidFill>
                            <a:srgbClr val="000000"/>
                          </a:solidFill>
                          <a:latin typeface="Verdana"/>
                          <a:ea typeface="Verdana"/>
                          <a:cs typeface="Verdana"/>
                          <a:sym typeface="Verdana"/>
                        </a:rPr>
                        <a:t>because it cannot obtain LOCK on data item 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lowchart: Magnetic Disk 24" id="2779" name="Google Shape;2779;p200"/>
          <p:cNvSpPr/>
          <p:nvPr/>
        </p:nvSpPr>
        <p:spPr>
          <a:xfrm>
            <a:off x="1403350" y="4818063"/>
            <a:ext cx="2592388"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80" name="Google Shape;2780;p200"/>
          <p:cNvSpPr txBox="1"/>
          <p:nvPr/>
        </p:nvSpPr>
        <p:spPr>
          <a:xfrm>
            <a:off x="1619250" y="5321300"/>
            <a:ext cx="1316038"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a:t>
            </a:r>
            <a:endParaRPr/>
          </a:p>
        </p:txBody>
      </p:sp>
      <p:sp>
        <p:nvSpPr>
          <p:cNvPr descr="TextBox 6" id="2781" name="Google Shape;2781;p200"/>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782" name="Google Shape;2782;p200"/>
          <p:cNvSpPr txBox="1"/>
          <p:nvPr/>
        </p:nvSpPr>
        <p:spPr>
          <a:xfrm>
            <a:off x="3027363" y="5313363"/>
            <a:ext cx="742950"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r>
              <a:rPr b="1" lang="en-US" sz="1600">
                <a:solidFill>
                  <a:srgbClr val="0000FF"/>
                </a:solidFill>
                <a:latin typeface="Verdana"/>
                <a:ea typeface="Verdana"/>
                <a:cs typeface="Verdana"/>
                <a:sym typeface="Verdana"/>
              </a:rPr>
              <a:t> 1</a:t>
            </a:r>
            <a:endParaRPr sz="1600">
              <a:solidFill>
                <a:srgbClr val="0000FF"/>
              </a:solidFill>
              <a:latin typeface="Verdana"/>
              <a:ea typeface="Verdana"/>
              <a:cs typeface="Verdana"/>
              <a:sym typeface="Verdana"/>
            </a:endParaRPr>
          </a:p>
        </p:txBody>
      </p:sp>
      <p:sp>
        <p:nvSpPr>
          <p:cNvPr descr="TextBox 7" id="2783" name="Google Shape;2783;p200"/>
          <p:cNvSpPr txBox="1"/>
          <p:nvPr/>
        </p:nvSpPr>
        <p:spPr>
          <a:xfrm>
            <a:off x="4329113" y="5189538"/>
            <a:ext cx="4462462"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When transaction T2 comes at 4:01pm,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Then T2 will check for LOCK variable value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Of TippuSeats it is </a:t>
            </a:r>
            <a:r>
              <a:rPr b="1" lang="en-US" sz="1600">
                <a:solidFill>
                  <a:srgbClr val="000000"/>
                </a:solidFill>
                <a:latin typeface="Verdana"/>
                <a:ea typeface="Verdana"/>
                <a:cs typeface="Verdana"/>
                <a:sym typeface="Verdana"/>
              </a:rPr>
              <a:t>ONE</a:t>
            </a:r>
            <a:r>
              <a:rPr lang="en-US" sz="1600">
                <a:solidFill>
                  <a:srgbClr val="000000"/>
                </a:solidFill>
                <a:latin typeface="Verdana"/>
                <a:ea typeface="Verdana"/>
                <a:cs typeface="Verdana"/>
                <a:sym typeface="Verdana"/>
              </a:rPr>
              <a:t> so T2 </a:t>
            </a:r>
            <a:r>
              <a:rPr b="1" lang="en-US" sz="1600">
                <a:solidFill>
                  <a:srgbClr val="000000"/>
                </a:solidFill>
                <a:latin typeface="Verdana"/>
                <a:ea typeface="Verdana"/>
                <a:cs typeface="Verdana"/>
                <a:sym typeface="Verdana"/>
              </a:rPr>
              <a:t>WAITS</a:t>
            </a:r>
            <a:endParaRPr sz="1600">
              <a:solidFill>
                <a:srgbClr val="000000"/>
              </a:solidFill>
              <a:latin typeface="Verdana"/>
              <a:ea typeface="Verdana"/>
              <a:cs typeface="Verdana"/>
              <a:sym typeface="Verdana"/>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7" name="Shape 2787"/>
        <p:cNvGrpSpPr/>
        <p:nvPr/>
      </p:nvGrpSpPr>
      <p:grpSpPr>
        <a:xfrm>
          <a:off x="0" y="0"/>
          <a:ext cx="0" cy="0"/>
          <a:chOff x="0" y="0"/>
          <a:chExt cx="0" cy="0"/>
        </a:xfrm>
      </p:grpSpPr>
      <p:sp>
        <p:nvSpPr>
          <p:cNvPr descr="Title 1" id="2788" name="Google Shape;2788;p20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789" name="Google Shape;2789;p20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790" name="Google Shape;2790;p20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791" name="Google Shape;2791;p201"/>
          <p:cNvGraphicFramePr/>
          <p:nvPr/>
        </p:nvGraphicFramePr>
        <p:xfrm>
          <a:off x="277813" y="1085850"/>
          <a:ext cx="3000000" cy="3000000"/>
        </p:xfrm>
        <a:graphic>
          <a:graphicData uri="http://schemas.openxmlformats.org/drawingml/2006/table">
            <a:tbl>
              <a:tblPr>
                <a:noFill/>
                <a:tableStyleId>{DA31C186-C125-4E34-A739-053F885C22C1}</a:tableStyleId>
              </a:tblPr>
              <a:tblGrid>
                <a:gridCol w="1008050"/>
                <a:gridCol w="3240100"/>
                <a:gridCol w="4176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T2 will</a:t>
                      </a:r>
                      <a:r>
                        <a:rPr b="1" i="0" lang="en-US" sz="1600" u="none" cap="none" strike="noStrike">
                          <a:solidFill>
                            <a:srgbClr val="000000"/>
                          </a:solidFill>
                          <a:latin typeface="Verdana"/>
                          <a:ea typeface="Verdana"/>
                          <a:cs typeface="Verdana"/>
                          <a:sym typeface="Verdana"/>
                        </a:rPr>
                        <a:t> WAIT </a:t>
                      </a:r>
                      <a:r>
                        <a:rPr b="0" i="0" lang="en-US" sz="1600" u="none" cap="none" strike="noStrike">
                          <a:solidFill>
                            <a:srgbClr val="000000"/>
                          </a:solidFill>
                          <a:latin typeface="Verdana"/>
                          <a:ea typeface="Verdana"/>
                          <a:cs typeface="Verdana"/>
                          <a:sym typeface="Verdana"/>
                        </a:rPr>
                        <a:t>because it cannot obtain LOCK on data item 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UNLOCK</a:t>
                      </a:r>
                      <a:r>
                        <a:rPr b="0" i="0" lang="en-US" sz="1600" u="none" cap="none" strike="noStrike">
                          <a:solidFill>
                            <a:srgbClr val="000000"/>
                          </a:solidFill>
                          <a:latin typeface="Verdana"/>
                          <a:ea typeface="Verdana"/>
                          <a:cs typeface="Verdana"/>
                          <a:sym typeface="Verdana"/>
                        </a:rPr>
                        <a:t>(TippuSeats)</a:t>
                      </a:r>
                      <a:endParaRPr b="1" i="0" sz="1600" u="none" cap="none" strike="noStrike">
                        <a:solidFill>
                          <a:srgbClr val="0066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WAIT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lowchart: Magnetic Disk 24" id="2792" name="Google Shape;2792;p201"/>
          <p:cNvSpPr/>
          <p:nvPr/>
        </p:nvSpPr>
        <p:spPr>
          <a:xfrm>
            <a:off x="1403350" y="4818063"/>
            <a:ext cx="2592388"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793" name="Google Shape;2793;p201"/>
          <p:cNvSpPr txBox="1"/>
          <p:nvPr/>
        </p:nvSpPr>
        <p:spPr>
          <a:xfrm>
            <a:off x="1619250" y="5321300"/>
            <a:ext cx="1316038"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80 75</a:t>
            </a:r>
            <a:endParaRPr/>
          </a:p>
        </p:txBody>
      </p:sp>
      <p:sp>
        <p:nvSpPr>
          <p:cNvPr descr="TextBox 6" id="2794" name="Google Shape;2794;p201"/>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795" name="Google Shape;2795;p201"/>
          <p:cNvSpPr txBox="1"/>
          <p:nvPr/>
        </p:nvSpPr>
        <p:spPr>
          <a:xfrm>
            <a:off x="3027363" y="5313363"/>
            <a:ext cx="742950"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r>
              <a:rPr b="1" lang="en-US" sz="1600">
                <a:solidFill>
                  <a:srgbClr val="0000FF"/>
                </a:solidFill>
                <a:latin typeface="Verdana"/>
                <a:ea typeface="Verdana"/>
                <a:cs typeface="Verdana"/>
                <a:sym typeface="Verdana"/>
              </a:rPr>
              <a:t> 1 0</a:t>
            </a:r>
            <a:endParaRPr sz="1600">
              <a:solidFill>
                <a:srgbClr val="0000FF"/>
              </a:solidFill>
              <a:latin typeface="Verdana"/>
              <a:ea typeface="Verdana"/>
              <a:cs typeface="Verdana"/>
              <a:sym typeface="Verdana"/>
            </a:endParaRPr>
          </a:p>
        </p:txBody>
      </p:sp>
      <p:sp>
        <p:nvSpPr>
          <p:cNvPr descr="TextBox 7" id="2796" name="Google Shape;2796;p201"/>
          <p:cNvSpPr txBox="1"/>
          <p:nvPr/>
        </p:nvSpPr>
        <p:spPr>
          <a:xfrm>
            <a:off x="4329113" y="5084763"/>
            <a:ext cx="4022725" cy="1055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When transaction T1 executes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UNLOCK(TippuSeats), LOCK value of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TippuSeats will be changed from ONE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to ZERO</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0" name="Shape 2800"/>
        <p:cNvGrpSpPr/>
        <p:nvPr/>
      </p:nvGrpSpPr>
      <p:grpSpPr>
        <a:xfrm>
          <a:off x="0" y="0"/>
          <a:ext cx="0" cy="0"/>
          <a:chOff x="0" y="0"/>
          <a:chExt cx="0" cy="0"/>
        </a:xfrm>
      </p:grpSpPr>
      <p:sp>
        <p:nvSpPr>
          <p:cNvPr descr="Title 1" id="2801" name="Google Shape;2801;p20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802" name="Google Shape;2802;p20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03" name="Google Shape;2803;p20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04" name="Google Shape;2804;p202"/>
          <p:cNvGraphicFramePr/>
          <p:nvPr/>
        </p:nvGraphicFramePr>
        <p:xfrm>
          <a:off x="277813" y="1085850"/>
          <a:ext cx="3000000" cy="3000000"/>
        </p:xfrm>
        <a:graphic>
          <a:graphicData uri="http://schemas.openxmlformats.org/drawingml/2006/table">
            <a:tbl>
              <a:tblPr>
                <a:noFill/>
                <a:tableStyleId>{DA31C186-C125-4E34-A739-053F885C22C1}</a:tableStyleId>
              </a:tblPr>
              <a:tblGrid>
                <a:gridCol w="1008050"/>
                <a:gridCol w="3240100"/>
                <a:gridCol w="4176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T2 will</a:t>
                      </a:r>
                      <a:r>
                        <a:rPr b="1" i="0" lang="en-US" sz="1600" u="none" cap="none" strike="noStrike">
                          <a:solidFill>
                            <a:srgbClr val="000000"/>
                          </a:solidFill>
                          <a:latin typeface="Verdana"/>
                          <a:ea typeface="Verdana"/>
                          <a:cs typeface="Verdana"/>
                          <a:sym typeface="Verdana"/>
                        </a:rPr>
                        <a:t> WAIT </a:t>
                      </a:r>
                      <a:r>
                        <a:rPr b="0" i="0" lang="en-US" sz="1600" u="none" cap="none" strike="noStrike">
                          <a:solidFill>
                            <a:srgbClr val="000000"/>
                          </a:solidFill>
                          <a:latin typeface="Verdana"/>
                          <a:ea typeface="Verdana"/>
                          <a:cs typeface="Verdana"/>
                          <a:sym typeface="Verdana"/>
                        </a:rPr>
                        <a:t>because it cannot obtain LOCK on data item 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UNLOCK</a:t>
                      </a:r>
                      <a:r>
                        <a:rPr b="0" i="0" lang="en-US" sz="1600" u="none" cap="none" strike="noStrike">
                          <a:solidFill>
                            <a:srgbClr val="000000"/>
                          </a:solidFill>
                          <a:latin typeface="Verdana"/>
                          <a:ea typeface="Verdana"/>
                          <a:cs typeface="Verdana"/>
                          <a:sym typeface="Verdana"/>
                        </a:rPr>
                        <a:t>(TippuSeats)</a:t>
                      </a:r>
                      <a:endParaRPr b="1" i="0" sz="1600" u="none" cap="none" strike="noStrike">
                        <a:solidFill>
                          <a:srgbClr val="0066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WAIT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lowchart: Magnetic Disk 24" id="2805" name="Google Shape;2805;p202"/>
          <p:cNvSpPr/>
          <p:nvPr/>
        </p:nvSpPr>
        <p:spPr>
          <a:xfrm>
            <a:off x="1403350" y="4818063"/>
            <a:ext cx="2592388"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806" name="Google Shape;2806;p202"/>
          <p:cNvSpPr txBox="1"/>
          <p:nvPr/>
        </p:nvSpPr>
        <p:spPr>
          <a:xfrm>
            <a:off x="1441450" y="5321300"/>
            <a:ext cx="1316038"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80 75</a:t>
            </a:r>
            <a:endParaRPr/>
          </a:p>
        </p:txBody>
      </p:sp>
      <p:sp>
        <p:nvSpPr>
          <p:cNvPr descr="TextBox 6" id="2807" name="Google Shape;2807;p202"/>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808" name="Google Shape;2808;p202"/>
          <p:cNvSpPr txBox="1"/>
          <p:nvPr/>
        </p:nvSpPr>
        <p:spPr>
          <a:xfrm>
            <a:off x="2851150" y="5313363"/>
            <a:ext cx="1144588"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r>
              <a:rPr b="1" lang="en-US" sz="1600">
                <a:solidFill>
                  <a:srgbClr val="0000FF"/>
                </a:solidFill>
                <a:latin typeface="Verdana"/>
                <a:ea typeface="Verdana"/>
                <a:cs typeface="Verdana"/>
                <a:sym typeface="Verdana"/>
              </a:rPr>
              <a:t> 1 0 1</a:t>
            </a:r>
            <a:endParaRPr sz="1600">
              <a:solidFill>
                <a:srgbClr val="0000FF"/>
              </a:solidFill>
              <a:latin typeface="Verdana"/>
              <a:ea typeface="Verdana"/>
              <a:cs typeface="Verdana"/>
              <a:sym typeface="Verdana"/>
            </a:endParaRPr>
          </a:p>
        </p:txBody>
      </p:sp>
      <p:sp>
        <p:nvSpPr>
          <p:cNvPr descr="TextBox 7" id="2809" name="Google Shape;2809;p202"/>
          <p:cNvSpPr txBox="1"/>
          <p:nvPr/>
        </p:nvSpPr>
        <p:spPr>
          <a:xfrm>
            <a:off x="4329113" y="5189538"/>
            <a:ext cx="4079875"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When transaction T2 executes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LOCK(TippuSeats), LOCK value of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TippuSeats will be changed from ZERO</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to ONE</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3" name="Shape 2813"/>
        <p:cNvGrpSpPr/>
        <p:nvPr/>
      </p:nvGrpSpPr>
      <p:grpSpPr>
        <a:xfrm>
          <a:off x="0" y="0"/>
          <a:ext cx="0" cy="0"/>
          <a:chOff x="0" y="0"/>
          <a:chExt cx="0" cy="0"/>
        </a:xfrm>
      </p:grpSpPr>
      <p:sp>
        <p:nvSpPr>
          <p:cNvPr descr="Title 1" id="2814" name="Google Shape;2814;p20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400"/>
              <a:t>Concurrency Control Protocol: LOCK based</a:t>
            </a:r>
            <a:endParaRPr/>
          </a:p>
        </p:txBody>
      </p:sp>
      <p:sp>
        <p:nvSpPr>
          <p:cNvPr descr="Date Placeholder 3" id="2815" name="Google Shape;2815;p20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16" name="Google Shape;2816;p20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17" name="Google Shape;2817;p203"/>
          <p:cNvGraphicFramePr/>
          <p:nvPr/>
        </p:nvGraphicFramePr>
        <p:xfrm>
          <a:off x="277813" y="1085850"/>
          <a:ext cx="3000000" cy="3000000"/>
        </p:xfrm>
        <a:graphic>
          <a:graphicData uri="http://schemas.openxmlformats.org/drawingml/2006/table">
            <a:tbl>
              <a:tblPr>
                <a:noFill/>
                <a:tableStyleId>{DA31C186-C125-4E34-A739-053F885C22C1}</a:tableStyleId>
              </a:tblPr>
              <a:tblGrid>
                <a:gridCol w="1008050"/>
                <a:gridCol w="3240100"/>
                <a:gridCol w="417670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Time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4:01pm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T2 will</a:t>
                      </a:r>
                      <a:r>
                        <a:rPr b="1" i="0" lang="en-US" sz="1600" u="none" cap="none" strike="noStrike">
                          <a:solidFill>
                            <a:srgbClr val="000000"/>
                          </a:solidFill>
                          <a:latin typeface="Verdana"/>
                          <a:ea typeface="Verdana"/>
                          <a:cs typeface="Verdana"/>
                          <a:sym typeface="Verdana"/>
                        </a:rPr>
                        <a:t> WAIT </a:t>
                      </a:r>
                      <a:r>
                        <a:rPr b="0" i="0" lang="en-US" sz="1600" u="none" cap="none" strike="noStrike">
                          <a:solidFill>
                            <a:srgbClr val="000000"/>
                          </a:solidFill>
                          <a:latin typeface="Verdana"/>
                          <a:ea typeface="Verdana"/>
                          <a:cs typeface="Verdana"/>
                          <a:sym typeface="Verdana"/>
                        </a:rPr>
                        <a:t>because it cannot obtain LOCK on data item 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4:02pm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UNLOCK</a:t>
                      </a:r>
                      <a:r>
                        <a:rPr b="0" i="0" lang="en-US" sz="1600" u="none" cap="none" strike="noStrike">
                          <a:solidFill>
                            <a:srgbClr val="000000"/>
                          </a:solidFill>
                          <a:latin typeface="Verdana"/>
                          <a:ea typeface="Verdana"/>
                          <a:cs typeface="Verdana"/>
                          <a:sym typeface="Verdana"/>
                        </a:rPr>
                        <a:t>(TippuSeats)</a:t>
                      </a:r>
                      <a:endParaRPr b="1" i="0" sz="1600" u="none" cap="none" strike="noStrike">
                        <a:solidFill>
                          <a:srgbClr val="0066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WAIT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4:03pm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LOCK</a:t>
                      </a:r>
                      <a:r>
                        <a:rPr b="0" i="0" lang="en-US" sz="1600" u="none" cap="none" strike="noStrike">
                          <a:solidFill>
                            <a:srgbClr val="000000"/>
                          </a:solidFill>
                          <a:latin typeface="Verdana"/>
                          <a:ea typeface="Verdana"/>
                          <a:cs typeface="Verdana"/>
                          <a:sym typeface="Verdana"/>
                        </a:rPr>
                        <a:t>(TippuSeats), </a:t>
                      </a:r>
                      <a:endParaRPr/>
                    </a:p>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Read(TippuSeats)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4:04pm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TippuSeats=TippuSeats-4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Write(TippuSeats),</a:t>
                      </a:r>
                      <a:endParaRPr/>
                    </a:p>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UNLOCK</a:t>
                      </a:r>
                      <a:r>
                        <a:rPr b="0" i="0" lang="en-US" sz="1600" u="none" cap="none" strike="noStrike">
                          <a:solidFill>
                            <a:srgbClr val="000000"/>
                          </a:solidFill>
                          <a:latin typeface="Verdana"/>
                          <a:ea typeface="Verdana"/>
                          <a:cs typeface="Verdana"/>
                          <a:sym typeface="Verdana"/>
                        </a:rPr>
                        <a:t>(TippuSeats)</a:t>
                      </a:r>
                      <a:endParaRPr b="1" i="0" sz="1600" u="none" cap="none" strike="noStrike">
                        <a:solidFill>
                          <a:srgbClr val="0066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Flowchart: Magnetic Disk 24" id="2818" name="Google Shape;2818;p203"/>
          <p:cNvSpPr/>
          <p:nvPr/>
        </p:nvSpPr>
        <p:spPr>
          <a:xfrm>
            <a:off x="1403350" y="4818063"/>
            <a:ext cx="2951163" cy="129540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25" id="2819" name="Google Shape;2819;p203"/>
          <p:cNvSpPr txBox="1"/>
          <p:nvPr/>
        </p:nvSpPr>
        <p:spPr>
          <a:xfrm>
            <a:off x="1441450" y="5321300"/>
            <a:ext cx="1419225" cy="5842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Tippu Seats</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80 75 </a:t>
            </a:r>
            <a:r>
              <a:rPr b="1" lang="en-US" sz="1600">
                <a:solidFill>
                  <a:srgbClr val="0000FF"/>
                </a:solidFill>
                <a:latin typeface="Verdana"/>
                <a:ea typeface="Verdana"/>
                <a:cs typeface="Verdana"/>
                <a:sym typeface="Verdana"/>
              </a:rPr>
              <a:t>71</a:t>
            </a:r>
            <a:endParaRPr sz="1600">
              <a:solidFill>
                <a:srgbClr val="0000FF"/>
              </a:solidFill>
              <a:latin typeface="Verdana"/>
              <a:ea typeface="Verdana"/>
              <a:cs typeface="Verdana"/>
              <a:sym typeface="Verdana"/>
            </a:endParaRPr>
          </a:p>
        </p:txBody>
      </p:sp>
      <p:sp>
        <p:nvSpPr>
          <p:cNvPr descr="TextBox 6" id="2820" name="Google Shape;2820;p203"/>
          <p:cNvSpPr txBox="1"/>
          <p:nvPr/>
        </p:nvSpPr>
        <p:spPr>
          <a:xfrm>
            <a:off x="179388" y="5313363"/>
            <a:ext cx="106045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a:t>
            </a:r>
            <a:endParaRPr/>
          </a:p>
        </p:txBody>
      </p:sp>
      <p:sp>
        <p:nvSpPr>
          <p:cNvPr descr="TextBox 13" id="2821" name="Google Shape;2821;p203"/>
          <p:cNvSpPr txBox="1"/>
          <p:nvPr/>
        </p:nvSpPr>
        <p:spPr>
          <a:xfrm>
            <a:off x="2922588" y="5313363"/>
            <a:ext cx="1289050" cy="5826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6600"/>
                </a:solidFill>
                <a:latin typeface="Verdana"/>
                <a:ea typeface="Verdana"/>
                <a:cs typeface="Verdana"/>
                <a:sym typeface="Verdana"/>
              </a:rPr>
              <a:t>LOCK</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 0</a:t>
            </a:r>
            <a:r>
              <a:rPr b="1" lang="en-US" sz="1600">
                <a:solidFill>
                  <a:srgbClr val="0000FF"/>
                </a:solidFill>
                <a:latin typeface="Verdana"/>
                <a:ea typeface="Verdana"/>
                <a:cs typeface="Verdana"/>
                <a:sym typeface="Verdana"/>
              </a:rPr>
              <a:t> </a:t>
            </a:r>
            <a:r>
              <a:rPr lang="en-US" sz="1600">
                <a:solidFill>
                  <a:srgbClr val="0000FF"/>
                </a:solidFill>
                <a:latin typeface="Verdana"/>
                <a:ea typeface="Verdana"/>
                <a:cs typeface="Verdana"/>
                <a:sym typeface="Verdana"/>
              </a:rPr>
              <a:t>1 0</a:t>
            </a:r>
            <a:r>
              <a:rPr b="1" lang="en-US" sz="1600">
                <a:solidFill>
                  <a:srgbClr val="0000FF"/>
                </a:solidFill>
                <a:latin typeface="Verdana"/>
                <a:ea typeface="Verdana"/>
                <a:cs typeface="Verdana"/>
                <a:sym typeface="Verdana"/>
              </a:rPr>
              <a:t> </a:t>
            </a:r>
            <a:r>
              <a:rPr lang="en-US" sz="1600">
                <a:solidFill>
                  <a:srgbClr val="0000FF"/>
                </a:solidFill>
                <a:latin typeface="Verdana"/>
                <a:ea typeface="Verdana"/>
                <a:cs typeface="Verdana"/>
                <a:sym typeface="Verdana"/>
              </a:rPr>
              <a:t>1</a:t>
            </a:r>
            <a:r>
              <a:rPr b="1" lang="en-US" sz="1600">
                <a:solidFill>
                  <a:srgbClr val="0000FF"/>
                </a:solidFill>
                <a:latin typeface="Verdana"/>
                <a:ea typeface="Verdana"/>
                <a:cs typeface="Verdana"/>
                <a:sym typeface="Verdana"/>
              </a:rPr>
              <a:t> 0</a:t>
            </a:r>
            <a:endParaRPr sz="1600">
              <a:solidFill>
                <a:srgbClr val="0000FF"/>
              </a:solidFill>
              <a:latin typeface="Verdana"/>
              <a:ea typeface="Verdana"/>
              <a:cs typeface="Verdana"/>
              <a:sym typeface="Verdana"/>
            </a:endParaRPr>
          </a:p>
        </p:txBody>
      </p:sp>
      <p:sp>
        <p:nvSpPr>
          <p:cNvPr descr="TextBox 8" id="2822" name="Google Shape;2822;p203"/>
          <p:cNvSpPr txBox="1"/>
          <p:nvPr/>
        </p:nvSpPr>
        <p:spPr>
          <a:xfrm>
            <a:off x="4760913" y="5291138"/>
            <a:ext cx="31337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Now final value of TippuSeats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is </a:t>
            </a:r>
            <a:r>
              <a:rPr lang="en-US" sz="1600">
                <a:solidFill>
                  <a:srgbClr val="0000FF"/>
                </a:solidFill>
                <a:latin typeface="Verdana"/>
                <a:ea typeface="Verdana"/>
                <a:cs typeface="Verdana"/>
                <a:sym typeface="Verdana"/>
              </a:rPr>
              <a:t>71, </a:t>
            </a:r>
            <a:r>
              <a:rPr lang="en-US" sz="1600">
                <a:solidFill>
                  <a:srgbClr val="000000"/>
                </a:solidFill>
                <a:latin typeface="Verdana"/>
                <a:ea typeface="Verdana"/>
                <a:cs typeface="Verdana"/>
                <a:sym typeface="Verdana"/>
              </a:rPr>
              <a:t>which is CORRECT</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6" name="Shape 2826"/>
        <p:cNvGrpSpPr/>
        <p:nvPr/>
      </p:nvGrpSpPr>
      <p:grpSpPr>
        <a:xfrm>
          <a:off x="0" y="0"/>
          <a:ext cx="0" cy="0"/>
          <a:chOff x="0" y="0"/>
          <a:chExt cx="0" cy="0"/>
        </a:xfrm>
      </p:grpSpPr>
      <p:sp>
        <p:nvSpPr>
          <p:cNvPr descr="Title 1" id="2827" name="Google Shape;2827;p20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28" name="Google Shape;2828;p20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 LOCKS are used to ensure concurrency.</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transactions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29" name="Google Shape;2829;p20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30" name="Google Shape;2830;p20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4" name="Shape 2834"/>
        <p:cNvGrpSpPr/>
        <p:nvPr/>
      </p:nvGrpSpPr>
      <p:grpSpPr>
        <a:xfrm>
          <a:off x="0" y="0"/>
          <a:ext cx="0" cy="0"/>
          <a:chOff x="0" y="0"/>
          <a:chExt cx="0" cy="0"/>
        </a:xfrm>
      </p:grpSpPr>
      <p:sp>
        <p:nvSpPr>
          <p:cNvPr descr="Title 1" id="2835" name="Google Shape;2835;p20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36" name="Google Shape;2836;p20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 LOCKS are used to ensure concurrency.</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transactions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37" name="Google Shape;2837;p20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38" name="Google Shape;2838;p20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39" name="Google Shape;2839;p205"/>
          <p:cNvGraphicFramePr/>
          <p:nvPr/>
        </p:nvGraphicFramePr>
        <p:xfrm>
          <a:off x="323850" y="3671888"/>
          <a:ext cx="3000000" cy="3000000"/>
        </p:xfrm>
        <a:graphic>
          <a:graphicData uri="http://schemas.openxmlformats.org/drawingml/2006/table">
            <a:tbl>
              <a:tblPr>
                <a:noFill/>
                <a:tableStyleId>{DA31C186-C125-4E34-A739-053F885C22C1}</a:tableStyleId>
              </a:tblPr>
              <a:tblGrid>
                <a:gridCol w="1805000"/>
                <a:gridCol w="1795450"/>
                <a:gridCol w="2808300"/>
                <a:gridCol w="201612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 1, HOLDER of the LOCK on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87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User2,</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REQUESTOR of LOCK for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vMerge="1"/>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descr="Title 1" id="2844" name="Google Shape;2844;p20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45" name="Google Shape;2845;p20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we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46" name="Google Shape;2846;p20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47" name="Google Shape;2847;p20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48" name="Google Shape;2848;p206"/>
          <p:cNvGraphicFramePr/>
          <p:nvPr/>
        </p:nvGraphicFramePr>
        <p:xfrm>
          <a:off x="323850" y="3671888"/>
          <a:ext cx="3000000" cy="3000000"/>
        </p:xfrm>
        <a:graphic>
          <a:graphicData uri="http://schemas.openxmlformats.org/drawingml/2006/table">
            <a:tbl>
              <a:tblPr>
                <a:noFill/>
                <a:tableStyleId>{DA31C186-C125-4E34-A739-053F885C22C1}</a:tableStyleId>
              </a:tblPr>
              <a:tblGrid>
                <a:gridCol w="1805000"/>
                <a:gridCol w="1795450"/>
                <a:gridCol w="2808300"/>
                <a:gridCol w="201612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 1, HOLDER of the LOCK on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87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User2,</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REQUESTOR of LOCK for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YES</a:t>
                      </a:r>
                      <a:r>
                        <a:rPr b="0" i="0" lang="en-US" sz="1600" u="none" cap="none" strike="noStrike">
                          <a:solidFill>
                            <a:srgbClr val="000000"/>
                          </a:solidFill>
                          <a:latin typeface="Verdana"/>
                          <a:ea typeface="Verdana"/>
                          <a:cs typeface="Verdana"/>
                          <a:sym typeface="Verdana"/>
                        </a:rPr>
                        <a:t>: USER 2 will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vMerge="1"/>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2" name="Shape 2852"/>
        <p:cNvGrpSpPr/>
        <p:nvPr/>
      </p:nvGrpSpPr>
      <p:grpSpPr>
        <a:xfrm>
          <a:off x="0" y="0"/>
          <a:ext cx="0" cy="0"/>
          <a:chOff x="0" y="0"/>
          <a:chExt cx="0" cy="0"/>
        </a:xfrm>
      </p:grpSpPr>
      <p:sp>
        <p:nvSpPr>
          <p:cNvPr descr="Title 1" id="2853" name="Google Shape;2853;p20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54" name="Google Shape;2854;p20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transactions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55" name="Google Shape;2855;p20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56" name="Google Shape;2856;p20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57" name="Google Shape;2857;p207"/>
          <p:cNvGraphicFramePr/>
          <p:nvPr/>
        </p:nvGraphicFramePr>
        <p:xfrm>
          <a:off x="323850" y="3671888"/>
          <a:ext cx="3000000" cy="3000000"/>
        </p:xfrm>
        <a:graphic>
          <a:graphicData uri="http://schemas.openxmlformats.org/drawingml/2006/table">
            <a:tbl>
              <a:tblPr>
                <a:noFill/>
                <a:tableStyleId>{DA31C186-C125-4E34-A739-053F885C22C1}</a:tableStyleId>
              </a:tblPr>
              <a:tblGrid>
                <a:gridCol w="1805000"/>
                <a:gridCol w="1795450"/>
                <a:gridCol w="2808300"/>
                <a:gridCol w="201612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 1, HOLDER of the LOCK on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87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User2,</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REQUESTOR of LOCK for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YES</a:t>
                      </a:r>
                      <a:r>
                        <a:rPr b="0" i="0" lang="en-US" sz="1600" u="none" cap="none" strike="noStrike">
                          <a:solidFill>
                            <a:srgbClr val="000000"/>
                          </a:solidFill>
                          <a:latin typeface="Verdana"/>
                          <a:ea typeface="Verdana"/>
                          <a:cs typeface="Verdana"/>
                          <a:sym typeface="Verdana"/>
                        </a:rPr>
                        <a:t>: USER 2 will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NO</a:t>
                      </a:r>
                      <a:r>
                        <a:rPr b="0" i="0" lang="en-US" sz="1600" u="none" cap="none" strike="noStrike">
                          <a:solidFill>
                            <a:srgbClr val="000000"/>
                          </a:solidFill>
                          <a:latin typeface="Verdana"/>
                          <a:ea typeface="Verdana"/>
                          <a:cs typeface="Verdana"/>
                          <a:sym typeface="Verdana"/>
                        </a:rPr>
                        <a:t>: USER 2 will not be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vMerge="1"/>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descr="Title 1" id="2862" name="Google Shape;2862;p20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63" name="Google Shape;2863;p20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transactions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64" name="Google Shape;2864;p20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65" name="Google Shape;2865;p20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66" name="Google Shape;2866;p208"/>
          <p:cNvGraphicFramePr/>
          <p:nvPr/>
        </p:nvGraphicFramePr>
        <p:xfrm>
          <a:off x="323850" y="3671888"/>
          <a:ext cx="3000000" cy="3000000"/>
        </p:xfrm>
        <a:graphic>
          <a:graphicData uri="http://schemas.openxmlformats.org/drawingml/2006/table">
            <a:tbl>
              <a:tblPr>
                <a:noFill/>
                <a:tableStyleId>{DA31C186-C125-4E34-A739-053F885C22C1}</a:tableStyleId>
              </a:tblPr>
              <a:tblGrid>
                <a:gridCol w="1805000"/>
                <a:gridCol w="1795450"/>
                <a:gridCol w="2808300"/>
                <a:gridCol w="201612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 1, HOLDER of the LOCK on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87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User2,</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REQUESTOR of LOCK for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YES</a:t>
                      </a:r>
                      <a:r>
                        <a:rPr b="0" i="0" lang="en-US" sz="1600" u="none" cap="none" strike="noStrike">
                          <a:solidFill>
                            <a:srgbClr val="000000"/>
                          </a:solidFill>
                          <a:latin typeface="Verdana"/>
                          <a:ea typeface="Verdana"/>
                          <a:cs typeface="Verdana"/>
                          <a:sym typeface="Verdana"/>
                        </a:rPr>
                        <a:t>: USER 2 will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NO</a:t>
                      </a:r>
                      <a:r>
                        <a:rPr b="0" i="0" lang="en-US" sz="1600" u="none" cap="none" strike="noStrike">
                          <a:solidFill>
                            <a:srgbClr val="000000"/>
                          </a:solidFill>
                          <a:latin typeface="Verdana"/>
                          <a:ea typeface="Verdana"/>
                          <a:cs typeface="Verdana"/>
                          <a:sym typeface="Verdana"/>
                        </a:rPr>
                        <a:t>: USER 2 will not be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vMerge="1"/>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Verdana"/>
                        <a:buNone/>
                      </a:pPr>
                      <a:r>
                        <a:t/>
                      </a:r>
                      <a:endParaRPr b="1" i="0" sz="1600" u="none" cap="none" strike="noStrike">
                        <a:solidFill>
                          <a:srgbClr val="FF0000"/>
                        </a:solidFill>
                        <a:latin typeface="Verdana"/>
                        <a:ea typeface="Verdana"/>
                        <a:cs typeface="Verdana"/>
                        <a:sym typeface="Verdana"/>
                      </a:endParaRPr>
                    </a:p>
                    <a:p>
                      <a:pPr indent="0" lvl="0" marL="0" marR="0" rtl="0" algn="ctr">
                        <a:lnSpc>
                          <a:spcPct val="100000"/>
                        </a:lnSpc>
                        <a:spcBef>
                          <a:spcPts val="0"/>
                        </a:spcBef>
                        <a:spcAft>
                          <a:spcPts val="0"/>
                        </a:spcAft>
                        <a:buClr>
                          <a:srgbClr val="FF0000"/>
                        </a:buClr>
                        <a:buSzPts val="1600"/>
                        <a:buFont typeface="Verdana"/>
                        <a:buNone/>
                      </a:pPr>
                      <a:r>
                        <a:rPr b="1" i="0" lang="en-US" sz="1600" u="none" cap="none" strike="noStrike">
                          <a:solidFill>
                            <a:srgbClr val="FF0000"/>
                          </a:solidFill>
                          <a:latin typeface="Verdana"/>
                          <a:ea typeface="Verdana"/>
                          <a:cs typeface="Verdana"/>
                          <a:sym typeface="Verdana"/>
                        </a:rPr>
                        <a:t>??</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Verdana"/>
                        <a:buNone/>
                      </a:pPr>
                      <a:r>
                        <a:t/>
                      </a:r>
                      <a:endParaRPr b="1" i="0" sz="1600" u="none" cap="none" strike="noStrike">
                        <a:solidFill>
                          <a:srgbClr val="FF0000"/>
                        </a:solidFill>
                        <a:latin typeface="Verdana"/>
                        <a:ea typeface="Verdana"/>
                        <a:cs typeface="Verdana"/>
                        <a:sym typeface="Verdana"/>
                      </a:endParaRPr>
                    </a:p>
                    <a:p>
                      <a:pPr indent="0" lvl="0" marL="0" marR="0" rtl="0" algn="ctr">
                        <a:lnSpc>
                          <a:spcPct val="100000"/>
                        </a:lnSpc>
                        <a:spcBef>
                          <a:spcPts val="0"/>
                        </a:spcBef>
                        <a:spcAft>
                          <a:spcPts val="0"/>
                        </a:spcAft>
                        <a:buClr>
                          <a:srgbClr val="FF0000"/>
                        </a:buClr>
                        <a:buSzPts val="1600"/>
                        <a:buFont typeface="Verdana"/>
                        <a:buNone/>
                      </a:pPr>
                      <a:r>
                        <a:rPr b="1" i="0" lang="en-US" sz="1600" u="none" cap="none" strike="noStrike">
                          <a:solidFill>
                            <a:srgbClr val="FF0000"/>
                          </a:solidFill>
                          <a:latin typeface="Verdana"/>
                          <a:ea typeface="Verdana"/>
                          <a:cs typeface="Verdana"/>
                          <a:sym typeface="Verdana"/>
                        </a:rPr>
                        <a:t>??</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0" name="Shape 2870"/>
        <p:cNvGrpSpPr/>
        <p:nvPr/>
      </p:nvGrpSpPr>
      <p:grpSpPr>
        <a:xfrm>
          <a:off x="0" y="0"/>
          <a:ext cx="0" cy="0"/>
          <a:chOff x="0" y="0"/>
          <a:chExt cx="0" cy="0"/>
        </a:xfrm>
      </p:grpSpPr>
      <p:sp>
        <p:nvSpPr>
          <p:cNvPr descr="Title 1" id="2871" name="Google Shape;2871;p20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872" name="Google Shape;2872;p20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A transaction </a:t>
            </a:r>
            <a:r>
              <a:rPr i="1" lang="en-US" sz="2000"/>
              <a:t>must</a:t>
            </a:r>
            <a:r>
              <a:rPr lang="en-US" sz="2000"/>
              <a:t> get a </a:t>
            </a:r>
            <a:r>
              <a:rPr i="1" lang="en-US" sz="2000"/>
              <a:t>lock </a:t>
            </a:r>
            <a:r>
              <a:rPr lang="en-US" sz="2000"/>
              <a:t>before operating on the data</a:t>
            </a:r>
            <a:endParaRPr/>
          </a:p>
          <a:p>
            <a:pPr indent="-469900" lvl="0" marL="469900" rtl="0" algn="l">
              <a:lnSpc>
                <a:spcPct val="130000"/>
              </a:lnSpc>
              <a:spcBef>
                <a:spcPts val="400"/>
              </a:spcBef>
              <a:spcAft>
                <a:spcPts val="0"/>
              </a:spcAft>
              <a:buSzPts val="2000"/>
              <a:buFont typeface="Verdana"/>
              <a:buChar char="□"/>
            </a:pPr>
            <a:r>
              <a:rPr lang="en-US" sz="2000"/>
              <a:t>Two types of locks:</a:t>
            </a:r>
            <a:endParaRPr/>
          </a:p>
          <a:p>
            <a:pPr indent="-438150" lvl="1" marL="908050" rtl="0" algn="l">
              <a:spcBef>
                <a:spcPts val="400"/>
              </a:spcBef>
              <a:spcAft>
                <a:spcPts val="0"/>
              </a:spcAft>
              <a:buSzPts val="1800"/>
              <a:buFont typeface="Verdana"/>
              <a:buChar char="■"/>
            </a:pPr>
            <a:r>
              <a:rPr b="1" i="1" lang="en-US" sz="1800"/>
              <a:t>Shared</a:t>
            </a:r>
            <a:r>
              <a:rPr b="1" lang="en-US" sz="1800"/>
              <a:t> </a:t>
            </a:r>
            <a:r>
              <a:rPr lang="en-US" sz="1800"/>
              <a:t>(S) locks (also called </a:t>
            </a:r>
            <a:r>
              <a:rPr b="1" i="1" lang="en-US" sz="1800"/>
              <a:t>read</a:t>
            </a:r>
            <a:r>
              <a:rPr i="1" lang="en-US" sz="1800"/>
              <a:t> locks)</a:t>
            </a:r>
            <a:endParaRPr b="1" i="1" sz="2600"/>
          </a:p>
          <a:p>
            <a:pPr indent="-396875" lvl="2" marL="1304925" rtl="0" algn="l">
              <a:spcBef>
                <a:spcPts val="300"/>
              </a:spcBef>
              <a:spcAft>
                <a:spcPts val="0"/>
              </a:spcAft>
              <a:buSzPts val="1600"/>
              <a:buFont typeface="Verdana"/>
              <a:buChar char="□"/>
            </a:pPr>
            <a:r>
              <a:rPr lang="en-US" sz="1600"/>
              <a:t>Obtained if transactions want to only read an item</a:t>
            </a:r>
            <a:endParaRPr sz="2300"/>
          </a:p>
          <a:p>
            <a:pPr indent="-438150" lvl="1" marL="908050" rtl="0" algn="l">
              <a:spcBef>
                <a:spcPts val="400"/>
              </a:spcBef>
              <a:spcAft>
                <a:spcPts val="0"/>
              </a:spcAft>
              <a:buSzPts val="1800"/>
              <a:buFont typeface="Verdana"/>
              <a:buChar char="■"/>
            </a:pPr>
            <a:r>
              <a:rPr b="1" i="1" lang="en-US" sz="1800"/>
              <a:t>Exclusive</a:t>
            </a:r>
            <a:r>
              <a:rPr lang="en-US" sz="1800"/>
              <a:t> (X) locks (also called </a:t>
            </a:r>
            <a:r>
              <a:rPr b="1" i="1" lang="en-US" sz="1800"/>
              <a:t>write</a:t>
            </a:r>
            <a:r>
              <a:rPr i="1" lang="en-US" sz="1800"/>
              <a:t> locks)</a:t>
            </a:r>
            <a:endParaRPr b="1" i="1" sz="2600"/>
          </a:p>
          <a:p>
            <a:pPr indent="-396875" lvl="2" marL="1304925" rtl="0" algn="l">
              <a:spcBef>
                <a:spcPts val="300"/>
              </a:spcBef>
              <a:spcAft>
                <a:spcPts val="0"/>
              </a:spcAft>
              <a:buSzPts val="1600"/>
              <a:buFont typeface="Verdana"/>
              <a:buChar char="□"/>
            </a:pPr>
            <a:r>
              <a:rPr lang="en-US" sz="1600"/>
              <a:t>Obtained for updating a data item</a:t>
            </a:r>
            <a:endParaRPr/>
          </a:p>
        </p:txBody>
      </p:sp>
      <p:sp>
        <p:nvSpPr>
          <p:cNvPr descr="Date Placeholder 3" id="2873" name="Google Shape;2873;p20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74" name="Google Shape;2874;p20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875" name="Google Shape;2875;p209"/>
          <p:cNvGraphicFramePr/>
          <p:nvPr/>
        </p:nvGraphicFramePr>
        <p:xfrm>
          <a:off x="323850" y="3671888"/>
          <a:ext cx="3000000" cy="3000000"/>
        </p:xfrm>
        <a:graphic>
          <a:graphicData uri="http://schemas.openxmlformats.org/drawingml/2006/table">
            <a:tbl>
              <a:tblPr>
                <a:noFill/>
                <a:tableStyleId>{DA31C186-C125-4E34-A739-053F885C22C1}</a:tableStyleId>
              </a:tblPr>
              <a:tblGrid>
                <a:gridCol w="1805000"/>
                <a:gridCol w="1795450"/>
                <a:gridCol w="2808300"/>
                <a:gridCol w="2016125"/>
              </a:tblGrid>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1" i="0" sz="1800" u="none" cap="none" strike="noStrike">
                        <a:solidFill>
                          <a:srgbClr val="FFFFFF"/>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 1, HOLDER of the LOCK on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5873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rowSpan="2">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User2,</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REQUESTOR of LOCK for data item X</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Shared or Read</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YES</a:t>
                      </a:r>
                      <a:r>
                        <a:rPr b="0" i="0" lang="en-US" sz="1600" u="none" cap="none" strike="noStrike">
                          <a:solidFill>
                            <a:srgbClr val="000000"/>
                          </a:solidFill>
                          <a:latin typeface="Verdana"/>
                          <a:ea typeface="Verdana"/>
                          <a:cs typeface="Verdana"/>
                          <a:sym typeface="Verdana"/>
                        </a:rPr>
                        <a:t>: USER 2 will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NO</a:t>
                      </a:r>
                      <a:r>
                        <a:rPr b="0" i="0" lang="en-US" sz="1600" u="none" cap="none" strike="noStrike">
                          <a:solidFill>
                            <a:srgbClr val="000000"/>
                          </a:solidFill>
                          <a:latin typeface="Verdana"/>
                          <a:ea typeface="Verdana"/>
                          <a:cs typeface="Verdana"/>
                          <a:sym typeface="Verdana"/>
                        </a:rPr>
                        <a:t>: USER 2 will not be granted with Read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28675">
                <a:tc vMerge="1"/>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or Exclusive</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Lock</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NO</a:t>
                      </a:r>
                      <a:r>
                        <a:rPr b="0" i="0" lang="en-US" sz="1600" u="none" cap="none" strike="noStrike">
                          <a:solidFill>
                            <a:srgbClr val="000000"/>
                          </a:solidFill>
                          <a:latin typeface="Verdana"/>
                          <a:ea typeface="Verdana"/>
                          <a:cs typeface="Verdana"/>
                          <a:sym typeface="Verdana"/>
                        </a:rPr>
                        <a:t>: USER 2 will not be granted with Write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NO</a:t>
                      </a:r>
                      <a:r>
                        <a:rPr b="0" i="0" lang="en-US" sz="1600" u="none" cap="none" strike="noStrike">
                          <a:solidFill>
                            <a:srgbClr val="000000"/>
                          </a:solidFill>
                          <a:latin typeface="Verdana"/>
                          <a:ea typeface="Verdana"/>
                          <a:cs typeface="Verdana"/>
                          <a:sym typeface="Verdana"/>
                        </a:rPr>
                        <a:t>: USER 2 will not be granted with Write lock</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9" name="Shape 2879"/>
        <p:cNvGrpSpPr/>
        <p:nvPr/>
      </p:nvGrpSpPr>
      <p:grpSpPr>
        <a:xfrm>
          <a:off x="0" y="0"/>
          <a:ext cx="0" cy="0"/>
          <a:chOff x="0" y="0"/>
          <a:chExt cx="0" cy="0"/>
        </a:xfrm>
      </p:grpSpPr>
      <p:sp>
        <p:nvSpPr>
          <p:cNvPr descr="Title 1" id="2880" name="Google Shape;2880;p21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 instructions</a:t>
            </a:r>
            <a:endParaRPr/>
          </a:p>
        </p:txBody>
      </p:sp>
      <p:sp>
        <p:nvSpPr>
          <p:cNvPr descr="Content Placeholder 2" id="2881" name="Google Shape;2881;p21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3000"/>
              <a:buFont typeface="Verdana"/>
              <a:buChar char="□"/>
            </a:pPr>
            <a:r>
              <a:rPr lang="en-US"/>
              <a:t>New LOCK instructions</a:t>
            </a:r>
            <a:endParaRPr/>
          </a:p>
          <a:p>
            <a:pPr indent="33338" lvl="1" marL="436563" rtl="0" algn="l">
              <a:spcBef>
                <a:spcPts val="600"/>
              </a:spcBef>
              <a:spcAft>
                <a:spcPts val="0"/>
              </a:spcAft>
              <a:buSzPts val="2600"/>
              <a:buFont typeface="Noto Sans Symbols"/>
              <a:buNone/>
            </a:pPr>
            <a:r>
              <a:rPr lang="en-US" sz="2600"/>
              <a:t>-</a:t>
            </a:r>
            <a:r>
              <a:rPr lang="en-US" sz="2600">
                <a:solidFill>
                  <a:srgbClr val="FF0000"/>
                </a:solidFill>
              </a:rPr>
              <a:t> Lock-S</a:t>
            </a:r>
            <a:r>
              <a:rPr lang="en-US" sz="2600"/>
              <a:t>: shared (or read) lock request</a:t>
            </a:r>
            <a:endParaRPr/>
          </a:p>
          <a:p>
            <a:pPr indent="33338" lvl="1" marL="436563" rtl="0" algn="l">
              <a:spcBef>
                <a:spcPts val="600"/>
              </a:spcBef>
              <a:spcAft>
                <a:spcPts val="0"/>
              </a:spcAft>
              <a:buSzPts val="2600"/>
              <a:buFont typeface="Noto Sans Symbols"/>
              <a:buNone/>
            </a:pPr>
            <a:r>
              <a:rPr lang="en-US" sz="2600"/>
              <a:t>- </a:t>
            </a:r>
            <a:r>
              <a:rPr lang="en-US" sz="2600">
                <a:solidFill>
                  <a:srgbClr val="006600"/>
                </a:solidFill>
              </a:rPr>
              <a:t>Lock-X</a:t>
            </a:r>
            <a:r>
              <a:rPr lang="en-US" sz="2600"/>
              <a:t>: exclusive (or write) lock request</a:t>
            </a:r>
            <a:endParaRPr/>
          </a:p>
          <a:p>
            <a:pPr indent="33338" lvl="1" marL="436563" rtl="0" algn="l">
              <a:spcBef>
                <a:spcPts val="600"/>
              </a:spcBef>
              <a:spcAft>
                <a:spcPts val="0"/>
              </a:spcAft>
              <a:buSzPts val="2600"/>
              <a:buFont typeface="Noto Sans Symbols"/>
              <a:buNone/>
            </a:pPr>
            <a:r>
              <a:rPr lang="en-US" sz="2600"/>
              <a:t>- </a:t>
            </a:r>
            <a:r>
              <a:rPr lang="en-US" sz="2600">
                <a:solidFill>
                  <a:srgbClr val="0000FF"/>
                </a:solidFill>
              </a:rPr>
              <a:t>Unlock</a:t>
            </a:r>
            <a:r>
              <a:rPr lang="en-US" sz="2600"/>
              <a:t>: release previously held lock</a:t>
            </a:r>
            <a:endParaRPr/>
          </a:p>
          <a:p>
            <a:pPr indent="-469900" lvl="0" marL="469900" rtl="0" algn="l">
              <a:spcBef>
                <a:spcPts val="700"/>
              </a:spcBef>
              <a:spcAft>
                <a:spcPts val="0"/>
              </a:spcAft>
              <a:buSzPts val="3000"/>
              <a:buFont typeface="Verdana"/>
              <a:buChar char="□"/>
            </a:pPr>
            <a:r>
              <a:rPr lang="en-US"/>
              <a:t>Example schedule:</a:t>
            </a:r>
            <a:endParaRPr/>
          </a:p>
        </p:txBody>
      </p:sp>
      <p:sp>
        <p:nvSpPr>
          <p:cNvPr descr="Date Placeholder 3" id="2882" name="Google Shape;2882;p21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83" name="Google Shape;2883;p21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2884" name="Google Shape;2884;p210"/>
          <p:cNvGrpSpPr/>
          <p:nvPr/>
        </p:nvGrpSpPr>
        <p:grpSpPr>
          <a:xfrm>
            <a:off x="3871913" y="3913189"/>
            <a:ext cx="4040187" cy="2297111"/>
            <a:chOff x="0" y="0"/>
            <a:chExt cx="4041460" cy="2296478"/>
          </a:xfrm>
        </p:grpSpPr>
        <p:sp>
          <p:nvSpPr>
            <p:cNvPr descr="Text Box 10" id="2885" name="Google Shape;2885;p210"/>
            <p:cNvSpPr txBox="1"/>
            <p:nvPr/>
          </p:nvSpPr>
          <p:spPr>
            <a:xfrm>
              <a:off x="0" y="366712"/>
              <a:ext cx="1467505" cy="192976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2000">
                  <a:solidFill>
                    <a:srgbClr val="000000"/>
                  </a:solidFill>
                  <a:latin typeface="Verdana"/>
                  <a:ea typeface="Verdana"/>
                  <a:cs typeface="Verdana"/>
                  <a:sym typeface="Verdana"/>
                </a:rPr>
                <a:t>B =B-50</a:t>
              </a:r>
              <a:endParaRPr/>
            </a:p>
            <a:p>
              <a:pPr indent="0" lvl="0" marL="0" marR="0" rtl="0" algn="l">
                <a:spcBef>
                  <a:spcPts val="0"/>
                </a:spcBef>
                <a:spcAft>
                  <a:spcPts val="0"/>
                </a:spcAft>
                <a:buNone/>
              </a:pPr>
              <a:r>
                <a:rPr lang="en-US" sz="2000">
                  <a:solidFill>
                    <a:srgbClr val="006600"/>
                  </a:solidFill>
                  <a:latin typeface="Verdana"/>
                  <a:ea typeface="Verdana"/>
                  <a:cs typeface="Verdana"/>
                  <a:sym typeface="Verdana"/>
                </a:rPr>
                <a:t>write</a:t>
              </a:r>
              <a:r>
                <a:rPr lang="en-US" sz="20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20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2000">
                  <a:solidFill>
                    <a:srgbClr val="000000"/>
                  </a:solidFill>
                  <a:latin typeface="Verdana"/>
                  <a:ea typeface="Verdana"/>
                  <a:cs typeface="Verdana"/>
                  <a:sym typeface="Verdana"/>
                </a:rPr>
                <a:t>A =A + 50</a:t>
              </a:r>
              <a:endParaRPr/>
            </a:p>
            <a:p>
              <a:pPr indent="0" lvl="0" marL="0" marR="0" rtl="0" algn="l">
                <a:spcBef>
                  <a:spcPts val="0"/>
                </a:spcBef>
                <a:spcAft>
                  <a:spcPts val="0"/>
                </a:spcAft>
                <a:buNone/>
              </a:pPr>
              <a:r>
                <a:rPr lang="en-US" sz="2000">
                  <a:solidFill>
                    <a:srgbClr val="006600"/>
                  </a:solidFill>
                  <a:latin typeface="Verdana"/>
                  <a:ea typeface="Verdana"/>
                  <a:cs typeface="Verdana"/>
                  <a:sym typeface="Verdana"/>
                </a:rPr>
                <a:t>write</a:t>
              </a:r>
              <a:r>
                <a:rPr lang="en-US" sz="2000">
                  <a:solidFill>
                    <a:srgbClr val="000000"/>
                  </a:solidFill>
                  <a:latin typeface="Verdana"/>
                  <a:ea typeface="Verdana"/>
                  <a:cs typeface="Verdana"/>
                  <a:sym typeface="Verdana"/>
                </a:rPr>
                <a:t>(A)</a:t>
              </a:r>
              <a:endParaRPr sz="2000">
                <a:solidFill>
                  <a:srgbClr val="006600"/>
                </a:solidFill>
                <a:latin typeface="Verdana"/>
                <a:ea typeface="Verdana"/>
                <a:cs typeface="Verdana"/>
                <a:sym typeface="Verdana"/>
              </a:endParaRPr>
            </a:p>
          </p:txBody>
        </p:sp>
        <p:sp>
          <p:nvSpPr>
            <p:cNvPr descr="Text Box 11" id="2886" name="Google Shape;2886;p210"/>
            <p:cNvSpPr txBox="1"/>
            <p:nvPr/>
          </p:nvSpPr>
          <p:spPr>
            <a:xfrm>
              <a:off x="2252362" y="400050"/>
              <a:ext cx="1789098" cy="101536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FF0000"/>
                  </a:solidFill>
                  <a:latin typeface="Verdana"/>
                  <a:ea typeface="Verdana"/>
                  <a:cs typeface="Verdana"/>
                  <a:sym typeface="Verdana"/>
                </a:rPr>
                <a:t>read</a:t>
              </a:r>
              <a:r>
                <a:rPr lang="en-US" sz="20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2000">
                  <a:solidFill>
                    <a:srgbClr val="FF0000"/>
                  </a:solidFill>
                  <a:latin typeface="Verdana"/>
                  <a:ea typeface="Verdana"/>
                  <a:cs typeface="Verdana"/>
                  <a:sym typeface="Verdana"/>
                </a:rPr>
                <a:t>read</a:t>
              </a:r>
              <a:r>
                <a:rPr lang="en-US" sz="20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2000">
                  <a:solidFill>
                    <a:srgbClr val="000000"/>
                  </a:solidFill>
                  <a:latin typeface="Verdana"/>
                  <a:ea typeface="Verdana"/>
                  <a:cs typeface="Verdana"/>
                  <a:sym typeface="Verdana"/>
                </a:rPr>
                <a:t>display(A+B)</a:t>
              </a:r>
              <a:endParaRPr/>
            </a:p>
          </p:txBody>
        </p:sp>
        <p:sp>
          <p:nvSpPr>
            <p:cNvPr descr="Text Box 12" id="2887" name="Google Shape;2887;p210"/>
            <p:cNvSpPr txBox="1"/>
            <p:nvPr/>
          </p:nvSpPr>
          <p:spPr>
            <a:xfrm>
              <a:off x="385804" y="0"/>
              <a:ext cx="390337"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T1</a:t>
              </a:r>
              <a:endParaRPr/>
            </a:p>
          </p:txBody>
        </p:sp>
        <p:sp>
          <p:nvSpPr>
            <p:cNvPr descr="Text Box 13" id="2888" name="Google Shape;2888;p210"/>
            <p:cNvSpPr txBox="1"/>
            <p:nvPr/>
          </p:nvSpPr>
          <p:spPr>
            <a:xfrm>
              <a:off x="2716218" y="33337"/>
              <a:ext cx="390337" cy="370841"/>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T2</a:t>
              </a:r>
              <a:endParaRPr/>
            </a:p>
          </p:txBody>
        </p:sp>
      </p:gr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2" name="Shape 2892"/>
        <p:cNvGrpSpPr/>
        <p:nvPr/>
      </p:nvGrpSpPr>
      <p:grpSpPr>
        <a:xfrm>
          <a:off x="0" y="0"/>
          <a:ext cx="0" cy="0"/>
          <a:chOff x="0" y="0"/>
          <a:chExt cx="0" cy="0"/>
        </a:xfrm>
      </p:grpSpPr>
      <p:sp>
        <p:nvSpPr>
          <p:cNvPr descr="Title 1" id="2893" name="Google Shape;2893;p21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 instructions</a:t>
            </a:r>
            <a:endParaRPr/>
          </a:p>
        </p:txBody>
      </p:sp>
      <p:sp>
        <p:nvSpPr>
          <p:cNvPr descr="Content Placeholder 2" id="2894" name="Google Shape;2894;p21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400"/>
              <a:buFont typeface="Verdana"/>
              <a:buChar char="□"/>
            </a:pPr>
            <a:r>
              <a:rPr lang="en-US" sz="2400"/>
              <a:t>New LOCK instructions</a:t>
            </a:r>
            <a:endParaRPr/>
          </a:p>
          <a:p>
            <a:pPr indent="33338" lvl="1" marL="436563" rtl="0" algn="l">
              <a:spcBef>
                <a:spcPts val="400"/>
              </a:spcBef>
              <a:spcAft>
                <a:spcPts val="0"/>
              </a:spcAft>
              <a:buSzPts val="2000"/>
              <a:buFont typeface="Noto Sans Symbols"/>
              <a:buNone/>
            </a:pPr>
            <a:r>
              <a:rPr lang="en-US" sz="2000"/>
              <a:t>-</a:t>
            </a:r>
            <a:r>
              <a:rPr lang="en-US" sz="2000">
                <a:solidFill>
                  <a:srgbClr val="006600"/>
                </a:solidFill>
              </a:rPr>
              <a:t> </a:t>
            </a:r>
            <a:r>
              <a:rPr lang="en-US" sz="2000">
                <a:solidFill>
                  <a:srgbClr val="FF0000"/>
                </a:solidFill>
              </a:rPr>
              <a:t>Lock-S</a:t>
            </a:r>
            <a:r>
              <a:rPr lang="en-US" sz="2000"/>
              <a:t>: shared (or read) lock request</a:t>
            </a:r>
            <a:endParaRPr sz="2600"/>
          </a:p>
          <a:p>
            <a:pPr indent="33338" lvl="1" marL="436563" rtl="0" algn="l">
              <a:spcBef>
                <a:spcPts val="400"/>
              </a:spcBef>
              <a:spcAft>
                <a:spcPts val="0"/>
              </a:spcAft>
              <a:buSzPts val="2000"/>
              <a:buFont typeface="Noto Sans Symbols"/>
              <a:buNone/>
            </a:pPr>
            <a:r>
              <a:rPr lang="en-US" sz="2000"/>
              <a:t>- </a:t>
            </a:r>
            <a:r>
              <a:rPr lang="en-US" sz="2000">
                <a:solidFill>
                  <a:srgbClr val="006600"/>
                </a:solidFill>
              </a:rPr>
              <a:t>Lock-X</a:t>
            </a:r>
            <a:r>
              <a:rPr lang="en-US" sz="2000"/>
              <a:t>: exclusive (or write) lock request</a:t>
            </a:r>
            <a:endParaRPr sz="2600"/>
          </a:p>
          <a:p>
            <a:pPr indent="33338" lvl="1" marL="436563" rtl="0" algn="l">
              <a:spcBef>
                <a:spcPts val="400"/>
              </a:spcBef>
              <a:spcAft>
                <a:spcPts val="0"/>
              </a:spcAft>
              <a:buSzPts val="2000"/>
              <a:buFont typeface="Noto Sans Symbols"/>
              <a:buNone/>
            </a:pPr>
            <a:r>
              <a:rPr lang="en-US" sz="2000"/>
              <a:t>- </a:t>
            </a:r>
            <a:r>
              <a:rPr lang="en-US" sz="2000">
                <a:solidFill>
                  <a:srgbClr val="0000FF"/>
                </a:solidFill>
              </a:rPr>
              <a:t>Unlock</a:t>
            </a:r>
            <a:r>
              <a:rPr lang="en-US" sz="2000"/>
              <a:t>: release previously held lock</a:t>
            </a:r>
            <a:endParaRPr sz="2600"/>
          </a:p>
          <a:p>
            <a:pPr indent="-469900" lvl="0" marL="469900" rtl="0" algn="l">
              <a:spcBef>
                <a:spcPts val="500"/>
              </a:spcBef>
              <a:spcAft>
                <a:spcPts val="0"/>
              </a:spcAft>
              <a:buSzPts val="2400"/>
              <a:buFont typeface="Verdana"/>
              <a:buChar char="□"/>
            </a:pPr>
            <a:r>
              <a:rPr lang="en-US" sz="2400"/>
              <a:t>Example schedule:</a:t>
            </a:r>
            <a:endParaRPr/>
          </a:p>
        </p:txBody>
      </p:sp>
      <p:sp>
        <p:nvSpPr>
          <p:cNvPr descr="Date Placeholder 3" id="2895" name="Google Shape;2895;p21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896" name="Google Shape;2896;p211"/>
          <p:cNvSpPr txBox="1"/>
          <p:nvPr/>
        </p:nvSpPr>
        <p:spPr>
          <a:xfrm>
            <a:off x="8186738" y="6400800"/>
            <a:ext cx="347662"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2897" name="Google Shape;2897;p211"/>
          <p:cNvGrpSpPr/>
          <p:nvPr/>
        </p:nvGrpSpPr>
        <p:grpSpPr>
          <a:xfrm>
            <a:off x="3871913" y="3062289"/>
            <a:ext cx="3770312" cy="3190874"/>
            <a:chOff x="0" y="0"/>
            <a:chExt cx="3771899" cy="3191828"/>
          </a:xfrm>
        </p:grpSpPr>
        <p:sp>
          <p:nvSpPr>
            <p:cNvPr descr="Text Box 5" id="2898" name="Google Shape;2898;p211"/>
            <p:cNvSpPr txBox="1"/>
            <p:nvPr/>
          </p:nvSpPr>
          <p:spPr>
            <a:xfrm>
              <a:off x="0" y="296862"/>
              <a:ext cx="1332121" cy="289496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 B-50</a:t>
              </a:r>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write(</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 =A + 50</a:t>
              </a:r>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write</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(A)</a:t>
              </a:r>
              <a:endParaRPr sz="1800">
                <a:solidFill>
                  <a:srgbClr val="0000FF"/>
                </a:solidFill>
                <a:latin typeface="Verdana"/>
                <a:ea typeface="Verdana"/>
                <a:cs typeface="Verdana"/>
                <a:sym typeface="Verdana"/>
              </a:endParaRPr>
            </a:p>
          </p:txBody>
        </p:sp>
        <p:sp>
          <p:nvSpPr>
            <p:cNvPr descr="Text Box 6" id="2899" name="Google Shape;2899;p211"/>
            <p:cNvSpPr txBox="1"/>
            <p:nvPr/>
          </p:nvSpPr>
          <p:spPr>
            <a:xfrm>
              <a:off x="1924049" y="320675"/>
              <a:ext cx="1847850" cy="205676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Lock-S</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read</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Unlock(A)</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Lock-S</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read</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display(A+B)</a:t>
              </a:r>
              <a:endParaRPr/>
            </a:p>
          </p:txBody>
        </p:sp>
        <p:sp>
          <p:nvSpPr>
            <p:cNvPr descr="Text Box 7" id="2900" name="Google Shape;2900;p211"/>
            <p:cNvSpPr txBox="1"/>
            <p:nvPr/>
          </p:nvSpPr>
          <p:spPr>
            <a:xfrm>
              <a:off x="336232" y="0"/>
              <a:ext cx="390337"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T1</a:t>
              </a:r>
              <a:endParaRPr/>
            </a:p>
          </p:txBody>
        </p:sp>
        <p:sp>
          <p:nvSpPr>
            <p:cNvPr descr="Text Box 8" id="2901" name="Google Shape;2901;p211"/>
            <p:cNvSpPr txBox="1"/>
            <p:nvPr/>
          </p:nvSpPr>
          <p:spPr>
            <a:xfrm>
              <a:off x="2326956" y="0"/>
              <a:ext cx="390338" cy="3708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T2</a:t>
              </a:r>
              <a:endParaRPr/>
            </a:p>
          </p:txBody>
        </p:sp>
      </p:gr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5" name="Shape 2905"/>
        <p:cNvGrpSpPr/>
        <p:nvPr/>
      </p:nvGrpSpPr>
      <p:grpSpPr>
        <a:xfrm>
          <a:off x="0" y="0"/>
          <a:ext cx="0" cy="0"/>
          <a:chOff x="0" y="0"/>
          <a:chExt cx="0" cy="0"/>
        </a:xfrm>
      </p:grpSpPr>
      <p:sp>
        <p:nvSpPr>
          <p:cNvPr descr="Title 1" id="2906" name="Google Shape;2906;p21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907" name="Google Shape;2907;p21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lnSpc>
                <a:spcPct val="140000"/>
              </a:lnSpc>
              <a:spcBef>
                <a:spcPts val="0"/>
              </a:spcBef>
              <a:spcAft>
                <a:spcPts val="0"/>
              </a:spcAft>
              <a:buSzPts val="1600"/>
              <a:buFont typeface="Verdana"/>
              <a:buChar char="□"/>
            </a:pPr>
            <a:r>
              <a:rPr lang="en-US" sz="1600"/>
              <a:t>Lock requests are made to the </a:t>
            </a:r>
            <a:r>
              <a:rPr i="1" lang="en-US" sz="1600"/>
              <a:t>concurrency control manager</a:t>
            </a:r>
            <a:endParaRPr/>
          </a:p>
          <a:p>
            <a:pPr indent="-438150" lvl="1" marL="908050" rtl="0" algn="l">
              <a:lnSpc>
                <a:spcPct val="140000"/>
              </a:lnSpc>
              <a:spcBef>
                <a:spcPts val="300"/>
              </a:spcBef>
              <a:spcAft>
                <a:spcPts val="0"/>
              </a:spcAft>
              <a:buSzPts val="1400"/>
              <a:buFont typeface="Verdana"/>
              <a:buChar char="■"/>
            </a:pPr>
            <a:r>
              <a:rPr lang="en-US" sz="1400"/>
              <a:t>It decides whether to </a:t>
            </a:r>
            <a:r>
              <a:rPr i="1" lang="en-US" sz="1400"/>
              <a:t>grant </a:t>
            </a:r>
            <a:r>
              <a:rPr lang="en-US" sz="1400"/>
              <a:t>a lock request</a:t>
            </a:r>
            <a:endParaRPr sz="2600"/>
          </a:p>
          <a:p>
            <a:pPr indent="-469900" lvl="0" marL="469900" rtl="0" algn="l">
              <a:lnSpc>
                <a:spcPct val="140000"/>
              </a:lnSpc>
              <a:spcBef>
                <a:spcPts val="300"/>
              </a:spcBef>
              <a:spcAft>
                <a:spcPts val="0"/>
              </a:spcAft>
              <a:buSzPts val="1600"/>
              <a:buFont typeface="Verdana"/>
              <a:buChar char="□"/>
            </a:pPr>
            <a:r>
              <a:rPr lang="en-US" sz="1600"/>
              <a:t>T1 asks for a lock on data item A, and T2 currently has a lock on it ?</a:t>
            </a:r>
            <a:endParaRPr/>
          </a:p>
          <a:p>
            <a:pPr indent="-438150" lvl="1" marL="908050" rtl="0" algn="l">
              <a:spcBef>
                <a:spcPts val="300"/>
              </a:spcBef>
              <a:spcAft>
                <a:spcPts val="0"/>
              </a:spcAft>
              <a:buSzPts val="1400"/>
              <a:buFont typeface="Verdana"/>
              <a:buChar char="■"/>
            </a:pPr>
            <a:r>
              <a:rPr lang="en-US" sz="1400"/>
              <a:t>Depends </a:t>
            </a:r>
            <a:endParaRPr sz="26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349250" lvl="1" marL="908050" rtl="0" algn="l">
              <a:spcBef>
                <a:spcPts val="600"/>
              </a:spcBef>
              <a:spcAft>
                <a:spcPts val="0"/>
              </a:spcAft>
              <a:buSzPts val="1400"/>
              <a:buFont typeface="Verdana"/>
              <a:buNone/>
            </a:pPr>
            <a:r>
              <a:t/>
            </a:r>
            <a:endParaRPr sz="1400"/>
          </a:p>
          <a:p>
            <a:pPr indent="-438150" lvl="1" marL="908050" rtl="0" algn="l">
              <a:spcBef>
                <a:spcPts val="300"/>
              </a:spcBef>
              <a:spcAft>
                <a:spcPts val="0"/>
              </a:spcAft>
              <a:buSzPts val="1400"/>
              <a:buFont typeface="Verdana"/>
              <a:buChar char="■"/>
            </a:pPr>
            <a:r>
              <a:rPr lang="en-US" sz="1400"/>
              <a:t>If </a:t>
            </a:r>
            <a:r>
              <a:rPr i="1" lang="en-US" sz="1400"/>
              <a:t>compatible, </a:t>
            </a:r>
            <a:r>
              <a:rPr lang="en-US" sz="1400"/>
              <a:t>grant the lock, otherwise T1 waits in a </a:t>
            </a:r>
            <a:r>
              <a:rPr i="1" lang="en-US" sz="1400"/>
              <a:t>queue.</a:t>
            </a:r>
            <a:endParaRPr sz="1400"/>
          </a:p>
        </p:txBody>
      </p:sp>
      <p:sp>
        <p:nvSpPr>
          <p:cNvPr descr="Date Placeholder 3" id="2908" name="Google Shape;2908;p21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09" name="Google Shape;2909;p21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2910" name="Google Shape;2910;p212"/>
          <p:cNvGraphicFramePr/>
          <p:nvPr/>
        </p:nvGraphicFramePr>
        <p:xfrm>
          <a:off x="1619250" y="2852738"/>
          <a:ext cx="3000000" cy="3000000"/>
        </p:xfrm>
        <a:graphic>
          <a:graphicData uri="http://schemas.openxmlformats.org/drawingml/2006/table">
            <a:tbl>
              <a:tblPr>
                <a:noFill/>
                <a:tableStyleId>{DA31C186-C125-4E34-A739-053F885C22C1}</a:tableStyleId>
              </a:tblPr>
              <a:tblGrid>
                <a:gridCol w="2114550"/>
                <a:gridCol w="2112975"/>
                <a:gridCol w="2114550"/>
              </a:tblGrid>
              <a:tr h="420700">
                <a:tc>
                  <a:txBody>
                    <a:bodyPr/>
                    <a:lstStyle/>
                    <a:p>
                      <a:pPr indent="0" lvl="0" marL="0" marR="0" rtl="0" algn="ctr">
                        <a:lnSpc>
                          <a:spcPct val="100000"/>
                        </a:lnSpc>
                        <a:spcBef>
                          <a:spcPts val="0"/>
                        </a:spcBef>
                        <a:spcAft>
                          <a:spcPts val="0"/>
                        </a:spcAft>
                        <a:buClr>
                          <a:srgbClr val="000000"/>
                        </a:buClr>
                        <a:buSzPts val="1800"/>
                        <a:buFont typeface="Helvetica Neue"/>
                        <a:buNone/>
                      </a:pPr>
                      <a:r>
                        <a:rPr b="1" i="0" lang="en-US" sz="1800" u="sng" cap="none" strike="noStrike">
                          <a:solidFill>
                            <a:srgbClr val="000000"/>
                          </a:solidFill>
                          <a:latin typeface="Helvetica Neue"/>
                          <a:ea typeface="Helvetica Neue"/>
                          <a:cs typeface="Helvetica Neue"/>
                          <a:sym typeface="Helvetica Neue"/>
                        </a:rPr>
                        <a:t>T2 lock type</a:t>
                      </a:r>
                      <a:endParaRPr b="0" i="0" sz="1800" u="none" cap="none" strike="noStrike">
                        <a:solidFill>
                          <a:srgbClr val="000000"/>
                        </a:solidFill>
                        <a:latin typeface="Verdana"/>
                        <a:ea typeface="Verdana"/>
                        <a:cs typeface="Verdana"/>
                        <a:sym typeface="Verdana"/>
                      </a:endParaRPr>
                    </a:p>
                  </a:txBody>
                  <a:tcPr marT="45725" marB="45725" marR="45725" marL="45725">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Helvetica Neue"/>
                        <a:buNone/>
                      </a:pPr>
                      <a:r>
                        <a:rPr b="1" i="0" lang="en-US" sz="1800" u="sng" cap="none" strike="noStrike">
                          <a:solidFill>
                            <a:srgbClr val="000000"/>
                          </a:solidFill>
                          <a:latin typeface="Helvetica Neue"/>
                          <a:ea typeface="Helvetica Neue"/>
                          <a:cs typeface="Helvetica Neue"/>
                          <a:sym typeface="Helvetica Neue"/>
                        </a:rPr>
                        <a:t>T1 lock type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Helvetica Neue"/>
                        <a:buNone/>
                      </a:pPr>
                      <a:r>
                        <a:rPr b="1" i="0" lang="en-US" sz="1800" u="sng" cap="none" strike="noStrike">
                          <a:solidFill>
                            <a:srgbClr val="000000"/>
                          </a:solidFill>
                          <a:latin typeface="Helvetica Neue"/>
                          <a:ea typeface="Helvetica Neue"/>
                          <a:cs typeface="Helvetica Neue"/>
                          <a:sym typeface="Helvetica Neue"/>
                        </a:rPr>
                        <a:t>Should allow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2275">
                <a:tc>
                  <a:txBody>
                    <a:bodyPr/>
                    <a:lstStyle/>
                    <a:p>
                      <a:pPr indent="0" lvl="0" marL="0" marR="0" rtl="0" algn="ctr">
                        <a:lnSpc>
                          <a:spcPct val="100000"/>
                        </a:lnSpc>
                        <a:spcBef>
                          <a:spcPts val="0"/>
                        </a:spcBef>
                        <a:spcAft>
                          <a:spcPts val="0"/>
                        </a:spcAft>
                        <a:buClr>
                          <a:srgbClr val="FF0000"/>
                        </a:buClr>
                        <a:buSzPts val="1800"/>
                        <a:buFont typeface="Helvetica Neue"/>
                        <a:buNone/>
                      </a:pPr>
                      <a:r>
                        <a:rPr b="0" i="0" lang="en-US" sz="1800" u="none" cap="none" strike="noStrike">
                          <a:solidFill>
                            <a:srgbClr val="FF0000"/>
                          </a:solidFill>
                          <a:latin typeface="Helvetica Neue"/>
                          <a:ea typeface="Helvetica Neue"/>
                          <a:cs typeface="Helvetica Neue"/>
                          <a:sym typeface="Helvetica Neue"/>
                        </a:rPr>
                        <a:t>Shared</a:t>
                      </a:r>
                      <a:endParaRPr b="0" i="0" sz="1800" u="none" cap="none" strike="noStrike">
                        <a:solidFill>
                          <a:srgbClr val="000000"/>
                        </a:solidFill>
                        <a:latin typeface="Verdana"/>
                        <a:ea typeface="Verdana"/>
                        <a:cs typeface="Verdana"/>
                        <a:sym typeface="Verdana"/>
                      </a:endParaRPr>
                    </a:p>
                  </a:txBody>
                  <a:tcPr marT="45725" marB="45725" marR="45725" marL="45725">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800"/>
                        <a:buFont typeface="Helvetica Neue"/>
                        <a:buNone/>
                      </a:pPr>
                      <a:r>
                        <a:rPr b="0" i="0" lang="en-US" sz="1800" u="none" cap="none" strike="noStrike">
                          <a:solidFill>
                            <a:srgbClr val="FF0000"/>
                          </a:solidFill>
                          <a:latin typeface="Helvetica Neue"/>
                          <a:ea typeface="Helvetica Neue"/>
                          <a:cs typeface="Helvetica Neue"/>
                          <a:sym typeface="Helvetica Neue"/>
                        </a:rPr>
                        <a:t>Shared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800"/>
                        <a:buFont typeface="Helvetica Neue"/>
                        <a:buNone/>
                      </a:pPr>
                      <a:r>
                        <a:rPr b="0" i="0" lang="en-US" sz="1800" u="none" cap="none" strike="noStrike">
                          <a:solidFill>
                            <a:srgbClr val="FF0000"/>
                          </a:solidFill>
                          <a:latin typeface="Helvetica Neue"/>
                          <a:ea typeface="Helvetica Neue"/>
                          <a:cs typeface="Helvetica Neue"/>
                          <a:sym typeface="Helvetica Neue"/>
                        </a:rPr>
                        <a:t> YES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0700">
                <a:tc>
                  <a:txBody>
                    <a:bodyPr/>
                    <a:lstStyle/>
                    <a:p>
                      <a:pPr indent="0" lvl="0" marL="0" marR="0" rtl="0" algn="ctr">
                        <a:lnSpc>
                          <a:spcPct val="100000"/>
                        </a:lnSpc>
                        <a:spcBef>
                          <a:spcPts val="0"/>
                        </a:spcBef>
                        <a:spcAft>
                          <a:spcPts val="0"/>
                        </a:spcAft>
                        <a:buClr>
                          <a:srgbClr val="FF0000"/>
                        </a:buClr>
                        <a:buSzPts val="1800"/>
                        <a:buFont typeface="Helvetica Neue"/>
                        <a:buNone/>
                      </a:pPr>
                      <a:r>
                        <a:rPr b="0" i="0" lang="en-US" sz="1800" u="none" cap="none" strike="noStrike">
                          <a:solidFill>
                            <a:srgbClr val="FF0000"/>
                          </a:solidFill>
                          <a:latin typeface="Helvetica Neue"/>
                          <a:ea typeface="Helvetica Neue"/>
                          <a:cs typeface="Helvetica Neue"/>
                          <a:sym typeface="Helvetica Neue"/>
                        </a:rPr>
                        <a:t>Shared</a:t>
                      </a:r>
                      <a:endParaRPr b="0" i="0" sz="1800" u="none" cap="none" strike="noStrike">
                        <a:solidFill>
                          <a:srgbClr val="000000"/>
                        </a:solidFill>
                        <a:latin typeface="Verdana"/>
                        <a:ea typeface="Verdana"/>
                        <a:cs typeface="Verdana"/>
                        <a:sym typeface="Verdana"/>
                      </a:endParaRPr>
                    </a:p>
                  </a:txBody>
                  <a:tcPr marT="45725" marB="45725" marR="45725" marL="45725">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6600"/>
                        </a:buClr>
                        <a:buSzPts val="1800"/>
                        <a:buFont typeface="Helvetica Neue"/>
                        <a:buNone/>
                      </a:pPr>
                      <a:r>
                        <a:rPr b="0" i="0" lang="en-US" sz="1800" u="none" cap="none" strike="noStrike">
                          <a:solidFill>
                            <a:srgbClr val="006600"/>
                          </a:solidFill>
                          <a:latin typeface="Helvetica Neue"/>
                          <a:ea typeface="Helvetica Neue"/>
                          <a:cs typeface="Helvetica Neue"/>
                          <a:sym typeface="Helvetica Neue"/>
                        </a:rPr>
                        <a:t>Exclusive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6600"/>
                        </a:buClr>
                        <a:buSzPts val="1800"/>
                        <a:buFont typeface="Helvetica Neue"/>
                        <a:buNone/>
                      </a:pPr>
                      <a:r>
                        <a:rPr b="0" i="0" lang="en-US" sz="1800" u="none" cap="none" strike="noStrike">
                          <a:solidFill>
                            <a:srgbClr val="006600"/>
                          </a:solidFill>
                          <a:latin typeface="Helvetica Neue"/>
                          <a:ea typeface="Helvetica Neue"/>
                          <a:cs typeface="Helvetica Neue"/>
                          <a:sym typeface="Helvetica Neue"/>
                        </a:rPr>
                        <a:t>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20700">
                <a:tc>
                  <a:txBody>
                    <a:bodyPr/>
                    <a:lstStyle/>
                    <a:p>
                      <a:pPr indent="0" lvl="0" marL="0" marR="0" rtl="0" algn="ctr">
                        <a:lnSpc>
                          <a:spcPct val="100000"/>
                        </a:lnSpc>
                        <a:spcBef>
                          <a:spcPts val="0"/>
                        </a:spcBef>
                        <a:spcAft>
                          <a:spcPts val="0"/>
                        </a:spcAft>
                        <a:buClr>
                          <a:srgbClr val="006600"/>
                        </a:buClr>
                        <a:buSzPts val="1800"/>
                        <a:buFont typeface="Helvetica Neue"/>
                        <a:buNone/>
                      </a:pPr>
                      <a:r>
                        <a:rPr b="0" i="0" lang="en-US" sz="1800" u="none" cap="none" strike="noStrike">
                          <a:solidFill>
                            <a:srgbClr val="006600"/>
                          </a:solidFill>
                          <a:latin typeface="Helvetica Neue"/>
                          <a:ea typeface="Helvetica Neue"/>
                          <a:cs typeface="Helvetica Neue"/>
                          <a:sym typeface="Helvetica Neue"/>
                        </a:rPr>
                        <a:t>Exclusive</a:t>
                      </a:r>
                      <a:endParaRPr b="0" i="0" sz="1800" u="none" cap="none" strike="noStrike">
                        <a:solidFill>
                          <a:srgbClr val="000000"/>
                        </a:solidFill>
                        <a:latin typeface="Verdana"/>
                        <a:ea typeface="Verdana"/>
                        <a:cs typeface="Verdana"/>
                        <a:sym typeface="Verdana"/>
                      </a:endParaRPr>
                    </a:p>
                  </a:txBody>
                  <a:tcPr marT="45725" marB="45725" marR="45725" marL="45725">
                    <a:lnL cap="flat" cmpd="sng" w="28575">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Helvetica Neue"/>
                        <a:buNone/>
                      </a:pPr>
                      <a:r>
                        <a:rPr b="0" i="0" lang="en-US" sz="1800" u="none" cap="none" strike="noStrike">
                          <a:solidFill>
                            <a:srgbClr val="000000"/>
                          </a:solidFill>
                          <a:latin typeface="Helvetica Neue"/>
                          <a:ea typeface="Helvetica Neue"/>
                          <a:cs typeface="Helvetica Neue"/>
                          <a:sym typeface="Helvetica Neue"/>
                        </a:rPr>
                        <a: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6600"/>
                        </a:buClr>
                        <a:buSzPts val="1800"/>
                        <a:buFont typeface="Helvetica Neue"/>
                        <a:buNone/>
                      </a:pPr>
                      <a:r>
                        <a:rPr b="0" i="0" lang="en-US" sz="1800" u="none" cap="none" strike="noStrike">
                          <a:solidFill>
                            <a:srgbClr val="006600"/>
                          </a:solidFill>
                          <a:latin typeface="Helvetica Neue"/>
                          <a:ea typeface="Helvetica Neue"/>
                          <a:cs typeface="Helvetica Neue"/>
                          <a:sym typeface="Helvetica Neue"/>
                        </a:rPr>
                        <a:t>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4" name="Shape 2914"/>
        <p:cNvGrpSpPr/>
        <p:nvPr/>
      </p:nvGrpSpPr>
      <p:grpSpPr>
        <a:xfrm>
          <a:off x="0" y="0"/>
          <a:ext cx="0" cy="0"/>
          <a:chOff x="0" y="0"/>
          <a:chExt cx="0" cy="0"/>
        </a:xfrm>
      </p:grpSpPr>
      <p:sp>
        <p:nvSpPr>
          <p:cNvPr descr="Title 1" id="2915" name="Google Shape;2915;p21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Lock-based Protocols</a:t>
            </a:r>
            <a:endParaRPr/>
          </a:p>
        </p:txBody>
      </p:sp>
      <p:sp>
        <p:nvSpPr>
          <p:cNvPr descr="Content Placeholder 2" id="2916" name="Google Shape;2916;p21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How do we actually use this to guarantee serializability/recoverability ?</a:t>
            </a:r>
            <a:endParaRPr/>
          </a:p>
          <a:p>
            <a:pPr indent="-438150" lvl="1" marL="908050" rtl="0" algn="l">
              <a:spcBef>
                <a:spcPts val="300"/>
              </a:spcBef>
              <a:spcAft>
                <a:spcPts val="0"/>
              </a:spcAft>
              <a:buSzPts val="1400"/>
              <a:buFont typeface="Verdana"/>
              <a:buChar char="■"/>
            </a:pPr>
            <a:r>
              <a:rPr lang="en-US" sz="1400"/>
              <a:t>Not enough just to take locks when you need to read/write something</a:t>
            </a:r>
            <a:endParaRPr/>
          </a:p>
        </p:txBody>
      </p:sp>
      <p:sp>
        <p:nvSpPr>
          <p:cNvPr descr="Date Placeholder 3" id="2917" name="Google Shape;2917;p21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18" name="Google Shape;2918;p21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pSp>
        <p:nvGrpSpPr>
          <p:cNvPr id="2919" name="Google Shape;2919;p213"/>
          <p:cNvGrpSpPr/>
          <p:nvPr/>
        </p:nvGrpSpPr>
        <p:grpSpPr>
          <a:xfrm>
            <a:off x="1390650" y="1771651"/>
            <a:ext cx="1785938" cy="4651374"/>
            <a:chOff x="0" y="0"/>
            <a:chExt cx="1787387" cy="4651336"/>
          </a:xfrm>
        </p:grpSpPr>
        <p:sp>
          <p:nvSpPr>
            <p:cNvPr descr="Text Box 27" id="2920" name="Google Shape;2920;p213"/>
            <p:cNvSpPr txBox="1"/>
            <p:nvPr/>
          </p:nvSpPr>
          <p:spPr>
            <a:xfrm>
              <a:off x="0" y="498475"/>
              <a:ext cx="1787387" cy="4152861"/>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Lock-X(B)</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B </a:t>
              </a:r>
              <a:r>
                <a:rPr lang="en-US" sz="2400">
                  <a:solidFill>
                    <a:srgbClr val="000000"/>
                  </a:solidFill>
                  <a:latin typeface="Noto Sans Symbols"/>
                  <a:ea typeface="Noto Sans Symbols"/>
                  <a:cs typeface="Noto Sans Symbols"/>
                  <a:sym typeface="Noto Sans Symbols"/>
                </a:rPr>
                <a:t>🡨</a:t>
              </a:r>
              <a:r>
                <a:rPr lang="en-US" sz="2400">
                  <a:solidFill>
                    <a:srgbClr val="000000"/>
                  </a:solidFill>
                  <a:latin typeface="Verdana"/>
                  <a:ea typeface="Verdana"/>
                  <a:cs typeface="Verdana"/>
                  <a:sym typeface="Verdana"/>
                </a:rPr>
                <a:t>B-50</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write(B)</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Unlock(B)</a:t>
              </a:r>
              <a:endParaRPr/>
            </a:p>
            <a:p>
              <a:pPr indent="0" lvl="0" marL="0" marR="0" rtl="0" algn="l">
                <a:spcBef>
                  <a:spcPts val="0"/>
                </a:spcBef>
                <a:spcAft>
                  <a:spcPts val="0"/>
                </a:spcAft>
                <a:buNone/>
              </a:pPr>
              <a:r>
                <a:t/>
              </a:r>
              <a:endParaRPr sz="2400">
                <a:solidFill>
                  <a:srgbClr val="000000"/>
                </a:solidFill>
                <a:latin typeface="Verdana"/>
                <a:ea typeface="Verdana"/>
                <a:cs typeface="Verdana"/>
                <a:sym typeface="Verdana"/>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Lock-X(A)</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A </a:t>
              </a:r>
              <a:r>
                <a:rPr lang="en-US" sz="2400">
                  <a:solidFill>
                    <a:srgbClr val="000000"/>
                  </a:solidFill>
                  <a:latin typeface="Noto Sans Symbols"/>
                  <a:ea typeface="Noto Sans Symbols"/>
                  <a:cs typeface="Noto Sans Symbols"/>
                  <a:sym typeface="Noto Sans Symbols"/>
                </a:rPr>
                <a:t>🡨</a:t>
              </a:r>
              <a:r>
                <a:rPr lang="en-US" sz="2400">
                  <a:solidFill>
                    <a:srgbClr val="000000"/>
                  </a:solidFill>
                  <a:latin typeface="Verdana"/>
                  <a:ea typeface="Verdana"/>
                  <a:cs typeface="Verdana"/>
                  <a:sym typeface="Verdana"/>
                </a:rPr>
                <a:t>A + 50</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write(A)</a:t>
              </a:r>
              <a:endParaRPr/>
            </a:p>
            <a:p>
              <a:pPr indent="0" lvl="0" marL="0" marR="0" rtl="0" algn="l">
                <a:spcBef>
                  <a:spcPts val="0"/>
                </a:spcBef>
                <a:spcAft>
                  <a:spcPts val="0"/>
                </a:spcAft>
                <a:buNone/>
              </a:pPr>
              <a:r>
                <a:rPr lang="en-US" sz="2400">
                  <a:solidFill>
                    <a:srgbClr val="000000"/>
                  </a:solidFill>
                  <a:latin typeface="Verdana"/>
                  <a:ea typeface="Verdana"/>
                  <a:cs typeface="Verdana"/>
                  <a:sym typeface="Verdana"/>
                </a:rPr>
                <a:t>Unlock(A)</a:t>
              </a:r>
              <a:endParaRPr/>
            </a:p>
          </p:txBody>
        </p:sp>
        <p:sp>
          <p:nvSpPr>
            <p:cNvPr descr="Text Box 29" id="2921" name="Google Shape;2921;p213"/>
            <p:cNvSpPr txBox="1"/>
            <p:nvPr/>
          </p:nvSpPr>
          <p:spPr>
            <a:xfrm>
              <a:off x="336232" y="0"/>
              <a:ext cx="485736" cy="4597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T1</a:t>
              </a:r>
              <a:endParaRPr/>
            </a:p>
          </p:txBody>
        </p:sp>
      </p:grpSp>
      <p:grpSp>
        <p:nvGrpSpPr>
          <p:cNvPr id="2922" name="Google Shape;2922;p213"/>
          <p:cNvGrpSpPr/>
          <p:nvPr/>
        </p:nvGrpSpPr>
        <p:grpSpPr>
          <a:xfrm>
            <a:off x="2509838" y="3344863"/>
            <a:ext cx="4776787" cy="1219200"/>
            <a:chOff x="-1" y="0"/>
            <a:chExt cx="4775202" cy="1218565"/>
          </a:xfrm>
        </p:grpSpPr>
        <p:cxnSp>
          <p:nvCxnSpPr>
            <p:cNvPr descr="Line 32" id="2923" name="Google Shape;2923;p213"/>
            <p:cNvCxnSpPr/>
            <p:nvPr/>
          </p:nvCxnSpPr>
          <p:spPr>
            <a:xfrm flipH="1">
              <a:off x="-1" y="573087"/>
              <a:ext cx="2046290" cy="434976"/>
            </a:xfrm>
            <a:prstGeom prst="straightConnector1">
              <a:avLst/>
            </a:prstGeom>
            <a:noFill/>
            <a:ln cap="flat" cmpd="sng" w="76200">
              <a:solidFill>
                <a:srgbClr val="000000"/>
              </a:solidFill>
              <a:prstDash val="solid"/>
              <a:round/>
              <a:headEnd len="med" w="med" type="triangle"/>
              <a:tailEnd len="sm" w="sm" type="none"/>
            </a:ln>
          </p:spPr>
        </p:cxnSp>
        <p:sp>
          <p:nvSpPr>
            <p:cNvPr descr="Text Box 33" id="2924" name="Google Shape;2924;p213"/>
            <p:cNvSpPr txBox="1"/>
            <p:nvPr/>
          </p:nvSpPr>
          <p:spPr>
            <a:xfrm>
              <a:off x="2157412" y="0"/>
              <a:ext cx="2617789" cy="1218565"/>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Lock-X(A), Lock-X(B)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 = A-50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 B+50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Unlock(A), Unlock(B)</a:t>
              </a:r>
              <a:endParaRPr/>
            </a:p>
          </p:txBody>
        </p:sp>
      </p:grpSp>
      <p:sp>
        <p:nvSpPr>
          <p:cNvPr descr="Text Box 29" id="2925" name="Google Shape;2925;p213"/>
          <p:cNvSpPr txBox="1"/>
          <p:nvPr/>
        </p:nvSpPr>
        <p:spPr>
          <a:xfrm>
            <a:off x="5473700" y="2855913"/>
            <a:ext cx="485775" cy="460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T2</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9" name="Shape 2929"/>
        <p:cNvGrpSpPr/>
        <p:nvPr/>
      </p:nvGrpSpPr>
      <p:grpSpPr>
        <a:xfrm>
          <a:off x="0" y="0"/>
          <a:ext cx="0" cy="0"/>
          <a:chOff x="0" y="0"/>
          <a:chExt cx="0" cy="0"/>
        </a:xfrm>
      </p:grpSpPr>
      <p:sp>
        <p:nvSpPr>
          <p:cNvPr descr="Title 1" id="2930" name="Google Shape;2930;p21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Two-Phase Locking Protocol (2PL)</a:t>
            </a:r>
            <a:endParaRPr/>
          </a:p>
        </p:txBody>
      </p:sp>
      <p:sp>
        <p:nvSpPr>
          <p:cNvPr descr="Date Placeholder 3" id="2931" name="Google Shape;2931;p21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32" name="Google Shape;2932;p21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3" id="2933" name="Google Shape;2933;p214"/>
          <p:cNvSpPr txBox="1"/>
          <p:nvPr/>
        </p:nvSpPr>
        <p:spPr>
          <a:xfrm>
            <a:off x="615950" y="1114425"/>
            <a:ext cx="7981950" cy="3384550"/>
          </a:xfrm>
          <a:prstGeom prst="rect">
            <a:avLst/>
          </a:prstGeom>
          <a:noFill/>
          <a:ln>
            <a:noFill/>
          </a:ln>
        </p:spPr>
        <p:txBody>
          <a:bodyPr anchorCtr="0" anchor="t" bIns="45700" lIns="45700" spcFirstLastPara="1" rIns="45700" wrap="square" tIns="45700">
            <a:spAutoFit/>
          </a:bodyPr>
          <a:lstStyle/>
          <a:p>
            <a:pPr indent="-469900" lvl="0" marL="469900" marR="0" rtl="0" algn="just">
              <a:spcBef>
                <a:spcPts val="0"/>
              </a:spcBef>
              <a:spcAft>
                <a:spcPts val="0"/>
              </a:spcAft>
              <a:buNone/>
            </a:pPr>
            <a:r>
              <a:rPr lang="en-US" sz="1800">
                <a:solidFill>
                  <a:srgbClr val="003366"/>
                </a:solidFill>
                <a:latin typeface="Verdana"/>
                <a:ea typeface="Verdana"/>
                <a:cs typeface="Verdana"/>
                <a:sym typeface="Verdana"/>
              </a:rPr>
              <a:t>A transaction is said to follow two phase locking protocol if all </a:t>
            </a:r>
            <a:endParaRPr sz="3000">
              <a:solidFill>
                <a:srgbClr val="003366"/>
              </a:solidFill>
              <a:latin typeface="Verdana"/>
              <a:ea typeface="Verdana"/>
              <a:cs typeface="Verdana"/>
              <a:sym typeface="Verdana"/>
            </a:endParaRPr>
          </a:p>
          <a:p>
            <a:pPr indent="-469900" lvl="0" marL="469900" marR="0" rtl="0" algn="just">
              <a:spcBef>
                <a:spcPts val="400"/>
              </a:spcBef>
              <a:spcAft>
                <a:spcPts val="0"/>
              </a:spcAft>
              <a:buNone/>
            </a:pPr>
            <a:r>
              <a:rPr lang="en-US" sz="1800">
                <a:solidFill>
                  <a:srgbClr val="003366"/>
                </a:solidFill>
                <a:latin typeface="Verdana"/>
                <a:ea typeface="Verdana"/>
                <a:cs typeface="Verdana"/>
                <a:sym typeface="Verdana"/>
              </a:rPr>
              <a:t>locking operations (read-lock or shared lock, write-lock or </a:t>
            </a:r>
            <a:endParaRPr sz="3000">
              <a:solidFill>
                <a:srgbClr val="003366"/>
              </a:solidFill>
              <a:latin typeface="Verdana"/>
              <a:ea typeface="Verdana"/>
              <a:cs typeface="Verdana"/>
              <a:sym typeface="Verdana"/>
            </a:endParaRPr>
          </a:p>
          <a:p>
            <a:pPr indent="-469900" lvl="0" marL="469900" marR="0" rtl="0" algn="just">
              <a:spcBef>
                <a:spcPts val="400"/>
              </a:spcBef>
              <a:spcAft>
                <a:spcPts val="0"/>
              </a:spcAft>
              <a:buNone/>
            </a:pPr>
            <a:r>
              <a:rPr lang="en-US" sz="1800">
                <a:solidFill>
                  <a:srgbClr val="003366"/>
                </a:solidFill>
                <a:latin typeface="Verdana"/>
                <a:ea typeface="Verdana"/>
                <a:cs typeface="Verdana"/>
                <a:sym typeface="Verdana"/>
              </a:rPr>
              <a:t>Exclusive- lock) precede the first Unlock operation in the </a:t>
            </a:r>
            <a:endParaRPr sz="3000">
              <a:solidFill>
                <a:srgbClr val="003366"/>
              </a:solidFill>
              <a:latin typeface="Verdana"/>
              <a:ea typeface="Verdana"/>
              <a:cs typeface="Verdana"/>
              <a:sym typeface="Verdana"/>
            </a:endParaRPr>
          </a:p>
          <a:p>
            <a:pPr indent="-469900" lvl="0" marL="469900" marR="0" rtl="0" algn="just">
              <a:spcBef>
                <a:spcPts val="400"/>
              </a:spcBef>
              <a:spcAft>
                <a:spcPts val="0"/>
              </a:spcAft>
              <a:buNone/>
            </a:pPr>
            <a:r>
              <a:rPr lang="en-US" sz="1800">
                <a:solidFill>
                  <a:srgbClr val="003366"/>
                </a:solidFill>
                <a:latin typeface="Verdana"/>
                <a:ea typeface="Verdana"/>
                <a:cs typeface="Verdana"/>
                <a:sym typeface="Verdana"/>
              </a:rPr>
              <a:t>transaction. Such  transaction can be divided into two phases</a:t>
            </a:r>
            <a:endParaRPr sz="3000">
              <a:solidFill>
                <a:srgbClr val="003366"/>
              </a:solidFill>
              <a:latin typeface="Verdana"/>
              <a:ea typeface="Verdana"/>
              <a:cs typeface="Verdana"/>
              <a:sym typeface="Verdana"/>
            </a:endParaRPr>
          </a:p>
          <a:p>
            <a:pPr indent="-469900" lvl="0" marL="469900" marR="0" rtl="0" algn="just">
              <a:spcBef>
                <a:spcPts val="400"/>
              </a:spcBef>
              <a:spcAft>
                <a:spcPts val="0"/>
              </a:spcAft>
              <a:buClr>
                <a:schemeClr val="accent2"/>
              </a:buClr>
              <a:buSzPts val="1800"/>
              <a:buFont typeface="Verdana"/>
              <a:buChar char="□"/>
            </a:pPr>
            <a:r>
              <a:rPr lang="en-US" sz="1800">
                <a:solidFill>
                  <a:srgbClr val="003366"/>
                </a:solidFill>
                <a:latin typeface="Verdana"/>
                <a:ea typeface="Verdana"/>
                <a:cs typeface="Verdana"/>
                <a:sym typeface="Verdana"/>
              </a:rPr>
              <a:t>Phase 1: Growing (or Lock Acquiring) phase </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600"/>
              <a:buFont typeface="Verdana"/>
              <a:buChar char="■"/>
            </a:pPr>
            <a:r>
              <a:rPr b="0" i="0" lang="en-US" sz="1600" u="none" cap="none" strike="noStrike">
                <a:solidFill>
                  <a:srgbClr val="003366"/>
                </a:solidFill>
                <a:latin typeface="Verdana"/>
                <a:ea typeface="Verdana"/>
                <a:cs typeface="Verdana"/>
                <a:sym typeface="Verdana"/>
              </a:rPr>
              <a:t>Transaction may obtain locks</a:t>
            </a:r>
            <a:endParaRPr b="0" i="0" sz="2600" u="none" cap="none" strike="noStrike">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600"/>
              <a:buFont typeface="Verdana"/>
              <a:buChar char="■"/>
            </a:pPr>
            <a:r>
              <a:rPr b="0" i="0" lang="en-US" sz="1600" u="none" cap="none" strike="noStrike">
                <a:solidFill>
                  <a:srgbClr val="003366"/>
                </a:solidFill>
                <a:latin typeface="Verdana"/>
                <a:ea typeface="Verdana"/>
                <a:cs typeface="Verdana"/>
                <a:sym typeface="Verdana"/>
              </a:rPr>
              <a:t>But may not release them</a:t>
            </a:r>
            <a:endParaRPr b="0" i="0" sz="2600" u="none" cap="none" strike="noStrike">
              <a:solidFill>
                <a:srgbClr val="003366"/>
              </a:solidFill>
              <a:latin typeface="Verdana"/>
              <a:ea typeface="Verdana"/>
              <a:cs typeface="Verdana"/>
              <a:sym typeface="Verdana"/>
            </a:endParaRPr>
          </a:p>
          <a:p>
            <a:pPr indent="-469900" lvl="0" marL="469900" marR="0" rtl="0" algn="just">
              <a:spcBef>
                <a:spcPts val="400"/>
              </a:spcBef>
              <a:spcAft>
                <a:spcPts val="0"/>
              </a:spcAft>
              <a:buClr>
                <a:schemeClr val="accent2"/>
              </a:buClr>
              <a:buSzPts val="1800"/>
              <a:buFont typeface="Verdana"/>
              <a:buChar char="□"/>
            </a:pPr>
            <a:r>
              <a:rPr lang="en-US" sz="1800">
                <a:solidFill>
                  <a:srgbClr val="003366"/>
                </a:solidFill>
                <a:latin typeface="Verdana"/>
                <a:ea typeface="Verdana"/>
                <a:cs typeface="Verdana"/>
                <a:sym typeface="Verdana"/>
              </a:rPr>
              <a:t>Phase 2: Shrinking (or Lock Releasing) phase</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600"/>
              <a:buFont typeface="Verdana"/>
              <a:buChar char="■"/>
            </a:pPr>
            <a:r>
              <a:rPr b="0" i="0" lang="en-US" sz="1600" u="none" cap="none" strike="noStrike">
                <a:solidFill>
                  <a:srgbClr val="003366"/>
                </a:solidFill>
                <a:latin typeface="Verdana"/>
                <a:ea typeface="Verdana"/>
                <a:cs typeface="Verdana"/>
                <a:sym typeface="Verdana"/>
              </a:rPr>
              <a:t>Transaction may only release locks</a:t>
            </a:r>
            <a:endParaRPr b="0" i="0" sz="2600" u="none" cap="none" strike="noStrike">
              <a:solidFill>
                <a:srgbClr val="003366"/>
              </a:solidFill>
              <a:latin typeface="Verdana"/>
              <a:ea typeface="Verdana"/>
              <a:cs typeface="Verdana"/>
              <a:sym typeface="Verdana"/>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7" name="Shape 2937"/>
        <p:cNvGrpSpPr/>
        <p:nvPr/>
      </p:nvGrpSpPr>
      <p:grpSpPr>
        <a:xfrm>
          <a:off x="0" y="0"/>
          <a:ext cx="0" cy="0"/>
          <a:chOff x="0" y="0"/>
          <a:chExt cx="0" cy="0"/>
        </a:xfrm>
      </p:grpSpPr>
      <p:sp>
        <p:nvSpPr>
          <p:cNvPr descr="Title 1" id="2938" name="Google Shape;2938;p21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Two-Phase Locking Protocol (2PL)</a:t>
            </a:r>
            <a:endParaRPr/>
          </a:p>
        </p:txBody>
      </p:sp>
      <p:sp>
        <p:nvSpPr>
          <p:cNvPr descr="Date Placeholder 3" id="2939" name="Google Shape;2939;p21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40" name="Google Shape;2940;p21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3" id="2941" name="Google Shape;2941;p215"/>
          <p:cNvSpPr txBox="1"/>
          <p:nvPr/>
        </p:nvSpPr>
        <p:spPr>
          <a:xfrm>
            <a:off x="615950" y="1114425"/>
            <a:ext cx="7981950" cy="1870075"/>
          </a:xfrm>
          <a:prstGeom prst="rect">
            <a:avLst/>
          </a:prstGeom>
          <a:noFill/>
          <a:ln>
            <a:noFill/>
          </a:ln>
        </p:spPr>
        <p:txBody>
          <a:bodyPr anchorCtr="0" anchor="t" bIns="45700" lIns="45700" spcFirstLastPara="1" rIns="45700" wrap="square" tIns="45700">
            <a:spAutoFit/>
          </a:bodyPr>
          <a:lstStyle/>
          <a:p>
            <a:pPr indent="-469900" lvl="0" marL="469900" marR="0" rtl="0" algn="just">
              <a:spcBef>
                <a:spcPts val="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1: Growing (or Lock Acquiring) phase </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obtain locks</a:t>
            </a:r>
            <a:endParaRPr b="0" i="0" sz="2600" u="none" cap="none" strike="noStrike">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But may not release them</a:t>
            </a:r>
            <a:endParaRPr b="0" i="0" sz="2600" u="none" cap="none" strike="noStrike">
              <a:solidFill>
                <a:srgbClr val="003366"/>
              </a:solidFill>
              <a:latin typeface="Verdana"/>
              <a:ea typeface="Verdana"/>
              <a:cs typeface="Verdana"/>
              <a:sym typeface="Verdana"/>
            </a:endParaRPr>
          </a:p>
          <a:p>
            <a:pPr indent="-469900" lvl="0" marL="469900" marR="0" rtl="0" algn="just">
              <a:spcBef>
                <a:spcPts val="30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2: Shrinking (or Lock Releasing) phase</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only release locks</a:t>
            </a:r>
            <a:endParaRPr b="0" i="0" sz="2600" u="none" cap="none" strike="noStrike">
              <a:solidFill>
                <a:srgbClr val="003366"/>
              </a:solidFill>
              <a:latin typeface="Verdana"/>
              <a:ea typeface="Verdana"/>
              <a:cs typeface="Verdana"/>
              <a:sym typeface="Verdana"/>
            </a:endParaRPr>
          </a:p>
        </p:txBody>
      </p:sp>
      <p:grpSp>
        <p:nvGrpSpPr>
          <p:cNvPr id="2942" name="Google Shape;2942;p215"/>
          <p:cNvGrpSpPr/>
          <p:nvPr/>
        </p:nvGrpSpPr>
        <p:grpSpPr>
          <a:xfrm>
            <a:off x="544513" y="2641601"/>
            <a:ext cx="2840037" cy="3602037"/>
            <a:chOff x="0" y="0"/>
            <a:chExt cx="2839229" cy="3601850"/>
          </a:xfrm>
        </p:grpSpPr>
        <p:sp>
          <p:nvSpPr>
            <p:cNvPr descr="Text Box 11" id="2943" name="Google Shape;2943;p215"/>
            <p:cNvSpPr txBox="1"/>
            <p:nvPr/>
          </p:nvSpPr>
          <p:spPr>
            <a:xfrm>
              <a:off x="240030" y="427037"/>
              <a:ext cx="1368956" cy="31748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a:t>
              </a:r>
              <a:r>
                <a:rPr lang="en-US" sz="1800">
                  <a:solidFill>
                    <a:srgbClr val="000000"/>
                  </a:solidFill>
                  <a:latin typeface="Noto Sans Symbols"/>
                  <a:ea typeface="Noto Sans Symbols"/>
                  <a:cs typeface="Noto Sans Symbols"/>
                  <a:sym typeface="Noto Sans Symbols"/>
                </a:rPr>
                <a:t>🡨</a:t>
              </a:r>
              <a:r>
                <a:rPr lang="en-US" sz="1800">
                  <a:solidFill>
                    <a:srgbClr val="000000"/>
                  </a:solidFill>
                  <a:latin typeface="Verdana"/>
                  <a:ea typeface="Verdana"/>
                  <a:cs typeface="Verdana"/>
                  <a:sym typeface="Verdana"/>
                </a:rPr>
                <a:t>B-50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write(B)</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 </a:t>
              </a:r>
              <a:r>
                <a:rPr lang="en-US" sz="1800">
                  <a:solidFill>
                    <a:srgbClr val="000000"/>
                  </a:solidFill>
                  <a:latin typeface="Noto Sans Symbols"/>
                  <a:ea typeface="Noto Sans Symbols"/>
                  <a:cs typeface="Noto Sans Symbols"/>
                  <a:sym typeface="Noto Sans Symbols"/>
                </a:rPr>
                <a:t>🡨</a:t>
              </a:r>
              <a:r>
                <a:rPr lang="en-US" sz="1800">
                  <a:solidFill>
                    <a:srgbClr val="000000"/>
                  </a:solidFill>
                  <a:latin typeface="Verdana"/>
                  <a:ea typeface="Verdana"/>
                  <a:cs typeface="Verdana"/>
                  <a:sym typeface="Verdana"/>
                </a:rPr>
                <a:t>A + 50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write(A)</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(A)</a:t>
              </a:r>
              <a:endParaRPr sz="1800">
                <a:solidFill>
                  <a:srgbClr val="0000FF"/>
                </a:solidFill>
                <a:latin typeface="Verdana"/>
                <a:ea typeface="Verdana"/>
                <a:cs typeface="Verdana"/>
                <a:sym typeface="Verdana"/>
              </a:endParaRPr>
            </a:p>
          </p:txBody>
        </p:sp>
        <p:sp>
          <p:nvSpPr>
            <p:cNvPr descr="Text Box 12" id="2944" name="Google Shape;2944;p215"/>
            <p:cNvSpPr txBox="1"/>
            <p:nvPr/>
          </p:nvSpPr>
          <p:spPr>
            <a:xfrm>
              <a:off x="0" y="0"/>
              <a:ext cx="2839229" cy="3962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T1: Not following 2PL</a:t>
              </a:r>
              <a:endParaRPr/>
            </a:p>
          </p:txBody>
        </p:sp>
      </p:gr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8" name="Shape 2948"/>
        <p:cNvGrpSpPr/>
        <p:nvPr/>
      </p:nvGrpSpPr>
      <p:grpSpPr>
        <a:xfrm>
          <a:off x="0" y="0"/>
          <a:ext cx="0" cy="0"/>
          <a:chOff x="0" y="0"/>
          <a:chExt cx="0" cy="0"/>
        </a:xfrm>
      </p:grpSpPr>
      <p:sp>
        <p:nvSpPr>
          <p:cNvPr descr="Title 1" id="2949" name="Google Shape;2949;p21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Two-Phase Locking Protocol (2PL)</a:t>
            </a:r>
            <a:endParaRPr/>
          </a:p>
        </p:txBody>
      </p:sp>
      <p:sp>
        <p:nvSpPr>
          <p:cNvPr descr="Date Placeholder 3" id="2950" name="Google Shape;2950;p21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51" name="Google Shape;2951;p21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3" id="2952" name="Google Shape;2952;p216"/>
          <p:cNvSpPr txBox="1"/>
          <p:nvPr/>
        </p:nvSpPr>
        <p:spPr>
          <a:xfrm>
            <a:off x="615950" y="1114425"/>
            <a:ext cx="7981950" cy="1870075"/>
          </a:xfrm>
          <a:prstGeom prst="rect">
            <a:avLst/>
          </a:prstGeom>
          <a:noFill/>
          <a:ln>
            <a:noFill/>
          </a:ln>
        </p:spPr>
        <p:txBody>
          <a:bodyPr anchorCtr="0" anchor="t" bIns="45700" lIns="45700" spcFirstLastPara="1" rIns="45700" wrap="square" tIns="45700">
            <a:spAutoFit/>
          </a:bodyPr>
          <a:lstStyle/>
          <a:p>
            <a:pPr indent="-469900" lvl="0" marL="469900" marR="0" rtl="0" algn="just">
              <a:spcBef>
                <a:spcPts val="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1: Growing (or Lock Acquiring) phase </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obtain locks</a:t>
            </a:r>
            <a:endParaRPr b="0" i="0" sz="2600" u="none" cap="none" strike="noStrike">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But may not release them</a:t>
            </a:r>
            <a:endParaRPr b="0" i="0" sz="2600" u="none" cap="none" strike="noStrike">
              <a:solidFill>
                <a:srgbClr val="003366"/>
              </a:solidFill>
              <a:latin typeface="Verdana"/>
              <a:ea typeface="Verdana"/>
              <a:cs typeface="Verdana"/>
              <a:sym typeface="Verdana"/>
            </a:endParaRPr>
          </a:p>
          <a:p>
            <a:pPr indent="-469900" lvl="0" marL="469900" marR="0" rtl="0" algn="just">
              <a:spcBef>
                <a:spcPts val="30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2: Shrinking (or Lock Releasing) phase</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only release locks</a:t>
            </a:r>
            <a:endParaRPr b="0" i="0" sz="2600" u="none" cap="none" strike="noStrike">
              <a:solidFill>
                <a:srgbClr val="003366"/>
              </a:solidFill>
              <a:latin typeface="Verdana"/>
              <a:ea typeface="Verdana"/>
              <a:cs typeface="Verdana"/>
              <a:sym typeface="Verdana"/>
            </a:endParaRPr>
          </a:p>
        </p:txBody>
      </p:sp>
      <p:grpSp>
        <p:nvGrpSpPr>
          <p:cNvPr id="2953" name="Google Shape;2953;p216"/>
          <p:cNvGrpSpPr/>
          <p:nvPr/>
        </p:nvGrpSpPr>
        <p:grpSpPr>
          <a:xfrm>
            <a:off x="544513" y="2641601"/>
            <a:ext cx="2840037" cy="3602037"/>
            <a:chOff x="0" y="0"/>
            <a:chExt cx="2839229" cy="3601850"/>
          </a:xfrm>
        </p:grpSpPr>
        <p:sp>
          <p:nvSpPr>
            <p:cNvPr descr="Text Box 11" id="2954" name="Google Shape;2954;p216"/>
            <p:cNvSpPr txBox="1"/>
            <p:nvPr/>
          </p:nvSpPr>
          <p:spPr>
            <a:xfrm>
              <a:off x="240030" y="427037"/>
              <a:ext cx="1368956" cy="31748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a:t>
              </a:r>
              <a:r>
                <a:rPr lang="en-US" sz="1800">
                  <a:solidFill>
                    <a:srgbClr val="000000"/>
                  </a:solidFill>
                  <a:latin typeface="Noto Sans Symbols"/>
                  <a:ea typeface="Noto Sans Symbols"/>
                  <a:cs typeface="Noto Sans Symbols"/>
                  <a:sym typeface="Noto Sans Symbols"/>
                </a:rPr>
                <a:t>🡨</a:t>
              </a:r>
              <a:r>
                <a:rPr lang="en-US" sz="1800">
                  <a:solidFill>
                    <a:srgbClr val="000000"/>
                  </a:solidFill>
                  <a:latin typeface="Verdana"/>
                  <a:ea typeface="Verdana"/>
                  <a:cs typeface="Verdana"/>
                  <a:sym typeface="Verdana"/>
                </a:rPr>
                <a:t>B-50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write(B)</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 </a:t>
              </a:r>
              <a:r>
                <a:rPr lang="en-US" sz="1800">
                  <a:solidFill>
                    <a:srgbClr val="000000"/>
                  </a:solidFill>
                  <a:latin typeface="Noto Sans Symbols"/>
                  <a:ea typeface="Noto Sans Symbols"/>
                  <a:cs typeface="Noto Sans Symbols"/>
                  <a:sym typeface="Noto Sans Symbols"/>
                </a:rPr>
                <a:t>🡨</a:t>
              </a:r>
              <a:r>
                <a:rPr lang="en-US" sz="1800">
                  <a:solidFill>
                    <a:srgbClr val="000000"/>
                  </a:solidFill>
                  <a:latin typeface="Verdana"/>
                  <a:ea typeface="Verdana"/>
                  <a:cs typeface="Verdana"/>
                  <a:sym typeface="Verdana"/>
                </a:rPr>
                <a:t>A + 50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write(A)</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(A)</a:t>
              </a:r>
              <a:endParaRPr sz="1800">
                <a:solidFill>
                  <a:srgbClr val="0000FF"/>
                </a:solidFill>
                <a:latin typeface="Verdana"/>
                <a:ea typeface="Verdana"/>
                <a:cs typeface="Verdana"/>
                <a:sym typeface="Verdana"/>
              </a:endParaRPr>
            </a:p>
          </p:txBody>
        </p:sp>
        <p:sp>
          <p:nvSpPr>
            <p:cNvPr descr="Text Box 12" id="2955" name="Google Shape;2955;p216"/>
            <p:cNvSpPr txBox="1"/>
            <p:nvPr/>
          </p:nvSpPr>
          <p:spPr>
            <a:xfrm>
              <a:off x="0" y="0"/>
              <a:ext cx="2839229" cy="3962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T1: Not following 2PL</a:t>
              </a:r>
              <a:endParaRPr/>
            </a:p>
          </p:txBody>
        </p:sp>
      </p:grpSp>
      <p:sp>
        <p:nvSpPr>
          <p:cNvPr descr="Rectangle 10" id="2956" name="Google Shape;2956;p216"/>
          <p:cNvSpPr/>
          <p:nvPr/>
        </p:nvSpPr>
        <p:spPr>
          <a:xfrm>
            <a:off x="538163" y="4187825"/>
            <a:ext cx="1785937" cy="869950"/>
          </a:xfrm>
          <a:prstGeom prst="rect">
            <a:avLst/>
          </a:prstGeom>
          <a:noFill/>
          <a:ln cap="flat" cmpd="sng" w="38100">
            <a:solidFill>
              <a:srgbClr val="0000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0" name="Shape 2960"/>
        <p:cNvGrpSpPr/>
        <p:nvPr/>
      </p:nvGrpSpPr>
      <p:grpSpPr>
        <a:xfrm>
          <a:off x="0" y="0"/>
          <a:ext cx="0" cy="0"/>
          <a:chOff x="0" y="0"/>
          <a:chExt cx="0" cy="0"/>
        </a:xfrm>
      </p:grpSpPr>
      <p:sp>
        <p:nvSpPr>
          <p:cNvPr descr="Title 1" id="2961" name="Google Shape;2961;p21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Two-Phase Locking Protocol (2PL)</a:t>
            </a:r>
            <a:endParaRPr/>
          </a:p>
        </p:txBody>
      </p:sp>
      <p:sp>
        <p:nvSpPr>
          <p:cNvPr descr="Date Placeholder 3" id="2962" name="Google Shape;2962;p21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63" name="Google Shape;2963;p21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3" id="2964" name="Google Shape;2964;p217"/>
          <p:cNvSpPr txBox="1"/>
          <p:nvPr/>
        </p:nvSpPr>
        <p:spPr>
          <a:xfrm>
            <a:off x="615950" y="1114425"/>
            <a:ext cx="7981950" cy="1870075"/>
          </a:xfrm>
          <a:prstGeom prst="rect">
            <a:avLst/>
          </a:prstGeom>
          <a:noFill/>
          <a:ln>
            <a:noFill/>
          </a:ln>
        </p:spPr>
        <p:txBody>
          <a:bodyPr anchorCtr="0" anchor="t" bIns="45700" lIns="45700" spcFirstLastPara="1" rIns="45700" wrap="square" tIns="45700">
            <a:spAutoFit/>
          </a:bodyPr>
          <a:lstStyle/>
          <a:p>
            <a:pPr indent="-469900" lvl="0" marL="469900" marR="0" rtl="0" algn="just">
              <a:spcBef>
                <a:spcPts val="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1: </a:t>
            </a:r>
            <a:r>
              <a:rPr lang="en-US" sz="1600">
                <a:solidFill>
                  <a:srgbClr val="C00000"/>
                </a:solidFill>
                <a:latin typeface="Verdana"/>
                <a:ea typeface="Verdana"/>
                <a:cs typeface="Verdana"/>
                <a:sym typeface="Verdana"/>
              </a:rPr>
              <a:t>Growing (or Lock Acquiring) phase </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obtain locks</a:t>
            </a:r>
            <a:endParaRPr b="0" i="0" sz="2600" u="none" cap="none" strike="noStrike">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But may not release them</a:t>
            </a:r>
            <a:endParaRPr b="0" i="0" sz="2600" u="none" cap="none" strike="noStrike">
              <a:solidFill>
                <a:srgbClr val="003366"/>
              </a:solidFill>
              <a:latin typeface="Verdana"/>
              <a:ea typeface="Verdana"/>
              <a:cs typeface="Verdana"/>
              <a:sym typeface="Verdana"/>
            </a:endParaRPr>
          </a:p>
          <a:p>
            <a:pPr indent="-469900" lvl="0" marL="469900" marR="0" rtl="0" algn="just">
              <a:spcBef>
                <a:spcPts val="300"/>
              </a:spcBef>
              <a:spcAft>
                <a:spcPts val="0"/>
              </a:spcAft>
              <a:buClr>
                <a:schemeClr val="accent2"/>
              </a:buClr>
              <a:buSzPts val="1600"/>
              <a:buFont typeface="Verdana"/>
              <a:buChar char="□"/>
            </a:pPr>
            <a:r>
              <a:rPr lang="en-US" sz="1600">
                <a:solidFill>
                  <a:srgbClr val="003366"/>
                </a:solidFill>
                <a:latin typeface="Verdana"/>
                <a:ea typeface="Verdana"/>
                <a:cs typeface="Verdana"/>
                <a:sym typeface="Verdana"/>
              </a:rPr>
              <a:t>Phase 2: </a:t>
            </a:r>
            <a:r>
              <a:rPr lang="en-US" sz="1600">
                <a:solidFill>
                  <a:srgbClr val="CC00CC"/>
                </a:solidFill>
                <a:latin typeface="Verdana"/>
                <a:ea typeface="Verdana"/>
                <a:cs typeface="Verdana"/>
                <a:sym typeface="Verdana"/>
              </a:rPr>
              <a:t>Shrinking (or Lock Releasing) phase</a:t>
            </a:r>
            <a:endParaRPr sz="3000">
              <a:solidFill>
                <a:srgbClr val="003366"/>
              </a:solidFill>
              <a:latin typeface="Verdana"/>
              <a:ea typeface="Verdana"/>
              <a:cs typeface="Verdana"/>
              <a:sym typeface="Verdana"/>
            </a:endParaRPr>
          </a:p>
          <a:p>
            <a:pPr indent="-438150" lvl="1" marL="908050" marR="0" rtl="0" algn="just">
              <a:spcBef>
                <a:spcPts val="300"/>
              </a:spcBef>
              <a:spcAft>
                <a:spcPts val="0"/>
              </a:spcAft>
              <a:buClr>
                <a:schemeClr val="accent2"/>
              </a:buClr>
              <a:buSzPts val="1400"/>
              <a:buFont typeface="Verdana"/>
              <a:buChar char="■"/>
            </a:pPr>
            <a:r>
              <a:rPr b="0" i="0" lang="en-US" sz="1400" u="none" cap="none" strike="noStrike">
                <a:solidFill>
                  <a:srgbClr val="003366"/>
                </a:solidFill>
                <a:latin typeface="Verdana"/>
                <a:ea typeface="Verdana"/>
                <a:cs typeface="Verdana"/>
                <a:sym typeface="Verdana"/>
              </a:rPr>
              <a:t>Transaction may only release locks</a:t>
            </a:r>
            <a:endParaRPr b="0" i="0" sz="2600" u="none" cap="none" strike="noStrike">
              <a:solidFill>
                <a:srgbClr val="003366"/>
              </a:solidFill>
              <a:latin typeface="Verdana"/>
              <a:ea typeface="Verdana"/>
              <a:cs typeface="Verdana"/>
              <a:sym typeface="Verdana"/>
            </a:endParaRPr>
          </a:p>
        </p:txBody>
      </p:sp>
      <p:grpSp>
        <p:nvGrpSpPr>
          <p:cNvPr id="2965" name="Google Shape;2965;p217"/>
          <p:cNvGrpSpPr/>
          <p:nvPr/>
        </p:nvGrpSpPr>
        <p:grpSpPr>
          <a:xfrm>
            <a:off x="544513" y="2641601"/>
            <a:ext cx="2840037" cy="3602037"/>
            <a:chOff x="0" y="0"/>
            <a:chExt cx="2839229" cy="3601403"/>
          </a:xfrm>
        </p:grpSpPr>
        <p:sp>
          <p:nvSpPr>
            <p:cNvPr descr="Text Box 11" id="2966" name="Google Shape;2966;p217"/>
            <p:cNvSpPr txBox="1"/>
            <p:nvPr/>
          </p:nvSpPr>
          <p:spPr>
            <a:xfrm>
              <a:off x="240030" y="427037"/>
              <a:ext cx="1332121" cy="3174366"/>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 B-50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write(B)</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(B)</a:t>
              </a:r>
              <a:endParaRPr/>
            </a:p>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006600"/>
                  </a:solidFill>
                  <a:latin typeface="Verdana"/>
                  <a:ea typeface="Verdana"/>
                  <a:cs typeface="Verdana"/>
                  <a:sym typeface="Verdana"/>
                </a:rPr>
                <a:t>Lock-X</a:t>
              </a:r>
              <a:r>
                <a:rPr lang="en-US" sz="1800">
                  <a:solidFill>
                    <a:srgbClr val="000000"/>
                  </a:solidFill>
                  <a:latin typeface="Verdana"/>
                  <a:ea typeface="Verdana"/>
                  <a:cs typeface="Verdana"/>
                  <a:sym typeface="Verdana"/>
                </a:rPr>
                <a:t>(A)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read(A)</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 =A + 50</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write(A)</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Unlock</a:t>
              </a:r>
              <a:r>
                <a:rPr lang="en-US" sz="1800">
                  <a:solidFill>
                    <a:srgbClr val="000000"/>
                  </a:solidFill>
                  <a:latin typeface="Verdana"/>
                  <a:ea typeface="Verdana"/>
                  <a:cs typeface="Verdana"/>
                  <a:sym typeface="Verdana"/>
                </a:rPr>
                <a:t>(A)</a:t>
              </a:r>
              <a:endParaRPr sz="1800">
                <a:solidFill>
                  <a:srgbClr val="0000FF"/>
                </a:solidFill>
                <a:latin typeface="Verdana"/>
                <a:ea typeface="Verdana"/>
                <a:cs typeface="Verdana"/>
                <a:sym typeface="Verdana"/>
              </a:endParaRPr>
            </a:p>
          </p:txBody>
        </p:sp>
        <p:sp>
          <p:nvSpPr>
            <p:cNvPr descr="Text Box 12" id="2967" name="Google Shape;2967;p217"/>
            <p:cNvSpPr txBox="1"/>
            <p:nvPr/>
          </p:nvSpPr>
          <p:spPr>
            <a:xfrm>
              <a:off x="0" y="0"/>
              <a:ext cx="2839229" cy="3962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T1: Not following 2PL</a:t>
              </a:r>
              <a:endParaRPr/>
            </a:p>
          </p:txBody>
        </p:sp>
      </p:grpSp>
      <p:grpSp>
        <p:nvGrpSpPr>
          <p:cNvPr id="2968" name="Google Shape;2968;p217"/>
          <p:cNvGrpSpPr/>
          <p:nvPr/>
        </p:nvGrpSpPr>
        <p:grpSpPr>
          <a:xfrm>
            <a:off x="6202363" y="2195514"/>
            <a:ext cx="2100262" cy="4184649"/>
            <a:chOff x="0" y="0"/>
            <a:chExt cx="2099802" cy="4186111"/>
          </a:xfrm>
        </p:grpSpPr>
        <p:sp>
          <p:nvSpPr>
            <p:cNvPr descr="Text Box 11" id="2969" name="Google Shape;2969;p217"/>
            <p:cNvSpPr txBox="1"/>
            <p:nvPr/>
          </p:nvSpPr>
          <p:spPr>
            <a:xfrm>
              <a:off x="240029" y="427037"/>
              <a:ext cx="1136562" cy="3759074"/>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Helvetica Neue"/>
                  <a:ea typeface="Helvetica Neue"/>
                  <a:cs typeface="Helvetica Neue"/>
                  <a:sym typeface="Helvetica Neue"/>
                </a:rPr>
                <a:t>Lock-X</a:t>
              </a:r>
              <a:r>
                <a:rPr lang="en-US" sz="1800">
                  <a:solidFill>
                    <a:srgbClr val="000000"/>
                  </a:solidFill>
                  <a:latin typeface="Helvetica Neue"/>
                  <a:ea typeface="Helvetica Neue"/>
                  <a:cs typeface="Helvetica Neue"/>
                  <a:sym typeface="Helvetica Neue"/>
                </a:rPr>
                <a:t>(B)</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read(B)</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B = B - 50</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write(B)</a:t>
              </a:r>
              <a:endParaRPr/>
            </a:p>
            <a:p>
              <a:pPr indent="0" lvl="0" marL="0" marR="0" rtl="0" algn="l">
                <a:spcBef>
                  <a:spcPts val="700"/>
                </a:spcBef>
                <a:spcAft>
                  <a:spcPts val="0"/>
                </a:spcAft>
                <a:buNone/>
              </a:pPr>
              <a:r>
                <a:rPr lang="en-US" sz="1800">
                  <a:solidFill>
                    <a:srgbClr val="006600"/>
                  </a:solidFill>
                  <a:latin typeface="Helvetica Neue"/>
                  <a:ea typeface="Helvetica Neue"/>
                  <a:cs typeface="Helvetica Neue"/>
                  <a:sym typeface="Helvetica Neue"/>
                </a:rPr>
                <a:t>Lock-X</a:t>
              </a:r>
              <a:r>
                <a:rPr lang="en-US" sz="1800">
                  <a:solidFill>
                    <a:srgbClr val="000000"/>
                  </a:solidFill>
                  <a:latin typeface="Helvetica Neue"/>
                  <a:ea typeface="Helvetica Neue"/>
                  <a:cs typeface="Helvetica Neue"/>
                  <a:sym typeface="Helvetica Neue"/>
                </a:rPr>
                <a:t>(A)</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read(A)</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A = A - 50</a:t>
              </a:r>
              <a:endParaRPr/>
            </a:p>
            <a:p>
              <a:pPr indent="0" lvl="0" marL="0" marR="0" rtl="0" algn="l">
                <a:spcBef>
                  <a:spcPts val="700"/>
                </a:spcBef>
                <a:spcAft>
                  <a:spcPts val="0"/>
                </a:spcAft>
                <a:buNone/>
              </a:pPr>
              <a:r>
                <a:rPr lang="en-US" sz="1800">
                  <a:solidFill>
                    <a:srgbClr val="000000"/>
                  </a:solidFill>
                  <a:latin typeface="Helvetica Neue"/>
                  <a:ea typeface="Helvetica Neue"/>
                  <a:cs typeface="Helvetica Neue"/>
                  <a:sym typeface="Helvetica Neue"/>
                </a:rPr>
                <a:t>write(A)</a:t>
              </a:r>
              <a:endParaRPr/>
            </a:p>
            <a:p>
              <a:pPr indent="0" lvl="0" marL="0" marR="0" rtl="0" algn="l">
                <a:spcBef>
                  <a:spcPts val="700"/>
                </a:spcBef>
                <a:spcAft>
                  <a:spcPts val="0"/>
                </a:spcAft>
                <a:buNone/>
              </a:pPr>
              <a:r>
                <a:rPr lang="en-US" sz="1800">
                  <a:solidFill>
                    <a:srgbClr val="0000FF"/>
                  </a:solidFill>
                  <a:latin typeface="Helvetica Neue"/>
                  <a:ea typeface="Helvetica Neue"/>
                  <a:cs typeface="Helvetica Neue"/>
                  <a:sym typeface="Helvetica Neue"/>
                </a:rPr>
                <a:t>unlock(B)</a:t>
              </a:r>
              <a:endParaRPr/>
            </a:p>
            <a:p>
              <a:pPr indent="0" lvl="0" marL="0" marR="0" rtl="0" algn="l">
                <a:spcBef>
                  <a:spcPts val="700"/>
                </a:spcBef>
                <a:spcAft>
                  <a:spcPts val="0"/>
                </a:spcAft>
                <a:buNone/>
              </a:pPr>
              <a:r>
                <a:rPr lang="en-US" sz="1800">
                  <a:solidFill>
                    <a:srgbClr val="0000FF"/>
                  </a:solidFill>
                  <a:latin typeface="Helvetica Neue"/>
                  <a:ea typeface="Helvetica Neue"/>
                  <a:cs typeface="Helvetica Neue"/>
                  <a:sym typeface="Helvetica Neue"/>
                </a:rPr>
                <a:t>unlock(A)</a:t>
              </a:r>
              <a:endParaRPr/>
            </a:p>
          </p:txBody>
        </p:sp>
        <p:sp>
          <p:nvSpPr>
            <p:cNvPr descr="Text Box 12" id="2970" name="Google Shape;2970;p217"/>
            <p:cNvSpPr txBox="1"/>
            <p:nvPr/>
          </p:nvSpPr>
          <p:spPr>
            <a:xfrm>
              <a:off x="0" y="0"/>
              <a:ext cx="2099802" cy="3962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2000">
                  <a:solidFill>
                    <a:srgbClr val="000000"/>
                  </a:solidFill>
                  <a:latin typeface="Verdana"/>
                  <a:ea typeface="Verdana"/>
                  <a:cs typeface="Verdana"/>
                  <a:sym typeface="Verdana"/>
                </a:rPr>
                <a:t>T1: Follows 2PL</a:t>
              </a:r>
              <a:endParaRPr/>
            </a:p>
          </p:txBody>
        </p:sp>
      </p:grpSp>
      <p:sp>
        <p:nvSpPr>
          <p:cNvPr descr="Text Box 23" id="2971" name="Google Shape;2971;p217"/>
          <p:cNvSpPr txBox="1"/>
          <p:nvPr/>
        </p:nvSpPr>
        <p:spPr>
          <a:xfrm>
            <a:off x="4044950" y="3844925"/>
            <a:ext cx="18145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C00000"/>
                </a:solidFill>
                <a:latin typeface="Verdana"/>
                <a:ea typeface="Verdana"/>
                <a:cs typeface="Verdana"/>
                <a:sym typeface="Verdana"/>
              </a:rPr>
              <a:t>Growing phase</a:t>
            </a:r>
            <a:endParaRPr/>
          </a:p>
        </p:txBody>
      </p:sp>
      <p:sp>
        <p:nvSpPr>
          <p:cNvPr descr="Left Brace 16" id="2972" name="Google Shape;2972;p217"/>
          <p:cNvSpPr/>
          <p:nvPr/>
        </p:nvSpPr>
        <p:spPr>
          <a:xfrm>
            <a:off x="5857875" y="2713038"/>
            <a:ext cx="500063" cy="2716212"/>
          </a:xfrm>
          <a:custGeom>
            <a:rect b="b" l="l" r="r" t="t"/>
            <a:pathLst>
              <a:path extrusionOk="0" h="21600" w="21600">
                <a:moveTo>
                  <a:pt x="21600" y="21600"/>
                </a:moveTo>
                <a:cubicBezTo>
                  <a:pt x="15635" y="21600"/>
                  <a:pt x="10800" y="21452"/>
                  <a:pt x="10800" y="21268"/>
                </a:cubicBezTo>
                <a:lnTo>
                  <a:pt x="10800" y="11132"/>
                </a:lnTo>
                <a:cubicBezTo>
                  <a:pt x="10800" y="10948"/>
                  <a:pt x="5965" y="10800"/>
                  <a:pt x="0" y="10800"/>
                </a:cubicBezTo>
                <a:cubicBezTo>
                  <a:pt x="5965" y="10800"/>
                  <a:pt x="10800" y="10652"/>
                  <a:pt x="10800" y="10468"/>
                </a:cubicBezTo>
                <a:lnTo>
                  <a:pt x="10800" y="332"/>
                </a:lnTo>
                <a:cubicBezTo>
                  <a:pt x="10800" y="148"/>
                  <a:pt x="15635" y="0"/>
                  <a:pt x="21600" y="0"/>
                </a:cubicBezTo>
              </a:path>
            </a:pathLst>
          </a:custGeom>
          <a:noFill/>
          <a:ln cap="flat" cmpd="sng" w="28575">
            <a:solidFill>
              <a:srgbClr val="CC33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6600"/>
              </a:solidFill>
              <a:latin typeface="Verdana"/>
              <a:ea typeface="Verdana"/>
              <a:cs typeface="Verdana"/>
              <a:sym typeface="Verdana"/>
            </a:endParaRPr>
          </a:p>
        </p:txBody>
      </p:sp>
      <p:sp>
        <p:nvSpPr>
          <p:cNvPr descr="Text Box 23" id="2973" name="Google Shape;2973;p217"/>
          <p:cNvSpPr txBox="1"/>
          <p:nvPr/>
        </p:nvSpPr>
        <p:spPr>
          <a:xfrm>
            <a:off x="3987800" y="5773738"/>
            <a:ext cx="19542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CC00CC"/>
                </a:solidFill>
                <a:latin typeface="Verdana"/>
                <a:ea typeface="Verdana"/>
                <a:cs typeface="Verdana"/>
                <a:sym typeface="Verdana"/>
              </a:rPr>
              <a:t>Shrinking phase</a:t>
            </a:r>
            <a:endParaRPr/>
          </a:p>
        </p:txBody>
      </p:sp>
      <p:sp>
        <p:nvSpPr>
          <p:cNvPr descr="Left Brace 18" id="2974" name="Google Shape;2974;p217"/>
          <p:cNvSpPr/>
          <p:nvPr/>
        </p:nvSpPr>
        <p:spPr>
          <a:xfrm>
            <a:off x="5942013" y="5643563"/>
            <a:ext cx="481012" cy="628650"/>
          </a:xfrm>
          <a:custGeom>
            <a:rect b="b" l="l" r="r" t="t"/>
            <a:pathLst>
              <a:path extrusionOk="0" h="21600" w="21600">
                <a:moveTo>
                  <a:pt x="21600" y="21600"/>
                </a:moveTo>
                <a:cubicBezTo>
                  <a:pt x="15635" y="21600"/>
                  <a:pt x="10800" y="20986"/>
                  <a:pt x="10800" y="20228"/>
                </a:cubicBezTo>
                <a:lnTo>
                  <a:pt x="10800" y="12531"/>
                </a:lnTo>
                <a:cubicBezTo>
                  <a:pt x="10800" y="11773"/>
                  <a:pt x="5965" y="11159"/>
                  <a:pt x="0" y="11159"/>
                </a:cubicBezTo>
                <a:cubicBezTo>
                  <a:pt x="5965" y="11159"/>
                  <a:pt x="10800" y="10545"/>
                  <a:pt x="10800" y="9787"/>
                </a:cubicBezTo>
                <a:lnTo>
                  <a:pt x="10800" y="1372"/>
                </a:lnTo>
                <a:cubicBezTo>
                  <a:pt x="10800" y="614"/>
                  <a:pt x="15635" y="0"/>
                  <a:pt x="21600" y="0"/>
                </a:cubicBezTo>
              </a:path>
            </a:pathLst>
          </a:custGeom>
          <a:noFill/>
          <a:ln cap="flat" cmpd="sng" w="2857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6600"/>
              </a:solidFill>
              <a:latin typeface="Verdana"/>
              <a:ea typeface="Verdana"/>
              <a:cs typeface="Verdana"/>
              <a:sym typeface="Verdana"/>
            </a:endParaRPr>
          </a:p>
        </p:txBody>
      </p:sp>
      <p:sp>
        <p:nvSpPr>
          <p:cNvPr descr="Rectangle 19" id="2975" name="Google Shape;2975;p217"/>
          <p:cNvSpPr/>
          <p:nvPr/>
        </p:nvSpPr>
        <p:spPr>
          <a:xfrm>
            <a:off x="538163" y="4187825"/>
            <a:ext cx="1785937" cy="869950"/>
          </a:xfrm>
          <a:prstGeom prst="rect">
            <a:avLst/>
          </a:prstGeom>
          <a:noFill/>
          <a:ln cap="flat" cmpd="sng" w="38100">
            <a:solidFill>
              <a:srgbClr val="000000"/>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9" name="Shape 2979"/>
        <p:cNvGrpSpPr/>
        <p:nvPr/>
      </p:nvGrpSpPr>
      <p:grpSpPr>
        <a:xfrm>
          <a:off x="0" y="0"/>
          <a:ext cx="0" cy="0"/>
          <a:chOff x="0" y="0"/>
          <a:chExt cx="0" cy="0"/>
        </a:xfrm>
      </p:grpSpPr>
      <p:sp>
        <p:nvSpPr>
          <p:cNvPr descr="Title 1" id="2980" name="Google Shape;2980;p21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Variations of 2PL</a:t>
            </a:r>
            <a:endParaRPr/>
          </a:p>
        </p:txBody>
      </p:sp>
      <p:sp>
        <p:nvSpPr>
          <p:cNvPr descr="Content Placeholder 2" id="2981" name="Google Shape;2981;p21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lnSpc>
                <a:spcPct val="80000"/>
              </a:lnSpc>
              <a:spcBef>
                <a:spcPts val="0"/>
              </a:spcBef>
              <a:spcAft>
                <a:spcPts val="0"/>
              </a:spcAft>
              <a:buSzPts val="1800"/>
              <a:buFont typeface="Noto Sans Symbols"/>
              <a:buNone/>
            </a:pPr>
            <a:r>
              <a:rPr b="1" lang="en-US" sz="1800"/>
              <a:t>1. Basic 2PL </a:t>
            </a:r>
            <a:endParaRPr/>
          </a:p>
          <a:p>
            <a:pPr indent="-469900" lvl="0" marL="469900" rtl="0" algn="l">
              <a:lnSpc>
                <a:spcPct val="80000"/>
              </a:lnSpc>
              <a:spcBef>
                <a:spcPts val="400"/>
              </a:spcBef>
              <a:spcAft>
                <a:spcPts val="0"/>
              </a:spcAft>
              <a:buSzPts val="1800"/>
              <a:buFont typeface="Verdana"/>
              <a:buChar char="❑"/>
            </a:pPr>
            <a:r>
              <a:rPr b="1" lang="en-US" sz="1800"/>
              <a:t>	</a:t>
            </a:r>
            <a:r>
              <a:rPr lang="en-US" sz="1800"/>
              <a:t>Two Phase: Growing and Shrinking Phase</a:t>
            </a:r>
            <a:endParaRPr/>
          </a:p>
          <a:p>
            <a:pPr indent="-469900" lvl="0" marL="469900" rtl="0" algn="l">
              <a:lnSpc>
                <a:spcPct val="80000"/>
              </a:lnSpc>
              <a:spcBef>
                <a:spcPts val="400"/>
              </a:spcBef>
              <a:spcAft>
                <a:spcPts val="0"/>
              </a:spcAft>
              <a:buSzPts val="1800"/>
              <a:buFont typeface="Noto Sans Symbols"/>
              <a:buNone/>
            </a:pPr>
            <a:r>
              <a:rPr b="1" lang="en-US" sz="1800"/>
              <a:t>2. Conservative (or static) 2PL</a:t>
            </a:r>
            <a:endParaRPr/>
          </a:p>
          <a:p>
            <a:pPr indent="-469900" lvl="0" marL="469900" rtl="0" algn="l">
              <a:lnSpc>
                <a:spcPct val="80000"/>
              </a:lnSpc>
              <a:spcBef>
                <a:spcPts val="400"/>
              </a:spcBef>
              <a:spcAft>
                <a:spcPts val="0"/>
              </a:spcAft>
              <a:buSzPts val="1800"/>
              <a:buFont typeface="Verdana"/>
              <a:buChar char="❑"/>
            </a:pPr>
            <a:r>
              <a:rPr lang="en-US" sz="1800"/>
              <a:t>Conservative 2PL requires a transaction to lock all the items  it accesses before the transaction begins execution by pre declaring its write set and read set.</a:t>
            </a:r>
            <a:endParaRPr/>
          </a:p>
          <a:p>
            <a:pPr indent="-469900" lvl="0" marL="469900" rtl="0" algn="l">
              <a:lnSpc>
                <a:spcPct val="80000"/>
              </a:lnSpc>
              <a:spcBef>
                <a:spcPts val="400"/>
              </a:spcBef>
              <a:spcAft>
                <a:spcPts val="0"/>
              </a:spcAft>
              <a:buSzPts val="1800"/>
              <a:buFont typeface="Verdana"/>
              <a:buChar char="❑"/>
            </a:pPr>
            <a:r>
              <a:rPr lang="en-US" sz="1800"/>
              <a:t>If any of the pre declared items needed cannot be locked, the transaction does not lock any item; instead it </a:t>
            </a:r>
            <a:r>
              <a:rPr b="1" lang="en-US" sz="1800"/>
              <a:t>waits </a:t>
            </a:r>
            <a:r>
              <a:rPr lang="en-US" sz="1800"/>
              <a:t>until all the items are available for locking</a:t>
            </a:r>
            <a:endParaRPr/>
          </a:p>
          <a:p>
            <a:pPr indent="-469900" lvl="0" marL="469900" rtl="0" algn="l">
              <a:lnSpc>
                <a:spcPct val="80000"/>
              </a:lnSpc>
              <a:spcBef>
                <a:spcPts val="400"/>
              </a:spcBef>
              <a:spcAft>
                <a:spcPts val="0"/>
              </a:spcAft>
              <a:buSzPts val="1800"/>
              <a:buFont typeface="Noto Sans Symbols"/>
              <a:buNone/>
            </a:pPr>
            <a:r>
              <a:rPr b="1" lang="en-US" sz="1800"/>
              <a:t>3. Strict 2PL</a:t>
            </a:r>
            <a:endParaRPr/>
          </a:p>
          <a:p>
            <a:pPr indent="-469900" lvl="0" marL="469900" rtl="0" algn="l">
              <a:spcBef>
                <a:spcPts val="400"/>
              </a:spcBef>
              <a:spcAft>
                <a:spcPts val="0"/>
              </a:spcAft>
              <a:buSzPts val="1800"/>
              <a:buFont typeface="Verdana"/>
              <a:buChar char="□"/>
            </a:pPr>
            <a:r>
              <a:rPr lang="en-US" sz="1800"/>
              <a:t>A transaction T </a:t>
            </a:r>
            <a:r>
              <a:rPr b="1" lang="en-US" sz="1800"/>
              <a:t>does not release any of its exclusive (write) </a:t>
            </a:r>
            <a:r>
              <a:rPr lang="en-US" sz="1800"/>
              <a:t>locks until after it </a:t>
            </a:r>
            <a:r>
              <a:rPr b="1" lang="en-US" sz="1800"/>
              <a:t>commits </a:t>
            </a:r>
            <a:r>
              <a:rPr lang="en-US" sz="1800"/>
              <a:t>or aborts.</a:t>
            </a:r>
            <a:endParaRPr/>
          </a:p>
          <a:p>
            <a:pPr indent="-469900" lvl="0" marL="469900" rtl="0" algn="l">
              <a:spcBef>
                <a:spcPts val="400"/>
              </a:spcBef>
              <a:spcAft>
                <a:spcPts val="0"/>
              </a:spcAft>
              <a:buSzPts val="1800"/>
              <a:buFont typeface="Verdana"/>
              <a:buChar char="□"/>
            </a:pPr>
            <a:r>
              <a:rPr lang="en-US" sz="1800"/>
              <a:t>Hence no other transaction can read or write an item that is written by T unless T has committed.</a:t>
            </a:r>
            <a:endParaRPr/>
          </a:p>
          <a:p>
            <a:pPr indent="-469900" lvl="0" marL="469900" rtl="0" algn="l">
              <a:lnSpc>
                <a:spcPct val="80000"/>
              </a:lnSpc>
              <a:spcBef>
                <a:spcPts val="400"/>
              </a:spcBef>
              <a:spcAft>
                <a:spcPts val="0"/>
              </a:spcAft>
              <a:buSzPts val="1800"/>
              <a:buFont typeface="Noto Sans Symbols"/>
              <a:buNone/>
            </a:pPr>
            <a:r>
              <a:rPr b="1" lang="en-US" sz="1800"/>
              <a:t>4. Rigorous 2PL</a:t>
            </a:r>
            <a:endParaRPr/>
          </a:p>
          <a:p>
            <a:pPr indent="-469900" lvl="0" marL="469900" rtl="0" algn="l">
              <a:spcBef>
                <a:spcPts val="400"/>
              </a:spcBef>
              <a:spcAft>
                <a:spcPts val="0"/>
              </a:spcAft>
              <a:buSzPts val="1800"/>
              <a:buFont typeface="Verdana"/>
              <a:buChar char="□"/>
            </a:pPr>
            <a:r>
              <a:rPr lang="en-US" sz="1800"/>
              <a:t>A transaction T </a:t>
            </a:r>
            <a:r>
              <a:rPr b="1" lang="en-US" sz="1800"/>
              <a:t>does not release any of its locks (exclusive or shared) </a:t>
            </a:r>
            <a:r>
              <a:rPr lang="en-US" sz="1800"/>
              <a:t>until after it </a:t>
            </a:r>
            <a:r>
              <a:rPr b="1" lang="en-US" sz="1800"/>
              <a:t>commits</a:t>
            </a:r>
            <a:r>
              <a:rPr lang="en-US" sz="1800"/>
              <a:t> or aborts and so it is easier to implement than strict 2PL.</a:t>
            </a:r>
            <a:endParaRPr/>
          </a:p>
        </p:txBody>
      </p:sp>
      <p:sp>
        <p:nvSpPr>
          <p:cNvPr descr="Date Placeholder 3" id="2982" name="Google Shape;2982;p21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83" name="Google Shape;2983;p21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7" name="Shape 2987"/>
        <p:cNvGrpSpPr/>
        <p:nvPr/>
      </p:nvGrpSpPr>
      <p:grpSpPr>
        <a:xfrm>
          <a:off x="0" y="0"/>
          <a:ext cx="0" cy="0"/>
          <a:chOff x="0" y="0"/>
          <a:chExt cx="0" cy="0"/>
        </a:xfrm>
      </p:grpSpPr>
      <p:sp>
        <p:nvSpPr>
          <p:cNvPr descr="Rectangle 2" id="2988" name="Google Shape;2988;p219"/>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Database Recovery Systems</a:t>
            </a:r>
            <a:endParaRPr/>
          </a:p>
        </p:txBody>
      </p:sp>
      <p:sp>
        <p:nvSpPr>
          <p:cNvPr descr="Rectangle 3" id="2989" name="Google Shape;2989;p219"/>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228600" lvl="0" marL="228600" rtl="0" algn="l">
              <a:lnSpc>
                <a:spcPct val="80000"/>
              </a:lnSpc>
              <a:spcBef>
                <a:spcPts val="0"/>
              </a:spcBef>
              <a:spcAft>
                <a:spcPts val="0"/>
              </a:spcAft>
              <a:buClr>
                <a:srgbClr val="003366"/>
              </a:buClr>
              <a:buSzPts val="2000"/>
              <a:buFont typeface="Verdana"/>
              <a:buNone/>
            </a:pPr>
            <a:r>
              <a:rPr lang="en-US" sz="2000"/>
              <a:t>Database Recovery Systems looks to achieve</a:t>
            </a:r>
            <a:endParaRPr/>
          </a:p>
          <a:p>
            <a:pPr indent="-228600" lvl="0" marL="228600" rtl="0" algn="l">
              <a:lnSpc>
                <a:spcPct val="80000"/>
              </a:lnSpc>
              <a:spcBef>
                <a:spcPts val="400"/>
              </a:spcBef>
              <a:spcAft>
                <a:spcPts val="0"/>
              </a:spcAft>
              <a:buSzPts val="2000"/>
              <a:buFont typeface="Verdana"/>
              <a:buChar char="-"/>
            </a:pPr>
            <a:r>
              <a:rPr lang="en-US" sz="2000"/>
              <a:t>Transaction Atomicity</a:t>
            </a:r>
            <a:endParaRPr/>
          </a:p>
          <a:p>
            <a:pPr indent="-228600" lvl="0" marL="228600" rtl="0" algn="l">
              <a:lnSpc>
                <a:spcPct val="80000"/>
              </a:lnSpc>
              <a:spcBef>
                <a:spcPts val="400"/>
              </a:spcBef>
              <a:spcAft>
                <a:spcPts val="0"/>
              </a:spcAft>
              <a:buSzPts val="2000"/>
              <a:buFont typeface="Verdana"/>
              <a:buChar char="-"/>
            </a:pPr>
            <a:r>
              <a:rPr lang="en-US" sz="2000"/>
              <a:t>Transaction Durability</a:t>
            </a:r>
            <a:endParaRPr/>
          </a:p>
        </p:txBody>
      </p:sp>
      <p:sp>
        <p:nvSpPr>
          <p:cNvPr descr="Date Placeholder 1" id="2990" name="Google Shape;2990;p219"/>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2991" name="Google Shape;2991;p219"/>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5" name="Shape 2995"/>
        <p:cNvGrpSpPr/>
        <p:nvPr/>
      </p:nvGrpSpPr>
      <p:grpSpPr>
        <a:xfrm>
          <a:off x="0" y="0"/>
          <a:ext cx="0" cy="0"/>
          <a:chOff x="0" y="0"/>
          <a:chExt cx="0" cy="0"/>
        </a:xfrm>
      </p:grpSpPr>
      <p:sp>
        <p:nvSpPr>
          <p:cNvPr descr="Title 1" id="2996" name="Google Shape;2996;p22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Why recovery is Needed ?</a:t>
            </a:r>
            <a:endParaRPr/>
          </a:p>
        </p:txBody>
      </p:sp>
      <p:sp>
        <p:nvSpPr>
          <p:cNvPr descr="Content Placeholder 2" id="2997" name="Google Shape;2997;p22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74663" lvl="0" marL="490538" rtl="0" algn="just">
              <a:spcBef>
                <a:spcPts val="0"/>
              </a:spcBef>
              <a:spcAft>
                <a:spcPts val="0"/>
              </a:spcAft>
              <a:buSzPts val="1400"/>
              <a:buFont typeface="Noto Sans Symbols"/>
              <a:buNone/>
            </a:pPr>
            <a:r>
              <a:rPr lang="en-US" sz="1400"/>
              <a:t>To avoid following failures (or What causes a Transaction to fail)</a:t>
            </a:r>
            <a:endParaRPr/>
          </a:p>
          <a:p>
            <a:pPr indent="-474663" lvl="0" marL="490538" rtl="0" algn="just">
              <a:lnSpc>
                <a:spcPct val="80000"/>
              </a:lnSpc>
              <a:spcBef>
                <a:spcPts val="300"/>
              </a:spcBef>
              <a:spcAft>
                <a:spcPts val="0"/>
              </a:spcAft>
              <a:buSzPts val="1400"/>
              <a:buFont typeface="Noto Sans Symbols"/>
              <a:buNone/>
            </a:pPr>
            <a:r>
              <a:rPr lang="en-US" sz="1400"/>
              <a:t>1. </a:t>
            </a:r>
            <a:r>
              <a:rPr b="1" lang="en-US" sz="1600"/>
              <a:t>A computer failure (system crash):</a:t>
            </a:r>
            <a:r>
              <a:rPr lang="en-US" sz="1400"/>
              <a:t>A </a:t>
            </a:r>
            <a:r>
              <a:rPr b="1" lang="en-US" sz="1600"/>
              <a:t>hardware or software error </a:t>
            </a:r>
            <a:r>
              <a:rPr lang="en-US" sz="1400"/>
              <a:t>occurs in the computer system during transaction execution. If the hardware crashes, the contents of the computer’s internal memory may be lost.</a:t>
            </a:r>
            <a:endParaRPr/>
          </a:p>
          <a:p>
            <a:pPr indent="-474663" lvl="0" marL="490538" rtl="0" algn="just">
              <a:lnSpc>
                <a:spcPct val="80000"/>
              </a:lnSpc>
              <a:spcBef>
                <a:spcPts val="300"/>
              </a:spcBef>
              <a:spcAft>
                <a:spcPts val="0"/>
              </a:spcAft>
              <a:buSzPts val="1400"/>
              <a:buFont typeface="Noto Sans Symbols"/>
              <a:buNone/>
            </a:pPr>
            <a:r>
              <a:rPr lang="en-US" sz="1400"/>
              <a:t>2. </a:t>
            </a:r>
            <a:r>
              <a:rPr b="1" lang="en-US" sz="1600"/>
              <a:t>A transaction or system error:</a:t>
            </a:r>
            <a:r>
              <a:rPr lang="en-US" sz="1400"/>
              <a:t> Some operation in the transaction may cause it to fail, such as </a:t>
            </a:r>
            <a:r>
              <a:rPr b="1" lang="en-US" sz="1600"/>
              <a:t>integer overflow or division by zero</a:t>
            </a:r>
            <a:r>
              <a:rPr lang="en-US" sz="1400"/>
              <a:t>. Transaction failure may also occur because of erroneous parameter values or because of a logical programming error. In addition, the user may interrupt the transaction during its execution.</a:t>
            </a:r>
            <a:endParaRPr/>
          </a:p>
          <a:p>
            <a:pPr indent="-474663" lvl="0" marL="490538" rtl="0" algn="just">
              <a:lnSpc>
                <a:spcPct val="80000"/>
              </a:lnSpc>
              <a:spcBef>
                <a:spcPts val="300"/>
              </a:spcBef>
              <a:spcAft>
                <a:spcPts val="0"/>
              </a:spcAft>
              <a:buSzPts val="1400"/>
              <a:buFont typeface="Noto Sans Symbols"/>
              <a:buNone/>
            </a:pPr>
            <a:r>
              <a:rPr lang="en-US" sz="1400"/>
              <a:t>3. Local errors or </a:t>
            </a:r>
            <a:r>
              <a:rPr b="1" lang="en-US" sz="1600"/>
              <a:t>exception conditions detected by the transaction</a:t>
            </a:r>
            <a:r>
              <a:rPr lang="en-US" sz="1400"/>
              <a:t>: Certain conditions necessitate cancellation of the transaction. For example, data for the transaction may not be found. A condition, such as </a:t>
            </a:r>
            <a:r>
              <a:rPr b="1" lang="en-US" sz="1400"/>
              <a:t>insufficient account balance in a banking database</a:t>
            </a:r>
            <a:r>
              <a:rPr lang="en-US" sz="1400"/>
              <a:t>, may cause a transaction, such as a fund withdrawal from that account, to be canceled. A programmed abort in the transaction causes it to fail.</a:t>
            </a:r>
            <a:endParaRPr/>
          </a:p>
          <a:p>
            <a:pPr indent="-474663" lvl="0" marL="490538" rtl="0" algn="just">
              <a:lnSpc>
                <a:spcPct val="80000"/>
              </a:lnSpc>
              <a:spcBef>
                <a:spcPts val="300"/>
              </a:spcBef>
              <a:spcAft>
                <a:spcPts val="0"/>
              </a:spcAft>
              <a:buSzPts val="1400"/>
              <a:buFont typeface="Noto Sans Symbols"/>
              <a:buNone/>
            </a:pPr>
            <a:r>
              <a:rPr lang="en-US" sz="1400"/>
              <a:t>4. </a:t>
            </a:r>
            <a:r>
              <a:rPr b="1" lang="en-US" sz="1600"/>
              <a:t>Concurrency control enforcement</a:t>
            </a:r>
            <a:r>
              <a:rPr lang="en-US" sz="1400"/>
              <a:t>: The concurrency control method may decide to abort the transaction, to be restarted later, because it </a:t>
            </a:r>
            <a:r>
              <a:rPr b="1" lang="en-US" sz="1600"/>
              <a:t>violates serializability</a:t>
            </a:r>
            <a:r>
              <a:rPr lang="en-US" sz="1400"/>
              <a:t> or because several transactions are in a </a:t>
            </a:r>
            <a:r>
              <a:rPr b="1" lang="en-US" sz="1600"/>
              <a:t>state of deadlock</a:t>
            </a:r>
            <a:r>
              <a:rPr lang="en-US" sz="1400"/>
              <a:t>.</a:t>
            </a:r>
            <a:endParaRPr/>
          </a:p>
          <a:p>
            <a:pPr indent="-474663" lvl="0" marL="490538" rtl="0" algn="just">
              <a:lnSpc>
                <a:spcPct val="80000"/>
              </a:lnSpc>
              <a:spcBef>
                <a:spcPts val="300"/>
              </a:spcBef>
              <a:spcAft>
                <a:spcPts val="0"/>
              </a:spcAft>
              <a:buSzPts val="1400"/>
              <a:buFont typeface="Noto Sans Symbols"/>
              <a:buNone/>
            </a:pPr>
            <a:r>
              <a:rPr lang="en-US" sz="1400"/>
              <a:t>5. </a:t>
            </a:r>
            <a:r>
              <a:rPr b="1" lang="en-US" sz="1600"/>
              <a:t>Disk failure</a:t>
            </a:r>
            <a:r>
              <a:rPr lang="en-US" sz="1400"/>
              <a:t>: Some disk blocks may lose their data because of a read or write malfunction or because of a disk read/write head crash. This may happen during a read or a write operation of the transaction.</a:t>
            </a:r>
            <a:endParaRPr/>
          </a:p>
          <a:p>
            <a:pPr indent="-474663" lvl="0" marL="490538" rtl="0" algn="just">
              <a:lnSpc>
                <a:spcPct val="80000"/>
              </a:lnSpc>
              <a:spcBef>
                <a:spcPts val="300"/>
              </a:spcBef>
              <a:spcAft>
                <a:spcPts val="0"/>
              </a:spcAft>
              <a:buSzPts val="1400"/>
              <a:buFont typeface="Noto Sans Symbols"/>
              <a:buNone/>
            </a:pPr>
            <a:r>
              <a:rPr lang="en-US" sz="1400"/>
              <a:t>6. </a:t>
            </a:r>
            <a:r>
              <a:rPr b="1" lang="en-US" sz="1400"/>
              <a:t>Physical problems and catastrophes</a:t>
            </a:r>
            <a:r>
              <a:rPr lang="en-US" sz="1400"/>
              <a:t>: This refers to an endless list of problems that includes power or air-conditioning failure, fire, theft, sabotage, overwriting disks by mistake. </a:t>
            </a:r>
            <a:endParaRPr/>
          </a:p>
        </p:txBody>
      </p:sp>
      <p:sp>
        <p:nvSpPr>
          <p:cNvPr descr="Date Placeholder 3" id="2998" name="Google Shape;2998;p22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2999" name="Google Shape;2999;p22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3" name="Shape 3003"/>
        <p:cNvGrpSpPr/>
        <p:nvPr/>
      </p:nvGrpSpPr>
      <p:grpSpPr>
        <a:xfrm>
          <a:off x="0" y="0"/>
          <a:ext cx="0" cy="0"/>
          <a:chOff x="0" y="0"/>
          <a:chExt cx="0" cy="0"/>
        </a:xfrm>
      </p:grpSpPr>
      <p:sp>
        <p:nvSpPr>
          <p:cNvPr descr="Title 1" id="3004" name="Google Shape;3004;p22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Failure Classification</a:t>
            </a:r>
            <a:endParaRPr/>
          </a:p>
        </p:txBody>
      </p:sp>
      <p:sp>
        <p:nvSpPr>
          <p:cNvPr descr="Content Placeholder 2" id="3005" name="Google Shape;3005;p22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2000"/>
              <a:buFont typeface="Noto Sans Symbols"/>
              <a:buNone/>
            </a:pPr>
            <a:r>
              <a:rPr lang="en-US" sz="2000"/>
              <a:t>Transaction failure : </a:t>
            </a:r>
            <a:endParaRPr/>
          </a:p>
          <a:p>
            <a:pPr indent="-438150" lvl="1" marL="908050" rtl="0" algn="l">
              <a:spcBef>
                <a:spcPts val="300"/>
              </a:spcBef>
              <a:spcAft>
                <a:spcPts val="0"/>
              </a:spcAft>
              <a:buSzPts val="1600"/>
              <a:buFont typeface="Verdana"/>
              <a:buChar char="■"/>
            </a:pPr>
            <a:r>
              <a:rPr lang="en-US" sz="1600"/>
              <a:t>Logical errors: transaction cannot complete due to some internal error condition </a:t>
            </a:r>
            <a:endParaRPr sz="2600"/>
          </a:p>
          <a:p>
            <a:pPr indent="-438150" lvl="1" marL="908050" rtl="0" algn="l">
              <a:spcBef>
                <a:spcPts val="300"/>
              </a:spcBef>
              <a:spcAft>
                <a:spcPts val="0"/>
              </a:spcAft>
              <a:buSzPts val="1600"/>
              <a:buFont typeface="Verdana"/>
              <a:buChar char="■"/>
            </a:pPr>
            <a:r>
              <a:rPr lang="en-US" sz="1600"/>
              <a:t>System errors: the database system must terminate an active transaction due to an error condition (e.g., deadlock) </a:t>
            </a:r>
            <a:endParaRPr sz="2600"/>
          </a:p>
          <a:p>
            <a:pPr indent="0" lvl="0" marL="0" rtl="0" algn="l">
              <a:spcBef>
                <a:spcPts val="400"/>
              </a:spcBef>
              <a:spcAft>
                <a:spcPts val="0"/>
              </a:spcAft>
              <a:buSzPts val="2000"/>
              <a:buFont typeface="Noto Sans Symbols"/>
              <a:buNone/>
            </a:pPr>
            <a:r>
              <a:rPr lang="en-US" sz="2000"/>
              <a:t>System crash: a power failure or other hardware or software failure causes the system to crash. </a:t>
            </a:r>
            <a:endParaRPr/>
          </a:p>
          <a:p>
            <a:pPr indent="-438150" lvl="1" marL="908050" rtl="0" algn="l">
              <a:spcBef>
                <a:spcPts val="300"/>
              </a:spcBef>
              <a:spcAft>
                <a:spcPts val="0"/>
              </a:spcAft>
              <a:buSzPts val="1600"/>
              <a:buFont typeface="Verdana"/>
              <a:buChar char="■"/>
            </a:pPr>
            <a:r>
              <a:rPr lang="en-US" sz="1600"/>
              <a:t>Fail-stop assumption: non-volatile storage contents are assumed to not be corrupted by system crash</a:t>
            </a:r>
            <a:endParaRPr sz="2600"/>
          </a:p>
          <a:p>
            <a:pPr indent="-396875" lvl="2" marL="1304925" rtl="0" algn="l">
              <a:spcBef>
                <a:spcPts val="300"/>
              </a:spcBef>
              <a:spcAft>
                <a:spcPts val="0"/>
              </a:spcAft>
              <a:buSzPts val="1300"/>
              <a:buFont typeface="Verdana"/>
              <a:buChar char="□"/>
            </a:pPr>
            <a:r>
              <a:rPr lang="en-US" sz="1300"/>
              <a:t>Database systems have numerous integrity checks to prevent corruption of disk data</a:t>
            </a:r>
            <a:endParaRPr sz="2300"/>
          </a:p>
          <a:p>
            <a:pPr indent="0" lvl="0" marL="0" rtl="0" algn="l">
              <a:spcBef>
                <a:spcPts val="400"/>
              </a:spcBef>
              <a:spcAft>
                <a:spcPts val="0"/>
              </a:spcAft>
              <a:buSzPts val="2000"/>
              <a:buFont typeface="Noto Sans Symbols"/>
              <a:buNone/>
            </a:pPr>
            <a:r>
              <a:rPr lang="en-US" sz="2000"/>
              <a:t>Disk failure: a head crash or similar disk failure destroys all or part of disk storage </a:t>
            </a:r>
            <a:endParaRPr/>
          </a:p>
          <a:p>
            <a:pPr indent="-438150" lvl="1" marL="908050" rtl="0" algn="l">
              <a:spcBef>
                <a:spcPts val="300"/>
              </a:spcBef>
              <a:spcAft>
                <a:spcPts val="0"/>
              </a:spcAft>
              <a:buSzPts val="1600"/>
              <a:buFont typeface="Verdana"/>
              <a:buChar char="■"/>
            </a:pPr>
            <a:r>
              <a:rPr lang="en-US" sz="1600"/>
              <a:t>Destruction is assumed to be detectable: disk drives use checksums to detect failures</a:t>
            </a:r>
            <a:endParaRPr/>
          </a:p>
        </p:txBody>
      </p:sp>
      <p:sp>
        <p:nvSpPr>
          <p:cNvPr descr="Date Placeholder 3" id="3006" name="Google Shape;3006;p22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07" name="Google Shape;3007;p22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descr="Title 1" id="3012" name="Google Shape;3012;p22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Algorithms</a:t>
            </a:r>
            <a:endParaRPr/>
          </a:p>
        </p:txBody>
      </p:sp>
      <p:sp>
        <p:nvSpPr>
          <p:cNvPr descr="Content Placeholder 2" id="3013" name="Google Shape;3013;p22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Recovery algorithms are techniques to ensure database consistency and transaction atomicity and durability despite failures</a:t>
            </a:r>
            <a:endParaRPr/>
          </a:p>
          <a:p>
            <a:pPr indent="-469900" lvl="0" marL="469900" rtl="0" algn="l">
              <a:spcBef>
                <a:spcPts val="400"/>
              </a:spcBef>
              <a:spcAft>
                <a:spcPts val="0"/>
              </a:spcAft>
              <a:buSzPts val="2000"/>
              <a:buFont typeface="Verdana"/>
              <a:buChar char="□"/>
            </a:pPr>
            <a:r>
              <a:rPr lang="en-US" sz="2000"/>
              <a:t>Recovery algorithms have two parts </a:t>
            </a:r>
            <a:endParaRPr/>
          </a:p>
          <a:p>
            <a:pPr indent="438150" lvl="1" marL="0" rtl="0" algn="l">
              <a:spcBef>
                <a:spcPts val="300"/>
              </a:spcBef>
              <a:spcAft>
                <a:spcPts val="0"/>
              </a:spcAft>
              <a:buSzPts val="1600"/>
              <a:buFont typeface="Noto Sans Symbols"/>
              <a:buNone/>
            </a:pPr>
            <a:r>
              <a:rPr lang="en-US" sz="1600"/>
              <a:t>1. Actions taken during normal transaction processing to ensure enough information exists to recover from failures </a:t>
            </a:r>
            <a:endParaRPr sz="2600"/>
          </a:p>
          <a:p>
            <a:pPr indent="438150" lvl="1" marL="0" rtl="0" algn="l">
              <a:spcBef>
                <a:spcPts val="300"/>
              </a:spcBef>
              <a:spcAft>
                <a:spcPts val="0"/>
              </a:spcAft>
              <a:buSzPts val="1600"/>
              <a:buFont typeface="Noto Sans Symbols"/>
              <a:buNone/>
            </a:pPr>
            <a:r>
              <a:rPr lang="en-US" sz="1600"/>
              <a:t>2. Actions taken after a failure to recover the database contents to a state that ensures atomicity, consistency and durability</a:t>
            </a:r>
            <a:endParaRPr/>
          </a:p>
        </p:txBody>
      </p:sp>
      <p:sp>
        <p:nvSpPr>
          <p:cNvPr descr="Date Placeholder 3" id="3014" name="Google Shape;3014;p22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15" name="Google Shape;3015;p22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9" name="Shape 3019"/>
        <p:cNvGrpSpPr/>
        <p:nvPr/>
      </p:nvGrpSpPr>
      <p:grpSpPr>
        <a:xfrm>
          <a:off x="0" y="0"/>
          <a:ext cx="0" cy="0"/>
          <a:chOff x="0" y="0"/>
          <a:chExt cx="0" cy="0"/>
        </a:xfrm>
      </p:grpSpPr>
      <p:sp>
        <p:nvSpPr>
          <p:cNvPr descr="Title 1" id="3020" name="Google Shape;3020;p22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Database Transaction</a:t>
            </a:r>
            <a:endParaRPr/>
          </a:p>
        </p:txBody>
      </p:sp>
      <p:sp>
        <p:nvSpPr>
          <p:cNvPr descr="Content Placeholder 2" id="3021" name="Google Shape;3021;p22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022" name="Google Shape;3022;p22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23" name="Google Shape;3023;p22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024" name="Google Shape;3024;p223"/>
          <p:cNvSpPr/>
          <p:nvPr/>
        </p:nvSpPr>
        <p:spPr>
          <a:xfrm>
            <a:off x="5219700" y="1771650"/>
            <a:ext cx="2928938" cy="2447925"/>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025" name="Google Shape;3025;p223"/>
          <p:cNvGraphicFramePr/>
          <p:nvPr/>
        </p:nvGraphicFramePr>
        <p:xfrm>
          <a:off x="5554663" y="29241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026" name="Google Shape;3026;p223"/>
          <p:cNvSpPr txBox="1"/>
          <p:nvPr/>
        </p:nvSpPr>
        <p:spPr>
          <a:xfrm>
            <a:off x="5553075" y="2543175"/>
            <a:ext cx="13493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0" name="Shape 3030"/>
        <p:cNvGrpSpPr/>
        <p:nvPr/>
      </p:nvGrpSpPr>
      <p:grpSpPr>
        <a:xfrm>
          <a:off x="0" y="0"/>
          <a:ext cx="0" cy="0"/>
          <a:chOff x="0" y="0"/>
          <a:chExt cx="0" cy="0"/>
        </a:xfrm>
      </p:grpSpPr>
      <p:sp>
        <p:nvSpPr>
          <p:cNvPr descr="Title 1" id="3031" name="Google Shape;3031;p22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Database Transaction</a:t>
            </a:r>
            <a:endParaRPr/>
          </a:p>
        </p:txBody>
      </p:sp>
      <p:sp>
        <p:nvSpPr>
          <p:cNvPr descr="Content Placeholder 2" id="3032" name="Google Shape;3032;p22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033" name="Google Shape;3033;p22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34" name="Google Shape;3034;p22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035" name="Google Shape;3035;p224"/>
          <p:cNvSpPr/>
          <p:nvPr/>
        </p:nvSpPr>
        <p:spPr>
          <a:xfrm>
            <a:off x="5219700" y="1771650"/>
            <a:ext cx="2928938" cy="2447925"/>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036" name="Google Shape;3036;p224"/>
          <p:cNvGraphicFramePr/>
          <p:nvPr/>
        </p:nvGraphicFramePr>
        <p:xfrm>
          <a:off x="5554663" y="29241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037" name="Google Shape;3037;p224"/>
          <p:cNvSpPr txBox="1"/>
          <p:nvPr/>
        </p:nvSpPr>
        <p:spPr>
          <a:xfrm>
            <a:off x="5553075" y="2543175"/>
            <a:ext cx="13493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038" name="Google Shape;3038;p224"/>
          <p:cNvGraphicFramePr/>
          <p:nvPr/>
        </p:nvGraphicFramePr>
        <p:xfrm>
          <a:off x="1187450" y="2170113"/>
          <a:ext cx="3000000" cy="3000000"/>
        </p:xfrm>
        <a:graphic>
          <a:graphicData uri="http://schemas.openxmlformats.org/drawingml/2006/table">
            <a:tbl>
              <a:tblPr>
                <a:noFill/>
                <a:tableStyleId>{DA31C186-C125-4E34-A739-053F885C22C1}</a:tableStyleId>
              </a:tblPr>
              <a:tblGrid>
                <a:gridCol w="1439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039" name="Google Shape;3039;p224"/>
          <p:cNvSpPr txBox="1"/>
          <p:nvPr/>
        </p:nvSpPr>
        <p:spPr>
          <a:xfrm>
            <a:off x="1089025" y="1771650"/>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3" name="Shape 3043"/>
        <p:cNvGrpSpPr/>
        <p:nvPr/>
      </p:nvGrpSpPr>
      <p:grpSpPr>
        <a:xfrm>
          <a:off x="0" y="0"/>
          <a:ext cx="0" cy="0"/>
          <a:chOff x="0" y="0"/>
          <a:chExt cx="0" cy="0"/>
        </a:xfrm>
      </p:grpSpPr>
      <p:sp>
        <p:nvSpPr>
          <p:cNvPr descr="Title 1" id="3044" name="Google Shape;3044;p22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Database Transaction</a:t>
            </a:r>
            <a:endParaRPr/>
          </a:p>
        </p:txBody>
      </p:sp>
      <p:sp>
        <p:nvSpPr>
          <p:cNvPr descr="Content Placeholder 2" id="3045" name="Google Shape;3045;p22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046" name="Google Shape;3046;p22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47" name="Google Shape;3047;p22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048" name="Google Shape;3048;p225"/>
          <p:cNvSpPr/>
          <p:nvPr/>
        </p:nvSpPr>
        <p:spPr>
          <a:xfrm>
            <a:off x="5219700" y="1771650"/>
            <a:ext cx="2928938" cy="2447925"/>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049" name="Google Shape;3049;p225"/>
          <p:cNvGraphicFramePr/>
          <p:nvPr/>
        </p:nvGraphicFramePr>
        <p:xfrm>
          <a:off x="5554663" y="29241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100 200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050" name="Google Shape;3050;p225"/>
          <p:cNvSpPr txBox="1"/>
          <p:nvPr/>
        </p:nvSpPr>
        <p:spPr>
          <a:xfrm>
            <a:off x="5553075" y="2543175"/>
            <a:ext cx="13493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051" name="Google Shape;3051;p225"/>
          <p:cNvGraphicFramePr/>
          <p:nvPr/>
        </p:nvGraphicFramePr>
        <p:xfrm>
          <a:off x="1187450" y="2170113"/>
          <a:ext cx="3000000" cy="3000000"/>
        </p:xfrm>
        <a:graphic>
          <a:graphicData uri="http://schemas.openxmlformats.org/drawingml/2006/table">
            <a:tbl>
              <a:tblPr>
                <a:noFill/>
                <a:tableStyleId>{DA31C186-C125-4E34-A739-053F885C22C1}</a:tableStyleId>
              </a:tblPr>
              <a:tblGrid>
                <a:gridCol w="1439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052" name="Google Shape;3052;p225"/>
          <p:cNvSpPr txBox="1"/>
          <p:nvPr/>
        </p:nvSpPr>
        <p:spPr>
          <a:xfrm>
            <a:off x="1089025" y="1771650"/>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TextBox 11" id="3053" name="Google Shape;3053;p225"/>
          <p:cNvSpPr txBox="1"/>
          <p:nvPr/>
        </p:nvSpPr>
        <p:spPr>
          <a:xfrm>
            <a:off x="5653088" y="4219575"/>
            <a:ext cx="2574925"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Sate of Database, After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completely executing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all operations of</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descr="Title 1" id="3058" name="Google Shape;3058;p22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Example: Database Transaction</a:t>
            </a:r>
            <a:endParaRPr/>
          </a:p>
        </p:txBody>
      </p:sp>
      <p:sp>
        <p:nvSpPr>
          <p:cNvPr descr="Content Placeholder 2" id="3059" name="Google Shape;3059;p22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060" name="Google Shape;3060;p22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61" name="Google Shape;3061;p22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062" name="Google Shape;3062;p226"/>
          <p:cNvSpPr/>
          <p:nvPr/>
        </p:nvSpPr>
        <p:spPr>
          <a:xfrm>
            <a:off x="5219700" y="1771650"/>
            <a:ext cx="2928938" cy="2447925"/>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063" name="Google Shape;3063;p226"/>
          <p:cNvGraphicFramePr/>
          <p:nvPr/>
        </p:nvGraphicFramePr>
        <p:xfrm>
          <a:off x="5554663" y="29241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064" name="Google Shape;3064;p226"/>
          <p:cNvSpPr txBox="1"/>
          <p:nvPr/>
        </p:nvSpPr>
        <p:spPr>
          <a:xfrm>
            <a:off x="5553075" y="2543175"/>
            <a:ext cx="13493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065" name="Google Shape;3065;p226"/>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4398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066" name="Google Shape;3066;p226"/>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TextBox 11" id="3067" name="Google Shape;3067;p226"/>
          <p:cNvSpPr txBox="1"/>
          <p:nvPr/>
        </p:nvSpPr>
        <p:spPr>
          <a:xfrm>
            <a:off x="5110163" y="4219575"/>
            <a:ext cx="3438525" cy="1336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Sate of Database, until</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The system crash.</a:t>
            </a:r>
            <a:endParaRPr/>
          </a:p>
          <a:p>
            <a:pPr indent="0" lvl="0" marL="0" marR="0" rtl="0" algn="l">
              <a:spcBef>
                <a:spcPts val="0"/>
              </a:spcBef>
              <a:spcAft>
                <a:spcPts val="0"/>
              </a:spcAft>
              <a:buNone/>
            </a:pPr>
            <a:r>
              <a:t/>
            </a:r>
            <a:endParaRPr sz="1600">
              <a:solidFill>
                <a:srgbClr val="000000"/>
              </a:solidFill>
              <a:latin typeface="Verdana"/>
              <a:ea typeface="Verdana"/>
              <a:cs typeface="Verdana"/>
              <a:sym typeface="Verdana"/>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Now database is inconsistent</a:t>
            </a:r>
            <a:endParaRPr/>
          </a:p>
        </p:txBody>
      </p:sp>
      <p:cxnSp>
        <p:nvCxnSpPr>
          <p:cNvPr descr="Straight Arrow Connector 13" id="3068" name="Google Shape;3068;p226"/>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069" name="Google Shape;3069;p226"/>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3" name="Shape 3073"/>
        <p:cNvGrpSpPr/>
        <p:nvPr/>
      </p:nvGrpSpPr>
      <p:grpSpPr>
        <a:xfrm>
          <a:off x="0" y="0"/>
          <a:ext cx="0" cy="0"/>
          <a:chOff x="0" y="0"/>
          <a:chExt cx="0" cy="0"/>
        </a:xfrm>
      </p:grpSpPr>
      <p:sp>
        <p:nvSpPr>
          <p:cNvPr descr="Title 1" id="3074" name="Google Shape;3074;p22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Database Recovery Mechanisms</a:t>
            </a:r>
            <a:endParaRPr/>
          </a:p>
        </p:txBody>
      </p:sp>
      <p:sp>
        <p:nvSpPr>
          <p:cNvPr descr="Date Placeholder 3" id="3075" name="Google Shape;3075;p22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76" name="Google Shape;3076;p22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3077" name="Google Shape;3077;p227"/>
          <p:cNvSpPr txBox="1"/>
          <p:nvPr/>
        </p:nvSpPr>
        <p:spPr>
          <a:xfrm>
            <a:off x="3130550" y="1587500"/>
            <a:ext cx="3244850" cy="4699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2400">
                <a:solidFill>
                  <a:srgbClr val="000000"/>
                </a:solidFill>
                <a:latin typeface="Verdana"/>
                <a:ea typeface="Verdana"/>
                <a:cs typeface="Verdana"/>
                <a:sym typeface="Verdana"/>
              </a:rPr>
              <a:t>Recovery Categories</a:t>
            </a:r>
            <a:endParaRPr/>
          </a:p>
        </p:txBody>
      </p:sp>
      <p:cxnSp>
        <p:nvCxnSpPr>
          <p:cNvPr descr="Straight Arrow Connector 8" id="3078" name="Google Shape;3078;p227"/>
          <p:cNvCxnSpPr/>
          <p:nvPr/>
        </p:nvCxnSpPr>
        <p:spPr>
          <a:xfrm flipH="1">
            <a:off x="2914650" y="2049463"/>
            <a:ext cx="1728788" cy="730250"/>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0" id="3079" name="Google Shape;3079;p227"/>
          <p:cNvCxnSpPr/>
          <p:nvPr/>
        </p:nvCxnSpPr>
        <p:spPr>
          <a:xfrm>
            <a:off x="4805363" y="2049463"/>
            <a:ext cx="1277937" cy="658812"/>
          </a:xfrm>
          <a:prstGeom prst="straightConnector1">
            <a:avLst/>
          </a:prstGeom>
          <a:noFill/>
          <a:ln cap="flat" cmpd="sng" w="9525">
            <a:solidFill>
              <a:srgbClr val="000000"/>
            </a:solidFill>
            <a:prstDash val="solid"/>
            <a:round/>
            <a:headEnd len="sm" w="sm" type="none"/>
            <a:tailEnd len="med" w="med" type="triangle"/>
          </a:ln>
        </p:spPr>
      </p:cxnSp>
      <p:sp>
        <p:nvSpPr>
          <p:cNvPr descr="TextBox 11" id="3080" name="Google Shape;3080;p227"/>
          <p:cNvSpPr txBox="1"/>
          <p:nvPr/>
        </p:nvSpPr>
        <p:spPr>
          <a:xfrm>
            <a:off x="1462088" y="2852738"/>
            <a:ext cx="2890837"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Shadowing (or Copying)</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12" id="3081" name="Google Shape;3081;p227"/>
          <p:cNvSpPr txBox="1"/>
          <p:nvPr/>
        </p:nvSpPr>
        <p:spPr>
          <a:xfrm>
            <a:off x="5651500" y="2882900"/>
            <a:ext cx="2187575" cy="381000"/>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Using LOG Entries</a:t>
            </a:r>
            <a:endParaRPr/>
          </a:p>
        </p:txBody>
      </p:sp>
      <p:cxnSp>
        <p:nvCxnSpPr>
          <p:cNvPr descr="Straight Arrow Connector 14" id="3082" name="Google Shape;3082;p227"/>
          <p:cNvCxnSpPr/>
          <p:nvPr/>
        </p:nvCxnSpPr>
        <p:spPr>
          <a:xfrm flipH="1">
            <a:off x="5795963" y="3252788"/>
            <a:ext cx="995362" cy="608012"/>
          </a:xfrm>
          <a:prstGeom prst="straightConnector1">
            <a:avLst/>
          </a:prstGeom>
          <a:noFill/>
          <a:ln cap="flat" cmpd="sng" w="9525">
            <a:solidFill>
              <a:srgbClr val="000000"/>
            </a:solidFill>
            <a:prstDash val="solid"/>
            <a:round/>
            <a:headEnd len="sm" w="sm" type="none"/>
            <a:tailEnd len="med" w="med" type="triangle"/>
          </a:ln>
        </p:spPr>
      </p:cxnSp>
      <p:cxnSp>
        <p:nvCxnSpPr>
          <p:cNvPr descr="Straight Arrow Connector 16" id="3083" name="Google Shape;3083;p227"/>
          <p:cNvCxnSpPr/>
          <p:nvPr/>
        </p:nvCxnSpPr>
        <p:spPr>
          <a:xfrm>
            <a:off x="6791325" y="3252788"/>
            <a:ext cx="947738" cy="608012"/>
          </a:xfrm>
          <a:prstGeom prst="straightConnector1">
            <a:avLst/>
          </a:prstGeom>
          <a:noFill/>
          <a:ln cap="flat" cmpd="sng" w="9525">
            <a:solidFill>
              <a:srgbClr val="000000"/>
            </a:solidFill>
            <a:prstDash val="solid"/>
            <a:round/>
            <a:headEnd len="sm" w="sm" type="none"/>
            <a:tailEnd len="med" w="med" type="triangle"/>
          </a:ln>
        </p:spPr>
      </p:cxnSp>
      <p:sp>
        <p:nvSpPr>
          <p:cNvPr descr="TextBox 17" id="3084" name="Google Shape;3084;p227"/>
          <p:cNvSpPr txBox="1"/>
          <p:nvPr/>
        </p:nvSpPr>
        <p:spPr>
          <a:xfrm>
            <a:off x="4487863" y="3840163"/>
            <a:ext cx="2003425" cy="650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800">
                <a:solidFill>
                  <a:srgbClr val="000000"/>
                </a:solidFill>
                <a:latin typeface="Verdana"/>
                <a:ea typeface="Verdana"/>
                <a:cs typeface="Verdana"/>
                <a:sym typeface="Verdana"/>
              </a:rPr>
              <a:t>Based on</a:t>
            </a:r>
            <a:endParaRPr/>
          </a:p>
          <a:p>
            <a:pPr indent="0" lvl="0" marL="0" marR="0" rtl="0" algn="ctr">
              <a:spcBef>
                <a:spcPts val="0"/>
              </a:spcBef>
              <a:spcAft>
                <a:spcPts val="0"/>
              </a:spcAft>
              <a:buNone/>
            </a:pPr>
            <a:r>
              <a:rPr lang="en-US" sz="1800">
                <a:solidFill>
                  <a:srgbClr val="000000"/>
                </a:solidFill>
                <a:latin typeface="Verdana"/>
                <a:ea typeface="Verdana"/>
                <a:cs typeface="Verdana"/>
                <a:sym typeface="Verdana"/>
              </a:rPr>
              <a:t>Deferred Update</a:t>
            </a:r>
            <a:endParaRPr/>
          </a:p>
        </p:txBody>
      </p:sp>
      <p:sp>
        <p:nvSpPr>
          <p:cNvPr descr="TextBox 18" id="3085" name="Google Shape;3085;p227"/>
          <p:cNvSpPr txBox="1"/>
          <p:nvPr/>
        </p:nvSpPr>
        <p:spPr>
          <a:xfrm>
            <a:off x="6746875" y="3787775"/>
            <a:ext cx="2246313" cy="650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lang="en-US" sz="1800">
                <a:solidFill>
                  <a:srgbClr val="000000"/>
                </a:solidFill>
                <a:latin typeface="Verdana"/>
                <a:ea typeface="Verdana"/>
                <a:cs typeface="Verdana"/>
                <a:sym typeface="Verdana"/>
              </a:rPr>
              <a:t>Based on</a:t>
            </a:r>
            <a:endParaRPr/>
          </a:p>
          <a:p>
            <a:pPr indent="0" lvl="0" marL="0" marR="0" rtl="0" algn="ctr">
              <a:spcBef>
                <a:spcPts val="0"/>
              </a:spcBef>
              <a:spcAft>
                <a:spcPts val="0"/>
              </a:spcAft>
              <a:buNone/>
            </a:pPr>
            <a:r>
              <a:rPr lang="en-US" sz="1800">
                <a:solidFill>
                  <a:srgbClr val="000000"/>
                </a:solidFill>
                <a:latin typeface="Verdana"/>
                <a:ea typeface="Verdana"/>
                <a:cs typeface="Verdana"/>
                <a:sym typeface="Verdana"/>
              </a:rPr>
              <a:t>Immediate Update</a:t>
            </a:r>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9" name="Shape 3089"/>
        <p:cNvGrpSpPr/>
        <p:nvPr/>
      </p:nvGrpSpPr>
      <p:grpSpPr>
        <a:xfrm>
          <a:off x="0" y="0"/>
          <a:ext cx="0" cy="0"/>
          <a:chOff x="0" y="0"/>
          <a:chExt cx="0" cy="0"/>
        </a:xfrm>
      </p:grpSpPr>
      <p:sp>
        <p:nvSpPr>
          <p:cNvPr descr="Title 1" id="3090" name="Google Shape;3090;p22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Shadowing</a:t>
            </a:r>
            <a:endParaRPr/>
          </a:p>
        </p:txBody>
      </p:sp>
      <p:sp>
        <p:nvSpPr>
          <p:cNvPr descr="Content Placeholder 2" id="3091" name="Google Shape;3091;p22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092" name="Google Shape;3092;p22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093" name="Google Shape;3093;p22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094" name="Google Shape;3094;p228"/>
          <p:cNvSpPr/>
          <p:nvPr/>
        </p:nvSpPr>
        <p:spPr>
          <a:xfrm>
            <a:off x="5219700" y="1771650"/>
            <a:ext cx="2928938" cy="4608513"/>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095" name="Google Shape;3095;p228"/>
          <p:cNvGraphicFramePr/>
          <p:nvPr/>
        </p:nvGraphicFramePr>
        <p:xfrm>
          <a:off x="5446713" y="3573463"/>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096" name="Google Shape;3096;p228"/>
          <p:cNvSpPr txBox="1"/>
          <p:nvPr/>
        </p:nvSpPr>
        <p:spPr>
          <a:xfrm>
            <a:off x="5481638" y="3194050"/>
            <a:ext cx="1347787"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097" name="Google Shape;3097;p228"/>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4398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098" name="Google Shape;3098;p228"/>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cxnSp>
        <p:nvCxnSpPr>
          <p:cNvPr descr="Straight Arrow Connector 14" id="3099" name="Google Shape;3099;p228"/>
          <p:cNvCxnSpPr/>
          <p:nvPr/>
        </p:nvCxnSpPr>
        <p:spPr>
          <a:xfrm>
            <a:off x="1292225" y="2228850"/>
            <a:ext cx="503238" cy="0"/>
          </a:xfrm>
          <a:prstGeom prst="straightConnector1">
            <a:avLst/>
          </a:prstGeom>
          <a:noFill/>
          <a:ln cap="flat" cmpd="sng" w="38100">
            <a:solidFill>
              <a:srgbClr val="0000FF"/>
            </a:solidFill>
            <a:prstDash val="solid"/>
            <a:round/>
            <a:headEnd len="sm" w="sm" type="none"/>
            <a:tailEnd len="med" w="med" type="triangle"/>
          </a:ln>
        </p:spPr>
      </p:cxnSp>
      <p:sp>
        <p:nvSpPr>
          <p:cNvPr descr="TextBox 16" id="3100" name="Google Shape;3100;p228"/>
          <p:cNvSpPr txBox="1"/>
          <p:nvPr/>
        </p:nvSpPr>
        <p:spPr>
          <a:xfrm>
            <a:off x="541338" y="1809750"/>
            <a:ext cx="7461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T1 </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Begin</a:t>
            </a:r>
            <a:endParaRPr/>
          </a:p>
        </p:txBody>
      </p:sp>
      <p:graphicFrame>
        <p:nvGraphicFramePr>
          <p:cNvPr id="3101" name="Google Shape;3101;p228"/>
          <p:cNvGraphicFramePr/>
          <p:nvPr/>
        </p:nvGraphicFramePr>
        <p:xfrm>
          <a:off x="5599113" y="505142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8" id="3102" name="Google Shape;3102;p228"/>
          <p:cNvSpPr txBox="1"/>
          <p:nvPr/>
        </p:nvSpPr>
        <p:spPr>
          <a:xfrm>
            <a:off x="5634038" y="4710113"/>
            <a:ext cx="2273300"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FF"/>
                </a:solidFill>
                <a:latin typeface="Verdana"/>
                <a:ea typeface="Verdana"/>
                <a:cs typeface="Verdana"/>
                <a:sym typeface="Verdana"/>
              </a:rPr>
              <a:t>Copy of ACCOUNTS</a:t>
            </a:r>
            <a:endParaRPr/>
          </a:p>
        </p:txBody>
      </p:sp>
      <p:cxnSp>
        <p:nvCxnSpPr>
          <p:cNvPr descr="Straight Arrow Connector 20" id="3103" name="Google Shape;3103;p228"/>
          <p:cNvCxnSpPr/>
          <p:nvPr/>
        </p:nvCxnSpPr>
        <p:spPr>
          <a:xfrm>
            <a:off x="4660900" y="5356225"/>
            <a:ext cx="873125" cy="0"/>
          </a:xfrm>
          <a:prstGeom prst="straightConnector1">
            <a:avLst/>
          </a:prstGeom>
          <a:noFill/>
          <a:ln cap="flat" cmpd="sng" w="9525">
            <a:solidFill>
              <a:srgbClr val="000000"/>
            </a:solidFill>
            <a:prstDash val="solid"/>
            <a:round/>
            <a:headEnd len="sm" w="sm" type="none"/>
            <a:tailEnd len="med" w="med" type="triangle"/>
          </a:ln>
        </p:spPr>
      </p:cxnSp>
      <p:sp>
        <p:nvSpPr>
          <p:cNvPr descr="TextBox 22" id="3104" name="Google Shape;3104;p228"/>
          <p:cNvSpPr txBox="1"/>
          <p:nvPr/>
        </p:nvSpPr>
        <p:spPr>
          <a:xfrm>
            <a:off x="3706813" y="5187950"/>
            <a:ext cx="909637"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Shadow</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8" name="Shape 3108"/>
        <p:cNvGrpSpPr/>
        <p:nvPr/>
      </p:nvGrpSpPr>
      <p:grpSpPr>
        <a:xfrm>
          <a:off x="0" y="0"/>
          <a:ext cx="0" cy="0"/>
          <a:chOff x="0" y="0"/>
          <a:chExt cx="0" cy="0"/>
        </a:xfrm>
      </p:grpSpPr>
      <p:sp>
        <p:nvSpPr>
          <p:cNvPr descr="Title 1" id="3109" name="Google Shape;3109;p22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Shadowing</a:t>
            </a:r>
            <a:endParaRPr/>
          </a:p>
        </p:txBody>
      </p:sp>
      <p:sp>
        <p:nvSpPr>
          <p:cNvPr descr="Content Placeholder 2" id="3110" name="Google Shape;3110;p22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111" name="Google Shape;3111;p22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12" name="Google Shape;3112;p22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113" name="Google Shape;3113;p229"/>
          <p:cNvSpPr/>
          <p:nvPr/>
        </p:nvSpPr>
        <p:spPr>
          <a:xfrm>
            <a:off x="5143500" y="1700213"/>
            <a:ext cx="2928938" cy="4608512"/>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114" name="Google Shape;3114;p229"/>
          <p:cNvGraphicFramePr/>
          <p:nvPr/>
        </p:nvGraphicFramePr>
        <p:xfrm>
          <a:off x="5264150" y="3500438"/>
          <a:ext cx="3000000" cy="3000000"/>
        </p:xfrm>
        <a:graphic>
          <a:graphicData uri="http://schemas.openxmlformats.org/drawingml/2006/table">
            <a:tbl>
              <a:tblPr>
                <a:noFill/>
                <a:tableStyleId>{DA31C186-C125-4E34-A739-053F885C22C1}</a:tableStyleId>
              </a:tblPr>
              <a:tblGrid>
                <a:gridCol w="1136650"/>
                <a:gridCol w="145575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115" name="Google Shape;3115;p229"/>
          <p:cNvSpPr txBox="1"/>
          <p:nvPr/>
        </p:nvSpPr>
        <p:spPr>
          <a:xfrm>
            <a:off x="5454650" y="3122613"/>
            <a:ext cx="1349375"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116" name="Google Shape;3116;p229"/>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4398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117" name="Google Shape;3117;p229"/>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cxnSp>
        <p:nvCxnSpPr>
          <p:cNvPr descr="Straight Arrow Connector 13" id="3118" name="Google Shape;3118;p229"/>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119" name="Google Shape;3119;p229"/>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cxnSp>
        <p:nvCxnSpPr>
          <p:cNvPr descr="Straight Arrow Connector 14" id="3120" name="Google Shape;3120;p229"/>
          <p:cNvCxnSpPr/>
          <p:nvPr/>
        </p:nvCxnSpPr>
        <p:spPr>
          <a:xfrm>
            <a:off x="1292225" y="2228850"/>
            <a:ext cx="503238" cy="0"/>
          </a:xfrm>
          <a:prstGeom prst="straightConnector1">
            <a:avLst/>
          </a:prstGeom>
          <a:noFill/>
          <a:ln cap="flat" cmpd="sng" w="38100">
            <a:solidFill>
              <a:srgbClr val="0000FF"/>
            </a:solidFill>
            <a:prstDash val="solid"/>
            <a:round/>
            <a:headEnd len="sm" w="sm" type="none"/>
            <a:tailEnd len="med" w="med" type="triangle"/>
          </a:ln>
        </p:spPr>
      </p:cxnSp>
      <p:sp>
        <p:nvSpPr>
          <p:cNvPr descr="TextBox 16" id="3121" name="Google Shape;3121;p229"/>
          <p:cNvSpPr txBox="1"/>
          <p:nvPr/>
        </p:nvSpPr>
        <p:spPr>
          <a:xfrm>
            <a:off x="541338" y="1809750"/>
            <a:ext cx="7461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T1 </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Begin</a:t>
            </a:r>
            <a:endParaRPr/>
          </a:p>
        </p:txBody>
      </p:sp>
      <p:graphicFrame>
        <p:nvGraphicFramePr>
          <p:cNvPr id="3122" name="Google Shape;3122;p229"/>
          <p:cNvGraphicFramePr/>
          <p:nvPr/>
        </p:nvGraphicFramePr>
        <p:xfrm>
          <a:off x="5573713" y="4979988"/>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8" id="3123" name="Google Shape;3123;p229"/>
          <p:cNvSpPr txBox="1"/>
          <p:nvPr/>
        </p:nvSpPr>
        <p:spPr>
          <a:xfrm>
            <a:off x="5607050" y="4637088"/>
            <a:ext cx="2274888"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FF"/>
                </a:solidFill>
                <a:latin typeface="Verdana"/>
                <a:ea typeface="Verdana"/>
                <a:cs typeface="Verdana"/>
                <a:sym typeface="Verdana"/>
              </a:rPr>
              <a:t>Copy of ACCOUNTS</a:t>
            </a:r>
            <a:endParaRPr/>
          </a:p>
        </p:txBody>
      </p:sp>
      <p:sp>
        <p:nvSpPr>
          <p:cNvPr descr="TextBox 39" id="3124" name="Google Shape;3124;p229"/>
          <p:cNvSpPr txBox="1"/>
          <p:nvPr/>
        </p:nvSpPr>
        <p:spPr>
          <a:xfrm>
            <a:off x="381000" y="4633913"/>
            <a:ext cx="3394075" cy="13065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Now, when system crash</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Occurs how the database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Can be restored back to original</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Data values</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8" name="Shape 3128"/>
        <p:cNvGrpSpPr/>
        <p:nvPr/>
      </p:nvGrpSpPr>
      <p:grpSpPr>
        <a:xfrm>
          <a:off x="0" y="0"/>
          <a:ext cx="0" cy="0"/>
          <a:chOff x="0" y="0"/>
          <a:chExt cx="0" cy="0"/>
        </a:xfrm>
      </p:grpSpPr>
      <p:sp>
        <p:nvSpPr>
          <p:cNvPr descr="Title 1" id="3129" name="Google Shape;3129;p23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Shadowing</a:t>
            </a:r>
            <a:endParaRPr/>
          </a:p>
        </p:txBody>
      </p:sp>
      <p:sp>
        <p:nvSpPr>
          <p:cNvPr descr="Content Placeholder 2" id="3130" name="Google Shape;3130;p23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131" name="Google Shape;3131;p23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32" name="Google Shape;3132;p23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Flowchart: Magnetic Disk 6" id="3133" name="Google Shape;3133;p230"/>
          <p:cNvSpPr/>
          <p:nvPr/>
        </p:nvSpPr>
        <p:spPr>
          <a:xfrm>
            <a:off x="3962400" y="1700213"/>
            <a:ext cx="2928938" cy="4608512"/>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CC00CC"/>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134" name="Google Shape;3134;p230"/>
          <p:cNvGraphicFramePr/>
          <p:nvPr/>
        </p:nvGraphicFramePr>
        <p:xfrm>
          <a:off x="4084638" y="3500438"/>
          <a:ext cx="3000000" cy="3000000"/>
        </p:xfrm>
        <a:graphic>
          <a:graphicData uri="http://schemas.openxmlformats.org/drawingml/2006/table">
            <a:tbl>
              <a:tblPr>
                <a:noFill/>
                <a:tableStyleId>{DA31C186-C125-4E34-A739-053F885C22C1}</a:tableStyleId>
              </a:tblPr>
              <a:tblGrid>
                <a:gridCol w="1136650"/>
                <a:gridCol w="14557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150 50 150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135" name="Google Shape;3135;p230"/>
          <p:cNvSpPr txBox="1"/>
          <p:nvPr/>
        </p:nvSpPr>
        <p:spPr>
          <a:xfrm>
            <a:off x="4275138" y="3122613"/>
            <a:ext cx="1347787"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B050"/>
                </a:solidFill>
                <a:latin typeface="Verdana"/>
                <a:ea typeface="Verdana"/>
                <a:cs typeface="Verdana"/>
                <a:sym typeface="Verdana"/>
              </a:rPr>
              <a:t>ACCOUNTS</a:t>
            </a:r>
            <a:endParaRPr/>
          </a:p>
        </p:txBody>
      </p:sp>
      <p:graphicFrame>
        <p:nvGraphicFramePr>
          <p:cNvPr id="3136" name="Google Shape;3136;p230"/>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4398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137" name="Google Shape;3137;p230"/>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cxnSp>
        <p:nvCxnSpPr>
          <p:cNvPr descr="Straight Arrow Connector 13" id="3138" name="Google Shape;3138;p230"/>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139" name="Google Shape;3139;p230"/>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cxnSp>
        <p:nvCxnSpPr>
          <p:cNvPr descr="Straight Arrow Connector 14" id="3140" name="Google Shape;3140;p230"/>
          <p:cNvCxnSpPr/>
          <p:nvPr/>
        </p:nvCxnSpPr>
        <p:spPr>
          <a:xfrm>
            <a:off x="1292225" y="2228850"/>
            <a:ext cx="503238" cy="0"/>
          </a:xfrm>
          <a:prstGeom prst="straightConnector1">
            <a:avLst/>
          </a:prstGeom>
          <a:noFill/>
          <a:ln cap="flat" cmpd="sng" w="38100">
            <a:solidFill>
              <a:srgbClr val="0000FF"/>
            </a:solidFill>
            <a:prstDash val="solid"/>
            <a:round/>
            <a:headEnd len="sm" w="sm" type="none"/>
            <a:tailEnd len="med" w="med" type="triangle"/>
          </a:ln>
        </p:spPr>
      </p:cxnSp>
      <p:sp>
        <p:nvSpPr>
          <p:cNvPr descr="TextBox 16" id="3141" name="Google Shape;3141;p230"/>
          <p:cNvSpPr txBox="1"/>
          <p:nvPr/>
        </p:nvSpPr>
        <p:spPr>
          <a:xfrm>
            <a:off x="541338" y="1809750"/>
            <a:ext cx="746125" cy="6492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T1 </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Begin</a:t>
            </a:r>
            <a:endParaRPr/>
          </a:p>
        </p:txBody>
      </p:sp>
      <p:graphicFrame>
        <p:nvGraphicFramePr>
          <p:cNvPr id="3142" name="Google Shape;3142;p230"/>
          <p:cNvGraphicFramePr/>
          <p:nvPr/>
        </p:nvGraphicFramePr>
        <p:xfrm>
          <a:off x="4392613" y="4979988"/>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18" id="3143" name="Google Shape;3143;p230"/>
          <p:cNvSpPr txBox="1"/>
          <p:nvPr/>
        </p:nvSpPr>
        <p:spPr>
          <a:xfrm>
            <a:off x="4427538" y="4637088"/>
            <a:ext cx="2273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FF"/>
                </a:solidFill>
                <a:latin typeface="Verdana"/>
                <a:ea typeface="Verdana"/>
                <a:cs typeface="Verdana"/>
                <a:sym typeface="Verdana"/>
              </a:rPr>
              <a:t>Copy of ACCOUNTS</a:t>
            </a:r>
            <a:endParaRPr/>
          </a:p>
        </p:txBody>
      </p:sp>
      <p:cxnSp>
        <p:nvCxnSpPr>
          <p:cNvPr descr="Straight Arrow Connector 20" id="3144" name="Google Shape;3144;p230"/>
          <p:cNvCxnSpPr/>
          <p:nvPr/>
        </p:nvCxnSpPr>
        <p:spPr>
          <a:xfrm>
            <a:off x="3454400" y="5284788"/>
            <a:ext cx="873125" cy="0"/>
          </a:xfrm>
          <a:prstGeom prst="straightConnector1">
            <a:avLst/>
          </a:prstGeom>
          <a:noFill/>
          <a:ln cap="flat" cmpd="sng" w="9525">
            <a:solidFill>
              <a:srgbClr val="000000"/>
            </a:solidFill>
            <a:prstDash val="solid"/>
            <a:round/>
            <a:headEnd len="sm" w="sm" type="none"/>
            <a:tailEnd len="med" w="med" type="triangle"/>
          </a:ln>
        </p:spPr>
      </p:cxnSp>
      <p:sp>
        <p:nvSpPr>
          <p:cNvPr descr="TextBox 11" id="3145" name="Google Shape;3145;p230"/>
          <p:cNvSpPr txBox="1"/>
          <p:nvPr/>
        </p:nvSpPr>
        <p:spPr>
          <a:xfrm>
            <a:off x="7169150" y="4991100"/>
            <a:ext cx="1516063"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When System</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crash Occurs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copy from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Shadow </a:t>
            </a:r>
            <a:endParaRPr/>
          </a:p>
        </p:txBody>
      </p:sp>
      <p:cxnSp>
        <p:nvCxnSpPr>
          <p:cNvPr descr="Straight Connector 29" id="3146" name="Google Shape;3146;p230"/>
          <p:cNvCxnSpPr/>
          <p:nvPr/>
        </p:nvCxnSpPr>
        <p:spPr>
          <a:xfrm flipH="1" rot="10800000">
            <a:off x="6530975" y="5430838"/>
            <a:ext cx="568325" cy="23812"/>
          </a:xfrm>
          <a:prstGeom prst="straightConnector1">
            <a:avLst/>
          </a:prstGeom>
          <a:noFill/>
          <a:ln cap="flat" cmpd="sng" w="28575">
            <a:solidFill>
              <a:srgbClr val="FF0000"/>
            </a:solidFill>
            <a:prstDash val="solid"/>
            <a:round/>
            <a:headEnd len="sm" w="sm" type="none"/>
            <a:tailEnd len="sm" w="sm" type="none"/>
          </a:ln>
        </p:spPr>
      </p:cxnSp>
      <p:cxnSp>
        <p:nvCxnSpPr>
          <p:cNvPr descr="Straight Connector 31" id="3147" name="Google Shape;3147;p230"/>
          <p:cNvCxnSpPr/>
          <p:nvPr/>
        </p:nvCxnSpPr>
        <p:spPr>
          <a:xfrm rot="10800000">
            <a:off x="7088188" y="4029075"/>
            <a:ext cx="0" cy="1401763"/>
          </a:xfrm>
          <a:prstGeom prst="straightConnector1">
            <a:avLst/>
          </a:prstGeom>
          <a:noFill/>
          <a:ln cap="flat" cmpd="sng" w="28575">
            <a:solidFill>
              <a:srgbClr val="FF0000"/>
            </a:solidFill>
            <a:prstDash val="solid"/>
            <a:round/>
            <a:headEnd len="sm" w="sm" type="none"/>
            <a:tailEnd len="sm" w="sm" type="none"/>
          </a:ln>
        </p:spPr>
      </p:cxnSp>
      <p:cxnSp>
        <p:nvCxnSpPr>
          <p:cNvPr descr="Straight Arrow Connector 36" id="3148" name="Google Shape;3148;p230"/>
          <p:cNvCxnSpPr/>
          <p:nvPr/>
        </p:nvCxnSpPr>
        <p:spPr>
          <a:xfrm flipH="1">
            <a:off x="6651625" y="4016375"/>
            <a:ext cx="447675" cy="34925"/>
          </a:xfrm>
          <a:prstGeom prst="straightConnector1">
            <a:avLst/>
          </a:prstGeom>
          <a:noFill/>
          <a:ln cap="flat" cmpd="sng" w="28575">
            <a:solidFill>
              <a:srgbClr val="FF0000"/>
            </a:solidFill>
            <a:prstDash val="solid"/>
            <a:round/>
            <a:headEnd len="sm" w="sm" type="none"/>
            <a:tailEnd len="med" w="med" type="triangle"/>
          </a:ln>
        </p:spPr>
      </p:cxnSp>
      <p:sp>
        <p:nvSpPr>
          <p:cNvPr descr="TextBox 23" id="3149" name="Google Shape;3149;p230"/>
          <p:cNvSpPr txBox="1"/>
          <p:nvPr/>
        </p:nvSpPr>
        <p:spPr>
          <a:xfrm>
            <a:off x="2528888" y="4772025"/>
            <a:ext cx="1020762"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Shadow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Of</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Table</a:t>
            </a:r>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3" name="Shape 3153"/>
        <p:cNvGrpSpPr/>
        <p:nvPr/>
      </p:nvGrpSpPr>
      <p:grpSpPr>
        <a:xfrm>
          <a:off x="0" y="0"/>
          <a:ext cx="0" cy="0"/>
          <a:chOff x="0" y="0"/>
          <a:chExt cx="0" cy="0"/>
        </a:xfrm>
      </p:grpSpPr>
      <p:sp>
        <p:nvSpPr>
          <p:cNvPr descr="Title 1" id="3154" name="Google Shape;3154;p23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155" name="Google Shape;3155;p23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156" name="Google Shape;3156;p23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57" name="Google Shape;3157;p23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158" name="Google Shape;3158;p231"/>
          <p:cNvGraphicFramePr/>
          <p:nvPr/>
        </p:nvGraphicFramePr>
        <p:xfrm>
          <a:off x="4821238" y="23526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159" name="Google Shape;3159;p231"/>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160" name="Google Shape;3160;p231"/>
          <p:cNvGraphicFramePr/>
          <p:nvPr/>
        </p:nvGraphicFramePr>
        <p:xfrm>
          <a:off x="1763713" y="2025650"/>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161" name="Google Shape;3161;p231"/>
          <p:cNvSpPr txBox="1"/>
          <p:nvPr/>
        </p:nvSpPr>
        <p:spPr>
          <a:xfrm>
            <a:off x="1665288" y="1628775"/>
            <a:ext cx="15906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TextBox 22" id="3162" name="Google Shape;3162;p231"/>
          <p:cNvSpPr txBox="1"/>
          <p:nvPr/>
        </p:nvSpPr>
        <p:spPr>
          <a:xfrm>
            <a:off x="3286125" y="4768850"/>
            <a:ext cx="811213"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Log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Entries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Of T1</a:t>
            </a:r>
            <a:endParaRPr/>
          </a:p>
        </p:txBody>
      </p:sp>
      <p:sp>
        <p:nvSpPr>
          <p:cNvPr descr="Rectangle 11" id="3163" name="Google Shape;3163;p231"/>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164" name="Google Shape;3164;p231"/>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Right Arrow 12" id="3165" name="Google Shape;3165;p231"/>
          <p:cNvSpPr/>
          <p:nvPr/>
        </p:nvSpPr>
        <p:spPr>
          <a:xfrm>
            <a:off x="4138613" y="5011738"/>
            <a:ext cx="865187" cy="344487"/>
          </a:xfrm>
          <a:prstGeom prst="rightArrow">
            <a:avLst>
              <a:gd fmla="val 50000" name="adj1"/>
              <a:gd fmla="val 50044"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9" name="Shape 3169"/>
        <p:cNvGrpSpPr/>
        <p:nvPr/>
      </p:nvGrpSpPr>
      <p:grpSpPr>
        <a:xfrm>
          <a:off x="0" y="0"/>
          <a:ext cx="0" cy="0"/>
          <a:chOff x="0" y="0"/>
          <a:chExt cx="0" cy="0"/>
        </a:xfrm>
      </p:grpSpPr>
      <p:sp>
        <p:nvSpPr>
          <p:cNvPr descr="Title 1" id="3170" name="Google Shape;3170;p23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171" name="Google Shape;3171;p23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172" name="Google Shape;3172;p23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73" name="Google Shape;3173;p23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174" name="Google Shape;3174;p232"/>
          <p:cNvGraphicFramePr/>
          <p:nvPr/>
        </p:nvGraphicFramePr>
        <p:xfrm>
          <a:off x="4821238" y="23526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175" name="Google Shape;3175;p232"/>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176" name="Google Shape;3176;p232"/>
          <p:cNvGraphicFramePr/>
          <p:nvPr/>
        </p:nvGraphicFramePr>
        <p:xfrm>
          <a:off x="1763713" y="2025650"/>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177" name="Google Shape;3177;p232"/>
          <p:cNvSpPr txBox="1"/>
          <p:nvPr/>
        </p:nvSpPr>
        <p:spPr>
          <a:xfrm>
            <a:off x="1665288" y="1628775"/>
            <a:ext cx="1590675"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TextBox 22" id="3178" name="Google Shape;3178;p232"/>
          <p:cNvSpPr txBox="1"/>
          <p:nvPr/>
        </p:nvSpPr>
        <p:spPr>
          <a:xfrm>
            <a:off x="3286125" y="4768850"/>
            <a:ext cx="811213"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Log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Entries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Of T1</a:t>
            </a:r>
            <a:endParaRPr/>
          </a:p>
        </p:txBody>
      </p:sp>
      <p:sp>
        <p:nvSpPr>
          <p:cNvPr descr="Rectangle 11" id="3179" name="Google Shape;3179;p232"/>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180" name="Google Shape;3180;p232"/>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150,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Right Arrow 12" id="3181" name="Google Shape;3181;p232"/>
          <p:cNvSpPr/>
          <p:nvPr/>
        </p:nvSpPr>
        <p:spPr>
          <a:xfrm>
            <a:off x="4138613" y="5011738"/>
            <a:ext cx="865187" cy="344487"/>
          </a:xfrm>
          <a:prstGeom prst="rightArrow">
            <a:avLst>
              <a:gd fmla="val 50000" name="adj1"/>
              <a:gd fmla="val 50044"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5" name="Shape 3185"/>
        <p:cNvGrpSpPr/>
        <p:nvPr/>
      </p:nvGrpSpPr>
      <p:grpSpPr>
        <a:xfrm>
          <a:off x="0" y="0"/>
          <a:ext cx="0" cy="0"/>
          <a:chOff x="0" y="0"/>
          <a:chExt cx="0" cy="0"/>
        </a:xfrm>
      </p:grpSpPr>
      <p:sp>
        <p:nvSpPr>
          <p:cNvPr descr="Title 1" id="3186" name="Google Shape;3186;p23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187" name="Google Shape;3187;p23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188" name="Google Shape;3188;p23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189" name="Google Shape;3189;p23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190" name="Google Shape;3190;p233"/>
          <p:cNvGraphicFramePr/>
          <p:nvPr/>
        </p:nvGraphicFramePr>
        <p:xfrm>
          <a:off x="4821238" y="23526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191" name="Google Shape;3191;p233"/>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192" name="Google Shape;3192;p233"/>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193" name="Google Shape;3193;p233"/>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TextBox 22" id="3194" name="Google Shape;3194;p233"/>
          <p:cNvSpPr txBox="1"/>
          <p:nvPr/>
        </p:nvSpPr>
        <p:spPr>
          <a:xfrm>
            <a:off x="3286125" y="4768850"/>
            <a:ext cx="811213"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Log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Entries</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Of T1</a:t>
            </a:r>
            <a:endParaRPr/>
          </a:p>
        </p:txBody>
      </p:sp>
      <p:sp>
        <p:nvSpPr>
          <p:cNvPr descr="Rectangle 11" id="3195" name="Google Shape;3195;p233"/>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196" name="Google Shape;3196;p233"/>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150,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 T1, 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T2, B, 100,200]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FF9900"/>
                        </a:buClr>
                        <a:buSzPts val="1600"/>
                        <a:buFont typeface="Verdana"/>
                        <a:buNone/>
                      </a:pPr>
                      <a:r>
                        <a:rPr b="1" i="0" lang="en-US" sz="1600" u="none" cap="none" strike="noStrike">
                          <a:solidFill>
                            <a:srgbClr val="FF9900"/>
                          </a:solidFill>
                          <a:latin typeface="Verdana"/>
                          <a:ea typeface="Verdana"/>
                          <a:cs typeface="Verdana"/>
                          <a:sym typeface="Verdana"/>
                        </a:rPr>
                        <a:t>[Commit,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Right Arrow 12" id="3197" name="Google Shape;3197;p233"/>
          <p:cNvSpPr/>
          <p:nvPr/>
        </p:nvSpPr>
        <p:spPr>
          <a:xfrm>
            <a:off x="4138613" y="5011738"/>
            <a:ext cx="865187" cy="344487"/>
          </a:xfrm>
          <a:prstGeom prst="rightArrow">
            <a:avLst>
              <a:gd fmla="val 50000" name="adj1"/>
              <a:gd fmla="val 50044" name="adj2"/>
            </a:avLst>
          </a:prstGeom>
          <a:solidFill>
            <a:schemeClr val="accent1"/>
          </a:solidFill>
          <a:ln cap="flat" cmpd="sng" w="9525">
            <a:solidFill>
              <a:srgbClr val="000000"/>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1" name="Shape 3201"/>
        <p:cNvGrpSpPr/>
        <p:nvPr/>
      </p:nvGrpSpPr>
      <p:grpSpPr>
        <a:xfrm>
          <a:off x="0" y="0"/>
          <a:ext cx="0" cy="0"/>
          <a:chOff x="0" y="0"/>
          <a:chExt cx="0" cy="0"/>
        </a:xfrm>
      </p:grpSpPr>
      <p:sp>
        <p:nvSpPr>
          <p:cNvPr descr="Title 1" id="3202" name="Google Shape;3202;p23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03" name="Google Shape;3203;p23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204" name="Google Shape;3204;p23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05" name="Google Shape;3205;p23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206" name="Google Shape;3206;p234"/>
          <p:cNvGraphicFramePr/>
          <p:nvPr/>
        </p:nvGraphicFramePr>
        <p:xfrm>
          <a:off x="4821238" y="23526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207" name="Google Shape;3207;p234"/>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208" name="Google Shape;3208;p234"/>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209" name="Google Shape;3209;p234"/>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Rectangle 11" id="3210" name="Google Shape;3210;p234"/>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211" name="Google Shape;3211;p234"/>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150,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 T1, 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14" id="3212" name="Google Shape;3212;p234"/>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213" name="Google Shape;3213;p234"/>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sp>
        <p:nvSpPr>
          <p:cNvPr descr="TextBox 16" id="3214" name="Google Shape;3214;p234"/>
          <p:cNvSpPr txBox="1"/>
          <p:nvPr/>
        </p:nvSpPr>
        <p:spPr>
          <a:xfrm>
            <a:off x="482600" y="4913313"/>
            <a:ext cx="3395663" cy="1306512"/>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Now, when system crash</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Occurs how the database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Can be restored back to original</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Data values</a:t>
            </a:r>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8" name="Shape 3218"/>
        <p:cNvGrpSpPr/>
        <p:nvPr/>
      </p:nvGrpSpPr>
      <p:grpSpPr>
        <a:xfrm>
          <a:off x="0" y="0"/>
          <a:ext cx="0" cy="0"/>
          <a:chOff x="0" y="0"/>
          <a:chExt cx="0" cy="0"/>
        </a:xfrm>
      </p:grpSpPr>
      <p:sp>
        <p:nvSpPr>
          <p:cNvPr descr="Title 1" id="3219" name="Google Shape;3219;p23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20" name="Google Shape;3220;p23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221" name="Google Shape;3221;p23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22" name="Google Shape;3222;p23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223" name="Google Shape;3223;p235"/>
          <p:cNvGraphicFramePr/>
          <p:nvPr/>
        </p:nvGraphicFramePr>
        <p:xfrm>
          <a:off x="4711700" y="2352675"/>
          <a:ext cx="3000000" cy="3000000"/>
        </p:xfrm>
        <a:graphic>
          <a:graphicData uri="http://schemas.openxmlformats.org/drawingml/2006/table">
            <a:tbl>
              <a:tblPr>
                <a:noFill/>
                <a:tableStyleId>{DA31C186-C125-4E34-A739-053F885C22C1}</a:tableStyleId>
              </a:tblPr>
              <a:tblGrid>
                <a:gridCol w="1116025"/>
                <a:gridCol w="145890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150 50 150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224" name="Google Shape;3224;p235"/>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225" name="Google Shape;3225;p235"/>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226" name="Google Shape;3226;p235"/>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Rectangle 11" id="3227" name="Google Shape;3227;p235"/>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228" name="Google Shape;3228;p235"/>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150,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 T1, 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14" id="3229" name="Google Shape;3229;p235"/>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230" name="Google Shape;3230;p235"/>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cxnSp>
        <p:nvCxnSpPr>
          <p:cNvPr descr="Straight Connector 12" id="3231" name="Google Shape;3231;p235"/>
          <p:cNvCxnSpPr/>
          <p:nvPr/>
        </p:nvCxnSpPr>
        <p:spPr>
          <a:xfrm>
            <a:off x="7546975" y="4868863"/>
            <a:ext cx="503238" cy="0"/>
          </a:xfrm>
          <a:prstGeom prst="straightConnector1">
            <a:avLst/>
          </a:prstGeom>
          <a:noFill/>
          <a:ln cap="flat" cmpd="sng" w="28575">
            <a:solidFill>
              <a:srgbClr val="FF0000"/>
            </a:solidFill>
            <a:prstDash val="solid"/>
            <a:round/>
            <a:headEnd len="sm" w="sm" type="none"/>
            <a:tailEnd len="sm" w="sm" type="none"/>
          </a:ln>
        </p:spPr>
      </p:cxnSp>
      <p:cxnSp>
        <p:nvCxnSpPr>
          <p:cNvPr descr="Straight Connector 17" id="3232" name="Google Shape;3232;p235"/>
          <p:cNvCxnSpPr/>
          <p:nvPr/>
        </p:nvCxnSpPr>
        <p:spPr>
          <a:xfrm rot="10800000">
            <a:off x="8050213" y="2852738"/>
            <a:ext cx="0" cy="2016125"/>
          </a:xfrm>
          <a:prstGeom prst="straightConnector1">
            <a:avLst/>
          </a:prstGeom>
          <a:noFill/>
          <a:ln cap="flat" cmpd="sng" w="28575">
            <a:solidFill>
              <a:srgbClr val="FF0000"/>
            </a:solidFill>
            <a:prstDash val="solid"/>
            <a:round/>
            <a:headEnd len="sm" w="sm" type="none"/>
            <a:tailEnd len="sm" w="sm" type="none"/>
          </a:ln>
        </p:spPr>
      </p:cxnSp>
      <p:cxnSp>
        <p:nvCxnSpPr>
          <p:cNvPr descr="Straight Arrow Connector 20" id="3233" name="Google Shape;3233;p235"/>
          <p:cNvCxnSpPr/>
          <p:nvPr/>
        </p:nvCxnSpPr>
        <p:spPr>
          <a:xfrm rot="10800000">
            <a:off x="7235825" y="2852738"/>
            <a:ext cx="814388" cy="0"/>
          </a:xfrm>
          <a:prstGeom prst="straightConnector1">
            <a:avLst/>
          </a:prstGeom>
          <a:noFill/>
          <a:ln cap="flat" cmpd="sng" w="28575">
            <a:solidFill>
              <a:srgbClr val="FF0000"/>
            </a:solidFill>
            <a:prstDash val="solid"/>
            <a:round/>
            <a:headEnd len="sm" w="sm" type="none"/>
            <a:tailEnd len="med" w="med" type="triangle"/>
          </a:ln>
        </p:spPr>
      </p:cxnSp>
      <p:sp>
        <p:nvSpPr>
          <p:cNvPr descr="TextBox 22" id="3234" name="Google Shape;3234;p235"/>
          <p:cNvSpPr txBox="1"/>
          <p:nvPr/>
        </p:nvSpPr>
        <p:spPr>
          <a:xfrm>
            <a:off x="8094663" y="3330575"/>
            <a:ext cx="974725" cy="9286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Restore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Old</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value</a:t>
            </a:r>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8" name="Shape 3238"/>
        <p:cNvGrpSpPr/>
        <p:nvPr/>
      </p:nvGrpSpPr>
      <p:grpSpPr>
        <a:xfrm>
          <a:off x="0" y="0"/>
          <a:ext cx="0" cy="0"/>
          <a:chOff x="0" y="0"/>
          <a:chExt cx="0" cy="0"/>
        </a:xfrm>
      </p:grpSpPr>
      <p:sp>
        <p:nvSpPr>
          <p:cNvPr descr="Title 1" id="3239" name="Google Shape;3239;p23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40" name="Google Shape;3240;p23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241" name="Google Shape;3241;p23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42" name="Google Shape;3242;p23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243" name="Google Shape;3243;p236"/>
          <p:cNvGraphicFramePr/>
          <p:nvPr/>
        </p:nvGraphicFramePr>
        <p:xfrm>
          <a:off x="4821238" y="2352675"/>
          <a:ext cx="3000000" cy="3000000"/>
        </p:xfrm>
        <a:graphic>
          <a:graphicData uri="http://schemas.openxmlformats.org/drawingml/2006/table">
            <a:tbl>
              <a:tblPr>
                <a:noFill/>
                <a:tableStyleId>{DA31C186-C125-4E34-A739-053F885C22C1}</a:tableStyleId>
              </a:tblPr>
              <a:tblGrid>
                <a:gridCol w="1108075"/>
                <a:gridCol w="1152525"/>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244" name="Google Shape;3244;p236"/>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245" name="Google Shape;3245;p236"/>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246" name="Google Shape;3246;p236"/>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Rectangle 11" id="3247" name="Google Shape;3247;p236"/>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248" name="Google Shape;3248;p236"/>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150,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6" id="3249" name="Google Shape;3249;p236"/>
          <p:cNvSpPr txBox="1"/>
          <p:nvPr/>
        </p:nvSpPr>
        <p:spPr>
          <a:xfrm>
            <a:off x="512763" y="4940300"/>
            <a:ext cx="4041775"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Why should we maintain old value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in LOG for write operation</a:t>
            </a:r>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3" name="Shape 3253"/>
        <p:cNvGrpSpPr/>
        <p:nvPr/>
      </p:nvGrpSpPr>
      <p:grpSpPr>
        <a:xfrm>
          <a:off x="0" y="0"/>
          <a:ext cx="0" cy="0"/>
          <a:chOff x="0" y="0"/>
          <a:chExt cx="0" cy="0"/>
        </a:xfrm>
      </p:grpSpPr>
      <p:sp>
        <p:nvSpPr>
          <p:cNvPr descr="Title 1" id="3254" name="Google Shape;3254;p23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55" name="Google Shape;3255;p23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Transferring Rs.100/- from account A to account B</a:t>
            </a:r>
            <a:endParaRPr/>
          </a:p>
        </p:txBody>
      </p:sp>
      <p:sp>
        <p:nvSpPr>
          <p:cNvPr descr="Date Placeholder 3" id="3256" name="Google Shape;3256;p23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57" name="Google Shape;3257;p23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258" name="Google Shape;3258;p237"/>
          <p:cNvGraphicFramePr/>
          <p:nvPr/>
        </p:nvGraphicFramePr>
        <p:xfrm>
          <a:off x="4711700" y="2352675"/>
          <a:ext cx="3000000" cy="3000000"/>
        </p:xfrm>
        <a:graphic>
          <a:graphicData uri="http://schemas.openxmlformats.org/drawingml/2006/table">
            <a:tbl>
              <a:tblPr>
                <a:noFill/>
                <a:tableStyleId>{DA31C186-C125-4E34-A739-053F885C22C1}</a:tableStyleId>
              </a:tblPr>
              <a:tblGrid>
                <a:gridCol w="1116025"/>
                <a:gridCol w="145890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Account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Balance</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150 50 </a:t>
                      </a:r>
                      <a:r>
                        <a:rPr b="1" i="0" lang="en-US" sz="1600" u="none" cap="none" strike="noStrike">
                          <a:solidFill>
                            <a:srgbClr val="000000"/>
                          </a:solidFill>
                          <a:latin typeface="Verdana"/>
                          <a:ea typeface="Verdana"/>
                          <a:cs typeface="Verdana"/>
                          <a:sym typeface="Verdana"/>
                        </a:rPr>
                        <a:t>150</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 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TextBox 8" id="3259" name="Google Shape;3259;p237"/>
          <p:cNvSpPr txBox="1"/>
          <p:nvPr/>
        </p:nvSpPr>
        <p:spPr>
          <a:xfrm>
            <a:off x="4859338" y="1987550"/>
            <a:ext cx="12493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ACCOUNTS</a:t>
            </a:r>
            <a:endParaRPr/>
          </a:p>
        </p:txBody>
      </p:sp>
      <p:graphicFrame>
        <p:nvGraphicFramePr>
          <p:cNvPr id="3260" name="Google Shape;3260;p237"/>
          <p:cNvGraphicFramePr/>
          <p:nvPr/>
        </p:nvGraphicFramePr>
        <p:xfrm>
          <a:off x="1763713" y="2211388"/>
          <a:ext cx="3000000" cy="3000000"/>
        </p:xfrm>
        <a:graphic>
          <a:graphicData uri="http://schemas.openxmlformats.org/drawingml/2006/table">
            <a:tbl>
              <a:tblPr>
                <a:noFill/>
                <a:tableStyleId>{DA31C186-C125-4E34-A739-053F885C22C1}</a:tableStyleId>
              </a:tblPr>
              <a:tblGrid>
                <a:gridCol w="1728775"/>
              </a:tblGrid>
              <a:tr h="384175">
                <a:tc>
                  <a:txBody>
                    <a:bodyPr/>
                    <a:lstStyle/>
                    <a:p>
                      <a:pPr indent="0" lvl="0" marL="0" marR="0" rtl="0" algn="l">
                        <a:lnSpc>
                          <a:spcPct val="100000"/>
                        </a:lnSpc>
                        <a:spcBef>
                          <a:spcPts val="0"/>
                        </a:spcBef>
                        <a:spcAft>
                          <a:spcPts val="0"/>
                        </a:spcAft>
                        <a:buClr>
                          <a:srgbClr val="0000FF"/>
                        </a:buClr>
                        <a:buSzPts val="1800"/>
                        <a:buFont typeface="Verdana"/>
                        <a:buNone/>
                      </a:pPr>
                      <a:r>
                        <a:rPr b="0" i="0" lang="en-US" sz="1800" u="none" cap="none" strike="noStrike">
                          <a:solidFill>
                            <a:srgbClr val="0000FF"/>
                          </a:solidFill>
                          <a:latin typeface="Verdana"/>
                          <a:ea typeface="Verdana"/>
                          <a:cs typeface="Verdana"/>
                          <a:sym typeface="Verdana"/>
                        </a:rPr>
                        <a:t>Read(A)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CC3300"/>
                        </a:buClr>
                        <a:buSzPts val="1800"/>
                        <a:buFont typeface="Verdana"/>
                        <a:buNone/>
                      </a:pPr>
                      <a:r>
                        <a:rPr b="0" i="0" lang="en-US" sz="1800" u="none" cap="none" strike="noStrike">
                          <a:solidFill>
                            <a:srgbClr val="CC3300"/>
                          </a:solidFill>
                          <a:latin typeface="Verdana"/>
                          <a:ea typeface="Verdana"/>
                          <a:cs typeface="Verdana"/>
                          <a:sym typeface="Verdana"/>
                        </a:rPr>
                        <a:t>Write(A)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Read(B)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B=B+100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Write(B)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FF9900"/>
                        </a:buClr>
                        <a:buSzPts val="1800"/>
                        <a:buFont typeface="Verdana"/>
                        <a:buNone/>
                      </a:pPr>
                      <a:r>
                        <a:rPr b="0" i="0" lang="en-US" sz="1800" u="none" cap="none" strike="noStrike">
                          <a:solidFill>
                            <a:srgbClr val="FF9900"/>
                          </a:solidFill>
                          <a:latin typeface="Verdana"/>
                          <a:ea typeface="Verdana"/>
                          <a:cs typeface="Verdana"/>
                          <a:sym typeface="Verdana"/>
                        </a:rPr>
                        <a:t>Commit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0" id="3261" name="Google Shape;3261;p237"/>
          <p:cNvSpPr txBox="1"/>
          <p:nvPr/>
        </p:nvSpPr>
        <p:spPr>
          <a:xfrm>
            <a:off x="1665288" y="1814513"/>
            <a:ext cx="1590675"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T1</a:t>
            </a:r>
            <a:endParaRPr/>
          </a:p>
        </p:txBody>
      </p:sp>
      <p:sp>
        <p:nvSpPr>
          <p:cNvPr descr="Rectangle 11" id="3262" name="Google Shape;3262;p237"/>
          <p:cNvSpPr/>
          <p:nvPr/>
        </p:nvSpPr>
        <p:spPr>
          <a:xfrm>
            <a:off x="4660900" y="1984375"/>
            <a:ext cx="3654425" cy="43243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graphicFrame>
        <p:nvGraphicFramePr>
          <p:cNvPr id="3263" name="Google Shape;3263;p237"/>
          <p:cNvGraphicFramePr/>
          <p:nvPr/>
        </p:nvGraphicFramePr>
        <p:xfrm>
          <a:off x="5003800" y="3644900"/>
          <a:ext cx="3000000" cy="3000000"/>
        </p:xfrm>
        <a:graphic>
          <a:graphicData uri="http://schemas.openxmlformats.org/drawingml/2006/table">
            <a:tbl>
              <a:tblPr>
                <a:noFill/>
                <a:tableStyleId>{DA31C186-C125-4E34-A739-053F885C22C1}</a:tableStyleId>
              </a:tblPr>
              <a:tblGrid>
                <a:gridCol w="2663825"/>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LOG of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6600"/>
                        </a:buClr>
                        <a:buSzPts val="1600"/>
                        <a:buFont typeface="Verdana"/>
                        <a:buNone/>
                      </a:pPr>
                      <a:r>
                        <a:rPr b="1" i="0" lang="en-US" sz="1600" u="none" cap="none" strike="noStrike">
                          <a:solidFill>
                            <a:srgbClr val="0066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46075">
                <a:tc>
                  <a:txBody>
                    <a:bodyPr/>
                    <a:lstStyle/>
                    <a:p>
                      <a:pPr indent="0" lvl="0" marL="0" marR="0" rtl="0" algn="l">
                        <a:lnSpc>
                          <a:spcPct val="100000"/>
                        </a:lnSpc>
                        <a:spcBef>
                          <a:spcPts val="0"/>
                        </a:spcBef>
                        <a:spcAft>
                          <a:spcPts val="0"/>
                        </a:spcAft>
                        <a:buClr>
                          <a:srgbClr val="0000FF"/>
                        </a:buClr>
                        <a:buSzPts val="1600"/>
                        <a:buFont typeface="Verdana"/>
                        <a:buNone/>
                      </a:pPr>
                      <a:r>
                        <a:rPr b="0" i="0" lang="en-US" sz="1600" u="none" cap="none" strike="noStrike">
                          <a:solidFill>
                            <a:srgbClr val="0000FF"/>
                          </a:solidFill>
                          <a:latin typeface="Verdana"/>
                          <a:ea typeface="Verdana"/>
                          <a:cs typeface="Verdana"/>
                          <a:sym typeface="Verdana"/>
                        </a:rPr>
                        <a:t>[Read, T1,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CC3300"/>
                        </a:buClr>
                        <a:buSzPts val="1600"/>
                        <a:buFont typeface="Verdana"/>
                        <a:buNone/>
                      </a:pPr>
                      <a:r>
                        <a:rPr b="0" i="0" lang="en-US" sz="1600" u="none" cap="none" strike="noStrike">
                          <a:solidFill>
                            <a:srgbClr val="CC3300"/>
                          </a:solidFill>
                          <a:latin typeface="Verdana"/>
                          <a:ea typeface="Verdana"/>
                          <a:cs typeface="Verdana"/>
                          <a:sym typeface="Verdana"/>
                        </a:rPr>
                        <a:t>[Write,T1, A, </a:t>
                      </a:r>
                      <a:r>
                        <a:rPr b="1" i="0" lang="en-US" sz="1600" u="none" cap="none" strike="noStrike">
                          <a:solidFill>
                            <a:srgbClr val="000000"/>
                          </a:solidFill>
                          <a:latin typeface="Verdana"/>
                          <a:ea typeface="Verdana"/>
                          <a:cs typeface="Verdana"/>
                          <a:sym typeface="Verdana"/>
                        </a:rPr>
                        <a:t>150</a:t>
                      </a:r>
                      <a:r>
                        <a:rPr b="0" i="0" lang="en-US" sz="1600" u="none" cap="none" strike="noStrike">
                          <a:solidFill>
                            <a:srgbClr val="CC3300"/>
                          </a:solidFill>
                          <a:latin typeface="Verdana"/>
                          <a:ea typeface="Verdana"/>
                          <a:cs typeface="Verdana"/>
                          <a:sym typeface="Verdana"/>
                        </a:rPr>
                        <a:t>,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[Read, T1, 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cxnSp>
        <p:nvCxnSpPr>
          <p:cNvPr descr="Straight Arrow Connector 14" id="3264" name="Google Shape;3264;p237"/>
          <p:cNvCxnSpPr/>
          <p:nvPr/>
        </p:nvCxnSpPr>
        <p:spPr>
          <a:xfrm>
            <a:off x="1258888" y="3686175"/>
            <a:ext cx="503237"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265" name="Google Shape;3265;p237"/>
          <p:cNvSpPr txBox="1"/>
          <p:nvPr/>
        </p:nvSpPr>
        <p:spPr>
          <a:xfrm>
            <a:off x="395288" y="3363913"/>
            <a:ext cx="1041400"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cxnSp>
        <p:nvCxnSpPr>
          <p:cNvPr descr="Straight Connector 12" id="3266" name="Google Shape;3266;p237"/>
          <p:cNvCxnSpPr/>
          <p:nvPr/>
        </p:nvCxnSpPr>
        <p:spPr>
          <a:xfrm>
            <a:off x="7546975" y="4868863"/>
            <a:ext cx="503238" cy="0"/>
          </a:xfrm>
          <a:prstGeom prst="straightConnector1">
            <a:avLst/>
          </a:prstGeom>
          <a:noFill/>
          <a:ln cap="flat" cmpd="sng" w="28575">
            <a:solidFill>
              <a:srgbClr val="FF0000"/>
            </a:solidFill>
            <a:prstDash val="solid"/>
            <a:round/>
            <a:headEnd len="sm" w="sm" type="none"/>
            <a:tailEnd len="sm" w="sm" type="none"/>
          </a:ln>
        </p:spPr>
      </p:cxnSp>
      <p:cxnSp>
        <p:nvCxnSpPr>
          <p:cNvPr descr="Straight Connector 17" id="3267" name="Google Shape;3267;p237"/>
          <p:cNvCxnSpPr/>
          <p:nvPr/>
        </p:nvCxnSpPr>
        <p:spPr>
          <a:xfrm rot="10800000">
            <a:off x="8050213" y="2852738"/>
            <a:ext cx="0" cy="2016125"/>
          </a:xfrm>
          <a:prstGeom prst="straightConnector1">
            <a:avLst/>
          </a:prstGeom>
          <a:noFill/>
          <a:ln cap="flat" cmpd="sng" w="28575">
            <a:solidFill>
              <a:srgbClr val="FF0000"/>
            </a:solidFill>
            <a:prstDash val="solid"/>
            <a:round/>
            <a:headEnd len="sm" w="sm" type="none"/>
            <a:tailEnd len="sm" w="sm" type="none"/>
          </a:ln>
        </p:spPr>
      </p:cxnSp>
      <p:cxnSp>
        <p:nvCxnSpPr>
          <p:cNvPr descr="Straight Arrow Connector 20" id="3268" name="Google Shape;3268;p237"/>
          <p:cNvCxnSpPr/>
          <p:nvPr/>
        </p:nvCxnSpPr>
        <p:spPr>
          <a:xfrm rot="10800000">
            <a:off x="7235825" y="2852738"/>
            <a:ext cx="814388" cy="0"/>
          </a:xfrm>
          <a:prstGeom prst="straightConnector1">
            <a:avLst/>
          </a:prstGeom>
          <a:noFill/>
          <a:ln cap="flat" cmpd="sng" w="28575">
            <a:solidFill>
              <a:srgbClr val="FF0000"/>
            </a:solidFill>
            <a:prstDash val="solid"/>
            <a:round/>
            <a:headEnd len="sm" w="sm" type="none"/>
            <a:tailEnd len="med" w="med" type="triangle"/>
          </a:ln>
        </p:spPr>
      </p:cxnSp>
      <p:sp>
        <p:nvSpPr>
          <p:cNvPr descr="TextBox 6" id="3269" name="Google Shape;3269;p237"/>
          <p:cNvSpPr txBox="1"/>
          <p:nvPr/>
        </p:nvSpPr>
        <p:spPr>
          <a:xfrm>
            <a:off x="614363" y="4984750"/>
            <a:ext cx="3778250" cy="8159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Old</a:t>
            </a:r>
            <a:r>
              <a:rPr lang="en-US" sz="1600">
                <a:solidFill>
                  <a:srgbClr val="000000"/>
                </a:solidFill>
                <a:latin typeface="Verdana"/>
                <a:ea typeface="Verdana"/>
                <a:cs typeface="Verdana"/>
                <a:sym typeface="Verdana"/>
              </a:rPr>
              <a:t> value is required for </a:t>
            </a:r>
            <a:r>
              <a:rPr b="1" lang="en-US" sz="1600">
                <a:solidFill>
                  <a:srgbClr val="000000"/>
                </a:solidFill>
                <a:latin typeface="Verdana"/>
                <a:ea typeface="Verdana"/>
                <a:cs typeface="Verdana"/>
                <a:sym typeface="Verdana"/>
              </a:rPr>
              <a:t>UNDO,</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If changes where made to database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Before transaction reaches commit</a:t>
            </a:r>
            <a:endParaRPr/>
          </a:p>
        </p:txBody>
      </p:sp>
      <p:sp>
        <p:nvSpPr>
          <p:cNvPr descr="TextBox 13" id="3270" name="Google Shape;3270;p237"/>
          <p:cNvSpPr txBox="1"/>
          <p:nvPr/>
        </p:nvSpPr>
        <p:spPr>
          <a:xfrm>
            <a:off x="8096250" y="3514725"/>
            <a:ext cx="86836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UNDO</a:t>
            </a:r>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4" name="Shape 3274"/>
        <p:cNvGrpSpPr/>
        <p:nvPr/>
      </p:nvGrpSpPr>
      <p:grpSpPr>
        <a:xfrm>
          <a:off x="0" y="0"/>
          <a:ext cx="0" cy="0"/>
          <a:chOff x="0" y="0"/>
          <a:chExt cx="0" cy="0"/>
        </a:xfrm>
      </p:grpSpPr>
      <p:sp>
        <p:nvSpPr>
          <p:cNvPr descr="Title 1" id="3275" name="Google Shape;3275;p23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76" name="Google Shape;3276;p23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Consider two transactions, Transferring Rs.100/- from account A to account B and Rs. 200/- from account C to D</a:t>
            </a:r>
            <a:endParaRPr/>
          </a:p>
        </p:txBody>
      </p:sp>
      <p:sp>
        <p:nvSpPr>
          <p:cNvPr descr="Date Placeholder 3" id="3277" name="Google Shape;3277;p23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78" name="Google Shape;3278;p23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11" id="3279" name="Google Shape;3279;p238"/>
          <p:cNvSpPr/>
          <p:nvPr/>
        </p:nvSpPr>
        <p:spPr>
          <a:xfrm>
            <a:off x="4660900" y="1628775"/>
            <a:ext cx="2646363" cy="4679950"/>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3" id="3280" name="Google Shape;3280;p238"/>
          <p:cNvPicPr preferRelativeResize="0"/>
          <p:nvPr/>
        </p:nvPicPr>
        <p:blipFill rotWithShape="1">
          <a:blip r:embed="rId3">
            <a:alphaModFix/>
          </a:blip>
          <a:srcRect b="0" l="0" r="0" t="0"/>
          <a:stretch/>
        </p:blipFill>
        <p:spPr>
          <a:xfrm>
            <a:off x="4859338" y="1700213"/>
            <a:ext cx="1425575" cy="1169987"/>
          </a:xfrm>
          <a:prstGeom prst="rect">
            <a:avLst/>
          </a:prstGeom>
          <a:noFill/>
          <a:ln>
            <a:noFill/>
          </a:ln>
        </p:spPr>
      </p:pic>
      <p:pic>
        <p:nvPicPr>
          <p:cNvPr descr="Picture 8" id="3281" name="Google Shape;3281;p238"/>
          <p:cNvPicPr preferRelativeResize="0"/>
          <p:nvPr/>
        </p:nvPicPr>
        <p:blipFill rotWithShape="1">
          <a:blip r:embed="rId4">
            <a:alphaModFix/>
          </a:blip>
          <a:srcRect b="0" l="0" r="0" t="0"/>
          <a:stretch/>
        </p:blipFill>
        <p:spPr>
          <a:xfrm>
            <a:off x="1546225" y="1831975"/>
            <a:ext cx="1728788" cy="4489450"/>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5" name="Shape 3285"/>
        <p:cNvGrpSpPr/>
        <p:nvPr/>
      </p:nvGrpSpPr>
      <p:grpSpPr>
        <a:xfrm>
          <a:off x="0" y="0"/>
          <a:ext cx="0" cy="0"/>
          <a:chOff x="0" y="0"/>
          <a:chExt cx="0" cy="0"/>
        </a:xfrm>
      </p:grpSpPr>
      <p:sp>
        <p:nvSpPr>
          <p:cNvPr descr="Title 1" id="3286" name="Google Shape;3286;p23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87" name="Google Shape;3287;p23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Consider two transactions, Transferring Rs.100/- from account A to account B and Rs. 200/- from account C to D</a:t>
            </a:r>
            <a:endParaRPr/>
          </a:p>
        </p:txBody>
      </p:sp>
      <p:sp>
        <p:nvSpPr>
          <p:cNvPr descr="Date Placeholder 3" id="3288" name="Google Shape;3288;p23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289" name="Google Shape;3289;p23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11" id="3290" name="Google Shape;3290;p239"/>
          <p:cNvSpPr/>
          <p:nvPr/>
        </p:nvSpPr>
        <p:spPr>
          <a:xfrm>
            <a:off x="4660900" y="1555750"/>
            <a:ext cx="2646363" cy="4752975"/>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pic>
        <p:nvPicPr>
          <p:cNvPr descr="Picture 5" id="3291" name="Google Shape;3291;p239"/>
          <p:cNvPicPr preferRelativeResize="0"/>
          <p:nvPr/>
        </p:nvPicPr>
        <p:blipFill rotWithShape="1">
          <a:blip r:embed="rId3">
            <a:alphaModFix/>
          </a:blip>
          <a:srcRect b="0" l="0" r="0" t="0"/>
          <a:stretch/>
        </p:blipFill>
        <p:spPr>
          <a:xfrm>
            <a:off x="4860925" y="2995613"/>
            <a:ext cx="1781175" cy="3192462"/>
          </a:xfrm>
          <a:prstGeom prst="rect">
            <a:avLst/>
          </a:prstGeom>
          <a:noFill/>
          <a:ln>
            <a:noFill/>
          </a:ln>
        </p:spPr>
      </p:pic>
      <p:pic>
        <p:nvPicPr>
          <p:cNvPr descr="Picture 2" id="3292" name="Google Shape;3292;p239"/>
          <p:cNvPicPr preferRelativeResize="0"/>
          <p:nvPr/>
        </p:nvPicPr>
        <p:blipFill rotWithShape="1">
          <a:blip r:embed="rId4">
            <a:alphaModFix/>
          </a:blip>
          <a:srcRect b="0" l="0" r="0" t="0"/>
          <a:stretch/>
        </p:blipFill>
        <p:spPr>
          <a:xfrm>
            <a:off x="4886325" y="1628775"/>
            <a:ext cx="1628775" cy="1209675"/>
          </a:xfrm>
          <a:prstGeom prst="rect">
            <a:avLst/>
          </a:prstGeom>
          <a:noFill/>
          <a:ln>
            <a:noFill/>
          </a:ln>
        </p:spPr>
      </p:pic>
      <p:pic>
        <p:nvPicPr>
          <p:cNvPr descr="Picture 8" id="3293" name="Google Shape;3293;p239"/>
          <p:cNvPicPr preferRelativeResize="0"/>
          <p:nvPr/>
        </p:nvPicPr>
        <p:blipFill rotWithShape="1">
          <a:blip r:embed="rId5">
            <a:alphaModFix/>
          </a:blip>
          <a:srcRect b="0" l="0" r="0" t="0"/>
          <a:stretch/>
        </p:blipFill>
        <p:spPr>
          <a:xfrm>
            <a:off x="1546225" y="1831975"/>
            <a:ext cx="1728788" cy="4489450"/>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7" name="Shape 3297"/>
        <p:cNvGrpSpPr/>
        <p:nvPr/>
      </p:nvGrpSpPr>
      <p:grpSpPr>
        <a:xfrm>
          <a:off x="0" y="0"/>
          <a:ext cx="0" cy="0"/>
          <a:chOff x="0" y="0"/>
          <a:chExt cx="0" cy="0"/>
        </a:xfrm>
      </p:grpSpPr>
      <p:sp>
        <p:nvSpPr>
          <p:cNvPr descr="Title 1" id="3298" name="Google Shape;3298;p24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299" name="Google Shape;3299;p24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Consider two transactions, Transferring Rs.100/- from account A to account B and Rs. 200/- from account C to D</a:t>
            </a:r>
            <a:endParaRPr/>
          </a:p>
        </p:txBody>
      </p:sp>
      <p:sp>
        <p:nvSpPr>
          <p:cNvPr descr="Date Placeholder 3" id="3300" name="Google Shape;3300;p24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01" name="Google Shape;3301;p24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11" id="3302" name="Google Shape;3302;p240"/>
          <p:cNvSpPr/>
          <p:nvPr/>
        </p:nvSpPr>
        <p:spPr>
          <a:xfrm>
            <a:off x="6173788" y="1555750"/>
            <a:ext cx="2286000" cy="4752975"/>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 id="3303" name="Google Shape;3303;p240"/>
          <p:cNvSpPr txBox="1"/>
          <p:nvPr/>
        </p:nvSpPr>
        <p:spPr>
          <a:xfrm>
            <a:off x="3392488" y="3470275"/>
            <a:ext cx="2759075" cy="105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Why we should maintain </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New</a:t>
            </a:r>
            <a:r>
              <a:rPr lang="en-US" sz="1600">
                <a:solidFill>
                  <a:srgbClr val="000000"/>
                </a:solidFill>
                <a:latin typeface="Verdana"/>
                <a:ea typeface="Verdana"/>
                <a:cs typeface="Verdana"/>
                <a:sym typeface="Verdana"/>
              </a:rPr>
              <a:t> value</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in LOG for write operation</a:t>
            </a:r>
            <a:endParaRPr/>
          </a:p>
        </p:txBody>
      </p:sp>
      <p:pic>
        <p:nvPicPr>
          <p:cNvPr descr="Picture 2" id="3304" name="Google Shape;3304;p240"/>
          <p:cNvPicPr preferRelativeResize="0"/>
          <p:nvPr/>
        </p:nvPicPr>
        <p:blipFill rotWithShape="1">
          <a:blip r:embed="rId3">
            <a:alphaModFix/>
          </a:blip>
          <a:srcRect b="0" l="0" r="0" t="0"/>
          <a:stretch/>
        </p:blipFill>
        <p:spPr>
          <a:xfrm>
            <a:off x="6342063" y="3043238"/>
            <a:ext cx="1743075" cy="3106737"/>
          </a:xfrm>
          <a:prstGeom prst="rect">
            <a:avLst/>
          </a:prstGeom>
          <a:noFill/>
          <a:ln>
            <a:noFill/>
          </a:ln>
        </p:spPr>
      </p:pic>
      <p:pic>
        <p:nvPicPr>
          <p:cNvPr descr="Picture 3" id="3305" name="Google Shape;3305;p240"/>
          <p:cNvPicPr preferRelativeResize="0"/>
          <p:nvPr/>
        </p:nvPicPr>
        <p:blipFill rotWithShape="1">
          <a:blip r:embed="rId4">
            <a:alphaModFix/>
          </a:blip>
          <a:srcRect b="0" l="0" r="0" t="0"/>
          <a:stretch/>
        </p:blipFill>
        <p:spPr>
          <a:xfrm>
            <a:off x="6342063" y="1700213"/>
            <a:ext cx="1427162" cy="1169987"/>
          </a:xfrm>
          <a:prstGeom prst="rect">
            <a:avLst/>
          </a:prstGeom>
          <a:noFill/>
          <a:ln>
            <a:noFill/>
          </a:ln>
        </p:spPr>
      </p:pic>
      <p:cxnSp>
        <p:nvCxnSpPr>
          <p:cNvPr descr="Straight Arrow Connector 14" id="3306" name="Google Shape;3306;p240"/>
          <p:cNvCxnSpPr/>
          <p:nvPr/>
        </p:nvCxnSpPr>
        <p:spPr>
          <a:xfrm>
            <a:off x="1087438" y="5368925"/>
            <a:ext cx="504825" cy="0"/>
          </a:xfrm>
          <a:prstGeom prst="straightConnector1">
            <a:avLst/>
          </a:prstGeom>
          <a:noFill/>
          <a:ln cap="flat" cmpd="sng" w="38100">
            <a:solidFill>
              <a:srgbClr val="FF0000"/>
            </a:solidFill>
            <a:prstDash val="solid"/>
            <a:round/>
            <a:headEnd len="sm" w="sm" type="none"/>
            <a:tailEnd len="med" w="med" type="triangle"/>
          </a:ln>
        </p:spPr>
      </p:cxnSp>
      <p:sp>
        <p:nvSpPr>
          <p:cNvPr descr="TextBox 15" id="3307" name="Google Shape;3307;p240"/>
          <p:cNvSpPr txBox="1"/>
          <p:nvPr/>
        </p:nvSpPr>
        <p:spPr>
          <a:xfrm>
            <a:off x="223838" y="5045075"/>
            <a:ext cx="1041400"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800">
                <a:solidFill>
                  <a:srgbClr val="FF0000"/>
                </a:solidFill>
                <a:latin typeface="Verdana"/>
                <a:ea typeface="Verdana"/>
                <a:cs typeface="Verdana"/>
                <a:sym typeface="Verdana"/>
              </a:rPr>
              <a:t>Crash</a:t>
            </a:r>
            <a:endParaRPr/>
          </a:p>
        </p:txBody>
      </p:sp>
      <p:pic>
        <p:nvPicPr>
          <p:cNvPr descr="Picture 8" id="3308" name="Google Shape;3308;p240"/>
          <p:cNvPicPr preferRelativeResize="0"/>
          <p:nvPr/>
        </p:nvPicPr>
        <p:blipFill rotWithShape="1">
          <a:blip r:embed="rId5">
            <a:alphaModFix/>
          </a:blip>
          <a:srcRect b="0" l="0" r="0" t="0"/>
          <a:stretch/>
        </p:blipFill>
        <p:spPr>
          <a:xfrm>
            <a:off x="1546225" y="1844675"/>
            <a:ext cx="1728788" cy="4392613"/>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2" name="Shape 3312"/>
        <p:cNvGrpSpPr/>
        <p:nvPr/>
      </p:nvGrpSpPr>
      <p:grpSpPr>
        <a:xfrm>
          <a:off x="0" y="0"/>
          <a:ext cx="0" cy="0"/>
          <a:chOff x="0" y="0"/>
          <a:chExt cx="0" cy="0"/>
        </a:xfrm>
      </p:grpSpPr>
      <p:sp>
        <p:nvSpPr>
          <p:cNvPr descr="Title 1" id="3313" name="Google Shape;3313;p24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314" name="Google Shape;3314;p24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600"/>
              <a:buFont typeface="Noto Sans Symbols"/>
              <a:buNone/>
            </a:pPr>
            <a:r>
              <a:rPr lang="en-US" sz="1600"/>
              <a:t>Consider two transactions, Transferring Rs.100/- from account A to account B and Rs. 200/- from account C to D</a:t>
            </a:r>
            <a:endParaRPr/>
          </a:p>
        </p:txBody>
      </p:sp>
      <p:sp>
        <p:nvSpPr>
          <p:cNvPr descr="Date Placeholder 3" id="3315" name="Google Shape;3315;p24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16" name="Google Shape;3316;p24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11" id="3317" name="Google Shape;3317;p241"/>
          <p:cNvSpPr/>
          <p:nvPr/>
        </p:nvSpPr>
        <p:spPr>
          <a:xfrm>
            <a:off x="5741988" y="1555750"/>
            <a:ext cx="2286000" cy="4752975"/>
          </a:xfrm>
          <a:prstGeom prst="rect">
            <a:avLst/>
          </a:prstGeom>
          <a:noFill/>
          <a:ln cap="flat" cmpd="sng" w="2857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6" id="3318" name="Google Shape;3318;p241"/>
          <p:cNvSpPr txBox="1"/>
          <p:nvPr/>
        </p:nvSpPr>
        <p:spPr>
          <a:xfrm>
            <a:off x="2960688" y="3470275"/>
            <a:ext cx="2805112" cy="2022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600">
                <a:solidFill>
                  <a:srgbClr val="000000"/>
                </a:solidFill>
                <a:latin typeface="Verdana"/>
                <a:ea typeface="Verdana"/>
                <a:cs typeface="Verdana"/>
                <a:sym typeface="Verdana"/>
              </a:rPr>
              <a:t>New value </a:t>
            </a:r>
            <a:r>
              <a:rPr lang="en-US" sz="1600">
                <a:solidFill>
                  <a:srgbClr val="000000"/>
                </a:solidFill>
                <a:latin typeface="Verdana"/>
                <a:ea typeface="Verdana"/>
                <a:cs typeface="Verdana"/>
                <a:sym typeface="Verdana"/>
              </a:rPr>
              <a:t>is required for</a:t>
            </a:r>
            <a:endParaRPr/>
          </a:p>
          <a:p>
            <a:pPr indent="0" lvl="0" marL="0" marR="0" rtl="0" algn="l">
              <a:spcBef>
                <a:spcPts val="0"/>
              </a:spcBef>
              <a:spcAft>
                <a:spcPts val="0"/>
              </a:spcAft>
              <a:buNone/>
            </a:pPr>
            <a:r>
              <a:rPr b="1" lang="en-US" sz="1600">
                <a:solidFill>
                  <a:srgbClr val="000000"/>
                </a:solidFill>
                <a:latin typeface="Verdana"/>
                <a:ea typeface="Verdana"/>
                <a:cs typeface="Verdana"/>
                <a:sym typeface="Verdana"/>
              </a:rPr>
              <a:t>REDO</a:t>
            </a:r>
            <a:r>
              <a:rPr lang="en-US" sz="1600">
                <a:solidFill>
                  <a:srgbClr val="000000"/>
                </a:solidFill>
                <a:latin typeface="Verdana"/>
                <a:ea typeface="Verdana"/>
                <a:cs typeface="Verdana"/>
                <a:sym typeface="Verdana"/>
              </a:rPr>
              <a:t> operation in</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Case where you have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Reached commit point of</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but</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Changes where not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Updated </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To database table</a:t>
            </a:r>
            <a:endParaRPr/>
          </a:p>
        </p:txBody>
      </p:sp>
      <p:pic>
        <p:nvPicPr>
          <p:cNvPr descr="Picture 2" id="3319" name="Google Shape;3319;p241"/>
          <p:cNvPicPr preferRelativeResize="0"/>
          <p:nvPr/>
        </p:nvPicPr>
        <p:blipFill rotWithShape="1">
          <a:blip r:embed="rId3">
            <a:alphaModFix/>
          </a:blip>
          <a:srcRect b="0" l="0" r="0" t="0"/>
          <a:stretch/>
        </p:blipFill>
        <p:spPr>
          <a:xfrm>
            <a:off x="5910263" y="3201988"/>
            <a:ext cx="1741487" cy="3106737"/>
          </a:xfrm>
          <a:prstGeom prst="rect">
            <a:avLst/>
          </a:prstGeom>
          <a:noFill/>
          <a:ln>
            <a:noFill/>
          </a:ln>
        </p:spPr>
      </p:pic>
      <p:pic>
        <p:nvPicPr>
          <p:cNvPr descr="Picture 2" id="3320" name="Google Shape;3320;p241"/>
          <p:cNvPicPr preferRelativeResize="0"/>
          <p:nvPr/>
        </p:nvPicPr>
        <p:blipFill rotWithShape="1">
          <a:blip r:embed="rId4">
            <a:alphaModFix/>
          </a:blip>
          <a:srcRect b="0" l="0" r="0" t="0"/>
          <a:stretch/>
        </p:blipFill>
        <p:spPr>
          <a:xfrm>
            <a:off x="5910263" y="1609725"/>
            <a:ext cx="1663700" cy="1365250"/>
          </a:xfrm>
          <a:prstGeom prst="rect">
            <a:avLst/>
          </a:prstGeom>
          <a:noFill/>
          <a:ln>
            <a:noFill/>
          </a:ln>
        </p:spPr>
      </p:pic>
      <p:cxnSp>
        <p:nvCxnSpPr>
          <p:cNvPr descr="Straight Connector 8" id="3321" name="Google Shape;3321;p241"/>
          <p:cNvCxnSpPr/>
          <p:nvPr/>
        </p:nvCxnSpPr>
        <p:spPr>
          <a:xfrm>
            <a:off x="7651750" y="4002088"/>
            <a:ext cx="231775" cy="0"/>
          </a:xfrm>
          <a:prstGeom prst="straightConnector1">
            <a:avLst/>
          </a:prstGeom>
          <a:noFill/>
          <a:ln cap="flat" cmpd="sng" w="28575">
            <a:solidFill>
              <a:srgbClr val="000000"/>
            </a:solidFill>
            <a:prstDash val="solid"/>
            <a:round/>
            <a:headEnd len="sm" w="sm" type="none"/>
            <a:tailEnd len="sm" w="sm" type="none"/>
          </a:ln>
        </p:spPr>
      </p:cxnSp>
      <p:cxnSp>
        <p:nvCxnSpPr>
          <p:cNvPr descr="Straight Connector 10" id="3322" name="Google Shape;3322;p241"/>
          <p:cNvCxnSpPr/>
          <p:nvPr/>
        </p:nvCxnSpPr>
        <p:spPr>
          <a:xfrm rot="10800000">
            <a:off x="7883525" y="1987550"/>
            <a:ext cx="0" cy="2014538"/>
          </a:xfrm>
          <a:prstGeom prst="straightConnector1">
            <a:avLst/>
          </a:prstGeom>
          <a:noFill/>
          <a:ln cap="flat" cmpd="sng" w="28575">
            <a:solidFill>
              <a:srgbClr val="000000"/>
            </a:solidFill>
            <a:prstDash val="solid"/>
            <a:round/>
            <a:headEnd len="sm" w="sm" type="none"/>
            <a:tailEnd len="sm" w="sm" type="none"/>
          </a:ln>
        </p:spPr>
      </p:cxnSp>
      <p:cxnSp>
        <p:nvCxnSpPr>
          <p:cNvPr descr="Straight Arrow Connector 19" id="3323" name="Google Shape;3323;p241"/>
          <p:cNvCxnSpPr/>
          <p:nvPr/>
        </p:nvCxnSpPr>
        <p:spPr>
          <a:xfrm rot="10800000">
            <a:off x="7573963" y="1987550"/>
            <a:ext cx="309562" cy="0"/>
          </a:xfrm>
          <a:prstGeom prst="straightConnector1">
            <a:avLst/>
          </a:prstGeom>
          <a:noFill/>
          <a:ln cap="flat" cmpd="sng" w="28575">
            <a:solidFill>
              <a:srgbClr val="000000"/>
            </a:solidFill>
            <a:prstDash val="solid"/>
            <a:round/>
            <a:headEnd len="sm" w="sm" type="none"/>
            <a:tailEnd len="med" w="med" type="triangle"/>
          </a:ln>
        </p:spPr>
      </p:cxnSp>
      <p:cxnSp>
        <p:nvCxnSpPr>
          <p:cNvPr descr="Straight Connector 21" id="3324" name="Google Shape;3324;p241"/>
          <p:cNvCxnSpPr/>
          <p:nvPr/>
        </p:nvCxnSpPr>
        <p:spPr>
          <a:xfrm>
            <a:off x="7573963" y="4502150"/>
            <a:ext cx="596900" cy="0"/>
          </a:xfrm>
          <a:prstGeom prst="straightConnector1">
            <a:avLst/>
          </a:prstGeom>
          <a:noFill/>
          <a:ln cap="flat" cmpd="sng" w="28575">
            <a:solidFill>
              <a:srgbClr val="000000"/>
            </a:solidFill>
            <a:prstDash val="dash"/>
            <a:round/>
            <a:headEnd len="sm" w="sm" type="none"/>
            <a:tailEnd len="sm" w="sm" type="none"/>
          </a:ln>
        </p:spPr>
      </p:cxnSp>
      <p:cxnSp>
        <p:nvCxnSpPr>
          <p:cNvPr descr="Straight Connector 23" id="3325" name="Google Shape;3325;p241"/>
          <p:cNvCxnSpPr/>
          <p:nvPr/>
        </p:nvCxnSpPr>
        <p:spPr>
          <a:xfrm rot="10800000">
            <a:off x="8170863" y="2292350"/>
            <a:ext cx="0" cy="2209800"/>
          </a:xfrm>
          <a:prstGeom prst="straightConnector1">
            <a:avLst/>
          </a:prstGeom>
          <a:noFill/>
          <a:ln cap="flat" cmpd="sng" w="28575">
            <a:solidFill>
              <a:srgbClr val="000000"/>
            </a:solidFill>
            <a:prstDash val="dash"/>
            <a:round/>
            <a:headEnd len="sm" w="sm" type="none"/>
            <a:tailEnd len="sm" w="sm" type="none"/>
          </a:ln>
        </p:spPr>
      </p:cxnSp>
      <p:cxnSp>
        <p:nvCxnSpPr>
          <p:cNvPr descr="Straight Arrow Connector 25" id="3326" name="Google Shape;3326;p241"/>
          <p:cNvCxnSpPr/>
          <p:nvPr/>
        </p:nvCxnSpPr>
        <p:spPr>
          <a:xfrm rot="10800000">
            <a:off x="7573963" y="2292350"/>
            <a:ext cx="596900" cy="0"/>
          </a:xfrm>
          <a:prstGeom prst="straightConnector1">
            <a:avLst/>
          </a:prstGeom>
          <a:noFill/>
          <a:ln cap="flat" cmpd="sng" w="28575">
            <a:solidFill>
              <a:srgbClr val="000000"/>
            </a:solidFill>
            <a:prstDash val="dash"/>
            <a:round/>
            <a:headEnd len="sm" w="sm" type="none"/>
            <a:tailEnd len="med" w="med" type="triangle"/>
          </a:ln>
        </p:spPr>
      </p:cxnSp>
      <p:sp>
        <p:nvSpPr>
          <p:cNvPr descr="TextBox 26" id="3327" name="Google Shape;3327;p241"/>
          <p:cNvSpPr txBox="1"/>
          <p:nvPr/>
        </p:nvSpPr>
        <p:spPr>
          <a:xfrm>
            <a:off x="8361363" y="2779713"/>
            <a:ext cx="69056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REDO</a:t>
            </a:r>
            <a:endParaRPr/>
          </a:p>
        </p:txBody>
      </p:sp>
      <p:cxnSp>
        <p:nvCxnSpPr>
          <p:cNvPr descr="Straight Arrow Connector 32" id="3328" name="Google Shape;3328;p241"/>
          <p:cNvCxnSpPr/>
          <p:nvPr/>
        </p:nvCxnSpPr>
        <p:spPr>
          <a:xfrm>
            <a:off x="727075" y="5440363"/>
            <a:ext cx="504825" cy="0"/>
          </a:xfrm>
          <a:prstGeom prst="straightConnector1">
            <a:avLst/>
          </a:prstGeom>
          <a:noFill/>
          <a:ln cap="flat" cmpd="sng" w="38100">
            <a:solidFill>
              <a:srgbClr val="FF0000"/>
            </a:solidFill>
            <a:prstDash val="solid"/>
            <a:round/>
            <a:headEnd len="sm" w="sm" type="none"/>
            <a:tailEnd len="med" w="med" type="triangle"/>
          </a:ln>
        </p:spPr>
      </p:cxnSp>
      <p:sp>
        <p:nvSpPr>
          <p:cNvPr descr="TextBox 33" id="3329" name="Google Shape;3329;p241"/>
          <p:cNvSpPr txBox="1"/>
          <p:nvPr/>
        </p:nvSpPr>
        <p:spPr>
          <a:xfrm>
            <a:off x="98425" y="5129213"/>
            <a:ext cx="9366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pic>
        <p:nvPicPr>
          <p:cNvPr descr="Picture 8" id="3330" name="Google Shape;3330;p241"/>
          <p:cNvPicPr preferRelativeResize="0"/>
          <p:nvPr/>
        </p:nvPicPr>
        <p:blipFill rotWithShape="1">
          <a:blip r:embed="rId5">
            <a:alphaModFix/>
          </a:blip>
          <a:srcRect b="0" l="0" r="0" t="0"/>
          <a:stretch/>
        </p:blipFill>
        <p:spPr>
          <a:xfrm>
            <a:off x="1187450" y="1916113"/>
            <a:ext cx="1727200" cy="4392612"/>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4" name="Shape 3334"/>
        <p:cNvGrpSpPr/>
        <p:nvPr/>
      </p:nvGrpSpPr>
      <p:grpSpPr>
        <a:xfrm>
          <a:off x="0" y="0"/>
          <a:ext cx="0" cy="0"/>
          <a:chOff x="0" y="0"/>
          <a:chExt cx="0" cy="0"/>
        </a:xfrm>
      </p:grpSpPr>
      <p:sp>
        <p:nvSpPr>
          <p:cNvPr descr="Title 1" id="3335" name="Google Shape;3335;p24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Entries</a:t>
            </a:r>
            <a:endParaRPr/>
          </a:p>
        </p:txBody>
      </p:sp>
      <p:sp>
        <p:nvSpPr>
          <p:cNvPr descr="Content Placeholder 2" id="3336" name="Google Shape;3336;p24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77788" lvl="0" marL="77788" rtl="0" algn="l">
              <a:spcBef>
                <a:spcPts val="0"/>
              </a:spcBef>
              <a:spcAft>
                <a:spcPts val="0"/>
              </a:spcAft>
              <a:buSzPts val="1600"/>
              <a:buFont typeface="Noto Sans Symbols"/>
              <a:buNone/>
            </a:pPr>
            <a:r>
              <a:rPr lang="en-US" sz="1600"/>
              <a:t>1. Old value in LOG is required  For UNDO operation</a:t>
            </a:r>
            <a:endParaRPr/>
          </a:p>
          <a:p>
            <a:pPr indent="-77788" lvl="0" marL="77788" rtl="0" algn="l">
              <a:spcBef>
                <a:spcPts val="300"/>
              </a:spcBef>
              <a:spcAft>
                <a:spcPts val="0"/>
              </a:spcAft>
              <a:buSzPts val="1600"/>
              <a:buFont typeface="Noto Sans Symbols"/>
              <a:buNone/>
            </a:pPr>
            <a:r>
              <a:rPr lang="en-US" sz="1600"/>
              <a:t>Old value is required for UNDO, If changes where made to database</a:t>
            </a:r>
            <a:endParaRPr/>
          </a:p>
          <a:p>
            <a:pPr indent="-77788" lvl="0" marL="77788" rtl="0" algn="l">
              <a:spcBef>
                <a:spcPts val="300"/>
              </a:spcBef>
              <a:spcAft>
                <a:spcPts val="0"/>
              </a:spcAft>
              <a:buSzPts val="1600"/>
              <a:buFont typeface="Noto Sans Symbols"/>
              <a:buNone/>
            </a:pPr>
            <a:r>
              <a:rPr lang="en-US" sz="1600"/>
              <a:t>Before transaction reaches commit</a:t>
            </a:r>
            <a:endParaRPr/>
          </a:p>
          <a:p>
            <a:pPr indent="0" lvl="0" marL="77788" rtl="0" algn="l">
              <a:spcBef>
                <a:spcPts val="700"/>
              </a:spcBef>
              <a:spcAft>
                <a:spcPts val="0"/>
              </a:spcAft>
              <a:buSzPts val="1600"/>
              <a:buFont typeface="Verdana"/>
              <a:buNone/>
            </a:pPr>
            <a:r>
              <a:t/>
            </a:r>
            <a:endParaRPr sz="1600"/>
          </a:p>
          <a:p>
            <a:pPr indent="-77788" lvl="0" marL="77788" rtl="0" algn="l">
              <a:spcBef>
                <a:spcPts val="300"/>
              </a:spcBef>
              <a:spcAft>
                <a:spcPts val="0"/>
              </a:spcAft>
              <a:buSzPts val="1600"/>
              <a:buFont typeface="Noto Sans Symbols"/>
              <a:buNone/>
            </a:pPr>
            <a:r>
              <a:rPr lang="en-US" sz="1600"/>
              <a:t>2. New value in LOG is required For REDO operation</a:t>
            </a:r>
            <a:endParaRPr/>
          </a:p>
          <a:p>
            <a:pPr indent="-77788" lvl="0" marL="77788" rtl="0" algn="l">
              <a:spcBef>
                <a:spcPts val="300"/>
              </a:spcBef>
              <a:spcAft>
                <a:spcPts val="0"/>
              </a:spcAft>
              <a:buSzPts val="1600"/>
              <a:buFont typeface="Noto Sans Symbols"/>
              <a:buNone/>
            </a:pPr>
            <a:r>
              <a:rPr lang="en-US" sz="1600"/>
              <a:t>New value is required for REDO operation in Case where we have Reached commit point of Transaction but Changes where not  Updated  To database table.</a:t>
            </a:r>
            <a:endParaRPr/>
          </a:p>
        </p:txBody>
      </p:sp>
      <p:sp>
        <p:nvSpPr>
          <p:cNvPr descr="Date Placeholder 3" id="3337" name="Google Shape;3337;p24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38" name="Google Shape;3338;p24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2" name="Shape 3342"/>
        <p:cNvGrpSpPr/>
        <p:nvPr/>
      </p:nvGrpSpPr>
      <p:grpSpPr>
        <a:xfrm>
          <a:off x="0" y="0"/>
          <a:ext cx="0" cy="0"/>
          <a:chOff x="0" y="0"/>
          <a:chExt cx="0" cy="0"/>
        </a:xfrm>
      </p:grpSpPr>
      <p:sp>
        <p:nvSpPr>
          <p:cNvPr descr="Title 1" id="3343" name="Google Shape;3343;p24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344" name="Google Shape;3344;p24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45" name="Google Shape;3345;p24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346" name="Google Shape;3346;p243"/>
          <p:cNvPicPr preferRelativeResize="0"/>
          <p:nvPr/>
        </p:nvPicPr>
        <p:blipFill rotWithShape="1">
          <a:blip r:embed="rId3">
            <a:alphaModFix/>
          </a:blip>
          <a:srcRect b="0" l="0" r="0" t="0"/>
          <a:stretch/>
        </p:blipFill>
        <p:spPr>
          <a:xfrm>
            <a:off x="395288" y="2030413"/>
            <a:ext cx="4905375" cy="1352550"/>
          </a:xfrm>
          <a:prstGeom prst="rect">
            <a:avLst/>
          </a:prstGeom>
          <a:noFill/>
          <a:ln>
            <a:noFill/>
          </a:ln>
        </p:spPr>
      </p:pic>
      <p:sp>
        <p:nvSpPr>
          <p:cNvPr descr="TextBox 6" id="3347" name="Google Shape;3347;p243"/>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graphicFrame>
        <p:nvGraphicFramePr>
          <p:cNvPr id="3348" name="Google Shape;3348;p243"/>
          <p:cNvGraphicFramePr/>
          <p:nvPr/>
        </p:nvGraphicFramePr>
        <p:xfrm>
          <a:off x="827088" y="4060825"/>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349" name="Google Shape;3349;p243"/>
          <p:cNvSpPr txBox="1"/>
          <p:nvPr/>
        </p:nvSpPr>
        <p:spPr>
          <a:xfrm>
            <a:off x="873125" y="3684588"/>
            <a:ext cx="11795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3" name="Shape 3353"/>
        <p:cNvGrpSpPr/>
        <p:nvPr/>
      </p:nvGrpSpPr>
      <p:grpSpPr>
        <a:xfrm>
          <a:off x="0" y="0"/>
          <a:ext cx="0" cy="0"/>
          <a:chOff x="0" y="0"/>
          <a:chExt cx="0" cy="0"/>
        </a:xfrm>
      </p:grpSpPr>
      <p:sp>
        <p:nvSpPr>
          <p:cNvPr descr="Title 1" id="3354" name="Google Shape;3354;p24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355" name="Google Shape;3355;p24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56" name="Google Shape;3356;p24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6" id="3357" name="Google Shape;3357;p244"/>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graphicFrame>
        <p:nvGraphicFramePr>
          <p:cNvPr id="3358" name="Google Shape;3358;p244"/>
          <p:cNvGraphicFramePr/>
          <p:nvPr/>
        </p:nvGraphicFramePr>
        <p:xfrm>
          <a:off x="827088" y="4060825"/>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359" name="Google Shape;3359;p244"/>
          <p:cNvSpPr txBox="1"/>
          <p:nvPr/>
        </p:nvSpPr>
        <p:spPr>
          <a:xfrm>
            <a:off x="873125" y="3684588"/>
            <a:ext cx="11795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pic>
        <p:nvPicPr>
          <p:cNvPr descr="Picture 3" id="3360" name="Google Shape;3360;p244"/>
          <p:cNvPicPr preferRelativeResize="0"/>
          <p:nvPr/>
        </p:nvPicPr>
        <p:blipFill rotWithShape="1">
          <a:blip r:embed="rId3">
            <a:alphaModFix/>
          </a:blip>
          <a:srcRect b="0" l="0" r="0" t="0"/>
          <a:stretch/>
        </p:blipFill>
        <p:spPr>
          <a:xfrm>
            <a:off x="5732463" y="2057400"/>
            <a:ext cx="2655887" cy="4179888"/>
          </a:xfrm>
          <a:prstGeom prst="rect">
            <a:avLst/>
          </a:prstGeom>
          <a:noFill/>
          <a:ln>
            <a:noFill/>
          </a:ln>
        </p:spPr>
      </p:pic>
      <p:pic>
        <p:nvPicPr>
          <p:cNvPr descr="Picture 2" id="3361" name="Google Shape;3361;p244"/>
          <p:cNvPicPr preferRelativeResize="0"/>
          <p:nvPr/>
        </p:nvPicPr>
        <p:blipFill rotWithShape="1">
          <a:blip r:embed="rId4">
            <a:alphaModFix/>
          </a:blip>
          <a:srcRect b="0" l="0" r="0" t="0"/>
          <a:stretch/>
        </p:blipFill>
        <p:spPr>
          <a:xfrm>
            <a:off x="395288" y="2057400"/>
            <a:ext cx="4905375" cy="1352550"/>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5" name="Shape 3365"/>
        <p:cNvGrpSpPr/>
        <p:nvPr/>
      </p:nvGrpSpPr>
      <p:grpSpPr>
        <a:xfrm>
          <a:off x="0" y="0"/>
          <a:ext cx="0" cy="0"/>
          <a:chOff x="0" y="0"/>
          <a:chExt cx="0" cy="0"/>
        </a:xfrm>
      </p:grpSpPr>
      <p:sp>
        <p:nvSpPr>
          <p:cNvPr descr="Title 1" id="3366" name="Google Shape;3366;p24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367" name="Google Shape;3367;p24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68" name="Google Shape;3368;p24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369" name="Google Shape;3369;p245"/>
          <p:cNvPicPr preferRelativeResize="0"/>
          <p:nvPr/>
        </p:nvPicPr>
        <p:blipFill rotWithShape="1">
          <a:blip r:embed="rId3">
            <a:alphaModFix/>
          </a:blip>
          <a:srcRect b="0" l="0" r="0" t="0"/>
          <a:stretch/>
        </p:blipFill>
        <p:spPr>
          <a:xfrm>
            <a:off x="5435600" y="2060575"/>
            <a:ext cx="3724275" cy="3895725"/>
          </a:xfrm>
          <a:prstGeom prst="rect">
            <a:avLst/>
          </a:prstGeom>
          <a:noFill/>
          <a:ln>
            <a:noFill/>
          </a:ln>
        </p:spPr>
      </p:pic>
      <p:sp>
        <p:nvSpPr>
          <p:cNvPr descr="TextBox 6" id="3370" name="Google Shape;3370;p245"/>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cxnSp>
        <p:nvCxnSpPr>
          <p:cNvPr descr="Straight Arrow Connector 10" id="3371" name="Google Shape;3371;p245"/>
          <p:cNvCxnSpPr/>
          <p:nvPr/>
        </p:nvCxnSpPr>
        <p:spPr>
          <a:xfrm>
            <a:off x="5092700" y="5915025"/>
            <a:ext cx="504825" cy="0"/>
          </a:xfrm>
          <a:prstGeom prst="straightConnector1">
            <a:avLst/>
          </a:prstGeom>
          <a:noFill/>
          <a:ln cap="flat" cmpd="sng" w="38100">
            <a:solidFill>
              <a:srgbClr val="FF0000"/>
            </a:solidFill>
            <a:prstDash val="solid"/>
            <a:round/>
            <a:headEnd len="sm" w="sm" type="none"/>
            <a:tailEnd len="med" w="med" type="triangle"/>
          </a:ln>
        </p:spPr>
      </p:cxnSp>
      <p:sp>
        <p:nvSpPr>
          <p:cNvPr descr="TextBox 11" id="3372" name="Google Shape;3372;p245"/>
          <p:cNvSpPr txBox="1"/>
          <p:nvPr/>
        </p:nvSpPr>
        <p:spPr>
          <a:xfrm>
            <a:off x="4305300" y="5543550"/>
            <a:ext cx="935038" cy="5730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graphicFrame>
        <p:nvGraphicFramePr>
          <p:cNvPr id="3373" name="Google Shape;3373;p245"/>
          <p:cNvGraphicFramePr/>
          <p:nvPr/>
        </p:nvGraphicFramePr>
        <p:xfrm>
          <a:off x="827088" y="2954338"/>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15 12 18</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20 25 26</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374" name="Google Shape;3374;p245"/>
          <p:cNvSpPr txBox="1"/>
          <p:nvPr/>
        </p:nvSpPr>
        <p:spPr>
          <a:xfrm>
            <a:off x="873125" y="2576513"/>
            <a:ext cx="11795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8" name="Shape 3378"/>
        <p:cNvGrpSpPr/>
        <p:nvPr/>
      </p:nvGrpSpPr>
      <p:grpSpPr>
        <a:xfrm>
          <a:off x="0" y="0"/>
          <a:ext cx="0" cy="0"/>
          <a:chOff x="0" y="0"/>
          <a:chExt cx="0" cy="0"/>
        </a:xfrm>
      </p:grpSpPr>
      <p:sp>
        <p:nvSpPr>
          <p:cNvPr descr="Title 1" id="3379" name="Google Shape;3379;p24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380" name="Google Shape;3380;p24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81" name="Google Shape;3381;p24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382" name="Google Shape;3382;p246"/>
          <p:cNvPicPr preferRelativeResize="0"/>
          <p:nvPr/>
        </p:nvPicPr>
        <p:blipFill rotWithShape="1">
          <a:blip r:embed="rId3">
            <a:alphaModFix/>
          </a:blip>
          <a:srcRect b="0" l="0" r="0" t="0"/>
          <a:stretch/>
        </p:blipFill>
        <p:spPr>
          <a:xfrm>
            <a:off x="5435600" y="2060575"/>
            <a:ext cx="3724275" cy="3895725"/>
          </a:xfrm>
          <a:prstGeom prst="rect">
            <a:avLst/>
          </a:prstGeom>
          <a:noFill/>
          <a:ln>
            <a:noFill/>
          </a:ln>
        </p:spPr>
      </p:pic>
      <p:sp>
        <p:nvSpPr>
          <p:cNvPr descr="TextBox 6" id="3383" name="Google Shape;3383;p246"/>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cxnSp>
        <p:nvCxnSpPr>
          <p:cNvPr descr="Straight Arrow Connector 10" id="3384" name="Google Shape;3384;p246"/>
          <p:cNvCxnSpPr/>
          <p:nvPr/>
        </p:nvCxnSpPr>
        <p:spPr>
          <a:xfrm>
            <a:off x="5092700" y="5915025"/>
            <a:ext cx="504825" cy="0"/>
          </a:xfrm>
          <a:prstGeom prst="straightConnector1">
            <a:avLst/>
          </a:prstGeom>
          <a:noFill/>
          <a:ln cap="flat" cmpd="sng" w="38100">
            <a:solidFill>
              <a:srgbClr val="FF0000"/>
            </a:solidFill>
            <a:prstDash val="solid"/>
            <a:round/>
            <a:headEnd len="sm" w="sm" type="none"/>
            <a:tailEnd len="med" w="med" type="triangle"/>
          </a:ln>
        </p:spPr>
      </p:cxnSp>
      <p:sp>
        <p:nvSpPr>
          <p:cNvPr descr="TextBox 11" id="3385" name="Google Shape;3385;p246"/>
          <p:cNvSpPr txBox="1"/>
          <p:nvPr/>
        </p:nvSpPr>
        <p:spPr>
          <a:xfrm>
            <a:off x="4305300" y="5543550"/>
            <a:ext cx="935038" cy="5730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graphicFrame>
        <p:nvGraphicFramePr>
          <p:cNvPr id="3386" name="Google Shape;3386;p246"/>
          <p:cNvGraphicFramePr/>
          <p:nvPr/>
        </p:nvGraphicFramePr>
        <p:xfrm>
          <a:off x="827088" y="2954338"/>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15 12 18</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20 25 26</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387" name="Google Shape;3387;p246"/>
          <p:cNvSpPr txBox="1"/>
          <p:nvPr/>
        </p:nvSpPr>
        <p:spPr>
          <a:xfrm>
            <a:off x="873125" y="2576513"/>
            <a:ext cx="11795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7" id="3388" name="Google Shape;3388;p246"/>
          <p:cNvSpPr txBox="1"/>
          <p:nvPr/>
        </p:nvSpPr>
        <p:spPr>
          <a:xfrm>
            <a:off x="368300" y="4724400"/>
            <a:ext cx="4192588" cy="14890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8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After System, how can we recovery</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 i.e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B value to 15,</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 value to 20</a:t>
            </a:r>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2" name="Shape 3392"/>
        <p:cNvGrpSpPr/>
        <p:nvPr/>
      </p:nvGrpSpPr>
      <p:grpSpPr>
        <a:xfrm>
          <a:off x="0" y="0"/>
          <a:ext cx="0" cy="0"/>
          <a:chOff x="0" y="0"/>
          <a:chExt cx="0" cy="0"/>
        </a:xfrm>
      </p:grpSpPr>
      <p:sp>
        <p:nvSpPr>
          <p:cNvPr descr="Title 1" id="3393" name="Google Shape;3393;p24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394" name="Google Shape;3394;p24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395" name="Google Shape;3395;p24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396" name="Google Shape;3396;p247"/>
          <p:cNvSpPr txBox="1"/>
          <p:nvPr/>
        </p:nvSpPr>
        <p:spPr>
          <a:xfrm>
            <a:off x="152400" y="2365375"/>
            <a:ext cx="4964113" cy="14874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 T3 transaction is rolled back because</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it did not reached its commit point</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 T2 is rolled back because it reads the value of item  B written by T3</a:t>
            </a:r>
            <a:endParaRPr/>
          </a:p>
        </p:txBody>
      </p:sp>
      <p:sp>
        <p:nvSpPr>
          <p:cNvPr descr="TextBox 6" id="3397" name="Google Shape;3397;p247"/>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cxnSp>
        <p:nvCxnSpPr>
          <p:cNvPr descr="Straight Arrow Connector 10" id="3398" name="Google Shape;3398;p247"/>
          <p:cNvCxnSpPr/>
          <p:nvPr/>
        </p:nvCxnSpPr>
        <p:spPr>
          <a:xfrm>
            <a:off x="4572000" y="5915025"/>
            <a:ext cx="503238" cy="0"/>
          </a:xfrm>
          <a:prstGeom prst="straightConnector1">
            <a:avLst/>
          </a:prstGeom>
          <a:noFill/>
          <a:ln cap="flat" cmpd="sng" w="38100">
            <a:solidFill>
              <a:srgbClr val="FF0000"/>
            </a:solidFill>
            <a:prstDash val="solid"/>
            <a:round/>
            <a:headEnd len="sm" w="sm" type="none"/>
            <a:tailEnd len="med" w="med" type="triangle"/>
          </a:ln>
        </p:spPr>
      </p:cxnSp>
      <p:sp>
        <p:nvSpPr>
          <p:cNvPr descr="TextBox 11" id="3399" name="Google Shape;3399;p247"/>
          <p:cNvSpPr txBox="1"/>
          <p:nvPr/>
        </p:nvSpPr>
        <p:spPr>
          <a:xfrm>
            <a:off x="3824288" y="5603875"/>
            <a:ext cx="9366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pic>
        <p:nvPicPr>
          <p:cNvPr descr="Picture 3" id="3400" name="Google Shape;3400;p247"/>
          <p:cNvPicPr preferRelativeResize="0"/>
          <p:nvPr/>
        </p:nvPicPr>
        <p:blipFill rotWithShape="1">
          <a:blip r:embed="rId3">
            <a:alphaModFix/>
          </a:blip>
          <a:srcRect b="0" l="0" r="0" t="0"/>
          <a:stretch/>
        </p:blipFill>
        <p:spPr>
          <a:xfrm>
            <a:off x="5019675" y="1700213"/>
            <a:ext cx="3943350" cy="4273550"/>
          </a:xfrm>
          <a:prstGeom prst="rect">
            <a:avLst/>
          </a:prstGeom>
          <a:noFill/>
          <a:ln>
            <a:noFill/>
          </a:ln>
        </p:spPr>
      </p:pic>
      <p:graphicFrame>
        <p:nvGraphicFramePr>
          <p:cNvPr id="3401" name="Google Shape;3401;p247"/>
          <p:cNvGraphicFramePr/>
          <p:nvPr/>
        </p:nvGraphicFramePr>
        <p:xfrm>
          <a:off x="827088" y="4249738"/>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15 12 18 15</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20 25 26</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4" id="3402" name="Google Shape;3402;p247"/>
          <p:cNvSpPr txBox="1"/>
          <p:nvPr/>
        </p:nvSpPr>
        <p:spPr>
          <a:xfrm>
            <a:off x="873125" y="3873500"/>
            <a:ext cx="1179513" cy="369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6" name="Shape 3406"/>
        <p:cNvGrpSpPr/>
        <p:nvPr/>
      </p:nvGrpSpPr>
      <p:grpSpPr>
        <a:xfrm>
          <a:off x="0" y="0"/>
          <a:ext cx="0" cy="0"/>
          <a:chOff x="0" y="0"/>
          <a:chExt cx="0" cy="0"/>
        </a:xfrm>
      </p:grpSpPr>
      <p:sp>
        <p:nvSpPr>
          <p:cNvPr descr="Title 1" id="3407" name="Google Shape;3407;p24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408" name="Google Shape;3408;p24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09" name="Google Shape;3409;p24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410" name="Google Shape;3410;p248"/>
          <p:cNvSpPr txBox="1"/>
          <p:nvPr/>
        </p:nvSpPr>
        <p:spPr>
          <a:xfrm>
            <a:off x="152400" y="2365375"/>
            <a:ext cx="4964113" cy="14874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Can you answer now, why we maintain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Data item name and transaction number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For read operation in LOG ?</a:t>
            </a:r>
            <a:endParaRPr/>
          </a:p>
        </p:txBody>
      </p:sp>
      <p:sp>
        <p:nvSpPr>
          <p:cNvPr descr="TextBox 6" id="3411" name="Google Shape;3411;p248"/>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cxnSp>
        <p:nvCxnSpPr>
          <p:cNvPr descr="Straight Arrow Connector 10" id="3412" name="Google Shape;3412;p248"/>
          <p:cNvCxnSpPr/>
          <p:nvPr/>
        </p:nvCxnSpPr>
        <p:spPr>
          <a:xfrm>
            <a:off x="4454525" y="5915025"/>
            <a:ext cx="503238" cy="0"/>
          </a:xfrm>
          <a:prstGeom prst="straightConnector1">
            <a:avLst/>
          </a:prstGeom>
          <a:noFill/>
          <a:ln cap="flat" cmpd="sng" w="38100">
            <a:solidFill>
              <a:srgbClr val="FF0000"/>
            </a:solidFill>
            <a:prstDash val="solid"/>
            <a:round/>
            <a:headEnd len="sm" w="sm" type="none"/>
            <a:tailEnd len="med" w="med" type="triangle"/>
          </a:ln>
        </p:spPr>
      </p:cxnSp>
      <p:sp>
        <p:nvSpPr>
          <p:cNvPr descr="TextBox 11" id="3413" name="Google Shape;3413;p248"/>
          <p:cNvSpPr txBox="1"/>
          <p:nvPr/>
        </p:nvSpPr>
        <p:spPr>
          <a:xfrm>
            <a:off x="3824288" y="5603875"/>
            <a:ext cx="9366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pic>
        <p:nvPicPr>
          <p:cNvPr descr="Picture 3" id="3414" name="Google Shape;3414;p248"/>
          <p:cNvPicPr preferRelativeResize="0"/>
          <p:nvPr/>
        </p:nvPicPr>
        <p:blipFill rotWithShape="1">
          <a:blip r:embed="rId3">
            <a:alphaModFix/>
          </a:blip>
          <a:srcRect b="0" l="0" r="0" t="0"/>
          <a:stretch/>
        </p:blipFill>
        <p:spPr>
          <a:xfrm>
            <a:off x="4930775" y="1674813"/>
            <a:ext cx="3943350" cy="4273550"/>
          </a:xfrm>
          <a:prstGeom prst="rect">
            <a:avLst/>
          </a:prstGeom>
          <a:noFill/>
          <a:ln>
            <a:noFill/>
          </a:ln>
        </p:spPr>
      </p:pic>
      <p:graphicFrame>
        <p:nvGraphicFramePr>
          <p:cNvPr id="3415" name="Google Shape;3415;p248"/>
          <p:cNvGraphicFramePr/>
          <p:nvPr/>
        </p:nvGraphicFramePr>
        <p:xfrm>
          <a:off x="827088" y="4610100"/>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15 12 18</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20 25 26</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4" id="3416" name="Google Shape;3416;p248"/>
          <p:cNvSpPr txBox="1"/>
          <p:nvPr/>
        </p:nvSpPr>
        <p:spPr>
          <a:xfrm>
            <a:off x="873125" y="4233863"/>
            <a:ext cx="1179513"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0" name="Shape 3420"/>
        <p:cNvGrpSpPr/>
        <p:nvPr/>
      </p:nvGrpSpPr>
      <p:grpSpPr>
        <a:xfrm>
          <a:off x="0" y="0"/>
          <a:ext cx="0" cy="0"/>
          <a:chOff x="0" y="0"/>
          <a:chExt cx="0" cy="0"/>
        </a:xfrm>
      </p:grpSpPr>
      <p:sp>
        <p:nvSpPr>
          <p:cNvPr descr="Title 1" id="3421" name="Google Shape;3421;p24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Recovery using LOG enteries</a:t>
            </a:r>
            <a:endParaRPr/>
          </a:p>
        </p:txBody>
      </p:sp>
      <p:sp>
        <p:nvSpPr>
          <p:cNvPr descr="Date Placeholder 3" id="3422" name="Google Shape;3422;p24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23" name="Google Shape;3423;p24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424" name="Google Shape;3424;p249"/>
          <p:cNvSpPr txBox="1"/>
          <p:nvPr/>
        </p:nvSpPr>
        <p:spPr>
          <a:xfrm>
            <a:off x="223838" y="1987550"/>
            <a:ext cx="4965700" cy="2327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T3 and T1 transaction is rolled back because it did not reached its commit point</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T2 is rolled back because it reads the value of item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 B written by T3</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 D written by T1</a:t>
            </a:r>
            <a:endParaRPr/>
          </a:p>
        </p:txBody>
      </p:sp>
      <p:sp>
        <p:nvSpPr>
          <p:cNvPr descr="TextBox 6" id="3425" name="Google Shape;3425;p249"/>
          <p:cNvSpPr txBox="1"/>
          <p:nvPr/>
        </p:nvSpPr>
        <p:spPr>
          <a:xfrm>
            <a:off x="657225" y="1271588"/>
            <a:ext cx="57388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three transactions T1, T2, T3 as follows</a:t>
            </a:r>
            <a:endParaRPr/>
          </a:p>
        </p:txBody>
      </p:sp>
      <p:cxnSp>
        <p:nvCxnSpPr>
          <p:cNvPr descr="Straight Arrow Connector 10" id="3426" name="Google Shape;3426;p249"/>
          <p:cNvCxnSpPr/>
          <p:nvPr/>
        </p:nvCxnSpPr>
        <p:spPr>
          <a:xfrm>
            <a:off x="4454525" y="5915025"/>
            <a:ext cx="503238" cy="0"/>
          </a:xfrm>
          <a:prstGeom prst="straightConnector1">
            <a:avLst/>
          </a:prstGeom>
          <a:noFill/>
          <a:ln cap="flat" cmpd="sng" w="38100">
            <a:solidFill>
              <a:srgbClr val="FF0000"/>
            </a:solidFill>
            <a:prstDash val="solid"/>
            <a:round/>
            <a:headEnd len="sm" w="sm" type="none"/>
            <a:tailEnd len="med" w="med" type="triangle"/>
          </a:ln>
        </p:spPr>
      </p:cxnSp>
      <p:sp>
        <p:nvSpPr>
          <p:cNvPr descr="TextBox 11" id="3427" name="Google Shape;3427;p249"/>
          <p:cNvSpPr txBox="1"/>
          <p:nvPr/>
        </p:nvSpPr>
        <p:spPr>
          <a:xfrm>
            <a:off x="3824288" y="5603875"/>
            <a:ext cx="936625"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FF0000"/>
                </a:solidFill>
                <a:latin typeface="Verdana"/>
                <a:ea typeface="Verdana"/>
                <a:cs typeface="Verdana"/>
                <a:sym typeface="Verdana"/>
              </a:rPr>
              <a:t>System </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Crash</a:t>
            </a:r>
            <a:endParaRPr/>
          </a:p>
        </p:txBody>
      </p:sp>
      <p:pic>
        <p:nvPicPr>
          <p:cNvPr descr="Picture 2" id="3428" name="Google Shape;3428;p249"/>
          <p:cNvPicPr preferRelativeResize="0"/>
          <p:nvPr/>
        </p:nvPicPr>
        <p:blipFill rotWithShape="1">
          <a:blip r:embed="rId3">
            <a:alphaModFix/>
          </a:blip>
          <a:srcRect b="0" l="0" r="0" t="0"/>
          <a:stretch/>
        </p:blipFill>
        <p:spPr>
          <a:xfrm>
            <a:off x="5000625" y="1641475"/>
            <a:ext cx="3962400" cy="4286250"/>
          </a:xfrm>
          <a:prstGeom prst="rect">
            <a:avLst/>
          </a:prstGeom>
          <a:noFill/>
          <a:ln>
            <a:noFill/>
          </a:ln>
        </p:spPr>
      </p:pic>
      <p:graphicFrame>
        <p:nvGraphicFramePr>
          <p:cNvPr id="3429" name="Google Shape;3429;p249"/>
          <p:cNvGraphicFramePr/>
          <p:nvPr/>
        </p:nvGraphicFramePr>
        <p:xfrm>
          <a:off x="827088" y="4754563"/>
          <a:ext cx="3000000" cy="3000000"/>
        </p:xfrm>
        <a:graphic>
          <a:graphicData uri="http://schemas.openxmlformats.org/drawingml/2006/table">
            <a:tbl>
              <a:tblPr>
                <a:noFill/>
                <a:tableStyleId>{DA31C186-C125-4E34-A739-053F885C22C1}</a:tableStyleId>
              </a:tblPr>
              <a:tblGrid>
                <a:gridCol w="647700"/>
                <a:gridCol w="165575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30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15 12 18 15</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40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D</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20 25 26 20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13" id="3430" name="Google Shape;3430;p249"/>
          <p:cNvSpPr txBox="1"/>
          <p:nvPr/>
        </p:nvSpPr>
        <p:spPr>
          <a:xfrm>
            <a:off x="873125" y="4376738"/>
            <a:ext cx="1179513"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4" name="Shape 3434"/>
        <p:cNvGrpSpPr/>
        <p:nvPr/>
      </p:nvGrpSpPr>
      <p:grpSpPr>
        <a:xfrm>
          <a:off x="0" y="0"/>
          <a:ext cx="0" cy="0"/>
          <a:chOff x="0" y="0"/>
          <a:chExt cx="0" cy="0"/>
        </a:xfrm>
      </p:grpSpPr>
      <p:sp>
        <p:nvSpPr>
          <p:cNvPr descr="Title 1" id="3435" name="Google Shape;3435;p25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3436" name="Google Shape;3436;p250"/>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01600" lvl="0" marL="58738" rtl="0" algn="l">
              <a:spcBef>
                <a:spcPts val="0"/>
              </a:spcBef>
              <a:spcAft>
                <a:spcPts val="0"/>
              </a:spcAft>
              <a:buSzPts val="1600"/>
              <a:buFont typeface="Verdana"/>
              <a:buChar char="□"/>
            </a:pPr>
            <a:r>
              <a:rPr lang="en-US" sz="1600"/>
              <a:t>Consider the following example of log for two  transactions.</a:t>
            </a:r>
            <a:endParaRPr/>
          </a:p>
          <a:p>
            <a:pPr indent="-58738" lvl="0" marL="58738" rtl="0" algn="l">
              <a:spcBef>
                <a:spcPts val="300"/>
              </a:spcBef>
              <a:spcAft>
                <a:spcPts val="0"/>
              </a:spcAft>
              <a:buSzPts val="1600"/>
              <a:buFont typeface="Noto Sans Symbols"/>
              <a:buNone/>
            </a:pPr>
            <a:r>
              <a:rPr lang="en-US" sz="1600"/>
              <a:t>1. (Start, T1);</a:t>
            </a:r>
            <a:endParaRPr/>
          </a:p>
          <a:p>
            <a:pPr indent="-58738" lvl="0" marL="58738" rtl="0" algn="l">
              <a:spcBef>
                <a:spcPts val="300"/>
              </a:spcBef>
              <a:spcAft>
                <a:spcPts val="0"/>
              </a:spcAft>
              <a:buSzPts val="1600"/>
              <a:buFont typeface="Noto Sans Symbols"/>
              <a:buNone/>
            </a:pPr>
            <a:r>
              <a:rPr lang="en-US" sz="1600"/>
              <a:t>2. (Write, T1, Q, 100,50);</a:t>
            </a:r>
            <a:endParaRPr/>
          </a:p>
          <a:p>
            <a:pPr indent="-58738" lvl="0" marL="58738" rtl="0" algn="l">
              <a:spcBef>
                <a:spcPts val="300"/>
              </a:spcBef>
              <a:spcAft>
                <a:spcPts val="0"/>
              </a:spcAft>
              <a:buSzPts val="1600"/>
              <a:buFont typeface="Noto Sans Symbols"/>
              <a:buNone/>
            </a:pPr>
            <a:r>
              <a:rPr lang="en-US" sz="1600"/>
              <a:t>3. (Commit, T1);</a:t>
            </a:r>
            <a:endParaRPr/>
          </a:p>
          <a:p>
            <a:pPr indent="-58738" lvl="0" marL="58738" rtl="0" algn="l">
              <a:spcBef>
                <a:spcPts val="300"/>
              </a:spcBef>
              <a:spcAft>
                <a:spcPts val="0"/>
              </a:spcAft>
              <a:buSzPts val="1600"/>
              <a:buFont typeface="Noto Sans Symbols"/>
              <a:buNone/>
            </a:pPr>
            <a:r>
              <a:rPr lang="en-US" sz="1600"/>
              <a:t>4. (Start, T2);</a:t>
            </a:r>
            <a:endParaRPr/>
          </a:p>
          <a:p>
            <a:pPr indent="-58738" lvl="0" marL="58738" rtl="0" algn="l">
              <a:spcBef>
                <a:spcPts val="300"/>
              </a:spcBef>
              <a:spcAft>
                <a:spcPts val="0"/>
              </a:spcAft>
              <a:buSzPts val="1600"/>
              <a:buFont typeface="Noto Sans Symbols"/>
              <a:buNone/>
            </a:pPr>
            <a:r>
              <a:rPr lang="en-US" sz="1600"/>
              <a:t>5. (Write, T2, P, 55, 10);</a:t>
            </a:r>
            <a:endParaRPr/>
          </a:p>
          <a:p>
            <a:pPr indent="-58738" lvl="0" marL="58738" rtl="0" algn="l">
              <a:spcBef>
                <a:spcPts val="300"/>
              </a:spcBef>
              <a:spcAft>
                <a:spcPts val="0"/>
              </a:spcAft>
              <a:buSzPts val="1600"/>
              <a:buFont typeface="Noto Sans Symbols"/>
              <a:buNone/>
            </a:pPr>
            <a:r>
              <a:rPr lang="en-US" sz="1600"/>
              <a:t>6. (Commit, T2);</a:t>
            </a:r>
            <a:endParaRPr/>
          </a:p>
          <a:p>
            <a:pPr indent="-58738" lvl="0" marL="58738" rtl="0" algn="l">
              <a:spcBef>
                <a:spcPts val="300"/>
              </a:spcBef>
              <a:spcAft>
                <a:spcPts val="0"/>
              </a:spcAft>
              <a:buSzPts val="1600"/>
              <a:buFont typeface="Noto Sans Symbols"/>
              <a:buNone/>
            </a:pPr>
            <a:r>
              <a:rPr lang="en-US" sz="1600"/>
              <a:t>Consider the case where the schedule crashes after Step 4 and before Step 5, then the question  is which operation should we REDO if following is the scenario of database just before crash.</a:t>
            </a:r>
            <a:endParaRPr/>
          </a:p>
        </p:txBody>
      </p:sp>
      <p:sp>
        <p:nvSpPr>
          <p:cNvPr descr="Date Placeholder 3" id="3437" name="Google Shape;3437;p25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38" name="Google Shape;3438;p25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439" name="Google Shape;3439;p250"/>
          <p:cNvGraphicFramePr/>
          <p:nvPr/>
        </p:nvGraphicFramePr>
        <p:xfrm>
          <a:off x="4716463" y="4941888"/>
          <a:ext cx="3000000" cy="3000000"/>
        </p:xfrm>
        <a:graphic>
          <a:graphicData uri="http://schemas.openxmlformats.org/drawingml/2006/table">
            <a:tbl>
              <a:tblPr>
                <a:noFill/>
                <a:tableStyleId>{DA31C186-C125-4E34-A739-053F885C22C1}</a:tableStyleId>
              </a:tblPr>
              <a:tblGrid>
                <a:gridCol w="720725"/>
                <a:gridCol w="1512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8" id="3440" name="Google Shape;3440;p250"/>
          <p:cNvSpPr/>
          <p:nvPr/>
        </p:nvSpPr>
        <p:spPr>
          <a:xfrm>
            <a:off x="4067175" y="4148138"/>
            <a:ext cx="3168650" cy="1871662"/>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9" id="3441" name="Google Shape;3441;p250"/>
          <p:cNvSpPr txBox="1"/>
          <p:nvPr/>
        </p:nvSpPr>
        <p:spPr>
          <a:xfrm>
            <a:off x="5062538" y="6051550"/>
            <a:ext cx="11795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descr="Title 1" id="3446" name="Google Shape;3446;p25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Answer</a:t>
            </a:r>
            <a:endParaRPr/>
          </a:p>
        </p:txBody>
      </p:sp>
      <p:sp>
        <p:nvSpPr>
          <p:cNvPr descr="Content Placeholder 2" id="3447" name="Google Shape;3447;p251"/>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88900" lvl="0" marL="58738" rtl="0" algn="l">
              <a:spcBef>
                <a:spcPts val="0"/>
              </a:spcBef>
              <a:spcAft>
                <a:spcPts val="0"/>
              </a:spcAft>
              <a:buSzPts val="1400"/>
              <a:buFont typeface="Verdana"/>
              <a:buChar char="□"/>
            </a:pPr>
            <a:r>
              <a:rPr lang="en-US" sz="1400"/>
              <a:t>Consider the following example of log for two  transactions.</a:t>
            </a:r>
            <a:endParaRPr/>
          </a:p>
          <a:p>
            <a:pPr indent="-58738" lvl="0" marL="58738" rtl="0" algn="l">
              <a:spcBef>
                <a:spcPts val="300"/>
              </a:spcBef>
              <a:spcAft>
                <a:spcPts val="0"/>
              </a:spcAft>
              <a:buSzPts val="1400"/>
              <a:buFont typeface="Noto Sans Symbols"/>
              <a:buNone/>
            </a:pPr>
            <a:r>
              <a:rPr lang="en-US" sz="1400"/>
              <a:t>1. (Start, T1);</a:t>
            </a:r>
            <a:endParaRPr/>
          </a:p>
          <a:p>
            <a:pPr indent="-58738" lvl="0" marL="58738" rtl="0" algn="l">
              <a:spcBef>
                <a:spcPts val="300"/>
              </a:spcBef>
              <a:spcAft>
                <a:spcPts val="0"/>
              </a:spcAft>
              <a:buSzPts val="1400"/>
              <a:buFont typeface="Noto Sans Symbols"/>
              <a:buNone/>
            </a:pPr>
            <a:r>
              <a:rPr lang="en-US" sz="1400"/>
              <a:t>2. (Write, T1, Q, 100,50);</a:t>
            </a:r>
            <a:endParaRPr/>
          </a:p>
          <a:p>
            <a:pPr indent="-58738" lvl="0" marL="58738" rtl="0" algn="l">
              <a:spcBef>
                <a:spcPts val="300"/>
              </a:spcBef>
              <a:spcAft>
                <a:spcPts val="0"/>
              </a:spcAft>
              <a:buSzPts val="1400"/>
              <a:buFont typeface="Noto Sans Symbols"/>
              <a:buNone/>
            </a:pPr>
            <a:r>
              <a:rPr lang="en-US" sz="1400"/>
              <a:t>3. (Commit, T1);</a:t>
            </a:r>
            <a:endParaRPr/>
          </a:p>
          <a:p>
            <a:pPr indent="-58738" lvl="0" marL="58738" rtl="0" algn="l">
              <a:spcBef>
                <a:spcPts val="300"/>
              </a:spcBef>
              <a:spcAft>
                <a:spcPts val="0"/>
              </a:spcAft>
              <a:buSzPts val="1400"/>
              <a:buFont typeface="Noto Sans Symbols"/>
              <a:buNone/>
            </a:pPr>
            <a:r>
              <a:rPr lang="en-US" sz="1400"/>
              <a:t>4. (Start, T2);</a:t>
            </a:r>
            <a:endParaRPr/>
          </a:p>
          <a:p>
            <a:pPr indent="-58738" lvl="0" marL="58738" rtl="0" algn="l">
              <a:spcBef>
                <a:spcPts val="300"/>
              </a:spcBef>
              <a:spcAft>
                <a:spcPts val="0"/>
              </a:spcAft>
              <a:buSzPts val="1400"/>
              <a:buFont typeface="Noto Sans Symbols"/>
              <a:buNone/>
            </a:pPr>
            <a:r>
              <a:rPr lang="en-US" sz="1400"/>
              <a:t>5. (Write, T2, P, 55, 10);</a:t>
            </a:r>
            <a:endParaRPr/>
          </a:p>
          <a:p>
            <a:pPr indent="-58738" lvl="0" marL="58738" rtl="0" algn="l">
              <a:spcBef>
                <a:spcPts val="300"/>
              </a:spcBef>
              <a:spcAft>
                <a:spcPts val="0"/>
              </a:spcAft>
              <a:buSzPts val="1400"/>
              <a:buFont typeface="Noto Sans Symbols"/>
              <a:buNone/>
            </a:pPr>
            <a:r>
              <a:rPr lang="en-US" sz="1400"/>
              <a:t>6. (Commit, T2);</a:t>
            </a:r>
            <a:endParaRPr/>
          </a:p>
          <a:p>
            <a:pPr indent="-58738" lvl="0" marL="58738" rtl="0" algn="l">
              <a:spcBef>
                <a:spcPts val="300"/>
              </a:spcBef>
              <a:spcAft>
                <a:spcPts val="0"/>
              </a:spcAft>
              <a:buSzPts val="1400"/>
              <a:buFont typeface="Noto Sans Symbols"/>
              <a:buNone/>
            </a:pPr>
            <a:r>
              <a:rPr lang="en-US" sz="1400"/>
              <a:t>Consider the case where the schedule crashes after Step 4 and before Step 5, then the question  is which operation should we REDO if following is the scenario of database just before crash.</a:t>
            </a:r>
            <a:endParaRPr/>
          </a:p>
        </p:txBody>
      </p:sp>
      <p:sp>
        <p:nvSpPr>
          <p:cNvPr descr="Date Placeholder 3" id="3448" name="Google Shape;3448;p25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49" name="Google Shape;3449;p25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450" name="Google Shape;3450;p251"/>
          <p:cNvGraphicFramePr/>
          <p:nvPr/>
        </p:nvGraphicFramePr>
        <p:xfrm>
          <a:off x="4487863" y="4557713"/>
          <a:ext cx="3000000" cy="3000000"/>
        </p:xfrm>
        <a:graphic>
          <a:graphicData uri="http://schemas.openxmlformats.org/drawingml/2006/table">
            <a:tbl>
              <a:tblPr>
                <a:noFill/>
                <a:tableStyleId>{DA31C186-C125-4E34-A739-053F885C22C1}</a:tableStyleId>
              </a:tblPr>
              <a:tblGrid>
                <a:gridCol w="720725"/>
                <a:gridCol w="1512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8" id="3451" name="Google Shape;3451;p251"/>
          <p:cNvSpPr/>
          <p:nvPr/>
        </p:nvSpPr>
        <p:spPr>
          <a:xfrm>
            <a:off x="3840163" y="3763963"/>
            <a:ext cx="3167062" cy="18732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9" id="3452" name="Google Shape;3452;p251"/>
          <p:cNvSpPr txBox="1"/>
          <p:nvPr/>
        </p:nvSpPr>
        <p:spPr>
          <a:xfrm>
            <a:off x="4833938" y="5667375"/>
            <a:ext cx="11811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10" id="3453" name="Google Shape;3453;p251"/>
          <p:cNvSpPr txBox="1"/>
          <p:nvPr/>
        </p:nvSpPr>
        <p:spPr>
          <a:xfrm>
            <a:off x="7181850" y="4570413"/>
            <a:ext cx="1946275" cy="1209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REDO from LOG</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Replacing old</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Value with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New value</a:t>
            </a:r>
            <a:endParaRPr/>
          </a:p>
        </p:txBody>
      </p:sp>
      <p:cxnSp>
        <p:nvCxnSpPr>
          <p:cNvPr descr="Straight Arrow Connector 16" id="3454" name="Google Shape;3454;p251"/>
          <p:cNvCxnSpPr/>
          <p:nvPr/>
        </p:nvCxnSpPr>
        <p:spPr>
          <a:xfrm rot="10800000">
            <a:off x="6659563" y="4795838"/>
            <a:ext cx="576262" cy="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8" name="Shape 3458"/>
        <p:cNvGrpSpPr/>
        <p:nvPr/>
      </p:nvGrpSpPr>
      <p:grpSpPr>
        <a:xfrm>
          <a:off x="0" y="0"/>
          <a:ext cx="0" cy="0"/>
          <a:chOff x="0" y="0"/>
          <a:chExt cx="0" cy="0"/>
        </a:xfrm>
      </p:grpSpPr>
      <p:sp>
        <p:nvSpPr>
          <p:cNvPr descr="Title 1" id="3459" name="Google Shape;3459;p25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Problem to Solve</a:t>
            </a:r>
            <a:endParaRPr/>
          </a:p>
        </p:txBody>
      </p:sp>
      <p:sp>
        <p:nvSpPr>
          <p:cNvPr descr="Content Placeholder 2" id="3460" name="Google Shape;3460;p25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01600" lvl="0" marL="58738" rtl="0" algn="l">
              <a:spcBef>
                <a:spcPts val="0"/>
              </a:spcBef>
              <a:spcAft>
                <a:spcPts val="0"/>
              </a:spcAft>
              <a:buSzPts val="1600"/>
              <a:buFont typeface="Verdana"/>
              <a:buChar char="□"/>
            </a:pPr>
            <a:r>
              <a:rPr lang="en-US" sz="1600"/>
              <a:t>Consider the following example of log for two  transactions.</a:t>
            </a:r>
            <a:endParaRPr/>
          </a:p>
          <a:p>
            <a:pPr indent="-58738" lvl="0" marL="58738" rtl="0" algn="l">
              <a:spcBef>
                <a:spcPts val="300"/>
              </a:spcBef>
              <a:spcAft>
                <a:spcPts val="0"/>
              </a:spcAft>
              <a:buSzPts val="1600"/>
              <a:buFont typeface="Noto Sans Symbols"/>
              <a:buNone/>
            </a:pPr>
            <a:r>
              <a:rPr lang="en-US" sz="1600"/>
              <a:t>1. (Start, T1);</a:t>
            </a:r>
            <a:endParaRPr/>
          </a:p>
          <a:p>
            <a:pPr indent="-58738" lvl="0" marL="58738" rtl="0" algn="l">
              <a:spcBef>
                <a:spcPts val="300"/>
              </a:spcBef>
              <a:spcAft>
                <a:spcPts val="0"/>
              </a:spcAft>
              <a:buSzPts val="1600"/>
              <a:buFont typeface="Noto Sans Symbols"/>
              <a:buNone/>
            </a:pPr>
            <a:r>
              <a:rPr lang="en-US" sz="1600"/>
              <a:t>2. (Write, T1, Q, 100,50);</a:t>
            </a:r>
            <a:endParaRPr/>
          </a:p>
          <a:p>
            <a:pPr indent="-58738" lvl="0" marL="58738" rtl="0" algn="l">
              <a:spcBef>
                <a:spcPts val="300"/>
              </a:spcBef>
              <a:spcAft>
                <a:spcPts val="0"/>
              </a:spcAft>
              <a:buSzPts val="1600"/>
              <a:buFont typeface="Noto Sans Symbols"/>
              <a:buNone/>
            </a:pPr>
            <a:r>
              <a:rPr lang="en-US" sz="1600"/>
              <a:t>3. (Commit, T1);</a:t>
            </a:r>
            <a:endParaRPr/>
          </a:p>
          <a:p>
            <a:pPr indent="-58738" lvl="0" marL="58738" rtl="0" algn="l">
              <a:spcBef>
                <a:spcPts val="300"/>
              </a:spcBef>
              <a:spcAft>
                <a:spcPts val="0"/>
              </a:spcAft>
              <a:buSzPts val="1600"/>
              <a:buFont typeface="Noto Sans Symbols"/>
              <a:buNone/>
            </a:pPr>
            <a:r>
              <a:rPr lang="en-US" sz="1600"/>
              <a:t>4. (Start, T2);</a:t>
            </a:r>
            <a:endParaRPr/>
          </a:p>
          <a:p>
            <a:pPr indent="-58738" lvl="0" marL="58738" rtl="0" algn="l">
              <a:spcBef>
                <a:spcPts val="300"/>
              </a:spcBef>
              <a:spcAft>
                <a:spcPts val="0"/>
              </a:spcAft>
              <a:buSzPts val="1600"/>
              <a:buFont typeface="Noto Sans Symbols"/>
              <a:buNone/>
            </a:pPr>
            <a:r>
              <a:rPr lang="en-US" sz="1600"/>
              <a:t>5. (Write, T2, P, 55, 10);</a:t>
            </a:r>
            <a:endParaRPr/>
          </a:p>
          <a:p>
            <a:pPr indent="-58738" lvl="0" marL="58738" rtl="0" algn="l">
              <a:spcBef>
                <a:spcPts val="300"/>
              </a:spcBef>
              <a:spcAft>
                <a:spcPts val="0"/>
              </a:spcAft>
              <a:buSzPts val="1600"/>
              <a:buFont typeface="Noto Sans Symbols"/>
              <a:buNone/>
            </a:pPr>
            <a:r>
              <a:rPr lang="en-US" sz="1600"/>
              <a:t>6. (Commit, T2);</a:t>
            </a:r>
            <a:endParaRPr/>
          </a:p>
          <a:p>
            <a:pPr indent="-58738" lvl="0" marL="58738" rtl="0" algn="l">
              <a:spcBef>
                <a:spcPts val="300"/>
              </a:spcBef>
              <a:spcAft>
                <a:spcPts val="0"/>
              </a:spcAft>
              <a:buSzPts val="1600"/>
              <a:buFont typeface="Noto Sans Symbols"/>
              <a:buNone/>
            </a:pPr>
            <a:r>
              <a:rPr lang="en-US" sz="1600"/>
              <a:t>Consider the case where the schedule crashes after Step 5 and before Step 6, then the question  is which operation should we UNDO if following is the scenario of database just before crash.</a:t>
            </a:r>
            <a:endParaRPr/>
          </a:p>
        </p:txBody>
      </p:sp>
      <p:sp>
        <p:nvSpPr>
          <p:cNvPr descr="Date Placeholder 3" id="3461" name="Google Shape;3461;p25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62" name="Google Shape;3462;p25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463" name="Google Shape;3463;p252"/>
          <p:cNvGraphicFramePr/>
          <p:nvPr/>
        </p:nvGraphicFramePr>
        <p:xfrm>
          <a:off x="4487863" y="4900613"/>
          <a:ext cx="3000000" cy="3000000"/>
        </p:xfrm>
        <a:graphic>
          <a:graphicData uri="http://schemas.openxmlformats.org/drawingml/2006/table">
            <a:tbl>
              <a:tblPr>
                <a:noFill/>
                <a:tableStyleId>{DA31C186-C125-4E34-A739-053F885C22C1}</a:tableStyleId>
              </a:tblPr>
              <a:tblGrid>
                <a:gridCol w="720725"/>
                <a:gridCol w="1512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55 10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8" id="3464" name="Google Shape;3464;p252"/>
          <p:cNvSpPr/>
          <p:nvPr/>
        </p:nvSpPr>
        <p:spPr>
          <a:xfrm>
            <a:off x="3840163" y="4106863"/>
            <a:ext cx="3167062" cy="18732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9" id="3465" name="Google Shape;3465;p252"/>
          <p:cNvSpPr txBox="1"/>
          <p:nvPr/>
        </p:nvSpPr>
        <p:spPr>
          <a:xfrm>
            <a:off x="4833938" y="6011863"/>
            <a:ext cx="1181100" cy="3698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9" name="Shape 3469"/>
        <p:cNvGrpSpPr/>
        <p:nvPr/>
      </p:nvGrpSpPr>
      <p:grpSpPr>
        <a:xfrm>
          <a:off x="0" y="0"/>
          <a:ext cx="0" cy="0"/>
          <a:chOff x="0" y="0"/>
          <a:chExt cx="0" cy="0"/>
        </a:xfrm>
      </p:grpSpPr>
      <p:sp>
        <p:nvSpPr>
          <p:cNvPr descr="Title 1" id="3470" name="Google Shape;3470;p25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Answer</a:t>
            </a:r>
            <a:endParaRPr/>
          </a:p>
        </p:txBody>
      </p:sp>
      <p:sp>
        <p:nvSpPr>
          <p:cNvPr descr="Content Placeholder 2" id="3471" name="Google Shape;3471;p25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88900" lvl="0" marL="58738" rtl="0" algn="l">
              <a:spcBef>
                <a:spcPts val="0"/>
              </a:spcBef>
              <a:spcAft>
                <a:spcPts val="0"/>
              </a:spcAft>
              <a:buSzPts val="1400"/>
              <a:buFont typeface="Verdana"/>
              <a:buChar char="□"/>
            </a:pPr>
            <a:r>
              <a:rPr lang="en-US" sz="1400"/>
              <a:t>Consider the following example of log for two  transactions.</a:t>
            </a:r>
            <a:endParaRPr/>
          </a:p>
          <a:p>
            <a:pPr indent="-58738" lvl="0" marL="58738" rtl="0" algn="l">
              <a:spcBef>
                <a:spcPts val="300"/>
              </a:spcBef>
              <a:spcAft>
                <a:spcPts val="0"/>
              </a:spcAft>
              <a:buSzPts val="1400"/>
              <a:buFont typeface="Noto Sans Symbols"/>
              <a:buNone/>
            </a:pPr>
            <a:r>
              <a:rPr lang="en-US" sz="1400"/>
              <a:t>1. (Start, T1);</a:t>
            </a:r>
            <a:endParaRPr/>
          </a:p>
          <a:p>
            <a:pPr indent="-58738" lvl="0" marL="58738" rtl="0" algn="l">
              <a:spcBef>
                <a:spcPts val="300"/>
              </a:spcBef>
              <a:spcAft>
                <a:spcPts val="0"/>
              </a:spcAft>
              <a:buSzPts val="1400"/>
              <a:buFont typeface="Noto Sans Symbols"/>
              <a:buNone/>
            </a:pPr>
            <a:r>
              <a:rPr lang="en-US" sz="1400"/>
              <a:t>2. (Write, T1, Q, 100,50);</a:t>
            </a:r>
            <a:endParaRPr/>
          </a:p>
          <a:p>
            <a:pPr indent="-58738" lvl="0" marL="58738" rtl="0" algn="l">
              <a:spcBef>
                <a:spcPts val="300"/>
              </a:spcBef>
              <a:spcAft>
                <a:spcPts val="0"/>
              </a:spcAft>
              <a:buSzPts val="1400"/>
              <a:buFont typeface="Noto Sans Symbols"/>
              <a:buNone/>
            </a:pPr>
            <a:r>
              <a:rPr lang="en-US" sz="1400"/>
              <a:t>3. (Commit, T1);</a:t>
            </a:r>
            <a:endParaRPr/>
          </a:p>
          <a:p>
            <a:pPr indent="-58738" lvl="0" marL="58738" rtl="0" algn="l">
              <a:spcBef>
                <a:spcPts val="300"/>
              </a:spcBef>
              <a:spcAft>
                <a:spcPts val="0"/>
              </a:spcAft>
              <a:buSzPts val="1400"/>
              <a:buFont typeface="Noto Sans Symbols"/>
              <a:buNone/>
            </a:pPr>
            <a:r>
              <a:rPr lang="en-US" sz="1400"/>
              <a:t>4. (Start, T2);</a:t>
            </a:r>
            <a:endParaRPr/>
          </a:p>
          <a:p>
            <a:pPr indent="-58738" lvl="0" marL="58738" rtl="0" algn="l">
              <a:spcBef>
                <a:spcPts val="300"/>
              </a:spcBef>
              <a:spcAft>
                <a:spcPts val="0"/>
              </a:spcAft>
              <a:buSzPts val="1400"/>
              <a:buFont typeface="Noto Sans Symbols"/>
              <a:buNone/>
            </a:pPr>
            <a:r>
              <a:rPr lang="en-US" sz="1400"/>
              <a:t>5. (Write, T2, P, 55, 10);</a:t>
            </a:r>
            <a:endParaRPr/>
          </a:p>
          <a:p>
            <a:pPr indent="-58738" lvl="0" marL="58738" rtl="0" algn="l">
              <a:spcBef>
                <a:spcPts val="300"/>
              </a:spcBef>
              <a:spcAft>
                <a:spcPts val="0"/>
              </a:spcAft>
              <a:buSzPts val="1400"/>
              <a:buFont typeface="Noto Sans Symbols"/>
              <a:buNone/>
            </a:pPr>
            <a:r>
              <a:rPr lang="en-US" sz="1400"/>
              <a:t>6. (Commit, T2);</a:t>
            </a:r>
            <a:endParaRPr/>
          </a:p>
          <a:p>
            <a:pPr indent="-58738" lvl="0" marL="58738" rtl="0" algn="l">
              <a:spcBef>
                <a:spcPts val="300"/>
              </a:spcBef>
              <a:spcAft>
                <a:spcPts val="0"/>
              </a:spcAft>
              <a:buSzPts val="1400"/>
              <a:buFont typeface="Noto Sans Symbols"/>
              <a:buNone/>
            </a:pPr>
            <a:r>
              <a:rPr lang="en-US" sz="1400"/>
              <a:t>Consider the case where the schedule crashes after Step 5 and before Step 6, then the question  is which operation should we UNDO if following is the scenario of database just before crash.</a:t>
            </a:r>
            <a:endParaRPr/>
          </a:p>
        </p:txBody>
      </p:sp>
      <p:sp>
        <p:nvSpPr>
          <p:cNvPr descr="Date Placeholder 3" id="3472" name="Google Shape;3472;p25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73" name="Google Shape;3473;p25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474" name="Google Shape;3474;p253"/>
          <p:cNvGraphicFramePr/>
          <p:nvPr/>
        </p:nvGraphicFramePr>
        <p:xfrm>
          <a:off x="4487863" y="4557713"/>
          <a:ext cx="3000000" cy="3000000"/>
        </p:xfrm>
        <a:graphic>
          <a:graphicData uri="http://schemas.openxmlformats.org/drawingml/2006/table">
            <a:tbl>
              <a:tblPr>
                <a:noFill/>
                <a:tableStyleId>{DA31C186-C125-4E34-A739-053F885C22C1}</a:tableStyleId>
              </a:tblPr>
              <a:tblGrid>
                <a:gridCol w="720725"/>
                <a:gridCol w="15128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55 10 55</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8" id="3475" name="Google Shape;3475;p253"/>
          <p:cNvSpPr/>
          <p:nvPr/>
        </p:nvSpPr>
        <p:spPr>
          <a:xfrm>
            <a:off x="3840163" y="3763963"/>
            <a:ext cx="3167062" cy="18732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9" id="3476" name="Google Shape;3476;p253"/>
          <p:cNvSpPr txBox="1"/>
          <p:nvPr/>
        </p:nvSpPr>
        <p:spPr>
          <a:xfrm>
            <a:off x="4833938" y="5667375"/>
            <a:ext cx="118110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Database</a:t>
            </a:r>
            <a:endParaRPr/>
          </a:p>
        </p:txBody>
      </p:sp>
      <p:sp>
        <p:nvSpPr>
          <p:cNvPr descr="TextBox 13" id="3477" name="Google Shape;3477;p253"/>
          <p:cNvSpPr txBox="1"/>
          <p:nvPr/>
        </p:nvSpPr>
        <p:spPr>
          <a:xfrm>
            <a:off x="7137400" y="4930775"/>
            <a:ext cx="1979613" cy="1209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UNDO from LOG</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Replace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New value with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Old value</a:t>
            </a:r>
            <a:endParaRPr/>
          </a:p>
        </p:txBody>
      </p:sp>
      <p:cxnSp>
        <p:nvCxnSpPr>
          <p:cNvPr descr="Straight Arrow Connector 10" id="3478" name="Google Shape;3478;p253"/>
          <p:cNvCxnSpPr/>
          <p:nvPr/>
        </p:nvCxnSpPr>
        <p:spPr>
          <a:xfrm rot="10800000">
            <a:off x="6659563" y="5156200"/>
            <a:ext cx="503237" cy="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2" name="Shape 3482"/>
        <p:cNvGrpSpPr/>
        <p:nvPr/>
      </p:nvGrpSpPr>
      <p:grpSpPr>
        <a:xfrm>
          <a:off x="0" y="0"/>
          <a:ext cx="0" cy="0"/>
          <a:chOff x="0" y="0"/>
          <a:chExt cx="0" cy="0"/>
        </a:xfrm>
      </p:grpSpPr>
      <p:sp>
        <p:nvSpPr>
          <p:cNvPr descr="Title 1" id="3483" name="Google Shape;3483;p25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Approaches to Recovery</a:t>
            </a:r>
            <a:endParaRPr/>
          </a:p>
        </p:txBody>
      </p:sp>
      <p:sp>
        <p:nvSpPr>
          <p:cNvPr descr="Content Placeholder 2" id="3484" name="Google Shape;3484;p25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342900" lvl="0" marL="342900" rtl="0" algn="l">
              <a:spcBef>
                <a:spcPts val="0"/>
              </a:spcBef>
              <a:spcAft>
                <a:spcPts val="0"/>
              </a:spcAft>
              <a:buSzPts val="3000"/>
              <a:buFont typeface="Noto Sans Symbols"/>
              <a:buNone/>
            </a:pPr>
            <a:r>
              <a:rPr lang="en-US"/>
              <a:t>Two Types using LOG enteries</a:t>
            </a:r>
            <a:endParaRPr/>
          </a:p>
          <a:p>
            <a:pPr indent="-342900" lvl="0" marL="342900" rtl="0" algn="l">
              <a:spcBef>
                <a:spcPts val="700"/>
              </a:spcBef>
              <a:spcAft>
                <a:spcPts val="0"/>
              </a:spcAft>
              <a:buSzPts val="3000"/>
              <a:buFont typeface="Verdana"/>
              <a:buAutoNum type="arabicPeriod"/>
            </a:pPr>
            <a:r>
              <a:rPr lang="en-US"/>
              <a:t>Deferred Update</a:t>
            </a:r>
            <a:endParaRPr/>
          </a:p>
          <a:p>
            <a:pPr indent="-342900" lvl="0" marL="342900" rtl="0" algn="l">
              <a:spcBef>
                <a:spcPts val="700"/>
              </a:spcBef>
              <a:spcAft>
                <a:spcPts val="0"/>
              </a:spcAft>
              <a:buSzPts val="3000"/>
              <a:buFont typeface="Verdana"/>
              <a:buAutoNum type="arabicPeriod"/>
            </a:pPr>
            <a:r>
              <a:rPr lang="en-US"/>
              <a:t>Immediate Update</a:t>
            </a:r>
            <a:endParaRPr/>
          </a:p>
        </p:txBody>
      </p:sp>
      <p:sp>
        <p:nvSpPr>
          <p:cNvPr descr="Date Placeholder 3" id="3485" name="Google Shape;3485;p25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86" name="Google Shape;3486;p25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0" name="Shape 3490"/>
        <p:cNvGrpSpPr/>
        <p:nvPr/>
      </p:nvGrpSpPr>
      <p:grpSpPr>
        <a:xfrm>
          <a:off x="0" y="0"/>
          <a:ext cx="0" cy="0"/>
          <a:chOff x="0" y="0"/>
          <a:chExt cx="0" cy="0"/>
        </a:xfrm>
      </p:grpSpPr>
      <p:sp>
        <p:nvSpPr>
          <p:cNvPr descr="Title 1" id="3491" name="Google Shape;3491;p25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Log-Based Recovery</a:t>
            </a:r>
            <a:endParaRPr/>
          </a:p>
        </p:txBody>
      </p:sp>
      <p:sp>
        <p:nvSpPr>
          <p:cNvPr descr="Content Placeholder 2" id="3492" name="Google Shape;3492;p25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800"/>
              <a:buFont typeface="Verdana"/>
              <a:buChar char="□"/>
            </a:pPr>
            <a:r>
              <a:rPr lang="en-US" sz="1800"/>
              <a:t>A log is kept on stable storage. </a:t>
            </a:r>
            <a:endParaRPr/>
          </a:p>
          <a:p>
            <a:pPr indent="-438150" lvl="1" marL="908050" rtl="0" algn="l">
              <a:spcBef>
                <a:spcPts val="300"/>
              </a:spcBef>
              <a:spcAft>
                <a:spcPts val="0"/>
              </a:spcAft>
              <a:buSzPts val="1400"/>
              <a:buFont typeface="Verdana"/>
              <a:buChar char="■"/>
            </a:pPr>
            <a:r>
              <a:rPr lang="en-US" sz="1400"/>
              <a:t>The log is a sequence of log records, and maintains a record of update activities on the database. </a:t>
            </a:r>
            <a:endParaRPr sz="2600"/>
          </a:p>
          <a:p>
            <a:pPr indent="-469900" lvl="0" marL="469900" rtl="0" algn="l">
              <a:spcBef>
                <a:spcPts val="400"/>
              </a:spcBef>
              <a:spcAft>
                <a:spcPts val="0"/>
              </a:spcAft>
              <a:buSzPts val="1800"/>
              <a:buFont typeface="Verdana"/>
              <a:buChar char="□"/>
            </a:pPr>
            <a:r>
              <a:rPr lang="en-US" sz="1800"/>
              <a:t>When transaction Ti starts, it registers itself by writing a &lt;Ti start&gt; log record </a:t>
            </a:r>
            <a:endParaRPr/>
          </a:p>
          <a:p>
            <a:pPr indent="-469900" lvl="0" marL="469900" rtl="0" algn="l">
              <a:spcBef>
                <a:spcPts val="400"/>
              </a:spcBef>
              <a:spcAft>
                <a:spcPts val="0"/>
              </a:spcAft>
              <a:buSzPts val="1800"/>
              <a:buFont typeface="Verdana"/>
              <a:buChar char="□"/>
            </a:pPr>
            <a:r>
              <a:rPr lang="en-US" sz="1800"/>
              <a:t>Before Ti executes write(X), a log record &lt;write,Ti,X,V1,V2&gt; is written, where V1 is the value of X before the write, and V2 is the new value to be written to X. </a:t>
            </a:r>
            <a:endParaRPr/>
          </a:p>
          <a:p>
            <a:pPr indent="-438150" lvl="1" marL="908050" rtl="0" algn="l">
              <a:spcBef>
                <a:spcPts val="300"/>
              </a:spcBef>
              <a:spcAft>
                <a:spcPts val="0"/>
              </a:spcAft>
              <a:buSzPts val="1400"/>
              <a:buFont typeface="Verdana"/>
              <a:buChar char="■"/>
            </a:pPr>
            <a:r>
              <a:rPr lang="en-US" sz="1400"/>
              <a:t>Log record notes that Ti has performed a write on data item X that had value V1 before the write, and will have value V2 after the write. </a:t>
            </a:r>
            <a:endParaRPr sz="2600"/>
          </a:p>
          <a:p>
            <a:pPr indent="-469900" lvl="0" marL="469900" rtl="0" algn="l">
              <a:spcBef>
                <a:spcPts val="400"/>
              </a:spcBef>
              <a:spcAft>
                <a:spcPts val="0"/>
              </a:spcAft>
              <a:buSzPts val="1800"/>
              <a:buFont typeface="Verdana"/>
              <a:buChar char="□"/>
            </a:pPr>
            <a:r>
              <a:rPr lang="en-US" sz="1800"/>
              <a:t>When Ti finishes it last statement, the log record &lt;Commit Ti&gt; is written. </a:t>
            </a:r>
            <a:endParaRPr/>
          </a:p>
          <a:p>
            <a:pPr indent="-469900" lvl="0" marL="469900" rtl="0" algn="l">
              <a:spcBef>
                <a:spcPts val="400"/>
              </a:spcBef>
              <a:spcAft>
                <a:spcPts val="0"/>
              </a:spcAft>
              <a:buSzPts val="1800"/>
              <a:buFont typeface="Verdana"/>
              <a:buChar char="□"/>
            </a:pPr>
            <a:r>
              <a:rPr lang="en-US" sz="1800"/>
              <a:t>We assume for now that log records are written directly to stable storage (that is, they are not buffered)</a:t>
            </a:r>
            <a:endParaRPr/>
          </a:p>
        </p:txBody>
      </p:sp>
      <p:sp>
        <p:nvSpPr>
          <p:cNvPr descr="Date Placeholder 3" id="3493" name="Google Shape;3493;p25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494" name="Google Shape;3494;p25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8" name="Shape 3498"/>
        <p:cNvGrpSpPr/>
        <p:nvPr/>
      </p:nvGrpSpPr>
      <p:grpSpPr>
        <a:xfrm>
          <a:off x="0" y="0"/>
          <a:ext cx="0" cy="0"/>
          <a:chOff x="0" y="0"/>
          <a:chExt cx="0" cy="0"/>
        </a:xfrm>
      </p:grpSpPr>
      <p:sp>
        <p:nvSpPr>
          <p:cNvPr descr="Title 1" id="3499" name="Google Shape;3499;p25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sp>
        <p:nvSpPr>
          <p:cNvPr descr="Content Placeholder 2" id="3500" name="Google Shape;3500;p25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600"/>
              <a:buFont typeface="Verdana"/>
              <a:buChar char="□"/>
            </a:pPr>
            <a:r>
              <a:rPr lang="en-US" sz="1600"/>
              <a:t>The deferred database modification scheme records all modifications to the log, but defers all the writes to after partial commit. </a:t>
            </a:r>
            <a:endParaRPr/>
          </a:p>
          <a:p>
            <a:pPr indent="-469900" lvl="0" marL="469900" rtl="0" algn="l">
              <a:spcBef>
                <a:spcPts val="300"/>
              </a:spcBef>
              <a:spcAft>
                <a:spcPts val="0"/>
              </a:spcAft>
              <a:buSzPts val="1600"/>
              <a:buFont typeface="Verdana"/>
              <a:buChar char="□"/>
            </a:pPr>
            <a:r>
              <a:rPr lang="en-US" sz="1600"/>
              <a:t>Assume that transactions execute serially</a:t>
            </a:r>
            <a:endParaRPr/>
          </a:p>
          <a:p>
            <a:pPr indent="-469900" lvl="0" marL="469900" rtl="0" algn="l">
              <a:spcBef>
                <a:spcPts val="300"/>
              </a:spcBef>
              <a:spcAft>
                <a:spcPts val="0"/>
              </a:spcAft>
              <a:buSzPts val="1600"/>
              <a:buFont typeface="Verdana"/>
              <a:buChar char="□"/>
            </a:pPr>
            <a:r>
              <a:rPr lang="en-US" sz="1600"/>
              <a:t>Transaction starts by writing &lt;start Ti&gt; record to log. </a:t>
            </a:r>
            <a:endParaRPr/>
          </a:p>
          <a:p>
            <a:pPr indent="-469900" lvl="0" marL="469900" rtl="0" algn="l">
              <a:spcBef>
                <a:spcPts val="300"/>
              </a:spcBef>
              <a:spcAft>
                <a:spcPts val="0"/>
              </a:spcAft>
              <a:buSzPts val="1600"/>
              <a:buFont typeface="Verdana"/>
              <a:buChar char="□"/>
            </a:pPr>
            <a:r>
              <a:rPr lang="en-US" sz="1600"/>
              <a:t>A write(X) operation results in a log record &lt;write,Ti,X,V1,V2&gt; being written, where V1 is old value of X,  V2 is the new value for X </a:t>
            </a:r>
            <a:endParaRPr/>
          </a:p>
          <a:p>
            <a:pPr indent="-438150" lvl="1" marL="908050" rtl="0" algn="l">
              <a:spcBef>
                <a:spcPts val="300"/>
              </a:spcBef>
              <a:spcAft>
                <a:spcPts val="0"/>
              </a:spcAft>
              <a:buSzPts val="1400"/>
              <a:buFont typeface="Verdana"/>
              <a:buChar char="■"/>
            </a:pPr>
            <a:r>
              <a:rPr lang="en-US" sz="1400"/>
              <a:t>Note: old value V1 is not needed for this scheme</a:t>
            </a:r>
            <a:endParaRPr sz="2600"/>
          </a:p>
          <a:p>
            <a:pPr indent="-469900" lvl="0" marL="469900" rtl="0" algn="l">
              <a:spcBef>
                <a:spcPts val="300"/>
              </a:spcBef>
              <a:spcAft>
                <a:spcPts val="0"/>
              </a:spcAft>
              <a:buSzPts val="1600"/>
              <a:buFont typeface="Verdana"/>
              <a:buChar char="□"/>
            </a:pPr>
            <a:r>
              <a:rPr lang="en-US" sz="1600"/>
              <a:t>The write is not performed on X at this time, but is deferred. </a:t>
            </a:r>
            <a:endParaRPr/>
          </a:p>
          <a:p>
            <a:pPr indent="-469900" lvl="0" marL="469900" rtl="0" algn="l">
              <a:spcBef>
                <a:spcPts val="300"/>
              </a:spcBef>
              <a:spcAft>
                <a:spcPts val="0"/>
              </a:spcAft>
              <a:buSzPts val="1600"/>
              <a:buFont typeface="Verdana"/>
              <a:buChar char="□"/>
            </a:pPr>
            <a:r>
              <a:rPr lang="en-US" sz="1600"/>
              <a:t>When Ti partially commits, &lt;Commit, Ti&gt; is written to the log</a:t>
            </a:r>
            <a:endParaRPr/>
          </a:p>
          <a:p>
            <a:pPr indent="-469900" lvl="0" marL="469900" rtl="0" algn="l">
              <a:spcBef>
                <a:spcPts val="300"/>
              </a:spcBef>
              <a:spcAft>
                <a:spcPts val="0"/>
              </a:spcAft>
              <a:buSzPts val="1600"/>
              <a:buFont typeface="Verdana"/>
              <a:buChar char="□"/>
            </a:pPr>
            <a:r>
              <a:rPr lang="en-US" sz="1600"/>
              <a:t>Finally, the log records are read and used to actually execute the previously deferred writes.</a:t>
            </a:r>
            <a:endParaRPr/>
          </a:p>
          <a:p>
            <a:pPr indent="-469900" lvl="0" marL="469900" rtl="0" algn="l">
              <a:spcBef>
                <a:spcPts val="300"/>
              </a:spcBef>
              <a:spcAft>
                <a:spcPts val="0"/>
              </a:spcAft>
              <a:buSzPts val="1600"/>
              <a:buFont typeface="Verdana"/>
              <a:buChar char="□"/>
            </a:pPr>
            <a:r>
              <a:rPr lang="en-US" sz="1600"/>
              <a:t>During recovery after a crash, a transaction needs to be redone if and only if both &lt;start Ti&gt; and &lt;commit Ti&gt; are there in the log. </a:t>
            </a:r>
            <a:endParaRPr/>
          </a:p>
          <a:p>
            <a:pPr indent="-469900" lvl="0" marL="469900" rtl="0" algn="l">
              <a:spcBef>
                <a:spcPts val="300"/>
              </a:spcBef>
              <a:spcAft>
                <a:spcPts val="0"/>
              </a:spcAft>
              <a:buSzPts val="1600"/>
              <a:buFont typeface="Verdana"/>
              <a:buChar char="□"/>
            </a:pPr>
            <a:r>
              <a:rPr lang="en-US" sz="1600"/>
              <a:t>Redoing a transaction Ti ( redoTi) sets the value of all data items updated by the transaction to the new values. </a:t>
            </a:r>
            <a:endParaRPr/>
          </a:p>
          <a:p>
            <a:pPr indent="-469900" lvl="0" marL="469900" rtl="0" algn="l">
              <a:spcBef>
                <a:spcPts val="300"/>
              </a:spcBef>
              <a:spcAft>
                <a:spcPts val="0"/>
              </a:spcAft>
              <a:buSzPts val="1600"/>
              <a:buFont typeface="Verdana"/>
              <a:buChar char="□"/>
            </a:pPr>
            <a:r>
              <a:rPr lang="en-US" sz="1600"/>
              <a:t>Crashes can occur while: the transaction is executing the original updates or while recovery action is being taken</a:t>
            </a:r>
            <a:endParaRPr/>
          </a:p>
          <a:p>
            <a:pPr indent="-469900" lvl="0" marL="469900" rtl="0" algn="l">
              <a:spcBef>
                <a:spcPts val="300"/>
              </a:spcBef>
              <a:spcAft>
                <a:spcPts val="0"/>
              </a:spcAft>
              <a:buSzPts val="1600"/>
              <a:buFont typeface="Verdana"/>
              <a:buChar char="□"/>
            </a:pPr>
            <a:r>
              <a:rPr lang="en-US" sz="1600"/>
              <a:t>Deferred modification is also referred as </a:t>
            </a:r>
            <a:r>
              <a:rPr b="1" lang="en-US" sz="1600"/>
              <a:t>No-Undo/Redo</a:t>
            </a:r>
            <a:r>
              <a:rPr lang="en-US" sz="1600"/>
              <a:t> method</a:t>
            </a:r>
            <a:endParaRPr/>
          </a:p>
        </p:txBody>
      </p:sp>
      <p:sp>
        <p:nvSpPr>
          <p:cNvPr descr="Date Placeholder 3" id="3501" name="Google Shape;3501;p25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02" name="Google Shape;3502;p25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6" name="Shape 3506"/>
        <p:cNvGrpSpPr/>
        <p:nvPr/>
      </p:nvGrpSpPr>
      <p:grpSpPr>
        <a:xfrm>
          <a:off x="0" y="0"/>
          <a:ext cx="0" cy="0"/>
          <a:chOff x="0" y="0"/>
          <a:chExt cx="0" cy="0"/>
        </a:xfrm>
      </p:grpSpPr>
      <p:sp>
        <p:nvSpPr>
          <p:cNvPr descr="Title 1" id="3507" name="Google Shape;3507;p25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sp>
        <p:nvSpPr>
          <p:cNvPr descr="Content Placeholder 2" id="3508" name="Google Shape;3508;p25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Example of Deferred based recovery</a:t>
            </a:r>
            <a:endParaRPr/>
          </a:p>
          <a:p>
            <a:pPr indent="-234950" lvl="0" marL="234950" rtl="0" algn="l">
              <a:spcBef>
                <a:spcPts val="300"/>
              </a:spcBef>
              <a:spcAft>
                <a:spcPts val="0"/>
              </a:spcAft>
              <a:buSzPts val="1600"/>
              <a:buFont typeface="Verdana"/>
              <a:buChar char="□"/>
            </a:pPr>
            <a:r>
              <a:rPr lang="en-US" sz="1600"/>
              <a:t>Consider log entries for two  transactions T1 and T2 as follows.</a:t>
            </a:r>
            <a:endParaRPr/>
          </a:p>
        </p:txBody>
      </p:sp>
      <p:sp>
        <p:nvSpPr>
          <p:cNvPr descr="Date Placeholder 3" id="3509" name="Google Shape;3509;p25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10" name="Google Shape;3510;p25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511" name="Google Shape;3511;p257"/>
          <p:cNvGraphicFramePr/>
          <p:nvPr/>
        </p:nvGraphicFramePr>
        <p:xfrm>
          <a:off x="1198563" y="2170113"/>
          <a:ext cx="3000000" cy="3000000"/>
        </p:xfrm>
        <a:graphic>
          <a:graphicData uri="http://schemas.openxmlformats.org/drawingml/2006/table">
            <a:tbl>
              <a:tblPr>
                <a:noFill/>
                <a:tableStyleId>{DA31C186-C125-4E34-A739-053F885C22C1}</a:tableStyleId>
              </a:tblPr>
              <a:tblGrid>
                <a:gridCol w="273685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T1, Q, 100,50)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(Commit,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T2, P, 55, 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descr="Straight Arrow Connector 8" id="3512" name="Google Shape;3512;p257"/>
          <p:cNvCxnSpPr/>
          <p:nvPr/>
        </p:nvCxnSpPr>
        <p:spPr>
          <a:xfrm>
            <a:off x="754063" y="4030663"/>
            <a:ext cx="457200" cy="0"/>
          </a:xfrm>
          <a:prstGeom prst="straightConnector1">
            <a:avLst/>
          </a:prstGeom>
          <a:noFill/>
          <a:ln cap="flat" cmpd="sng" w="28575">
            <a:solidFill>
              <a:srgbClr val="FF0000"/>
            </a:solidFill>
            <a:prstDash val="solid"/>
            <a:round/>
            <a:headEnd len="sm" w="sm" type="none"/>
            <a:tailEnd len="med" w="med" type="triangle"/>
          </a:ln>
        </p:spPr>
      </p:cxnSp>
      <p:sp>
        <p:nvSpPr>
          <p:cNvPr descr="TextBox 10" id="3513" name="Google Shape;3513;p257"/>
          <p:cNvSpPr txBox="1"/>
          <p:nvPr/>
        </p:nvSpPr>
        <p:spPr>
          <a:xfrm>
            <a:off x="223838" y="3768725"/>
            <a:ext cx="769937"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System</a:t>
            </a:r>
            <a:endParaRPr/>
          </a:p>
          <a:p>
            <a:pPr indent="0" lvl="0" marL="0" marR="0" rtl="0" algn="l">
              <a:spcBef>
                <a:spcPts val="0"/>
              </a:spcBef>
              <a:spcAft>
                <a:spcPts val="0"/>
              </a:spcAft>
              <a:buNone/>
            </a:pPr>
            <a:r>
              <a:rPr lang="en-US" sz="1400">
                <a:solidFill>
                  <a:srgbClr val="FF0000"/>
                </a:solidFill>
                <a:latin typeface="Verdana"/>
                <a:ea typeface="Verdana"/>
                <a:cs typeface="Verdana"/>
                <a:sym typeface="Verdana"/>
              </a:rPr>
              <a:t>Crash</a:t>
            </a:r>
            <a:endParaRPr/>
          </a:p>
        </p:txBody>
      </p:sp>
      <p:graphicFrame>
        <p:nvGraphicFramePr>
          <p:cNvPr id="3514" name="Google Shape;3514;p257"/>
          <p:cNvGraphicFramePr/>
          <p:nvPr/>
        </p:nvGraphicFramePr>
        <p:xfrm>
          <a:off x="5076825" y="3090863"/>
          <a:ext cx="3000000" cy="3000000"/>
        </p:xfrm>
        <a:graphic>
          <a:graphicData uri="http://schemas.openxmlformats.org/drawingml/2006/table">
            <a:tbl>
              <a:tblPr>
                <a:noFill/>
                <a:tableStyleId>{DA31C186-C125-4E34-A739-053F885C22C1}</a:tableStyleId>
              </a:tblPr>
              <a:tblGrid>
                <a:gridCol w="487375"/>
                <a:gridCol w="10239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2" id="3515" name="Google Shape;3515;p257"/>
          <p:cNvSpPr/>
          <p:nvPr/>
        </p:nvSpPr>
        <p:spPr>
          <a:xfrm>
            <a:off x="4714875" y="2373313"/>
            <a:ext cx="2232025" cy="170338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3516" name="Google Shape;3516;p257"/>
          <p:cNvSpPr txBox="1"/>
          <p:nvPr/>
        </p:nvSpPr>
        <p:spPr>
          <a:xfrm>
            <a:off x="5300663" y="2035175"/>
            <a:ext cx="10604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
        <p:nvSpPr>
          <p:cNvPr descr="TextBox 14" id="3517" name="Google Shape;3517;p257"/>
          <p:cNvSpPr txBox="1"/>
          <p:nvPr/>
        </p:nvSpPr>
        <p:spPr>
          <a:xfrm>
            <a:off x="2097088" y="1839913"/>
            <a:ext cx="5318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LOG</a:t>
            </a:r>
            <a:endParaRPr/>
          </a:p>
        </p:txBody>
      </p:sp>
      <p:sp>
        <p:nvSpPr>
          <p:cNvPr descr="TextBox 15" id="3518" name="Google Shape;3518;p257"/>
          <p:cNvSpPr txBox="1"/>
          <p:nvPr/>
        </p:nvSpPr>
        <p:spPr>
          <a:xfrm>
            <a:off x="517525" y="4878388"/>
            <a:ext cx="7042150" cy="1057275"/>
          </a:xfrm>
          <a:prstGeom prst="rect">
            <a:avLst/>
          </a:prstGeom>
          <a:noFill/>
          <a:ln>
            <a:noFill/>
          </a:ln>
        </p:spPr>
        <p:txBody>
          <a:bodyPr anchorCtr="0" anchor="t" bIns="45700" lIns="45700" spcFirstLastPara="1" rIns="45700" wrap="square" tIns="45700">
            <a:spAutoFit/>
          </a:bodyPr>
          <a:lstStyle/>
          <a:p>
            <a:pPr indent="0" lvl="0" marL="0" marR="0" rtl="0" algn="just">
              <a:spcBef>
                <a:spcPts val="0"/>
              </a:spcBef>
              <a:spcAft>
                <a:spcPts val="0"/>
              </a:spcAft>
              <a:buNone/>
            </a:pPr>
            <a:r>
              <a:rPr lang="en-US" sz="1600">
                <a:solidFill>
                  <a:srgbClr val="006600"/>
                </a:solidFill>
                <a:latin typeface="Verdana"/>
                <a:ea typeface="Verdana"/>
                <a:cs typeface="Verdana"/>
                <a:sym typeface="Verdana"/>
              </a:rPr>
              <a:t>Under deferred recovery method, after system crash the </a:t>
            </a:r>
            <a:endParaRPr/>
          </a:p>
          <a:p>
            <a:pPr indent="0" lvl="0" marL="0" marR="0" rtl="0" algn="just">
              <a:spcBef>
                <a:spcPts val="0"/>
              </a:spcBef>
              <a:spcAft>
                <a:spcPts val="0"/>
              </a:spcAft>
              <a:buNone/>
            </a:pPr>
            <a:r>
              <a:rPr lang="en-US" sz="1600">
                <a:solidFill>
                  <a:srgbClr val="006600"/>
                </a:solidFill>
                <a:latin typeface="Verdana"/>
                <a:ea typeface="Verdana"/>
                <a:cs typeface="Verdana"/>
                <a:sym typeface="Verdana"/>
              </a:rPr>
              <a:t>algorithm looks at LOG enteries for all transactions Ti if the entry of</a:t>
            </a:r>
            <a:endParaRPr/>
          </a:p>
          <a:p>
            <a:pPr indent="0" lvl="0" marL="0" marR="0" rtl="0" algn="just">
              <a:spcBef>
                <a:spcPts val="0"/>
              </a:spcBef>
              <a:spcAft>
                <a:spcPts val="0"/>
              </a:spcAft>
              <a:buNone/>
            </a:pPr>
            <a:r>
              <a:rPr lang="en-US" sz="1600">
                <a:solidFill>
                  <a:srgbClr val="006600"/>
                </a:solidFill>
                <a:latin typeface="Verdana"/>
                <a:ea typeface="Verdana"/>
                <a:cs typeface="Verdana"/>
                <a:sym typeface="Verdana"/>
              </a:rPr>
              <a:t>both &lt;start, Ti&gt; and &lt;commit, Ti&gt; is present then for all write </a:t>
            </a:r>
            <a:endParaRPr/>
          </a:p>
          <a:p>
            <a:pPr indent="0" lvl="0" marL="0" marR="0" rtl="0" algn="just">
              <a:spcBef>
                <a:spcPts val="0"/>
              </a:spcBef>
              <a:spcAft>
                <a:spcPts val="0"/>
              </a:spcAft>
              <a:buNone/>
            </a:pPr>
            <a:r>
              <a:rPr lang="en-US" sz="1600">
                <a:solidFill>
                  <a:srgbClr val="006600"/>
                </a:solidFill>
                <a:latin typeface="Verdana"/>
                <a:ea typeface="Verdana"/>
                <a:cs typeface="Verdana"/>
                <a:sym typeface="Verdana"/>
              </a:rPr>
              <a:t>operations REDO will be carried out i.e., replacing with new value</a:t>
            </a:r>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2" name="Shape 3522"/>
        <p:cNvGrpSpPr/>
        <p:nvPr/>
      </p:nvGrpSpPr>
      <p:grpSpPr>
        <a:xfrm>
          <a:off x="0" y="0"/>
          <a:ext cx="0" cy="0"/>
          <a:chOff x="0" y="0"/>
          <a:chExt cx="0" cy="0"/>
        </a:xfrm>
      </p:grpSpPr>
      <p:sp>
        <p:nvSpPr>
          <p:cNvPr descr="Title 1" id="3523" name="Google Shape;3523;p25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sp>
        <p:nvSpPr>
          <p:cNvPr descr="Content Placeholder 2" id="3524" name="Google Shape;3524;p25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Example of Deferred based recovery</a:t>
            </a:r>
            <a:endParaRPr/>
          </a:p>
          <a:p>
            <a:pPr indent="-234950" lvl="0" marL="234950" rtl="0" algn="l">
              <a:spcBef>
                <a:spcPts val="300"/>
              </a:spcBef>
              <a:spcAft>
                <a:spcPts val="0"/>
              </a:spcAft>
              <a:buSzPts val="1600"/>
              <a:buFont typeface="Verdana"/>
              <a:buChar char="□"/>
            </a:pPr>
            <a:r>
              <a:rPr lang="en-US" sz="1600"/>
              <a:t>Consider log entries for two  transactions T1 and T2 as follows.</a:t>
            </a:r>
            <a:endParaRPr/>
          </a:p>
        </p:txBody>
      </p:sp>
      <p:sp>
        <p:nvSpPr>
          <p:cNvPr descr="Date Placeholder 3" id="3525" name="Google Shape;3525;p25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26" name="Google Shape;3526;p25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527" name="Google Shape;3527;p258"/>
          <p:cNvGraphicFramePr/>
          <p:nvPr/>
        </p:nvGraphicFramePr>
        <p:xfrm>
          <a:off x="1198563" y="2170113"/>
          <a:ext cx="3000000" cy="3000000"/>
        </p:xfrm>
        <a:graphic>
          <a:graphicData uri="http://schemas.openxmlformats.org/drawingml/2006/table">
            <a:tbl>
              <a:tblPr>
                <a:noFill/>
                <a:tableStyleId>{DA31C186-C125-4E34-A739-053F885C22C1}</a:tableStyleId>
              </a:tblPr>
              <a:tblGrid>
                <a:gridCol w="273685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T1, Q, 100,</a:t>
                      </a:r>
                      <a:r>
                        <a:rPr b="0" i="0" lang="en-US" sz="1600" u="none" cap="none" strike="noStrike">
                          <a:solidFill>
                            <a:srgbClr val="006600"/>
                          </a:solidFill>
                          <a:latin typeface="Verdana"/>
                          <a:ea typeface="Verdana"/>
                          <a:cs typeface="Verdana"/>
                          <a:sym typeface="Verdana"/>
                        </a:rPr>
                        <a:t>50</a:t>
                      </a:r>
                      <a:r>
                        <a:rPr b="0" i="0" lang="en-US" sz="1600" u="none" cap="none" strike="noStrike">
                          <a:solidFill>
                            <a:srgbClr val="000000"/>
                          </a:solidFill>
                          <a:latin typeface="Verdana"/>
                          <a:ea typeface="Verdana"/>
                          <a:cs typeface="Verdana"/>
                          <a:sym typeface="Verdana"/>
                        </a:rPr>
                        <a:t>)</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(Commit,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T2, P, 55, 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descr="Straight Arrow Connector 8" id="3528" name="Google Shape;3528;p258"/>
          <p:cNvCxnSpPr/>
          <p:nvPr/>
        </p:nvCxnSpPr>
        <p:spPr>
          <a:xfrm>
            <a:off x="754063" y="4030663"/>
            <a:ext cx="457200" cy="0"/>
          </a:xfrm>
          <a:prstGeom prst="straightConnector1">
            <a:avLst/>
          </a:prstGeom>
          <a:noFill/>
          <a:ln cap="flat" cmpd="sng" w="28575">
            <a:solidFill>
              <a:srgbClr val="FF0000"/>
            </a:solidFill>
            <a:prstDash val="solid"/>
            <a:round/>
            <a:headEnd len="sm" w="sm" type="none"/>
            <a:tailEnd len="med" w="med" type="triangle"/>
          </a:ln>
        </p:spPr>
      </p:cxnSp>
      <p:sp>
        <p:nvSpPr>
          <p:cNvPr descr="TextBox 10" id="3529" name="Google Shape;3529;p258"/>
          <p:cNvSpPr txBox="1"/>
          <p:nvPr/>
        </p:nvSpPr>
        <p:spPr>
          <a:xfrm>
            <a:off x="223838" y="3768725"/>
            <a:ext cx="769937"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System</a:t>
            </a:r>
            <a:endParaRPr/>
          </a:p>
          <a:p>
            <a:pPr indent="0" lvl="0" marL="0" marR="0" rtl="0" algn="l">
              <a:spcBef>
                <a:spcPts val="0"/>
              </a:spcBef>
              <a:spcAft>
                <a:spcPts val="0"/>
              </a:spcAft>
              <a:buNone/>
            </a:pPr>
            <a:r>
              <a:rPr lang="en-US" sz="1400">
                <a:solidFill>
                  <a:srgbClr val="FF0000"/>
                </a:solidFill>
                <a:latin typeface="Verdana"/>
                <a:ea typeface="Verdana"/>
                <a:cs typeface="Verdana"/>
                <a:sym typeface="Verdana"/>
              </a:rPr>
              <a:t>Crash</a:t>
            </a:r>
            <a:endParaRPr/>
          </a:p>
        </p:txBody>
      </p:sp>
      <p:graphicFrame>
        <p:nvGraphicFramePr>
          <p:cNvPr id="3530" name="Google Shape;3530;p258"/>
          <p:cNvGraphicFramePr/>
          <p:nvPr/>
        </p:nvGraphicFramePr>
        <p:xfrm>
          <a:off x="5076825" y="3090863"/>
          <a:ext cx="3000000" cy="3000000"/>
        </p:xfrm>
        <a:graphic>
          <a:graphicData uri="http://schemas.openxmlformats.org/drawingml/2006/table">
            <a:tbl>
              <a:tblPr>
                <a:noFill/>
                <a:tableStyleId>{DA31C186-C125-4E34-A739-053F885C22C1}</a:tableStyleId>
              </a:tblPr>
              <a:tblGrid>
                <a:gridCol w="487375"/>
                <a:gridCol w="10239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a:t>
                      </a:r>
                      <a:r>
                        <a:rPr b="0" i="0" lang="en-US" sz="1800" u="none" cap="none" strike="noStrike">
                          <a:solidFill>
                            <a:srgbClr val="006600"/>
                          </a:solidFill>
                          <a:latin typeface="Verdana"/>
                          <a:ea typeface="Verdana"/>
                          <a:cs typeface="Verdana"/>
                          <a:sym typeface="Verdana"/>
                        </a:rPr>
                        <a:t>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2" id="3531" name="Google Shape;3531;p258"/>
          <p:cNvSpPr/>
          <p:nvPr/>
        </p:nvSpPr>
        <p:spPr>
          <a:xfrm>
            <a:off x="4714875" y="2373313"/>
            <a:ext cx="2232025" cy="170338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3532" name="Google Shape;3532;p258"/>
          <p:cNvSpPr txBox="1"/>
          <p:nvPr/>
        </p:nvSpPr>
        <p:spPr>
          <a:xfrm>
            <a:off x="5300663" y="2035175"/>
            <a:ext cx="10604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
        <p:nvSpPr>
          <p:cNvPr descr="TextBox 14" id="3533" name="Google Shape;3533;p258"/>
          <p:cNvSpPr txBox="1"/>
          <p:nvPr/>
        </p:nvSpPr>
        <p:spPr>
          <a:xfrm>
            <a:off x="2097088" y="1839913"/>
            <a:ext cx="5318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LOG</a:t>
            </a:r>
            <a:endParaRPr/>
          </a:p>
        </p:txBody>
      </p:sp>
      <p:sp>
        <p:nvSpPr>
          <p:cNvPr descr="TextBox 15" id="3534" name="Google Shape;3534;p258"/>
          <p:cNvSpPr txBox="1"/>
          <p:nvPr/>
        </p:nvSpPr>
        <p:spPr>
          <a:xfrm>
            <a:off x="1092200" y="4878388"/>
            <a:ext cx="6175375" cy="955675"/>
          </a:xfrm>
          <a:prstGeom prst="rect">
            <a:avLst/>
          </a:prstGeom>
          <a:noFill/>
          <a:ln>
            <a:noFill/>
          </a:ln>
        </p:spPr>
        <p:txBody>
          <a:bodyPr anchorCtr="0" anchor="t" bIns="45700" lIns="45700" spcFirstLastPara="1" rIns="45700" wrap="square" tIns="45700">
            <a:spAutoFit/>
          </a:bodyPr>
          <a:lstStyle/>
          <a:p>
            <a:pPr indent="0" lvl="0" marL="0" marR="0" rtl="0" algn="just">
              <a:spcBef>
                <a:spcPts val="0"/>
              </a:spcBef>
              <a:spcAft>
                <a:spcPts val="0"/>
              </a:spcAft>
              <a:buNone/>
            </a:pPr>
            <a:r>
              <a:rPr lang="en-US" sz="1400">
                <a:solidFill>
                  <a:srgbClr val="006600"/>
                </a:solidFill>
                <a:latin typeface="Verdana"/>
                <a:ea typeface="Verdana"/>
                <a:cs typeface="Verdana"/>
                <a:sym typeface="Verdana"/>
              </a:rPr>
              <a:t>Under deferred recovery method, after system crash the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algorithm looks at LOG enteries for all transactions Ti if the entry of</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both &lt;start, Ti&gt; and &lt;commit, Ti&gt; is present then for all write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operations REDO will be carried out i.e., replacing with new value</a:t>
            </a:r>
            <a:endParaRPr/>
          </a:p>
        </p:txBody>
      </p:sp>
      <p:cxnSp>
        <p:nvCxnSpPr>
          <p:cNvPr descr="Straight Arrow Connector 17" id="3535" name="Google Shape;3535;p258"/>
          <p:cNvCxnSpPr/>
          <p:nvPr/>
        </p:nvCxnSpPr>
        <p:spPr>
          <a:xfrm rot="10800000">
            <a:off x="6588125" y="3224213"/>
            <a:ext cx="647700" cy="0"/>
          </a:xfrm>
          <a:prstGeom prst="straightConnector1">
            <a:avLst/>
          </a:prstGeom>
          <a:noFill/>
          <a:ln cap="flat" cmpd="sng" w="28575">
            <a:solidFill>
              <a:srgbClr val="006600"/>
            </a:solidFill>
            <a:prstDash val="solid"/>
            <a:round/>
            <a:headEnd len="sm" w="sm" type="none"/>
            <a:tailEnd len="med" w="med" type="triangle"/>
          </a:ln>
        </p:spPr>
      </p:cxnSp>
      <p:sp>
        <p:nvSpPr>
          <p:cNvPr descr="TextBox 18" id="3536" name="Google Shape;3536;p258"/>
          <p:cNvSpPr txBox="1"/>
          <p:nvPr/>
        </p:nvSpPr>
        <p:spPr>
          <a:xfrm>
            <a:off x="7281863" y="3040063"/>
            <a:ext cx="763587"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REDO</a:t>
            </a:r>
            <a:endParaRPr/>
          </a:p>
        </p:txBody>
      </p:sp>
      <p:sp>
        <p:nvSpPr>
          <p:cNvPr descr="TextBox 7" id="3537" name="Google Shape;3537;p258"/>
          <p:cNvSpPr txBox="1"/>
          <p:nvPr/>
        </p:nvSpPr>
        <p:spPr>
          <a:xfrm>
            <a:off x="7172325" y="2519363"/>
            <a:ext cx="1758950" cy="573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RECOVERY after</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System Crash</a:t>
            </a:r>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1" name="Shape 3541"/>
        <p:cNvGrpSpPr/>
        <p:nvPr/>
      </p:nvGrpSpPr>
      <p:grpSpPr>
        <a:xfrm>
          <a:off x="0" y="0"/>
          <a:ext cx="0" cy="0"/>
          <a:chOff x="0" y="0"/>
          <a:chExt cx="0" cy="0"/>
        </a:xfrm>
      </p:grpSpPr>
      <p:sp>
        <p:nvSpPr>
          <p:cNvPr descr="Title 1" id="3542" name="Google Shape;3542;p25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543" name="Google Shape;3543;p259"/>
          <p:cNvGraphicFramePr/>
          <p:nvPr/>
        </p:nvGraphicFramePr>
        <p:xfrm>
          <a:off x="785813" y="2276475"/>
          <a:ext cx="3000000" cy="3000000"/>
        </p:xfrm>
        <a:graphic>
          <a:graphicData uri="http://schemas.openxmlformats.org/drawingml/2006/table">
            <a:tbl>
              <a:tblPr>
                <a:noFill/>
                <a:tableStyleId>{DA31C186-C125-4E34-A739-053F885C22C1}</a:tableStyleId>
              </a:tblPr>
              <a:tblGrid>
                <a:gridCol w="34290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544" name="Google Shape;3544;p25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45" name="Google Shape;3545;p25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546" name="Google Shape;3546;p259"/>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graphicFrame>
        <p:nvGraphicFramePr>
          <p:cNvPr id="3547" name="Google Shape;3547;p259"/>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9" id="3548" name="Google Shape;3548;p259"/>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0" id="3549" name="Google Shape;3549;p259"/>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3" name="Shape 3553"/>
        <p:cNvGrpSpPr/>
        <p:nvPr/>
      </p:nvGrpSpPr>
      <p:grpSpPr>
        <a:xfrm>
          <a:off x="0" y="0"/>
          <a:ext cx="0" cy="0"/>
          <a:chOff x="0" y="0"/>
          <a:chExt cx="0" cy="0"/>
        </a:xfrm>
      </p:grpSpPr>
      <p:sp>
        <p:nvSpPr>
          <p:cNvPr descr="Title 1" id="3554" name="Google Shape;3554;p26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555" name="Google Shape;3555;p260"/>
          <p:cNvGraphicFramePr/>
          <p:nvPr/>
        </p:nvGraphicFramePr>
        <p:xfrm>
          <a:off x="357188" y="2276475"/>
          <a:ext cx="3000000" cy="3000000"/>
        </p:xfrm>
        <a:graphic>
          <a:graphicData uri="http://schemas.openxmlformats.org/drawingml/2006/table">
            <a:tbl>
              <a:tblPr>
                <a:noFill/>
                <a:tableStyleId>{DA31C186-C125-4E34-A739-053F885C22C1}</a:tableStyleId>
              </a:tblPr>
              <a:tblGrid>
                <a:gridCol w="32781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556" name="Google Shape;3556;p26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57" name="Google Shape;3557;p26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558" name="Google Shape;3558;p260"/>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sp>
        <p:nvSpPr>
          <p:cNvPr descr="TextBox 8" id="3559" name="Google Shape;3559;p260"/>
          <p:cNvSpPr txBox="1"/>
          <p:nvPr/>
        </p:nvSpPr>
        <p:spPr>
          <a:xfrm>
            <a:off x="954088" y="4889500"/>
            <a:ext cx="6662737" cy="9286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No REDO operation need to be taken because no commit</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LOG entry found for any transaction</a:t>
            </a:r>
            <a:endParaRPr/>
          </a:p>
        </p:txBody>
      </p:sp>
      <p:graphicFrame>
        <p:nvGraphicFramePr>
          <p:cNvPr id="3560" name="Google Shape;3560;p260"/>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0" id="3561" name="Google Shape;3561;p260"/>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3562" name="Google Shape;3562;p260"/>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6" name="Shape 3566"/>
        <p:cNvGrpSpPr/>
        <p:nvPr/>
      </p:nvGrpSpPr>
      <p:grpSpPr>
        <a:xfrm>
          <a:off x="0" y="0"/>
          <a:ext cx="0" cy="0"/>
          <a:chOff x="0" y="0"/>
          <a:chExt cx="0" cy="0"/>
        </a:xfrm>
      </p:grpSpPr>
      <p:sp>
        <p:nvSpPr>
          <p:cNvPr descr="Title 1" id="3567" name="Google Shape;3567;p26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568" name="Google Shape;3568;p261"/>
          <p:cNvGraphicFramePr/>
          <p:nvPr/>
        </p:nvGraphicFramePr>
        <p:xfrm>
          <a:off x="714375" y="2214563"/>
          <a:ext cx="3000000" cy="3000000"/>
        </p:xfrm>
        <a:graphic>
          <a:graphicData uri="http://schemas.openxmlformats.org/drawingml/2006/table">
            <a:tbl>
              <a:tblPr>
                <a:noFill/>
                <a:tableStyleId>{DA31C186-C125-4E34-A739-053F885C22C1}</a:tableStyleId>
              </a:tblPr>
              <a:tblGrid>
                <a:gridCol w="34575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569" name="Google Shape;3569;p26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70" name="Google Shape;3570;p26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571" name="Google Shape;3571;p261"/>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graphicFrame>
        <p:nvGraphicFramePr>
          <p:cNvPr id="3572" name="Google Shape;3572;p261"/>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9" id="3573" name="Google Shape;3573;p261"/>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0" id="3574" name="Google Shape;3574;p261"/>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8" name="Shape 3578"/>
        <p:cNvGrpSpPr/>
        <p:nvPr/>
      </p:nvGrpSpPr>
      <p:grpSpPr>
        <a:xfrm>
          <a:off x="0" y="0"/>
          <a:ext cx="0" cy="0"/>
          <a:chOff x="0" y="0"/>
          <a:chExt cx="0" cy="0"/>
        </a:xfrm>
      </p:grpSpPr>
      <p:sp>
        <p:nvSpPr>
          <p:cNvPr descr="Title 1" id="3579" name="Google Shape;3579;p26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580" name="Google Shape;3580;p262"/>
          <p:cNvGraphicFramePr/>
          <p:nvPr/>
        </p:nvGraphicFramePr>
        <p:xfrm>
          <a:off x="785813" y="2214563"/>
          <a:ext cx="3000000" cy="3000000"/>
        </p:xfrm>
        <a:graphic>
          <a:graphicData uri="http://schemas.openxmlformats.org/drawingml/2006/table">
            <a:tbl>
              <a:tblPr>
                <a:noFill/>
                <a:tableStyleId>{DA31C186-C125-4E34-A739-053F885C22C1}</a:tableStyleId>
              </a:tblPr>
              <a:tblGrid>
                <a:gridCol w="34575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581" name="Google Shape;3581;p26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82" name="Google Shape;3582;p26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583" name="Google Shape;3583;p262"/>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sp>
        <p:nvSpPr>
          <p:cNvPr descr="TextBox 8" id="3584" name="Google Shape;3584;p262"/>
          <p:cNvSpPr txBox="1"/>
          <p:nvPr/>
        </p:nvSpPr>
        <p:spPr>
          <a:xfrm>
            <a:off x="944563" y="4919663"/>
            <a:ext cx="6896100" cy="1208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REDO operation for transaction T1 to data items A and B</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should be performed because commit LOG entry found for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 transaction T1 &lt;Commit, T1&gt;</a:t>
            </a:r>
            <a:endParaRPr/>
          </a:p>
        </p:txBody>
      </p:sp>
      <p:graphicFrame>
        <p:nvGraphicFramePr>
          <p:cNvPr id="3585" name="Google Shape;3585;p262"/>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0" id="3586" name="Google Shape;3586;p262"/>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3587" name="Google Shape;3587;p262"/>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1" name="Shape 3591"/>
        <p:cNvGrpSpPr/>
        <p:nvPr/>
      </p:nvGrpSpPr>
      <p:grpSpPr>
        <a:xfrm>
          <a:off x="0" y="0"/>
          <a:ext cx="0" cy="0"/>
          <a:chOff x="0" y="0"/>
          <a:chExt cx="0" cy="0"/>
        </a:xfrm>
      </p:grpSpPr>
      <p:sp>
        <p:nvSpPr>
          <p:cNvPr descr="Title 1" id="3592" name="Google Shape;3592;p26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593" name="Google Shape;3593;p263"/>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1718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594" name="Google Shape;3594;p26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595" name="Google Shape;3595;p26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596" name="Google Shape;3596;p263"/>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graphicFrame>
        <p:nvGraphicFramePr>
          <p:cNvPr id="3597" name="Google Shape;3597;p263"/>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9" id="3598" name="Google Shape;3598;p263"/>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0" id="3599" name="Google Shape;3599;p263"/>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3" name="Shape 3603"/>
        <p:cNvGrpSpPr/>
        <p:nvPr/>
      </p:nvGrpSpPr>
      <p:grpSpPr>
        <a:xfrm>
          <a:off x="0" y="0"/>
          <a:ext cx="0" cy="0"/>
          <a:chOff x="0" y="0"/>
          <a:chExt cx="0" cy="0"/>
        </a:xfrm>
      </p:grpSpPr>
      <p:sp>
        <p:nvSpPr>
          <p:cNvPr descr="Title 1" id="3604" name="Google Shape;3604;p26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graphicFrame>
        <p:nvGraphicFramePr>
          <p:cNvPr id="3605" name="Google Shape;3605;p264"/>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314700"/>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Date Placeholder 3" id="3606" name="Google Shape;3606;p26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07" name="Google Shape;3607;p26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TextBox 7" id="3608" name="Google Shape;3608;p264"/>
          <p:cNvSpPr txBox="1"/>
          <p:nvPr/>
        </p:nvSpPr>
        <p:spPr>
          <a:xfrm>
            <a:off x="800100" y="1127125"/>
            <a:ext cx="7510463"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REDO operation ?</a:t>
            </a:r>
            <a:endParaRPr/>
          </a:p>
        </p:txBody>
      </p:sp>
      <p:sp>
        <p:nvSpPr>
          <p:cNvPr descr="TextBox 8" id="3609" name="Google Shape;3609;p264"/>
          <p:cNvSpPr txBox="1"/>
          <p:nvPr/>
        </p:nvSpPr>
        <p:spPr>
          <a:xfrm>
            <a:off x="730250" y="4919663"/>
            <a:ext cx="8274050" cy="1208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REDO operation  for Transaction T1 must be performed</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followed by the transaction T2 since &lt;Commit, T1&gt; and &lt;Commit,T2&gt;</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are present.</a:t>
            </a:r>
            <a:endParaRPr/>
          </a:p>
        </p:txBody>
      </p:sp>
      <p:graphicFrame>
        <p:nvGraphicFramePr>
          <p:cNvPr id="3610" name="Google Shape;3610;p264"/>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700 600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0" id="3611" name="Google Shape;3611;p264"/>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1" id="3612" name="Google Shape;3612;p264"/>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6" name="Shape 3616"/>
        <p:cNvGrpSpPr/>
        <p:nvPr/>
      </p:nvGrpSpPr>
      <p:grpSpPr>
        <a:xfrm>
          <a:off x="0" y="0"/>
          <a:ext cx="0" cy="0"/>
          <a:chOff x="0" y="0"/>
          <a:chExt cx="0" cy="0"/>
        </a:xfrm>
      </p:grpSpPr>
      <p:sp>
        <p:nvSpPr>
          <p:cNvPr descr="Title 1" id="3617" name="Google Shape;3617;p26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Content Placeholder 2" id="3618" name="Google Shape;3618;p26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0375" lvl="0" marL="460375" rtl="0" algn="l">
              <a:spcBef>
                <a:spcPts val="0"/>
              </a:spcBef>
              <a:spcAft>
                <a:spcPts val="0"/>
              </a:spcAft>
              <a:buSzPts val="1700"/>
              <a:buFont typeface="Verdana"/>
              <a:buChar char="□"/>
            </a:pPr>
            <a:r>
              <a:rPr lang="en-US" sz="1700"/>
              <a:t>The immediate database modification scheme allows database updates of an uncommitted transaction to be made as the writes are issued </a:t>
            </a:r>
            <a:endParaRPr/>
          </a:p>
          <a:p>
            <a:pPr indent="-427038" lvl="1" marL="889000" rtl="0" algn="l">
              <a:spcBef>
                <a:spcPts val="300"/>
              </a:spcBef>
              <a:spcAft>
                <a:spcPts val="0"/>
              </a:spcAft>
              <a:buSzPts val="1500"/>
              <a:buFont typeface="Verdana"/>
              <a:buChar char="■"/>
            </a:pPr>
            <a:r>
              <a:rPr lang="en-US" sz="1500"/>
              <a:t>since undoing may be needed, update logs must have both old value and new value </a:t>
            </a:r>
            <a:endParaRPr sz="2500"/>
          </a:p>
          <a:p>
            <a:pPr indent="-460375" lvl="0" marL="460375" rtl="0" algn="l">
              <a:spcBef>
                <a:spcPts val="400"/>
              </a:spcBef>
              <a:spcAft>
                <a:spcPts val="0"/>
              </a:spcAft>
              <a:buSzPts val="1700"/>
              <a:buFont typeface="Verdana"/>
              <a:buChar char="□"/>
            </a:pPr>
            <a:r>
              <a:rPr lang="en-US" sz="1700"/>
              <a:t>Update log record must be written before database item is written </a:t>
            </a:r>
            <a:endParaRPr/>
          </a:p>
          <a:p>
            <a:pPr indent="-460375" lvl="0" marL="460375" rtl="0" algn="l">
              <a:spcBef>
                <a:spcPts val="400"/>
              </a:spcBef>
              <a:spcAft>
                <a:spcPts val="0"/>
              </a:spcAft>
              <a:buSzPts val="1700"/>
              <a:buFont typeface="Verdana"/>
              <a:buChar char="□"/>
            </a:pPr>
            <a:r>
              <a:rPr lang="en-US" sz="1700"/>
              <a:t>We assume that the log record is output directly to stable storage</a:t>
            </a:r>
            <a:endParaRPr/>
          </a:p>
          <a:p>
            <a:pPr indent="-460375" lvl="0" marL="460375" rtl="0" algn="l">
              <a:spcBef>
                <a:spcPts val="400"/>
              </a:spcBef>
              <a:spcAft>
                <a:spcPts val="0"/>
              </a:spcAft>
              <a:buSzPts val="1700"/>
              <a:buFont typeface="Verdana"/>
              <a:buChar char="□"/>
            </a:pPr>
            <a:r>
              <a:rPr lang="en-US" sz="1700"/>
              <a:t>Can be extended to postpone log record output, so as long as prior to execution of an output(B) operation for a data block B, all log records corresponding to items B must be flushed to stable storage</a:t>
            </a:r>
            <a:endParaRPr/>
          </a:p>
          <a:p>
            <a:pPr indent="-460375" lvl="0" marL="460375" rtl="0" algn="l">
              <a:spcBef>
                <a:spcPts val="400"/>
              </a:spcBef>
              <a:spcAft>
                <a:spcPts val="0"/>
              </a:spcAft>
              <a:buSzPts val="1700"/>
              <a:buFont typeface="Verdana"/>
              <a:buChar char="□"/>
            </a:pPr>
            <a:r>
              <a:rPr lang="en-US" sz="1700"/>
              <a:t>Output of updated blocks can take place at any time before or after transaction commit</a:t>
            </a:r>
            <a:endParaRPr/>
          </a:p>
          <a:p>
            <a:pPr indent="-460375" lvl="0" marL="460375" rtl="0" algn="l">
              <a:spcBef>
                <a:spcPts val="400"/>
              </a:spcBef>
              <a:spcAft>
                <a:spcPts val="0"/>
              </a:spcAft>
              <a:buSzPts val="1700"/>
              <a:buFont typeface="Verdana"/>
              <a:buChar char="□"/>
            </a:pPr>
            <a:r>
              <a:rPr lang="en-US" sz="1700"/>
              <a:t>Order in which blocks are output can be different from the order in which they are written.</a:t>
            </a:r>
            <a:endParaRPr/>
          </a:p>
        </p:txBody>
      </p:sp>
      <p:sp>
        <p:nvSpPr>
          <p:cNvPr descr="Date Placeholder 3" id="3619" name="Google Shape;3619;p26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20" name="Google Shape;3620;p26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4" name="Shape 3624"/>
        <p:cNvGrpSpPr/>
        <p:nvPr/>
      </p:nvGrpSpPr>
      <p:grpSpPr>
        <a:xfrm>
          <a:off x="0" y="0"/>
          <a:ext cx="0" cy="0"/>
          <a:chOff x="0" y="0"/>
          <a:chExt cx="0" cy="0"/>
        </a:xfrm>
      </p:grpSpPr>
      <p:sp>
        <p:nvSpPr>
          <p:cNvPr descr="Title 1" id="3625" name="Google Shape;3625;p26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Content Placeholder 2" id="3626" name="Google Shape;3626;p26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Recovery procedure has two operations instead of one: </a:t>
            </a:r>
            <a:endParaRPr/>
          </a:p>
          <a:p>
            <a:pPr indent="-438150" lvl="1" marL="908050" rtl="0" algn="l">
              <a:spcBef>
                <a:spcPts val="300"/>
              </a:spcBef>
              <a:spcAft>
                <a:spcPts val="0"/>
              </a:spcAft>
              <a:buSzPts val="1600"/>
              <a:buFont typeface="Verdana"/>
              <a:buChar char="■"/>
            </a:pPr>
            <a:r>
              <a:rPr b="1" lang="en-US" sz="1600"/>
              <a:t>undo(Ti) </a:t>
            </a:r>
            <a:r>
              <a:rPr lang="en-US" sz="1600"/>
              <a:t>restores the value of all data items updated by Ti to their </a:t>
            </a:r>
            <a:r>
              <a:rPr b="1" lang="en-US" sz="1600"/>
              <a:t>old values</a:t>
            </a:r>
            <a:r>
              <a:rPr lang="en-US" sz="1600"/>
              <a:t>, going backwards from the last log record for Ti</a:t>
            </a:r>
            <a:endParaRPr b="1" sz="1600"/>
          </a:p>
          <a:p>
            <a:pPr indent="-438150" lvl="1" marL="908050" rtl="0" algn="l">
              <a:spcBef>
                <a:spcPts val="300"/>
              </a:spcBef>
              <a:spcAft>
                <a:spcPts val="0"/>
              </a:spcAft>
              <a:buSzPts val="1600"/>
              <a:buFont typeface="Verdana"/>
              <a:buChar char="■"/>
            </a:pPr>
            <a:r>
              <a:rPr b="1" lang="en-US" sz="1600"/>
              <a:t>redo(Ti)</a:t>
            </a:r>
            <a:r>
              <a:rPr lang="en-US" sz="1600"/>
              <a:t> sets the value of all data items updated by Ti to the </a:t>
            </a:r>
            <a:r>
              <a:rPr b="1" lang="en-US" sz="1600"/>
              <a:t>new values</a:t>
            </a:r>
            <a:r>
              <a:rPr lang="en-US" sz="1600"/>
              <a:t>, going forward from the first log record for Ti </a:t>
            </a:r>
            <a:endParaRPr b="1" sz="2600"/>
          </a:p>
          <a:p>
            <a:pPr indent="-469900" lvl="0" marL="469900" rtl="0" algn="l">
              <a:spcBef>
                <a:spcPts val="400"/>
              </a:spcBef>
              <a:spcAft>
                <a:spcPts val="0"/>
              </a:spcAft>
              <a:buSzPts val="2000"/>
              <a:buFont typeface="Verdana"/>
              <a:buChar char="□"/>
            </a:pPr>
            <a:r>
              <a:rPr lang="en-US" sz="2000"/>
              <a:t>Both operations must be idempotent</a:t>
            </a:r>
            <a:endParaRPr/>
          </a:p>
          <a:p>
            <a:pPr indent="-438150" lvl="1" marL="908050" rtl="0" algn="l">
              <a:spcBef>
                <a:spcPts val="300"/>
              </a:spcBef>
              <a:spcAft>
                <a:spcPts val="0"/>
              </a:spcAft>
              <a:buSzPts val="1600"/>
              <a:buFont typeface="Verdana"/>
              <a:buChar char="■"/>
            </a:pPr>
            <a:r>
              <a:rPr lang="en-US" sz="1600"/>
              <a:t>That is, even if the operation is executed multiple times the effect is the same as if it is executed once</a:t>
            </a:r>
            <a:endParaRPr sz="2600"/>
          </a:p>
          <a:p>
            <a:pPr indent="-396875" lvl="2" marL="1304925" rtl="0" algn="l">
              <a:spcBef>
                <a:spcPts val="300"/>
              </a:spcBef>
              <a:spcAft>
                <a:spcPts val="0"/>
              </a:spcAft>
              <a:buSzPts val="1400"/>
              <a:buFont typeface="Verdana"/>
              <a:buChar char="□"/>
            </a:pPr>
            <a:r>
              <a:rPr lang="en-US" sz="1400"/>
              <a:t>Needed since operations may get re-executed during recovery</a:t>
            </a:r>
            <a:endParaRPr sz="2300"/>
          </a:p>
          <a:p>
            <a:pPr indent="-469900" lvl="0" marL="469900" rtl="0" algn="l">
              <a:spcBef>
                <a:spcPts val="400"/>
              </a:spcBef>
              <a:spcAft>
                <a:spcPts val="0"/>
              </a:spcAft>
              <a:buSzPts val="2000"/>
              <a:buFont typeface="Verdana"/>
              <a:buChar char="□"/>
            </a:pPr>
            <a:r>
              <a:rPr lang="en-US" sz="2000"/>
              <a:t>When recovering after failure: </a:t>
            </a:r>
            <a:endParaRPr/>
          </a:p>
          <a:p>
            <a:pPr indent="-438150" lvl="1" marL="908050" rtl="0" algn="l">
              <a:spcBef>
                <a:spcPts val="300"/>
              </a:spcBef>
              <a:spcAft>
                <a:spcPts val="0"/>
              </a:spcAft>
              <a:buSzPts val="1600"/>
              <a:buFont typeface="Verdana"/>
              <a:buChar char="■"/>
            </a:pPr>
            <a:r>
              <a:rPr lang="en-US" sz="1600"/>
              <a:t>Transaction Ti needs to be </a:t>
            </a:r>
            <a:r>
              <a:rPr b="1" lang="en-US" sz="1600"/>
              <a:t>undone </a:t>
            </a:r>
            <a:r>
              <a:rPr lang="en-US" sz="1600"/>
              <a:t>if the log contains the &lt;start, Ti&gt; record , but </a:t>
            </a:r>
            <a:r>
              <a:rPr b="1" lang="en-US" sz="1600"/>
              <a:t>does not contain the &lt;commit, Ti&gt; </a:t>
            </a:r>
            <a:r>
              <a:rPr lang="en-US" sz="1600"/>
              <a:t>record .</a:t>
            </a:r>
            <a:endParaRPr sz="2600"/>
          </a:p>
          <a:p>
            <a:pPr indent="-438150" lvl="1" marL="908050" rtl="0" algn="l">
              <a:spcBef>
                <a:spcPts val="300"/>
              </a:spcBef>
              <a:spcAft>
                <a:spcPts val="0"/>
              </a:spcAft>
              <a:buSzPts val="1600"/>
              <a:buFont typeface="Verdana"/>
              <a:buChar char="■"/>
            </a:pPr>
            <a:r>
              <a:rPr lang="en-US" sz="1600"/>
              <a:t>Transaction Ti needs to be </a:t>
            </a:r>
            <a:r>
              <a:rPr b="1" lang="en-US" sz="1600"/>
              <a:t>redone</a:t>
            </a:r>
            <a:r>
              <a:rPr lang="en-US" sz="1600"/>
              <a:t> if the log contains </a:t>
            </a:r>
            <a:r>
              <a:rPr b="1" lang="en-US" sz="1600"/>
              <a:t>both the &lt;start, Ti&gt;  record and &lt;commit, Ti&gt;</a:t>
            </a:r>
            <a:r>
              <a:rPr lang="en-US" sz="1600"/>
              <a:t> the record . </a:t>
            </a:r>
            <a:endParaRPr sz="2600"/>
          </a:p>
          <a:p>
            <a:pPr indent="-469900" lvl="0" marL="469900" rtl="0" algn="l">
              <a:spcBef>
                <a:spcPts val="400"/>
              </a:spcBef>
              <a:spcAft>
                <a:spcPts val="0"/>
              </a:spcAft>
              <a:buSzPts val="2000"/>
              <a:buFont typeface="Verdana"/>
              <a:buChar char="□"/>
            </a:pPr>
            <a:r>
              <a:rPr lang="en-US" sz="2000"/>
              <a:t>Undo operations are performed first, then redo operations.</a:t>
            </a:r>
            <a:endParaRPr/>
          </a:p>
        </p:txBody>
      </p:sp>
      <p:sp>
        <p:nvSpPr>
          <p:cNvPr descr="Date Placeholder 3" id="3627" name="Google Shape;3627;p26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28" name="Google Shape;3628;p26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2" name="Shape 3632"/>
        <p:cNvGrpSpPr/>
        <p:nvPr/>
      </p:nvGrpSpPr>
      <p:grpSpPr>
        <a:xfrm>
          <a:off x="0" y="0"/>
          <a:ext cx="0" cy="0"/>
          <a:chOff x="0" y="0"/>
          <a:chExt cx="0" cy="0"/>
        </a:xfrm>
      </p:grpSpPr>
      <p:sp>
        <p:nvSpPr>
          <p:cNvPr descr="Title 1" id="3633" name="Google Shape;3633;p26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Content Placeholder 2" id="3634" name="Google Shape;3634;p26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187325" lvl="0" marL="187325" rtl="0" algn="l">
              <a:spcBef>
                <a:spcPts val="0"/>
              </a:spcBef>
              <a:spcAft>
                <a:spcPts val="0"/>
              </a:spcAft>
              <a:buSzPts val="2000"/>
              <a:buFont typeface="Noto Sans Symbols"/>
              <a:buNone/>
            </a:pPr>
            <a:r>
              <a:rPr lang="en-US" sz="2000"/>
              <a:t>Two main categories of Immediate update algorithm </a:t>
            </a:r>
            <a:endParaRPr/>
          </a:p>
          <a:p>
            <a:pPr indent="-187325" lvl="0" marL="187325" rtl="0" algn="l">
              <a:spcBef>
                <a:spcPts val="400"/>
              </a:spcBef>
              <a:spcAft>
                <a:spcPts val="0"/>
              </a:spcAft>
              <a:buSzPts val="2000"/>
              <a:buFont typeface="Noto Sans Symbols"/>
              <a:buNone/>
            </a:pPr>
            <a:r>
              <a:rPr b="1" lang="en-US" sz="2000"/>
              <a:t>UNDO/No-REDO</a:t>
            </a:r>
            <a:endParaRPr/>
          </a:p>
          <a:p>
            <a:pPr indent="-187325" lvl="0" marL="187325" rtl="0" algn="l">
              <a:spcBef>
                <a:spcPts val="400"/>
              </a:spcBef>
              <a:spcAft>
                <a:spcPts val="0"/>
              </a:spcAft>
              <a:buSzPts val="2000"/>
              <a:buFont typeface="Verdana"/>
              <a:buChar char="□"/>
            </a:pPr>
            <a:r>
              <a:rPr lang="en-US" sz="2000"/>
              <a:t>If the recovery technique ensures that all updates of a transaction are recorded in the database on disk before the transaction commits, there is never a need to redo any operations of committed transactions. Such an algorithm is called undo/no-redo. </a:t>
            </a:r>
            <a:endParaRPr/>
          </a:p>
          <a:p>
            <a:pPr indent="-187325" lvl="0" marL="187325" rtl="0" algn="l">
              <a:spcBef>
                <a:spcPts val="400"/>
              </a:spcBef>
              <a:spcAft>
                <a:spcPts val="0"/>
              </a:spcAft>
              <a:buSzPts val="2000"/>
              <a:buFont typeface="Noto Sans Symbols"/>
              <a:buNone/>
            </a:pPr>
            <a:r>
              <a:rPr b="1" lang="en-US" sz="2000"/>
              <a:t>UNDO/REDO</a:t>
            </a:r>
            <a:endParaRPr/>
          </a:p>
          <a:p>
            <a:pPr indent="-187325" lvl="0" marL="187325" rtl="0" algn="l">
              <a:spcBef>
                <a:spcPts val="400"/>
              </a:spcBef>
              <a:spcAft>
                <a:spcPts val="0"/>
              </a:spcAft>
              <a:buSzPts val="2000"/>
              <a:buFont typeface="Verdana"/>
              <a:buChar char="□"/>
            </a:pPr>
            <a:r>
              <a:rPr lang="en-US" sz="2000"/>
              <a:t>On the other hand, if the transaction is allowed to commit before all its changes are written to the database, we have the undo/redo method, the most general recovery algorithm.</a:t>
            </a:r>
            <a:endParaRPr/>
          </a:p>
        </p:txBody>
      </p:sp>
      <p:sp>
        <p:nvSpPr>
          <p:cNvPr descr="Date Placeholder 3" id="3635" name="Google Shape;3635;p26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36" name="Google Shape;3636;p26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0" name="Shape 3640"/>
        <p:cNvGrpSpPr/>
        <p:nvPr/>
      </p:nvGrpSpPr>
      <p:grpSpPr>
        <a:xfrm>
          <a:off x="0" y="0"/>
          <a:ext cx="0" cy="0"/>
          <a:chOff x="0" y="0"/>
          <a:chExt cx="0" cy="0"/>
        </a:xfrm>
      </p:grpSpPr>
      <p:sp>
        <p:nvSpPr>
          <p:cNvPr descr="Title 1" id="3641" name="Google Shape;3641;p26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Content Placeholder 2" id="3642" name="Google Shape;3642;p26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Example of Immediate database recovery</a:t>
            </a:r>
            <a:endParaRPr/>
          </a:p>
          <a:p>
            <a:pPr indent="-234950" lvl="0" marL="234950" rtl="0" algn="l">
              <a:spcBef>
                <a:spcPts val="300"/>
              </a:spcBef>
              <a:spcAft>
                <a:spcPts val="0"/>
              </a:spcAft>
              <a:buSzPts val="1600"/>
              <a:buFont typeface="Verdana"/>
              <a:buChar char="□"/>
            </a:pPr>
            <a:r>
              <a:rPr lang="en-US" sz="1600"/>
              <a:t>Consider log entries for two  transactions T1 and T2 as follows.</a:t>
            </a:r>
            <a:endParaRPr/>
          </a:p>
        </p:txBody>
      </p:sp>
      <p:sp>
        <p:nvSpPr>
          <p:cNvPr descr="Date Placeholder 3" id="3643" name="Google Shape;3643;p26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44" name="Google Shape;3644;p26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645" name="Google Shape;3645;p268"/>
          <p:cNvGraphicFramePr/>
          <p:nvPr/>
        </p:nvGraphicFramePr>
        <p:xfrm>
          <a:off x="1198563" y="2170113"/>
          <a:ext cx="3000000" cy="3000000"/>
        </p:xfrm>
        <a:graphic>
          <a:graphicData uri="http://schemas.openxmlformats.org/drawingml/2006/table">
            <a:tbl>
              <a:tblPr>
                <a:noFill/>
                <a:tableStyleId>{DA31C186-C125-4E34-A739-053F885C22C1}</a:tableStyleId>
              </a:tblPr>
              <a:tblGrid>
                <a:gridCol w="273685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T1, Q, 100,50)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(Commit,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T2, P, 55, 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descr="Straight Arrow Connector 8" id="3646" name="Google Shape;3646;p268"/>
          <p:cNvCxnSpPr/>
          <p:nvPr/>
        </p:nvCxnSpPr>
        <p:spPr>
          <a:xfrm>
            <a:off x="754063" y="4030663"/>
            <a:ext cx="457200" cy="0"/>
          </a:xfrm>
          <a:prstGeom prst="straightConnector1">
            <a:avLst/>
          </a:prstGeom>
          <a:noFill/>
          <a:ln cap="flat" cmpd="sng" w="28575">
            <a:solidFill>
              <a:srgbClr val="FF0000"/>
            </a:solidFill>
            <a:prstDash val="solid"/>
            <a:round/>
            <a:headEnd len="sm" w="sm" type="none"/>
            <a:tailEnd len="med" w="med" type="triangle"/>
          </a:ln>
        </p:spPr>
      </p:cxnSp>
      <p:sp>
        <p:nvSpPr>
          <p:cNvPr descr="TextBox 10" id="3647" name="Google Shape;3647;p268"/>
          <p:cNvSpPr txBox="1"/>
          <p:nvPr/>
        </p:nvSpPr>
        <p:spPr>
          <a:xfrm>
            <a:off x="223838" y="3768725"/>
            <a:ext cx="769937"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System</a:t>
            </a:r>
            <a:endParaRPr/>
          </a:p>
          <a:p>
            <a:pPr indent="0" lvl="0" marL="0" marR="0" rtl="0" algn="l">
              <a:spcBef>
                <a:spcPts val="0"/>
              </a:spcBef>
              <a:spcAft>
                <a:spcPts val="0"/>
              </a:spcAft>
              <a:buNone/>
            </a:pPr>
            <a:r>
              <a:rPr lang="en-US" sz="1400">
                <a:solidFill>
                  <a:srgbClr val="FF0000"/>
                </a:solidFill>
                <a:latin typeface="Verdana"/>
                <a:ea typeface="Verdana"/>
                <a:cs typeface="Verdana"/>
                <a:sym typeface="Verdana"/>
              </a:rPr>
              <a:t>Crash</a:t>
            </a:r>
            <a:endParaRPr/>
          </a:p>
        </p:txBody>
      </p:sp>
      <p:graphicFrame>
        <p:nvGraphicFramePr>
          <p:cNvPr id="3648" name="Google Shape;3648;p268"/>
          <p:cNvGraphicFramePr/>
          <p:nvPr/>
        </p:nvGraphicFramePr>
        <p:xfrm>
          <a:off x="5076825" y="3090863"/>
          <a:ext cx="3000000" cy="3000000"/>
        </p:xfrm>
        <a:graphic>
          <a:graphicData uri="http://schemas.openxmlformats.org/drawingml/2006/table">
            <a:tbl>
              <a:tblPr>
                <a:noFill/>
                <a:tableStyleId>{DA31C186-C125-4E34-A739-053F885C22C1}</a:tableStyleId>
              </a:tblPr>
              <a:tblGrid>
                <a:gridCol w="487375"/>
                <a:gridCol w="102392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55 10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2" id="3649" name="Google Shape;3649;p268"/>
          <p:cNvSpPr/>
          <p:nvPr/>
        </p:nvSpPr>
        <p:spPr>
          <a:xfrm>
            <a:off x="4714875" y="2373313"/>
            <a:ext cx="2232025" cy="170338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3650" name="Google Shape;3650;p268"/>
          <p:cNvSpPr txBox="1"/>
          <p:nvPr/>
        </p:nvSpPr>
        <p:spPr>
          <a:xfrm>
            <a:off x="5300663" y="2035175"/>
            <a:ext cx="10604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
        <p:nvSpPr>
          <p:cNvPr descr="TextBox 14" id="3651" name="Google Shape;3651;p268"/>
          <p:cNvSpPr txBox="1"/>
          <p:nvPr/>
        </p:nvSpPr>
        <p:spPr>
          <a:xfrm>
            <a:off x="2097088" y="1839913"/>
            <a:ext cx="5318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LOG</a:t>
            </a:r>
            <a:endParaRPr/>
          </a:p>
        </p:txBody>
      </p:sp>
      <p:sp>
        <p:nvSpPr>
          <p:cNvPr descr="TextBox 15" id="3652" name="Google Shape;3652;p268"/>
          <p:cNvSpPr txBox="1"/>
          <p:nvPr/>
        </p:nvSpPr>
        <p:spPr>
          <a:xfrm>
            <a:off x="193675" y="4724400"/>
            <a:ext cx="8662988" cy="1603375"/>
          </a:xfrm>
          <a:prstGeom prst="rect">
            <a:avLst/>
          </a:prstGeom>
          <a:noFill/>
          <a:ln>
            <a:noFill/>
          </a:ln>
        </p:spPr>
        <p:txBody>
          <a:bodyPr anchorCtr="0" anchor="t" bIns="45700" lIns="45700" spcFirstLastPara="1" rIns="45700" wrap="square" tIns="45700">
            <a:spAutoFit/>
          </a:bodyPr>
          <a:lstStyle/>
          <a:p>
            <a:pPr indent="0" lvl="0" marL="0" marR="0" rtl="0" algn="just">
              <a:spcBef>
                <a:spcPts val="0"/>
              </a:spcBef>
              <a:spcAft>
                <a:spcPts val="0"/>
              </a:spcAft>
              <a:buNone/>
            </a:pPr>
            <a:r>
              <a:rPr lang="en-US" sz="1400">
                <a:solidFill>
                  <a:srgbClr val="006600"/>
                </a:solidFill>
                <a:latin typeface="Verdana"/>
                <a:ea typeface="Verdana"/>
                <a:cs typeface="Verdana"/>
                <a:sym typeface="Verdana"/>
              </a:rPr>
              <a:t>Under immediate recovery method, after system crash the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algorithm looks at LOG enteries for all transactions Ti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 if the entry of both &lt;start, Ti&gt; and &lt;commit, Ti&gt; is present then for all write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operations of Ti REDO will be carried out if updates have not been carried out on stable storage</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of database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 if the entry of only &lt;start, Ti&gt; is present but not &lt;commit, Ti&gt; then for all write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operations of Ti UNDO will be carried out </a:t>
            </a:r>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6" name="Shape 3656"/>
        <p:cNvGrpSpPr/>
        <p:nvPr/>
      </p:nvGrpSpPr>
      <p:grpSpPr>
        <a:xfrm>
          <a:off x="0" y="0"/>
          <a:ext cx="0" cy="0"/>
          <a:chOff x="0" y="0"/>
          <a:chExt cx="0" cy="0"/>
        </a:xfrm>
      </p:grpSpPr>
      <p:sp>
        <p:nvSpPr>
          <p:cNvPr descr="Title 1" id="3657" name="Google Shape;3657;p26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Deferred Database Modification</a:t>
            </a:r>
            <a:endParaRPr/>
          </a:p>
        </p:txBody>
      </p:sp>
      <p:sp>
        <p:nvSpPr>
          <p:cNvPr descr="Content Placeholder 2" id="3658" name="Google Shape;3658;p269"/>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234950" lvl="0" marL="234950" rtl="0" algn="l">
              <a:spcBef>
                <a:spcPts val="0"/>
              </a:spcBef>
              <a:spcAft>
                <a:spcPts val="0"/>
              </a:spcAft>
              <a:buSzPts val="1600"/>
              <a:buFont typeface="Noto Sans Symbols"/>
              <a:buNone/>
            </a:pPr>
            <a:r>
              <a:rPr lang="en-US" sz="1600"/>
              <a:t>Example of Deferred based recovery</a:t>
            </a:r>
            <a:endParaRPr/>
          </a:p>
          <a:p>
            <a:pPr indent="-234950" lvl="0" marL="234950" rtl="0" algn="l">
              <a:spcBef>
                <a:spcPts val="300"/>
              </a:spcBef>
              <a:spcAft>
                <a:spcPts val="0"/>
              </a:spcAft>
              <a:buSzPts val="1600"/>
              <a:buFont typeface="Verdana"/>
              <a:buChar char="□"/>
            </a:pPr>
            <a:r>
              <a:rPr lang="en-US" sz="1600"/>
              <a:t>Consider log entries for two  transactions T1 and T2 as follows.</a:t>
            </a:r>
            <a:endParaRPr/>
          </a:p>
        </p:txBody>
      </p:sp>
      <p:sp>
        <p:nvSpPr>
          <p:cNvPr descr="Date Placeholder 3" id="3659" name="Google Shape;3659;p26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60" name="Google Shape;3660;p26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661" name="Google Shape;3661;p269"/>
          <p:cNvGraphicFramePr/>
          <p:nvPr/>
        </p:nvGraphicFramePr>
        <p:xfrm>
          <a:off x="1198563" y="2170113"/>
          <a:ext cx="3000000" cy="3000000"/>
        </p:xfrm>
        <a:graphic>
          <a:graphicData uri="http://schemas.openxmlformats.org/drawingml/2006/table">
            <a:tbl>
              <a:tblPr>
                <a:noFill/>
                <a:tableStyleId>{DA31C186-C125-4E34-A739-053F885C22C1}</a:tableStyleId>
              </a:tblPr>
              <a:tblGrid>
                <a:gridCol w="2736850"/>
              </a:tblGrid>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T1, Q, 100,</a:t>
                      </a:r>
                      <a:r>
                        <a:rPr b="0" i="0" lang="en-US" sz="1600" u="none" cap="none" strike="noStrike">
                          <a:solidFill>
                            <a:srgbClr val="006600"/>
                          </a:solidFill>
                          <a:latin typeface="Verdana"/>
                          <a:ea typeface="Verdana"/>
                          <a:cs typeface="Verdana"/>
                          <a:sym typeface="Verdana"/>
                        </a:rPr>
                        <a:t>50</a:t>
                      </a:r>
                      <a:r>
                        <a:rPr b="0" i="0" lang="en-US" sz="1600" u="none" cap="none" strike="noStrike">
                          <a:solidFill>
                            <a:srgbClr val="000000"/>
                          </a:solidFill>
                          <a:latin typeface="Verdana"/>
                          <a:ea typeface="Verdana"/>
                          <a:cs typeface="Verdana"/>
                          <a:sym typeface="Verdana"/>
                        </a:rPr>
                        <a:t>)</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(Commit, 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(Start, 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(Write, T2, P, 55, 10)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cxnSp>
        <p:nvCxnSpPr>
          <p:cNvPr descr="Straight Arrow Connector 8" id="3662" name="Google Shape;3662;p269"/>
          <p:cNvCxnSpPr/>
          <p:nvPr/>
        </p:nvCxnSpPr>
        <p:spPr>
          <a:xfrm>
            <a:off x="754063" y="4030663"/>
            <a:ext cx="457200" cy="0"/>
          </a:xfrm>
          <a:prstGeom prst="straightConnector1">
            <a:avLst/>
          </a:prstGeom>
          <a:noFill/>
          <a:ln cap="flat" cmpd="sng" w="28575">
            <a:solidFill>
              <a:srgbClr val="FF0000"/>
            </a:solidFill>
            <a:prstDash val="solid"/>
            <a:round/>
            <a:headEnd len="sm" w="sm" type="none"/>
            <a:tailEnd len="med" w="med" type="triangle"/>
          </a:ln>
        </p:spPr>
      </p:cxnSp>
      <p:sp>
        <p:nvSpPr>
          <p:cNvPr descr="TextBox 10" id="3663" name="Google Shape;3663;p269"/>
          <p:cNvSpPr txBox="1"/>
          <p:nvPr/>
        </p:nvSpPr>
        <p:spPr>
          <a:xfrm>
            <a:off x="223838" y="3768725"/>
            <a:ext cx="769937" cy="523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FF0000"/>
                </a:solidFill>
                <a:latin typeface="Verdana"/>
                <a:ea typeface="Verdana"/>
                <a:cs typeface="Verdana"/>
                <a:sym typeface="Verdana"/>
              </a:rPr>
              <a:t>System</a:t>
            </a:r>
            <a:endParaRPr/>
          </a:p>
          <a:p>
            <a:pPr indent="0" lvl="0" marL="0" marR="0" rtl="0" algn="l">
              <a:spcBef>
                <a:spcPts val="0"/>
              </a:spcBef>
              <a:spcAft>
                <a:spcPts val="0"/>
              </a:spcAft>
              <a:buNone/>
            </a:pPr>
            <a:r>
              <a:rPr lang="en-US" sz="1400">
                <a:solidFill>
                  <a:srgbClr val="FF0000"/>
                </a:solidFill>
                <a:latin typeface="Verdana"/>
                <a:ea typeface="Verdana"/>
                <a:cs typeface="Verdana"/>
                <a:sym typeface="Verdana"/>
              </a:rPr>
              <a:t>Crash</a:t>
            </a:r>
            <a:endParaRPr/>
          </a:p>
        </p:txBody>
      </p:sp>
      <p:graphicFrame>
        <p:nvGraphicFramePr>
          <p:cNvPr id="3664" name="Google Shape;3664;p269"/>
          <p:cNvGraphicFramePr/>
          <p:nvPr/>
        </p:nvGraphicFramePr>
        <p:xfrm>
          <a:off x="4775200" y="3041650"/>
          <a:ext cx="3000000" cy="3000000"/>
        </p:xfrm>
        <a:graphic>
          <a:graphicData uri="http://schemas.openxmlformats.org/drawingml/2006/table">
            <a:tbl>
              <a:tblPr>
                <a:noFill/>
                <a:tableStyleId>{DA31C186-C125-4E34-A739-053F885C22C1}</a:tableStyleId>
              </a:tblPr>
              <a:tblGrid>
                <a:gridCol w="592150"/>
                <a:gridCol w="124460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Q</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100 50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P</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55 10 55</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2" id="3665" name="Google Shape;3665;p269"/>
          <p:cNvSpPr/>
          <p:nvPr/>
        </p:nvSpPr>
        <p:spPr>
          <a:xfrm>
            <a:off x="4714875" y="2373313"/>
            <a:ext cx="2232025" cy="1703387"/>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3" id="3666" name="Google Shape;3666;p269"/>
          <p:cNvSpPr txBox="1"/>
          <p:nvPr/>
        </p:nvSpPr>
        <p:spPr>
          <a:xfrm>
            <a:off x="5300663" y="2035175"/>
            <a:ext cx="1060450" cy="3317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
        <p:nvSpPr>
          <p:cNvPr descr="TextBox 14" id="3667" name="Google Shape;3667;p269"/>
          <p:cNvSpPr txBox="1"/>
          <p:nvPr/>
        </p:nvSpPr>
        <p:spPr>
          <a:xfrm>
            <a:off x="2097088" y="1839913"/>
            <a:ext cx="531812"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LOG</a:t>
            </a:r>
            <a:endParaRPr/>
          </a:p>
        </p:txBody>
      </p:sp>
      <p:sp>
        <p:nvSpPr>
          <p:cNvPr descr="TextBox 15" id="3668" name="Google Shape;3668;p269"/>
          <p:cNvSpPr txBox="1"/>
          <p:nvPr/>
        </p:nvSpPr>
        <p:spPr>
          <a:xfrm>
            <a:off x="44450" y="4878388"/>
            <a:ext cx="8664575" cy="1603375"/>
          </a:xfrm>
          <a:prstGeom prst="rect">
            <a:avLst/>
          </a:prstGeom>
          <a:noFill/>
          <a:ln>
            <a:noFill/>
          </a:ln>
        </p:spPr>
        <p:txBody>
          <a:bodyPr anchorCtr="0" anchor="t" bIns="45700" lIns="45700" spcFirstLastPara="1" rIns="45700" wrap="square" tIns="45700">
            <a:spAutoFit/>
          </a:bodyPr>
          <a:lstStyle/>
          <a:p>
            <a:pPr indent="0" lvl="0" marL="0" marR="0" rtl="0" algn="just">
              <a:spcBef>
                <a:spcPts val="0"/>
              </a:spcBef>
              <a:spcAft>
                <a:spcPts val="0"/>
              </a:spcAft>
              <a:buNone/>
            </a:pPr>
            <a:r>
              <a:rPr lang="en-US" sz="1400">
                <a:solidFill>
                  <a:srgbClr val="006600"/>
                </a:solidFill>
                <a:latin typeface="Verdana"/>
                <a:ea typeface="Verdana"/>
                <a:cs typeface="Verdana"/>
                <a:sym typeface="Verdana"/>
              </a:rPr>
              <a:t>Under immediate recovery method, after system crash the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algorithm looks at LOG enteries for all transactions Ti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 if the entry of both &lt;start, Ti&gt; and &lt;commit, Ti&gt; is present then for all write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operations of Ti REDO will be carried out if updates have not been carried out on stable storage</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of database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 if the entry of only &lt;start, Ti&gt; is present but not &lt;commit, Ti&gt; then for all write </a:t>
            </a:r>
            <a:endParaRPr/>
          </a:p>
          <a:p>
            <a:pPr indent="0" lvl="0" marL="0" marR="0" rtl="0" algn="just">
              <a:spcBef>
                <a:spcPts val="0"/>
              </a:spcBef>
              <a:spcAft>
                <a:spcPts val="0"/>
              </a:spcAft>
              <a:buNone/>
            </a:pPr>
            <a:r>
              <a:rPr lang="en-US" sz="1400">
                <a:solidFill>
                  <a:srgbClr val="006600"/>
                </a:solidFill>
                <a:latin typeface="Verdana"/>
                <a:ea typeface="Verdana"/>
                <a:cs typeface="Verdana"/>
                <a:sym typeface="Verdana"/>
              </a:rPr>
              <a:t>operations of Ti UNDO will be carried out </a:t>
            </a:r>
            <a:endParaRPr/>
          </a:p>
        </p:txBody>
      </p:sp>
      <p:cxnSp>
        <p:nvCxnSpPr>
          <p:cNvPr descr="Straight Arrow Connector 17" id="3669" name="Google Shape;3669;p269"/>
          <p:cNvCxnSpPr/>
          <p:nvPr/>
        </p:nvCxnSpPr>
        <p:spPr>
          <a:xfrm rot="10800000">
            <a:off x="6588125" y="3644900"/>
            <a:ext cx="647700" cy="0"/>
          </a:xfrm>
          <a:prstGeom prst="straightConnector1">
            <a:avLst/>
          </a:prstGeom>
          <a:noFill/>
          <a:ln cap="flat" cmpd="sng" w="28575">
            <a:solidFill>
              <a:srgbClr val="006600"/>
            </a:solidFill>
            <a:prstDash val="solid"/>
            <a:round/>
            <a:headEnd len="sm" w="sm" type="none"/>
            <a:tailEnd len="med" w="med" type="triangle"/>
          </a:ln>
        </p:spPr>
      </p:cxnSp>
      <p:sp>
        <p:nvSpPr>
          <p:cNvPr descr="TextBox 18" id="3670" name="Google Shape;3670;p269"/>
          <p:cNvSpPr txBox="1"/>
          <p:nvPr/>
        </p:nvSpPr>
        <p:spPr>
          <a:xfrm>
            <a:off x="7281863" y="3438525"/>
            <a:ext cx="798512"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6600"/>
                </a:solidFill>
                <a:latin typeface="Verdana"/>
                <a:ea typeface="Verdana"/>
                <a:cs typeface="Verdana"/>
                <a:sym typeface="Verdana"/>
              </a:rPr>
              <a:t>UNDO</a:t>
            </a:r>
            <a:endParaRPr/>
          </a:p>
        </p:txBody>
      </p:sp>
      <p:sp>
        <p:nvSpPr>
          <p:cNvPr descr="TextBox 16" id="3671" name="Google Shape;3671;p269"/>
          <p:cNvSpPr txBox="1"/>
          <p:nvPr/>
        </p:nvSpPr>
        <p:spPr>
          <a:xfrm>
            <a:off x="7167563" y="2854325"/>
            <a:ext cx="1760537" cy="5746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FF"/>
                </a:solidFill>
                <a:latin typeface="Verdana"/>
                <a:ea typeface="Verdana"/>
                <a:cs typeface="Verdana"/>
                <a:sym typeface="Verdana"/>
              </a:rPr>
              <a:t>RECOVERY after</a:t>
            </a:r>
            <a:endParaRPr/>
          </a:p>
          <a:p>
            <a:pPr indent="0" lvl="0" marL="0" marR="0" rtl="0" algn="l">
              <a:spcBef>
                <a:spcPts val="0"/>
              </a:spcBef>
              <a:spcAft>
                <a:spcPts val="0"/>
              </a:spcAft>
              <a:buNone/>
            </a:pPr>
            <a:r>
              <a:rPr lang="en-US" sz="1600">
                <a:solidFill>
                  <a:srgbClr val="0000FF"/>
                </a:solidFill>
                <a:latin typeface="Verdana"/>
                <a:ea typeface="Verdana"/>
                <a:cs typeface="Verdana"/>
                <a:sym typeface="Verdana"/>
              </a:rPr>
              <a:t>System Crash</a:t>
            </a:r>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5" name="Shape 3675"/>
        <p:cNvGrpSpPr/>
        <p:nvPr/>
      </p:nvGrpSpPr>
      <p:grpSpPr>
        <a:xfrm>
          <a:off x="0" y="0"/>
          <a:ext cx="0" cy="0"/>
          <a:chOff x="0" y="0"/>
          <a:chExt cx="0" cy="0"/>
        </a:xfrm>
      </p:grpSpPr>
      <p:sp>
        <p:nvSpPr>
          <p:cNvPr descr="Title 1" id="3676" name="Google Shape;3676;p27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677" name="Google Shape;3677;p27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78" name="Google Shape;3678;p27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679" name="Google Shape;3679;p270"/>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680" name="Google Shape;3680;p270"/>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graphicFrame>
        <p:nvGraphicFramePr>
          <p:cNvPr id="3681" name="Google Shape;3681;p270"/>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682" name="Google Shape;3682;p270"/>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683" name="Google Shape;3683;p270"/>
          <p:cNvSpPr txBox="1"/>
          <p:nvPr/>
        </p:nvSpPr>
        <p:spPr>
          <a:xfrm>
            <a:off x="5697538"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7" name="Shape 3687"/>
        <p:cNvGrpSpPr/>
        <p:nvPr/>
      </p:nvGrpSpPr>
      <p:grpSpPr>
        <a:xfrm>
          <a:off x="0" y="0"/>
          <a:ext cx="0" cy="0"/>
          <a:chOff x="0" y="0"/>
          <a:chExt cx="0" cy="0"/>
        </a:xfrm>
      </p:grpSpPr>
      <p:sp>
        <p:nvSpPr>
          <p:cNvPr descr="Title 1" id="3688" name="Google Shape;3688;p27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689" name="Google Shape;3689;p27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690" name="Google Shape;3690;p27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691" name="Google Shape;3691;p271"/>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692" name="Google Shape;3692;p271"/>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sp>
        <p:nvSpPr>
          <p:cNvPr descr="TextBox 9" id="3693" name="Google Shape;3693;p271"/>
          <p:cNvSpPr txBox="1"/>
          <p:nvPr/>
        </p:nvSpPr>
        <p:spPr>
          <a:xfrm>
            <a:off x="552450" y="5143500"/>
            <a:ext cx="8093075"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UNDO for T1 because &lt;commit,T1&gt; not found: A should be restored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to 1000 and B should be restored to 2000</a:t>
            </a:r>
            <a:endParaRPr/>
          </a:p>
        </p:txBody>
      </p:sp>
      <p:graphicFrame>
        <p:nvGraphicFramePr>
          <p:cNvPr id="3694" name="Google Shape;3694;p271"/>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1000 950 1000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2000 2050 2000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695" name="Google Shape;3695;p271"/>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696" name="Google Shape;3696;p271"/>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0" name="Shape 3700"/>
        <p:cNvGrpSpPr/>
        <p:nvPr/>
      </p:nvGrpSpPr>
      <p:grpSpPr>
        <a:xfrm>
          <a:off x="0" y="0"/>
          <a:ext cx="0" cy="0"/>
          <a:chOff x="0" y="0"/>
          <a:chExt cx="0" cy="0"/>
        </a:xfrm>
      </p:grpSpPr>
      <p:sp>
        <p:nvSpPr>
          <p:cNvPr descr="Title 1" id="3701" name="Google Shape;3701;p27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702" name="Google Shape;3702;p27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03" name="Google Shape;3703;p27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704" name="Google Shape;3704;p272"/>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 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705" name="Google Shape;3705;p272"/>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graphicFrame>
        <p:nvGraphicFramePr>
          <p:cNvPr id="3706" name="Google Shape;3706;p272"/>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700 600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707" name="Google Shape;3707;p272"/>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708" name="Google Shape;3708;p272"/>
          <p:cNvSpPr txBox="1"/>
          <p:nvPr/>
        </p:nvSpPr>
        <p:spPr>
          <a:xfrm>
            <a:off x="5697538"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2" name="Shape 3712"/>
        <p:cNvGrpSpPr/>
        <p:nvPr/>
      </p:nvGrpSpPr>
      <p:grpSpPr>
        <a:xfrm>
          <a:off x="0" y="0"/>
          <a:ext cx="0" cy="0"/>
          <a:chOff x="0" y="0"/>
          <a:chExt cx="0" cy="0"/>
        </a:xfrm>
      </p:grpSpPr>
      <p:sp>
        <p:nvSpPr>
          <p:cNvPr descr="Title 1" id="3713" name="Google Shape;3713;p27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714" name="Google Shape;3714;p27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15" name="Google Shape;3715;p27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716" name="Google Shape;3716;p273"/>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 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717" name="Google Shape;3717;p273"/>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sp>
        <p:nvSpPr>
          <p:cNvPr descr="TextBox 9" id="3718" name="Google Shape;3718;p273"/>
          <p:cNvSpPr txBox="1"/>
          <p:nvPr/>
        </p:nvSpPr>
        <p:spPr>
          <a:xfrm>
            <a:off x="442913" y="5132388"/>
            <a:ext cx="7594600" cy="928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Recovery actions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UNDO T2 because &lt;commit, T2&gt; not found: C is restored to 700</a:t>
            </a:r>
            <a:endParaRPr/>
          </a:p>
        </p:txBody>
      </p:sp>
      <p:graphicFrame>
        <p:nvGraphicFramePr>
          <p:cNvPr id="3719" name="Google Shape;3719;p273"/>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 </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700 600 700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720" name="Google Shape;3720;p273"/>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721" name="Google Shape;3721;p273"/>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5" name="Shape 3725"/>
        <p:cNvGrpSpPr/>
        <p:nvPr/>
      </p:nvGrpSpPr>
      <p:grpSpPr>
        <a:xfrm>
          <a:off x="0" y="0"/>
          <a:ext cx="0" cy="0"/>
          <a:chOff x="0" y="0"/>
          <a:chExt cx="0" cy="0"/>
        </a:xfrm>
      </p:grpSpPr>
      <p:sp>
        <p:nvSpPr>
          <p:cNvPr descr="Title 1" id="3726" name="Google Shape;3726;p27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727" name="Google Shape;3727;p27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28" name="Google Shape;3728;p27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729" name="Google Shape;3729;p274"/>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 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730" name="Google Shape;3730;p274"/>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graphicFrame>
        <p:nvGraphicFramePr>
          <p:cNvPr id="3731" name="Google Shape;3731;p274"/>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732" name="Google Shape;3732;p274"/>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733" name="Google Shape;3733;p274"/>
          <p:cNvSpPr txBox="1"/>
          <p:nvPr/>
        </p:nvSpPr>
        <p:spPr>
          <a:xfrm>
            <a:off x="5624513"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7" name="Shape 3737"/>
        <p:cNvGrpSpPr/>
        <p:nvPr/>
      </p:nvGrpSpPr>
      <p:grpSpPr>
        <a:xfrm>
          <a:off x="0" y="0"/>
          <a:ext cx="0" cy="0"/>
          <a:chOff x="0" y="0"/>
          <a:chExt cx="0" cy="0"/>
        </a:xfrm>
      </p:grpSpPr>
      <p:sp>
        <p:nvSpPr>
          <p:cNvPr descr="Title 1" id="3738" name="Google Shape;3738;p27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Immediate Database Modification</a:t>
            </a:r>
            <a:endParaRPr/>
          </a:p>
        </p:txBody>
      </p:sp>
      <p:sp>
        <p:nvSpPr>
          <p:cNvPr descr="Date Placeholder 3" id="3739" name="Google Shape;3739;p27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40" name="Google Shape;3740;p27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741" name="Google Shape;3741;p275"/>
          <p:cNvGraphicFramePr/>
          <p:nvPr/>
        </p:nvGraphicFramePr>
        <p:xfrm>
          <a:off x="1042988" y="2276475"/>
          <a:ext cx="3000000" cy="3000000"/>
        </p:xfrm>
        <a:graphic>
          <a:graphicData uri="http://schemas.openxmlformats.org/drawingml/2006/table">
            <a:tbl>
              <a:tblPr>
                <a:noFill/>
                <a:tableStyleId>{DA31C186-C125-4E34-A739-053F885C22C1}</a:tableStyleId>
              </a:tblPr>
              <a:tblGrid>
                <a:gridCol w="3240075"/>
              </a:tblGrid>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&lt;write,T1,A,1000,950&gt;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&lt;write,T1,B,2000,2050&gt;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T1&gt;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&lt;Start,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&lt;write,T2,C,700, 600&gt;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&lt;Commit, T2&gt;</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8" id="3742" name="Google Shape;3742;p275"/>
          <p:cNvSpPr txBox="1"/>
          <p:nvPr/>
        </p:nvSpPr>
        <p:spPr>
          <a:xfrm>
            <a:off x="431800" y="1127125"/>
            <a:ext cx="8775700" cy="9302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FF0000"/>
                </a:solidFill>
                <a:latin typeface="Verdana"/>
                <a:ea typeface="Verdana"/>
                <a:cs typeface="Verdana"/>
                <a:sym typeface="Verdana"/>
              </a:rPr>
              <a:t>Question:</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If following is the LOG and database on stable storage after systems crash,</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then  recovery algorithm should carry out any UNDO/REDO operation ?</a:t>
            </a:r>
            <a:endParaRPr/>
          </a:p>
        </p:txBody>
      </p:sp>
      <p:sp>
        <p:nvSpPr>
          <p:cNvPr descr="TextBox 9" id="3743" name="Google Shape;3743;p275"/>
          <p:cNvSpPr txBox="1"/>
          <p:nvPr/>
        </p:nvSpPr>
        <p:spPr>
          <a:xfrm>
            <a:off x="442913" y="5132388"/>
            <a:ext cx="8077200" cy="12080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Answer: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Recovery actions</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REDO operation  for Transaction T1 and T2 since &lt;Commit, T1&gt; and </a:t>
            </a:r>
            <a:endParaRPr/>
          </a:p>
          <a:p>
            <a:pPr indent="0" lvl="0" marL="0" marR="0" rtl="0" algn="l">
              <a:spcBef>
                <a:spcPts val="0"/>
              </a:spcBef>
              <a:spcAft>
                <a:spcPts val="0"/>
              </a:spcAft>
              <a:buNone/>
            </a:pPr>
            <a:r>
              <a:rPr lang="en-US" sz="1800">
                <a:solidFill>
                  <a:srgbClr val="000000"/>
                </a:solidFill>
                <a:latin typeface="Verdana"/>
                <a:ea typeface="Verdana"/>
                <a:cs typeface="Verdana"/>
                <a:sym typeface="Verdana"/>
              </a:rPr>
              <a:t>&lt;Commit,T2&gt; are present.</a:t>
            </a:r>
            <a:endParaRPr/>
          </a:p>
        </p:txBody>
      </p:sp>
      <p:graphicFrame>
        <p:nvGraphicFramePr>
          <p:cNvPr id="3744" name="Google Shape;3744;p275"/>
          <p:cNvGraphicFramePr/>
          <p:nvPr/>
        </p:nvGraphicFramePr>
        <p:xfrm>
          <a:off x="4818063" y="3181350"/>
          <a:ext cx="3000000" cy="3000000"/>
        </p:xfrm>
        <a:graphic>
          <a:graphicData uri="http://schemas.openxmlformats.org/drawingml/2006/table">
            <a:tbl>
              <a:tblPr>
                <a:noFill/>
                <a:tableStyleId>{DA31C186-C125-4E34-A739-053F885C22C1}</a:tableStyleId>
              </a:tblPr>
              <a:tblGrid>
                <a:gridCol w="844550"/>
                <a:gridCol w="2151050"/>
              </a:tblGrid>
              <a:tr h="408000">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1000 950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2000 2050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84175">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C</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Verdana"/>
                        <a:buNone/>
                      </a:pPr>
                      <a:r>
                        <a:rPr b="0" i="0" lang="en-US" sz="1800" u="none" cap="none" strike="noStrike">
                          <a:solidFill>
                            <a:srgbClr val="000000"/>
                          </a:solidFill>
                          <a:latin typeface="Verdana"/>
                          <a:ea typeface="Verdana"/>
                          <a:cs typeface="Verdana"/>
                          <a:sym typeface="Verdana"/>
                        </a:rPr>
                        <a:t>700 600</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descr="Flowchart: Magnetic Disk 11" id="3745" name="Google Shape;3745;p275"/>
          <p:cNvSpPr/>
          <p:nvPr/>
        </p:nvSpPr>
        <p:spPr>
          <a:xfrm>
            <a:off x="4714875" y="2373313"/>
            <a:ext cx="3313113" cy="2279650"/>
          </a:xfrm>
          <a:custGeom>
            <a:rect b="b" l="l" r="r" t="t"/>
            <a:pathLst>
              <a:path extrusionOk="0" h="21600" w="21600">
                <a:moveTo>
                  <a:pt x="21600" y="3600"/>
                </a:moveTo>
                <a:cubicBezTo>
                  <a:pt x="21600" y="5588"/>
                  <a:pt x="16765" y="7200"/>
                  <a:pt x="10800" y="7200"/>
                </a:cubicBezTo>
                <a:cubicBezTo>
                  <a:pt x="4835" y="7200"/>
                  <a:pt x="0" y="5588"/>
                  <a:pt x="0" y="3600"/>
                </a:cubicBezTo>
                <a:moveTo>
                  <a:pt x="0" y="3600"/>
                </a:moveTo>
                <a:cubicBezTo>
                  <a:pt x="0" y="1612"/>
                  <a:pt x="4835" y="0"/>
                  <a:pt x="10800" y="0"/>
                </a:cubicBezTo>
                <a:cubicBezTo>
                  <a:pt x="16765" y="0"/>
                  <a:pt x="21600" y="1612"/>
                  <a:pt x="21600" y="3600"/>
                </a:cubicBezTo>
                <a:lnTo>
                  <a:pt x="21600" y="18000"/>
                </a:lnTo>
                <a:cubicBezTo>
                  <a:pt x="21600" y="19988"/>
                  <a:pt x="16765" y="21600"/>
                  <a:pt x="10800" y="21600"/>
                </a:cubicBezTo>
                <a:cubicBezTo>
                  <a:pt x="4835" y="21600"/>
                  <a:pt x="0" y="19988"/>
                  <a:pt x="0" y="18000"/>
                </a:cubicBezTo>
                <a:close/>
              </a:path>
            </a:pathLst>
          </a:custGeom>
          <a:noFill/>
          <a:ln cap="flat" cmpd="sng" w="9525">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2" id="3746" name="Google Shape;3746;p275"/>
          <p:cNvSpPr txBox="1"/>
          <p:nvPr/>
        </p:nvSpPr>
        <p:spPr>
          <a:xfrm>
            <a:off x="5553075" y="2563813"/>
            <a:ext cx="106045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Database</a:t>
            </a:r>
            <a:endParaRPr/>
          </a:p>
        </p:txBody>
      </p:sp>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0" name="Shape 3750"/>
        <p:cNvGrpSpPr/>
        <p:nvPr/>
      </p:nvGrpSpPr>
      <p:grpSpPr>
        <a:xfrm>
          <a:off x="0" y="0"/>
          <a:ext cx="0" cy="0"/>
          <a:chOff x="0" y="0"/>
          <a:chExt cx="0" cy="0"/>
        </a:xfrm>
      </p:grpSpPr>
      <p:sp>
        <p:nvSpPr>
          <p:cNvPr descr="Title 1" id="3751" name="Google Shape;3751;p27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br>
              <a:rPr lang="en-US" sz="1400"/>
            </a:br>
            <a:br>
              <a:rPr lang="en-US" sz="1400"/>
            </a:br>
            <a:r>
              <a:rPr b="1" lang="en-US" sz="1400"/>
              <a:t>Checkpoints </a:t>
            </a:r>
            <a:endParaRPr sz="1400"/>
          </a:p>
        </p:txBody>
      </p:sp>
      <p:sp>
        <p:nvSpPr>
          <p:cNvPr descr="Content Placeholder 2" id="3752" name="Google Shape;3752;p27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lang="en-US" sz="1800"/>
              <a:t>Problems in recovery procedure as discussed earlier :</a:t>
            </a:r>
            <a:endParaRPr/>
          </a:p>
          <a:p>
            <a:pPr indent="0" lvl="0" marL="0" rtl="0" algn="l">
              <a:spcBef>
                <a:spcPts val="400"/>
              </a:spcBef>
              <a:spcAft>
                <a:spcPts val="0"/>
              </a:spcAft>
              <a:buSzPts val="1800"/>
              <a:buFont typeface="Noto Sans Symbols"/>
              <a:buNone/>
            </a:pPr>
            <a:r>
              <a:rPr lang="en-US" sz="1800"/>
              <a:t>1.Searching the entire log is time-consuming</a:t>
            </a:r>
            <a:endParaRPr/>
          </a:p>
          <a:p>
            <a:pPr indent="0" lvl="0" marL="0" rtl="0" algn="l">
              <a:spcBef>
                <a:spcPts val="400"/>
              </a:spcBef>
              <a:spcAft>
                <a:spcPts val="0"/>
              </a:spcAft>
              <a:buSzPts val="1800"/>
              <a:buFont typeface="Noto Sans Symbols"/>
              <a:buNone/>
            </a:pPr>
            <a:r>
              <a:rPr lang="en-US" sz="1800"/>
              <a:t>2.We might unnecessarily redo transactions which have already</a:t>
            </a:r>
            <a:endParaRPr/>
          </a:p>
          <a:p>
            <a:pPr indent="0" lvl="0" marL="0" rtl="0" algn="l">
              <a:spcBef>
                <a:spcPts val="400"/>
              </a:spcBef>
              <a:spcAft>
                <a:spcPts val="0"/>
              </a:spcAft>
              <a:buSzPts val="1800"/>
              <a:buFont typeface="Noto Sans Symbols"/>
              <a:buNone/>
            </a:pPr>
            <a:r>
              <a:rPr lang="en-US" sz="1800"/>
              <a:t>output their updates to the database.</a:t>
            </a:r>
            <a:endParaRPr/>
          </a:p>
          <a:p>
            <a:pPr indent="0" lvl="0" marL="0" rtl="0" algn="l">
              <a:spcBef>
                <a:spcPts val="400"/>
              </a:spcBef>
              <a:spcAft>
                <a:spcPts val="0"/>
              </a:spcAft>
              <a:buSzPts val="1800"/>
              <a:buFont typeface="Noto Sans Symbols"/>
              <a:buNone/>
            </a:pPr>
            <a:r>
              <a:rPr lang="en-US" sz="1800"/>
              <a:t>Streamline recovery procedure by periodically performing </a:t>
            </a:r>
            <a:r>
              <a:rPr b="1" lang="en-US" sz="1800"/>
              <a:t>checkpointing</a:t>
            </a:r>
            <a:endParaRPr sz="1800"/>
          </a:p>
          <a:p>
            <a:pPr indent="0" lvl="0" marL="0" rtl="0" algn="l">
              <a:spcBef>
                <a:spcPts val="400"/>
              </a:spcBef>
              <a:spcAft>
                <a:spcPts val="0"/>
              </a:spcAft>
              <a:buSzPts val="1800"/>
              <a:buFont typeface="Noto Sans Symbols"/>
              <a:buNone/>
            </a:pPr>
            <a:r>
              <a:rPr lang="en-US" sz="1800"/>
              <a:t>1.Output all log records currently residing in main memory onto stable storage.</a:t>
            </a:r>
            <a:endParaRPr/>
          </a:p>
          <a:p>
            <a:pPr indent="0" lvl="0" marL="0" rtl="0" algn="l">
              <a:spcBef>
                <a:spcPts val="400"/>
              </a:spcBef>
              <a:spcAft>
                <a:spcPts val="0"/>
              </a:spcAft>
              <a:buSzPts val="1800"/>
              <a:buFont typeface="Noto Sans Symbols"/>
              <a:buNone/>
            </a:pPr>
            <a:r>
              <a:rPr lang="en-US" sz="1800"/>
              <a:t>2.Output all modified buffer blocks to the disk.</a:t>
            </a:r>
            <a:endParaRPr/>
          </a:p>
          <a:p>
            <a:pPr indent="0" lvl="0" marL="0" rtl="0" algn="l">
              <a:spcBef>
                <a:spcPts val="400"/>
              </a:spcBef>
              <a:spcAft>
                <a:spcPts val="0"/>
              </a:spcAft>
              <a:buSzPts val="1800"/>
              <a:buFont typeface="Noto Sans Symbols"/>
              <a:buNone/>
            </a:pPr>
            <a:r>
              <a:rPr lang="en-US" sz="1800"/>
              <a:t>3.Write a log record &lt;</a:t>
            </a:r>
            <a:r>
              <a:rPr b="1" lang="en-US" sz="1800"/>
              <a:t>checkpoint</a:t>
            </a:r>
            <a:r>
              <a:rPr lang="en-US" sz="1800"/>
              <a:t>&gt; onto stable storage.</a:t>
            </a:r>
            <a:endParaRPr/>
          </a:p>
        </p:txBody>
      </p:sp>
      <p:sp>
        <p:nvSpPr>
          <p:cNvPr descr="Date Placeholder 3" id="3753" name="Google Shape;3753;p27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54" name="Google Shape;3754;p27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8" name="Shape 3758"/>
        <p:cNvGrpSpPr/>
        <p:nvPr/>
      </p:nvGrpSpPr>
      <p:grpSpPr>
        <a:xfrm>
          <a:off x="0" y="0"/>
          <a:ext cx="0" cy="0"/>
          <a:chOff x="0" y="0"/>
          <a:chExt cx="0" cy="0"/>
        </a:xfrm>
      </p:grpSpPr>
      <p:sp>
        <p:nvSpPr>
          <p:cNvPr descr="Title 1" id="3759" name="Google Shape;3759;p27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Checkpoints</a:t>
            </a:r>
            <a:endParaRPr/>
          </a:p>
        </p:txBody>
      </p:sp>
      <p:sp>
        <p:nvSpPr>
          <p:cNvPr descr="Content Placeholder 2" id="3760" name="Google Shape;3760;p27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0" lvl="0" marL="0" rtl="0" algn="l">
              <a:spcBef>
                <a:spcPts val="0"/>
              </a:spcBef>
              <a:spcAft>
                <a:spcPts val="0"/>
              </a:spcAft>
              <a:buSzPts val="1800"/>
              <a:buFont typeface="Noto Sans Symbols"/>
              <a:buNone/>
            </a:pPr>
            <a:r>
              <a:rPr lang="en-US" sz="1800"/>
              <a:t>During recovery we need to consider only the most recent transaction Ti that started before the checkpoint, and transactions that started after </a:t>
            </a:r>
            <a:r>
              <a:rPr i="1" lang="en-US" sz="1800"/>
              <a:t>Ti</a:t>
            </a:r>
            <a:r>
              <a:rPr lang="en-US" sz="1800"/>
              <a:t>. </a:t>
            </a:r>
            <a:endParaRPr/>
          </a:p>
          <a:p>
            <a:pPr indent="0" lvl="0" marL="0" rtl="0" algn="l">
              <a:spcBef>
                <a:spcPts val="400"/>
              </a:spcBef>
              <a:spcAft>
                <a:spcPts val="0"/>
              </a:spcAft>
              <a:buSzPts val="1800"/>
              <a:buFont typeface="Noto Sans Symbols"/>
              <a:buNone/>
            </a:pPr>
            <a:r>
              <a:rPr lang="en-US" sz="1800"/>
              <a:t>1. Scan backwards from end of log to find the most recent &lt;</a:t>
            </a:r>
            <a:r>
              <a:rPr b="1" lang="en-US" sz="1800"/>
              <a:t>checkpoint</a:t>
            </a:r>
            <a:r>
              <a:rPr lang="en-US" sz="1800"/>
              <a:t>&gt; record </a:t>
            </a:r>
            <a:endParaRPr/>
          </a:p>
          <a:p>
            <a:pPr indent="0" lvl="0" marL="0" rtl="0" algn="l">
              <a:spcBef>
                <a:spcPts val="400"/>
              </a:spcBef>
              <a:spcAft>
                <a:spcPts val="0"/>
              </a:spcAft>
              <a:buSzPts val="1800"/>
              <a:buFont typeface="Noto Sans Symbols"/>
              <a:buNone/>
            </a:pPr>
            <a:r>
              <a:rPr lang="en-US" sz="1800"/>
              <a:t>2. Continue scanning backwards till a record </a:t>
            </a:r>
            <a:r>
              <a:rPr i="1" lang="en-US" sz="1800"/>
              <a:t>&lt;</a:t>
            </a:r>
            <a:r>
              <a:rPr b="1" lang="en-US" sz="1800"/>
              <a:t>start </a:t>
            </a:r>
            <a:r>
              <a:rPr i="1" lang="en-US" sz="1800"/>
              <a:t>Ti</a:t>
            </a:r>
            <a:r>
              <a:rPr lang="en-US" sz="1800"/>
              <a:t>&gt; is found. </a:t>
            </a:r>
            <a:endParaRPr/>
          </a:p>
          <a:p>
            <a:pPr indent="0" lvl="0" marL="0" rtl="0" algn="l">
              <a:spcBef>
                <a:spcPts val="400"/>
              </a:spcBef>
              <a:spcAft>
                <a:spcPts val="0"/>
              </a:spcAft>
              <a:buSzPts val="1800"/>
              <a:buFont typeface="Noto Sans Symbols"/>
              <a:buNone/>
            </a:pPr>
            <a:r>
              <a:rPr lang="en-US" sz="1800"/>
              <a:t>3.Need only consider the part of log following above </a:t>
            </a:r>
            <a:r>
              <a:rPr b="1" lang="en-US" sz="1800"/>
              <a:t>star</a:t>
            </a:r>
            <a:r>
              <a:rPr lang="en-US" sz="1800"/>
              <a:t>t record. Earlier part of log can be ignored during recovery, and can be erased whenever desired.</a:t>
            </a:r>
            <a:endParaRPr/>
          </a:p>
          <a:p>
            <a:pPr indent="0" lvl="0" marL="0" rtl="0" algn="l">
              <a:spcBef>
                <a:spcPts val="400"/>
              </a:spcBef>
              <a:spcAft>
                <a:spcPts val="0"/>
              </a:spcAft>
              <a:buSzPts val="1800"/>
              <a:buFont typeface="Noto Sans Symbols"/>
              <a:buNone/>
            </a:pPr>
            <a:r>
              <a:rPr lang="en-US" sz="1800"/>
              <a:t>4.For all transactions (starting from </a:t>
            </a:r>
            <a:r>
              <a:rPr i="1" lang="en-US" sz="1800"/>
              <a:t>Ti </a:t>
            </a:r>
            <a:r>
              <a:rPr lang="en-US" sz="1800"/>
              <a:t>or later) with no </a:t>
            </a:r>
            <a:r>
              <a:rPr i="1" lang="en-US" sz="1800"/>
              <a:t>&lt; </a:t>
            </a:r>
            <a:r>
              <a:rPr b="1" lang="en-US" sz="1800"/>
              <a:t>commit </a:t>
            </a:r>
            <a:r>
              <a:rPr i="1" lang="en-US" sz="1800"/>
              <a:t>Ti&gt;</a:t>
            </a:r>
            <a:r>
              <a:rPr lang="en-US" sz="1800"/>
              <a:t>, execute </a:t>
            </a:r>
            <a:r>
              <a:rPr b="1" lang="en-US" sz="1800"/>
              <a:t>undo</a:t>
            </a:r>
            <a:r>
              <a:rPr i="1" lang="en-US" sz="1800"/>
              <a:t>(Ti). </a:t>
            </a:r>
            <a:r>
              <a:rPr lang="en-US" sz="1800"/>
              <a:t>(Done only in case of immediate modification.)</a:t>
            </a:r>
            <a:endParaRPr/>
          </a:p>
          <a:p>
            <a:pPr indent="0" lvl="0" marL="0" rtl="0" algn="l">
              <a:spcBef>
                <a:spcPts val="400"/>
              </a:spcBef>
              <a:spcAft>
                <a:spcPts val="0"/>
              </a:spcAft>
              <a:buSzPts val="1800"/>
              <a:buFont typeface="Noto Sans Symbols"/>
              <a:buNone/>
            </a:pPr>
            <a:r>
              <a:rPr lang="en-US" sz="1800"/>
              <a:t>5.Scanning forward in the log, for all transactions starting from </a:t>
            </a:r>
            <a:r>
              <a:rPr i="1" lang="en-US" sz="1800"/>
              <a:t>Ti </a:t>
            </a:r>
            <a:r>
              <a:rPr lang="en-US" sz="1800"/>
              <a:t>or later with a </a:t>
            </a:r>
            <a:r>
              <a:rPr i="1" lang="en-US" sz="1800"/>
              <a:t>&lt;</a:t>
            </a:r>
            <a:r>
              <a:rPr b="1" lang="en-US" sz="1800"/>
              <a:t>commit </a:t>
            </a:r>
            <a:r>
              <a:rPr i="1" lang="en-US" sz="1800"/>
              <a:t>Ti&gt;</a:t>
            </a:r>
            <a:r>
              <a:rPr lang="en-US" sz="1800"/>
              <a:t>, execute </a:t>
            </a:r>
            <a:r>
              <a:rPr b="1" lang="en-US" sz="1800"/>
              <a:t>redo</a:t>
            </a:r>
            <a:r>
              <a:rPr i="1" lang="en-US" sz="1800"/>
              <a:t>(Ti).</a:t>
            </a:r>
            <a:endParaRPr sz="1800"/>
          </a:p>
        </p:txBody>
      </p:sp>
      <p:sp>
        <p:nvSpPr>
          <p:cNvPr descr="Date Placeholder 3" id="3761" name="Google Shape;3761;p27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62" name="Google Shape;3762;p27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6" name="Shape 3766"/>
        <p:cNvGrpSpPr/>
        <p:nvPr/>
      </p:nvGrpSpPr>
      <p:grpSpPr>
        <a:xfrm>
          <a:off x="0" y="0"/>
          <a:ext cx="0" cy="0"/>
          <a:chOff x="0" y="0"/>
          <a:chExt cx="0" cy="0"/>
        </a:xfrm>
      </p:grpSpPr>
      <p:sp>
        <p:nvSpPr>
          <p:cNvPr descr="Title 1" id="3767" name="Google Shape;3767;p27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1800"/>
              <a:t>Recovery using Deferred Update with Concurrent Transactions</a:t>
            </a:r>
            <a:endParaRPr/>
          </a:p>
        </p:txBody>
      </p:sp>
      <p:sp>
        <p:nvSpPr>
          <p:cNvPr descr="Date Placeholder 3" id="3768" name="Google Shape;3768;p27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69" name="Google Shape;3769;p27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770" name="Google Shape;3770;p278"/>
          <p:cNvPicPr preferRelativeResize="0"/>
          <p:nvPr/>
        </p:nvPicPr>
        <p:blipFill rotWithShape="1">
          <a:blip r:embed="rId3">
            <a:alphaModFix/>
          </a:blip>
          <a:srcRect b="0" l="0" r="0" t="0"/>
          <a:stretch/>
        </p:blipFill>
        <p:spPr>
          <a:xfrm>
            <a:off x="784225" y="1712913"/>
            <a:ext cx="4073525" cy="3722687"/>
          </a:xfrm>
          <a:prstGeom prst="rect">
            <a:avLst/>
          </a:prstGeom>
          <a:noFill/>
          <a:ln>
            <a:noFill/>
          </a:ln>
        </p:spPr>
      </p:pic>
      <p:sp>
        <p:nvSpPr>
          <p:cNvPr descr="TextBox 8" id="3771" name="Google Shape;3771;p278"/>
          <p:cNvSpPr txBox="1"/>
          <p:nvPr/>
        </p:nvSpPr>
        <p:spPr>
          <a:xfrm>
            <a:off x="473075" y="1284288"/>
            <a:ext cx="4222750" cy="3714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00"/>
                </a:solidFill>
                <a:latin typeface="Verdana"/>
                <a:ea typeface="Verdana"/>
                <a:cs typeface="Verdana"/>
                <a:sym typeface="Verdana"/>
              </a:rPr>
              <a:t>Consider the following LOG enteries</a:t>
            </a:r>
            <a:endParaRPr/>
          </a:p>
        </p:txBody>
      </p:sp>
      <p:sp>
        <p:nvSpPr>
          <p:cNvPr descr="TextBox 9" id="3772" name="Google Shape;3772;p278"/>
          <p:cNvSpPr txBox="1"/>
          <p:nvPr/>
        </p:nvSpPr>
        <p:spPr>
          <a:xfrm>
            <a:off x="187325" y="5500688"/>
            <a:ext cx="8612188" cy="6492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T2 and T3 are ignored because they did not reach their commit points</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T4 is redone because its commit point is after the last system check point</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6" name="Shape 3776"/>
        <p:cNvGrpSpPr/>
        <p:nvPr/>
      </p:nvGrpSpPr>
      <p:grpSpPr>
        <a:xfrm>
          <a:off x="0" y="0"/>
          <a:ext cx="0" cy="0"/>
          <a:chOff x="0" y="0"/>
          <a:chExt cx="0" cy="0"/>
        </a:xfrm>
      </p:grpSpPr>
      <p:sp>
        <p:nvSpPr>
          <p:cNvPr descr="Title 1" id="3777" name="Google Shape;3777;p27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b="1" lang="en-US" sz="2000"/>
              <a:t>Shadow</a:t>
            </a:r>
            <a:r>
              <a:rPr lang="en-US" sz="2000"/>
              <a:t> </a:t>
            </a:r>
            <a:r>
              <a:rPr b="1" lang="en-US" sz="2000"/>
              <a:t>Paging: </a:t>
            </a:r>
            <a:r>
              <a:rPr lang="en-US" sz="2000"/>
              <a:t>Recovery Scheme that does not require log and useful for single-user environment</a:t>
            </a:r>
            <a:endParaRPr b="1" sz="2000"/>
          </a:p>
        </p:txBody>
      </p:sp>
      <p:sp>
        <p:nvSpPr>
          <p:cNvPr descr="Date Placeholder 3" id="3778" name="Google Shape;3778;p27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79" name="Google Shape;3779;p27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780" name="Google Shape;3780;p279"/>
          <p:cNvPicPr preferRelativeResize="0"/>
          <p:nvPr/>
        </p:nvPicPr>
        <p:blipFill rotWithShape="1">
          <a:blip r:embed="rId3">
            <a:alphaModFix/>
          </a:blip>
          <a:srcRect b="0" l="0" r="0" t="0"/>
          <a:stretch/>
        </p:blipFill>
        <p:spPr>
          <a:xfrm>
            <a:off x="498475" y="1484313"/>
            <a:ext cx="7993063" cy="4535487"/>
          </a:xfrm>
          <a:prstGeom prst="rect">
            <a:avLst/>
          </a:prstGeom>
          <a:noFill/>
          <a:ln>
            <a:noFill/>
          </a:ln>
        </p:spPr>
      </p:pic>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4" name="Shape 3784"/>
        <p:cNvGrpSpPr/>
        <p:nvPr/>
      </p:nvGrpSpPr>
      <p:grpSpPr>
        <a:xfrm>
          <a:off x="0" y="0"/>
          <a:ext cx="0" cy="0"/>
          <a:chOff x="0" y="0"/>
          <a:chExt cx="0" cy="0"/>
        </a:xfrm>
      </p:grpSpPr>
      <p:sp>
        <p:nvSpPr>
          <p:cNvPr descr="Title 1" id="3785" name="Google Shape;3785;p280"/>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786" name="Google Shape;3786;p280"/>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87" name="Google Shape;3787;p280"/>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788" name="Google Shape;3788;p280"/>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789" name="Google Shape;3789;p280"/>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790" name="Google Shape;3790;p280"/>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endParaRPr/>
                    </a:p>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a:t>
                      </a:r>
                      <a:r>
                        <a:rPr b="0" i="0" lang="en-US" sz="1600" u="none" cap="none" strike="noStrike">
                          <a:solidFill>
                            <a:srgbClr val="000000"/>
                          </a:solidFill>
                          <a:latin typeface="Verdana"/>
                          <a:ea typeface="Verdana"/>
                          <a:cs typeface="Verdana"/>
                          <a:sym typeface="Verdana"/>
                        </a:rPr>
                        <a:t> 1000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t>
                      </a:r>
                      <a:r>
                        <a:rPr b="0" i="0" lang="en-US" sz="1600" u="none" cap="none" strike="noStrike">
                          <a:solidFill>
                            <a:srgbClr val="000000"/>
                          </a:solidFill>
                          <a:latin typeface="Verdana"/>
                          <a:ea typeface="Verdana"/>
                          <a:cs typeface="Verdana"/>
                          <a:sym typeface="Verdana"/>
                        </a:rPr>
                        <a:t> 2000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C</a:t>
                      </a:r>
                      <a:r>
                        <a:rPr b="0" i="0" lang="en-US" sz="1600" u="none" cap="none" strike="noStrike">
                          <a:solidFill>
                            <a:srgbClr val="000000"/>
                          </a:solidFill>
                          <a:latin typeface="Verdana"/>
                          <a:ea typeface="Verdana"/>
                          <a:cs typeface="Verdana"/>
                          <a:sym typeface="Verdana"/>
                        </a:rPr>
                        <a:t> 700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D</a:t>
                      </a:r>
                      <a:r>
                        <a:rPr b="0" i="0" lang="en-US" sz="1600" u="none" cap="none" strike="noStrike">
                          <a:solidFill>
                            <a:srgbClr val="000000"/>
                          </a:solidFill>
                          <a:latin typeface="Verdana"/>
                          <a:ea typeface="Verdana"/>
                          <a:cs typeface="Verdana"/>
                          <a:sym typeface="Verdana"/>
                        </a:rPr>
                        <a:t> 50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791" name="Google Shape;3791;p280"/>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descr="Title 1" id="3796" name="Google Shape;3796;p28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797" name="Google Shape;3797;p28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798" name="Google Shape;3798;p28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799" name="Google Shape;3799;p281"/>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800" name="Google Shape;3800;p281"/>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801" name="Google Shape;3801;p281"/>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endParaRPr/>
                    </a:p>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A</a:t>
                      </a:r>
                      <a:r>
                        <a:rPr b="0" i="0" lang="en-US" sz="1600" u="none" cap="none" strike="noStrike">
                          <a:solidFill>
                            <a:srgbClr val="000000"/>
                          </a:solidFill>
                          <a:latin typeface="Verdana"/>
                          <a:ea typeface="Verdana"/>
                          <a:cs typeface="Verdana"/>
                          <a:sym typeface="Verdana"/>
                        </a:rPr>
                        <a:t> 1000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B</a:t>
                      </a:r>
                      <a:r>
                        <a:rPr b="0" i="0" lang="en-US" sz="1600" u="none" cap="none" strike="noStrike">
                          <a:solidFill>
                            <a:srgbClr val="000000"/>
                          </a:solidFill>
                          <a:latin typeface="Verdana"/>
                          <a:ea typeface="Verdana"/>
                          <a:cs typeface="Verdana"/>
                          <a:sym typeface="Verdana"/>
                        </a:rPr>
                        <a:t> 2000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C</a:t>
                      </a:r>
                      <a:r>
                        <a:rPr b="0" i="0" lang="en-US" sz="1600" u="none" cap="none" strike="noStrike">
                          <a:solidFill>
                            <a:srgbClr val="000000"/>
                          </a:solidFill>
                          <a:latin typeface="Verdana"/>
                          <a:ea typeface="Verdana"/>
                          <a:cs typeface="Verdana"/>
                          <a:sym typeface="Verdana"/>
                        </a:rPr>
                        <a:t> 700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1" i="0" lang="en-US" sz="1600" u="none" cap="none" strike="noStrike">
                          <a:solidFill>
                            <a:srgbClr val="000000"/>
                          </a:solidFill>
                          <a:latin typeface="Verdana"/>
                          <a:ea typeface="Verdana"/>
                          <a:cs typeface="Verdana"/>
                          <a:sym typeface="Verdana"/>
                        </a:rPr>
                        <a:t>D</a:t>
                      </a:r>
                      <a:r>
                        <a:rPr b="0" i="0" lang="en-US" sz="1600" u="none" cap="none" strike="noStrike">
                          <a:solidFill>
                            <a:srgbClr val="000000"/>
                          </a:solidFill>
                          <a:latin typeface="Verdana"/>
                          <a:ea typeface="Verdana"/>
                          <a:cs typeface="Verdana"/>
                          <a:sym typeface="Verdana"/>
                        </a:rPr>
                        <a:t> 50</a:t>
                      </a:r>
                      <a:endParaRPr b="1"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802" name="Google Shape;3802;p281"/>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
        <p:nvSpPr>
          <p:cNvPr descr="TextBox 16" id="3803" name="Google Shape;3803;p281"/>
          <p:cNvSpPr txBox="1"/>
          <p:nvPr/>
        </p:nvSpPr>
        <p:spPr>
          <a:xfrm>
            <a:off x="69850" y="3929063"/>
            <a:ext cx="240506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operations</a:t>
            </a:r>
            <a:endParaRPr/>
          </a:p>
        </p:txBody>
      </p:sp>
      <p:sp>
        <p:nvSpPr>
          <p:cNvPr descr="TextBox 17" id="3804" name="Google Shape;3804;p281"/>
          <p:cNvSpPr txBox="1"/>
          <p:nvPr/>
        </p:nvSpPr>
        <p:spPr>
          <a:xfrm>
            <a:off x="69850" y="4286250"/>
            <a:ext cx="2559050" cy="17891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(Start,T1)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(Write,T1,B,2000,2050)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(Start, T2)</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(Write,T2,C,700,600)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(Write,T2,D, 50,30)</a:t>
            </a:r>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8" name="Shape 3808"/>
        <p:cNvGrpSpPr/>
        <p:nvPr/>
      </p:nvGrpSpPr>
      <p:grpSpPr>
        <a:xfrm>
          <a:off x="0" y="0"/>
          <a:ext cx="0" cy="0"/>
          <a:chOff x="0" y="0"/>
          <a:chExt cx="0" cy="0"/>
        </a:xfrm>
      </p:grpSpPr>
      <p:sp>
        <p:nvSpPr>
          <p:cNvPr descr="Title 1" id="3809" name="Google Shape;3809;p28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810" name="Google Shape;3810;p28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11" name="Google Shape;3811;p28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812" name="Google Shape;3812;p282"/>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813" name="Google Shape;3813;p282"/>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814" name="Google Shape;3814;p282"/>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A 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 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 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815" name="Google Shape;3815;p282"/>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
        <p:nvSpPr>
          <p:cNvPr descr="TextBox 10" id="3816" name="Google Shape;3816;p282"/>
          <p:cNvSpPr txBox="1"/>
          <p:nvPr/>
        </p:nvSpPr>
        <p:spPr>
          <a:xfrm>
            <a:off x="5973763" y="4714875"/>
            <a:ext cx="243681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Shadow Page Directory</a:t>
            </a:r>
            <a:endParaRPr/>
          </a:p>
        </p:txBody>
      </p:sp>
      <p:sp>
        <p:nvSpPr>
          <p:cNvPr descr="TextBox 11" id="3817" name="Google Shape;3817;p282"/>
          <p:cNvSpPr txBox="1"/>
          <p:nvPr/>
        </p:nvSpPr>
        <p:spPr>
          <a:xfrm>
            <a:off x="6500813" y="5000625"/>
            <a:ext cx="1390650" cy="963613"/>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TextBox 12" id="3818" name="Google Shape;3818;p282"/>
          <p:cNvSpPr txBox="1"/>
          <p:nvPr/>
        </p:nvSpPr>
        <p:spPr>
          <a:xfrm>
            <a:off x="1403350" y="1641475"/>
            <a:ext cx="1414463" cy="523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000000"/>
                </a:solidFill>
                <a:latin typeface="Verdana"/>
                <a:ea typeface="Verdana"/>
                <a:cs typeface="Verdana"/>
                <a:sym typeface="Verdana"/>
              </a:rPr>
              <a:t>Current Page</a:t>
            </a:r>
            <a:endParaRPr/>
          </a:p>
          <a:p>
            <a:pPr indent="0" lvl="0" marL="0" marR="0" rtl="0" algn="ctr">
              <a:spcBef>
                <a:spcPts val="0"/>
              </a:spcBef>
              <a:spcAft>
                <a:spcPts val="0"/>
              </a:spcAft>
              <a:buNone/>
            </a:pPr>
            <a:r>
              <a:rPr b="1" lang="en-US" sz="1400">
                <a:solidFill>
                  <a:srgbClr val="000000"/>
                </a:solidFill>
                <a:latin typeface="Verdana"/>
                <a:ea typeface="Verdana"/>
                <a:cs typeface="Verdana"/>
                <a:sym typeface="Verdana"/>
              </a:rPr>
              <a:t>Directory</a:t>
            </a:r>
            <a:endParaRPr/>
          </a:p>
        </p:txBody>
      </p:sp>
      <p:sp>
        <p:nvSpPr>
          <p:cNvPr descr="TextBox 13" id="3819" name="Google Shape;3819;p282"/>
          <p:cNvSpPr txBox="1"/>
          <p:nvPr/>
        </p:nvSpPr>
        <p:spPr>
          <a:xfrm>
            <a:off x="1355725" y="2212975"/>
            <a:ext cx="2071688" cy="965200"/>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Rectangle 14" id="3820" name="Google Shape;3820;p282"/>
          <p:cNvSpPr/>
          <p:nvPr/>
        </p:nvSpPr>
        <p:spPr>
          <a:xfrm>
            <a:off x="1069975" y="1570038"/>
            <a:ext cx="2571750" cy="2073275"/>
          </a:xfrm>
          <a:prstGeom prst="rect">
            <a:avLst/>
          </a:prstGeom>
          <a:noFill/>
          <a:ln cap="flat" cmpd="sng" w="28575">
            <a:solidFill>
              <a:srgbClr val="00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5" id="3821" name="Google Shape;3821;p282"/>
          <p:cNvSpPr txBox="1"/>
          <p:nvPr/>
        </p:nvSpPr>
        <p:spPr>
          <a:xfrm>
            <a:off x="1616075" y="1212850"/>
            <a:ext cx="14732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Main Memory</a:t>
            </a:r>
            <a:endParaRPr/>
          </a:p>
        </p:txBody>
      </p:sp>
      <p:sp>
        <p:nvSpPr>
          <p:cNvPr descr="TextBox 16" id="3822" name="Google Shape;3822;p282"/>
          <p:cNvSpPr txBox="1"/>
          <p:nvPr/>
        </p:nvSpPr>
        <p:spPr>
          <a:xfrm>
            <a:off x="69850" y="3929063"/>
            <a:ext cx="240506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operations</a:t>
            </a:r>
            <a:endParaRPr/>
          </a:p>
        </p:txBody>
      </p:sp>
      <p:sp>
        <p:nvSpPr>
          <p:cNvPr descr="TextBox 17" id="3823" name="Google Shape;3823;p282"/>
          <p:cNvSpPr txBox="1"/>
          <p:nvPr/>
        </p:nvSpPr>
        <p:spPr>
          <a:xfrm>
            <a:off x="95250" y="4286250"/>
            <a:ext cx="2557463" cy="17891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(Start,T1)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(Write,T1,B,2000,2050)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(Start, T2)</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(Write,T2,C,700,600)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(Write,T2,D,50,30)</a:t>
            </a:r>
            <a:endParaRPr/>
          </a:p>
        </p:txBody>
      </p:sp>
      <p:sp>
        <p:nvSpPr>
          <p:cNvPr descr="TextBox 18" id="3824" name="Google Shape;3824;p282"/>
          <p:cNvSpPr txBox="1"/>
          <p:nvPr/>
        </p:nvSpPr>
        <p:spPr>
          <a:xfrm>
            <a:off x="2743200" y="4500563"/>
            <a:ext cx="2747963" cy="10556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6600"/>
                </a:solidFill>
                <a:latin typeface="Verdana"/>
                <a:ea typeface="Verdana"/>
                <a:cs typeface="Verdana"/>
                <a:sym typeface="Verdana"/>
              </a:rPr>
              <a:t>When transaction starts</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Current Page directory is</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kept in main memory and</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Shadow directory on disk</a:t>
            </a:r>
            <a:endParaRPr/>
          </a:p>
        </p:txBody>
      </p:sp>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8" name="Shape 3828"/>
        <p:cNvGrpSpPr/>
        <p:nvPr/>
      </p:nvGrpSpPr>
      <p:grpSpPr>
        <a:xfrm>
          <a:off x="0" y="0"/>
          <a:ext cx="0" cy="0"/>
          <a:chOff x="0" y="0"/>
          <a:chExt cx="0" cy="0"/>
        </a:xfrm>
      </p:grpSpPr>
      <p:sp>
        <p:nvSpPr>
          <p:cNvPr descr="Title 1" id="3829" name="Google Shape;3829;p28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830" name="Google Shape;3830;p28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31" name="Google Shape;3831;p28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832" name="Google Shape;3832;p283"/>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833" name="Google Shape;3833;p283"/>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834" name="Google Shape;3834;p283"/>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A 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 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 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 </a:t>
                      </a:r>
                      <a:r>
                        <a:rPr b="0" i="0" lang="en-US" sz="1600" u="none" cap="none" strike="noStrike">
                          <a:solidFill>
                            <a:srgbClr val="FF0000"/>
                          </a:solidFill>
                          <a:latin typeface="Verdana"/>
                          <a:ea typeface="Verdana"/>
                          <a:cs typeface="Verdana"/>
                          <a:sym typeface="Verdana"/>
                        </a:rPr>
                        <a:t>950</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600"/>
                        <a:buFont typeface="Verdana"/>
                        <a:buNone/>
                      </a:pPr>
                      <a:r>
                        <a:rPr b="0" i="0" lang="en-US" sz="1600" u="none" cap="none" strike="noStrike">
                          <a:solidFill>
                            <a:srgbClr val="FF0000"/>
                          </a:solidFill>
                          <a:latin typeface="Verdana"/>
                          <a:ea typeface="Verdana"/>
                          <a:cs typeface="Verdana"/>
                          <a:sym typeface="Verdana"/>
                        </a:rPr>
                        <a:t>Addr5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835" name="Google Shape;3835;p283"/>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
        <p:nvSpPr>
          <p:cNvPr descr="TextBox 10" id="3836" name="Google Shape;3836;p283"/>
          <p:cNvSpPr txBox="1"/>
          <p:nvPr/>
        </p:nvSpPr>
        <p:spPr>
          <a:xfrm>
            <a:off x="5973763" y="4714875"/>
            <a:ext cx="243681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Shadow Page Directory</a:t>
            </a:r>
            <a:endParaRPr/>
          </a:p>
        </p:txBody>
      </p:sp>
      <p:sp>
        <p:nvSpPr>
          <p:cNvPr descr="TextBox 11" id="3837" name="Google Shape;3837;p283"/>
          <p:cNvSpPr txBox="1"/>
          <p:nvPr/>
        </p:nvSpPr>
        <p:spPr>
          <a:xfrm>
            <a:off x="6500813" y="5000625"/>
            <a:ext cx="1390650" cy="963613"/>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TextBox 12" id="3838" name="Google Shape;3838;p283"/>
          <p:cNvSpPr txBox="1"/>
          <p:nvPr/>
        </p:nvSpPr>
        <p:spPr>
          <a:xfrm>
            <a:off x="1403350" y="1641475"/>
            <a:ext cx="1414463" cy="523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000000"/>
                </a:solidFill>
                <a:latin typeface="Verdana"/>
                <a:ea typeface="Verdana"/>
                <a:cs typeface="Verdana"/>
                <a:sym typeface="Verdana"/>
              </a:rPr>
              <a:t>Current Page</a:t>
            </a:r>
            <a:endParaRPr/>
          </a:p>
          <a:p>
            <a:pPr indent="0" lvl="0" marL="0" marR="0" rtl="0" algn="ctr">
              <a:spcBef>
                <a:spcPts val="0"/>
              </a:spcBef>
              <a:spcAft>
                <a:spcPts val="0"/>
              </a:spcAft>
              <a:buNone/>
            </a:pPr>
            <a:r>
              <a:rPr b="1" lang="en-US" sz="1400">
                <a:solidFill>
                  <a:srgbClr val="000000"/>
                </a:solidFill>
                <a:latin typeface="Verdana"/>
                <a:ea typeface="Verdana"/>
                <a:cs typeface="Verdana"/>
                <a:sym typeface="Verdana"/>
              </a:rPr>
              <a:t>Directory</a:t>
            </a:r>
            <a:endParaRPr/>
          </a:p>
        </p:txBody>
      </p:sp>
      <p:sp>
        <p:nvSpPr>
          <p:cNvPr descr="TextBox 13" id="3839" name="Google Shape;3839;p283"/>
          <p:cNvSpPr txBox="1"/>
          <p:nvPr/>
        </p:nvSpPr>
        <p:spPr>
          <a:xfrm>
            <a:off x="1355725" y="2212975"/>
            <a:ext cx="2071688" cy="965200"/>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 </a:t>
            </a:r>
            <a:r>
              <a:rPr lang="en-US" sz="1400">
                <a:solidFill>
                  <a:srgbClr val="FF0000"/>
                </a:solidFill>
                <a:latin typeface="Verdana"/>
                <a:ea typeface="Verdana"/>
                <a:cs typeface="Verdana"/>
                <a:sym typeface="Verdana"/>
              </a:rPr>
              <a:t>Addr5</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Rectangle 14" id="3840" name="Google Shape;3840;p283"/>
          <p:cNvSpPr/>
          <p:nvPr/>
        </p:nvSpPr>
        <p:spPr>
          <a:xfrm>
            <a:off x="1069975" y="1570038"/>
            <a:ext cx="2571750" cy="2073275"/>
          </a:xfrm>
          <a:prstGeom prst="rect">
            <a:avLst/>
          </a:prstGeom>
          <a:noFill/>
          <a:ln cap="flat" cmpd="sng" w="28575">
            <a:solidFill>
              <a:srgbClr val="00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5" id="3841" name="Google Shape;3841;p283"/>
          <p:cNvSpPr txBox="1"/>
          <p:nvPr/>
        </p:nvSpPr>
        <p:spPr>
          <a:xfrm>
            <a:off x="1616075" y="1212850"/>
            <a:ext cx="14732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Main Memory</a:t>
            </a:r>
            <a:endParaRPr/>
          </a:p>
        </p:txBody>
      </p:sp>
      <p:sp>
        <p:nvSpPr>
          <p:cNvPr descr="TextBox 16" id="3842" name="Google Shape;3842;p283"/>
          <p:cNvSpPr txBox="1"/>
          <p:nvPr/>
        </p:nvSpPr>
        <p:spPr>
          <a:xfrm>
            <a:off x="69850" y="3929063"/>
            <a:ext cx="240506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operations</a:t>
            </a:r>
            <a:endParaRPr/>
          </a:p>
        </p:txBody>
      </p:sp>
      <p:sp>
        <p:nvSpPr>
          <p:cNvPr descr="TextBox 17" id="3843" name="Google Shape;3843;p283"/>
          <p:cNvSpPr txBox="1"/>
          <p:nvPr/>
        </p:nvSpPr>
        <p:spPr>
          <a:xfrm>
            <a:off x="95250" y="4286250"/>
            <a:ext cx="2557463" cy="17891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(Start,T1)</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(Write,T1,B,2000,2050)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(Start, T2)</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(Write,T2,C,700,600)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(Write,T2,D,50,30)</a:t>
            </a:r>
            <a:endParaRPr/>
          </a:p>
        </p:txBody>
      </p:sp>
      <p:sp>
        <p:nvSpPr>
          <p:cNvPr descr="TextBox 18" id="3844" name="Google Shape;3844;p283"/>
          <p:cNvSpPr txBox="1"/>
          <p:nvPr/>
        </p:nvSpPr>
        <p:spPr>
          <a:xfrm>
            <a:off x="2757488" y="4143375"/>
            <a:ext cx="2749550" cy="2020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6600"/>
                </a:solidFill>
                <a:latin typeface="Verdana"/>
                <a:ea typeface="Verdana"/>
                <a:cs typeface="Verdana"/>
                <a:sym typeface="Verdana"/>
              </a:rPr>
              <a:t>After execution of</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Then new page table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is created on disk and</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Current page</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Directory updated.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But shadow directory will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not be updated</a:t>
            </a:r>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8" name="Shape 3848"/>
        <p:cNvGrpSpPr/>
        <p:nvPr/>
      </p:nvGrpSpPr>
      <p:grpSpPr>
        <a:xfrm>
          <a:off x="0" y="0"/>
          <a:ext cx="0" cy="0"/>
          <a:chOff x="0" y="0"/>
          <a:chExt cx="0" cy="0"/>
        </a:xfrm>
      </p:grpSpPr>
      <p:sp>
        <p:nvSpPr>
          <p:cNvPr descr="Title 1" id="3849" name="Google Shape;3849;p28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850" name="Google Shape;3850;p28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51" name="Google Shape;3851;p28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852" name="Google Shape;3852;p284"/>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853" name="Google Shape;3853;p284"/>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854" name="Google Shape;3854;p284"/>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A 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 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 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 950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a:t>
                      </a:r>
                      <a:r>
                        <a:rPr b="0" i="0" lang="en-US" sz="1600" u="none" cap="none" strike="noStrike">
                          <a:solidFill>
                            <a:srgbClr val="FF0000"/>
                          </a:solidFill>
                          <a:latin typeface="Verdana"/>
                          <a:ea typeface="Verdana"/>
                          <a:cs typeface="Verdana"/>
                          <a:sym typeface="Verdana"/>
                        </a:rPr>
                        <a:t> 2050</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0000"/>
                        </a:buClr>
                        <a:buSzPts val="1600"/>
                        <a:buFont typeface="Verdana"/>
                        <a:buNone/>
                      </a:pPr>
                      <a:r>
                        <a:rPr b="0" i="0" lang="en-US" sz="1600" u="none" cap="none" strike="noStrike">
                          <a:solidFill>
                            <a:srgbClr val="FF0000"/>
                          </a:solidFill>
                          <a:latin typeface="Verdana"/>
                          <a:ea typeface="Verdana"/>
                          <a:cs typeface="Verdana"/>
                          <a:sym typeface="Verdana"/>
                        </a:rPr>
                        <a:t>Addr6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855" name="Google Shape;3855;p284"/>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
        <p:nvSpPr>
          <p:cNvPr descr="TextBox 10" id="3856" name="Google Shape;3856;p284"/>
          <p:cNvSpPr txBox="1"/>
          <p:nvPr/>
        </p:nvSpPr>
        <p:spPr>
          <a:xfrm>
            <a:off x="5973763" y="4714875"/>
            <a:ext cx="243681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Shadow Page Directory</a:t>
            </a:r>
            <a:endParaRPr/>
          </a:p>
        </p:txBody>
      </p:sp>
      <p:sp>
        <p:nvSpPr>
          <p:cNvPr descr="TextBox 11" id="3857" name="Google Shape;3857;p284"/>
          <p:cNvSpPr txBox="1"/>
          <p:nvPr/>
        </p:nvSpPr>
        <p:spPr>
          <a:xfrm>
            <a:off x="6500813" y="5000625"/>
            <a:ext cx="1390650" cy="963613"/>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TextBox 12" id="3858" name="Google Shape;3858;p284"/>
          <p:cNvSpPr txBox="1"/>
          <p:nvPr/>
        </p:nvSpPr>
        <p:spPr>
          <a:xfrm>
            <a:off x="1403350" y="1641475"/>
            <a:ext cx="1414463" cy="523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000000"/>
                </a:solidFill>
                <a:latin typeface="Verdana"/>
                <a:ea typeface="Verdana"/>
                <a:cs typeface="Verdana"/>
                <a:sym typeface="Verdana"/>
              </a:rPr>
              <a:t>Current Page</a:t>
            </a:r>
            <a:endParaRPr/>
          </a:p>
          <a:p>
            <a:pPr indent="0" lvl="0" marL="0" marR="0" rtl="0" algn="ctr">
              <a:spcBef>
                <a:spcPts val="0"/>
              </a:spcBef>
              <a:spcAft>
                <a:spcPts val="0"/>
              </a:spcAft>
              <a:buNone/>
            </a:pPr>
            <a:r>
              <a:rPr b="1" lang="en-US" sz="1400">
                <a:solidFill>
                  <a:srgbClr val="000000"/>
                </a:solidFill>
                <a:latin typeface="Verdana"/>
                <a:ea typeface="Verdana"/>
                <a:cs typeface="Verdana"/>
                <a:sym typeface="Verdana"/>
              </a:rPr>
              <a:t>Directory</a:t>
            </a:r>
            <a:endParaRPr/>
          </a:p>
        </p:txBody>
      </p:sp>
      <p:sp>
        <p:nvSpPr>
          <p:cNvPr descr="TextBox 13" id="3859" name="Google Shape;3859;p284"/>
          <p:cNvSpPr txBox="1"/>
          <p:nvPr/>
        </p:nvSpPr>
        <p:spPr>
          <a:xfrm>
            <a:off x="1355725" y="2212975"/>
            <a:ext cx="2071688" cy="965200"/>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 Addr5</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 </a:t>
            </a:r>
            <a:r>
              <a:rPr lang="en-US" sz="1400">
                <a:solidFill>
                  <a:srgbClr val="FF0000"/>
                </a:solidFill>
                <a:latin typeface="Verdana"/>
                <a:ea typeface="Verdana"/>
                <a:cs typeface="Verdana"/>
                <a:sym typeface="Verdana"/>
              </a:rPr>
              <a:t>Addr6</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Rectangle 14" id="3860" name="Google Shape;3860;p284"/>
          <p:cNvSpPr/>
          <p:nvPr/>
        </p:nvSpPr>
        <p:spPr>
          <a:xfrm>
            <a:off x="1069975" y="1570038"/>
            <a:ext cx="2571750" cy="2073275"/>
          </a:xfrm>
          <a:prstGeom prst="rect">
            <a:avLst/>
          </a:prstGeom>
          <a:noFill/>
          <a:ln cap="flat" cmpd="sng" w="28575">
            <a:solidFill>
              <a:srgbClr val="00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5" id="3861" name="Google Shape;3861;p284"/>
          <p:cNvSpPr txBox="1"/>
          <p:nvPr/>
        </p:nvSpPr>
        <p:spPr>
          <a:xfrm>
            <a:off x="1616075" y="1212850"/>
            <a:ext cx="14732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Main Memory</a:t>
            </a:r>
            <a:endParaRPr/>
          </a:p>
        </p:txBody>
      </p:sp>
      <p:sp>
        <p:nvSpPr>
          <p:cNvPr descr="TextBox 16" id="3862" name="Google Shape;3862;p284"/>
          <p:cNvSpPr txBox="1"/>
          <p:nvPr/>
        </p:nvSpPr>
        <p:spPr>
          <a:xfrm>
            <a:off x="69850" y="3929063"/>
            <a:ext cx="240506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operations</a:t>
            </a:r>
            <a:endParaRPr/>
          </a:p>
        </p:txBody>
      </p:sp>
      <p:sp>
        <p:nvSpPr>
          <p:cNvPr descr="TextBox 17" id="3863" name="Google Shape;3863;p284"/>
          <p:cNvSpPr txBox="1"/>
          <p:nvPr/>
        </p:nvSpPr>
        <p:spPr>
          <a:xfrm>
            <a:off x="95250" y="4286250"/>
            <a:ext cx="2557463" cy="17891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(Start,T1)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(Write,T1,B,2000,2050)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(Start, T2)</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(Write,T2,C,700,600)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(Write,T2,D,50,30)</a:t>
            </a:r>
            <a:endParaRPr/>
          </a:p>
        </p:txBody>
      </p:sp>
      <p:sp>
        <p:nvSpPr>
          <p:cNvPr descr="TextBox 18" id="3864" name="Google Shape;3864;p284"/>
          <p:cNvSpPr txBox="1"/>
          <p:nvPr/>
        </p:nvSpPr>
        <p:spPr>
          <a:xfrm>
            <a:off x="2757488" y="4143375"/>
            <a:ext cx="2749550" cy="20208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6600"/>
                </a:solidFill>
                <a:latin typeface="Verdana"/>
                <a:ea typeface="Verdana"/>
                <a:cs typeface="Verdana"/>
                <a:sym typeface="Verdana"/>
              </a:rPr>
              <a:t>After execution of</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(write,T2,2000,2050)</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Then new page table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is created on disk and</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Current page</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Directory updated.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But shadow directory will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not be updated</a:t>
            </a:r>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8" name="Shape 3868"/>
        <p:cNvGrpSpPr/>
        <p:nvPr/>
      </p:nvGrpSpPr>
      <p:grpSpPr>
        <a:xfrm>
          <a:off x="0" y="0"/>
          <a:ext cx="0" cy="0"/>
          <a:chOff x="0" y="0"/>
          <a:chExt cx="0" cy="0"/>
        </a:xfrm>
      </p:grpSpPr>
      <p:sp>
        <p:nvSpPr>
          <p:cNvPr descr="Title 1" id="3869" name="Google Shape;3869;p28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870" name="Google Shape;3870;p28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71" name="Google Shape;3871;p28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
        <p:nvSpPr>
          <p:cNvPr descr="Rectangle 6" id="3872" name="Google Shape;3872;p285"/>
          <p:cNvSpPr/>
          <p:nvPr/>
        </p:nvSpPr>
        <p:spPr>
          <a:xfrm>
            <a:off x="5357813" y="1069975"/>
            <a:ext cx="3714750" cy="5145088"/>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7" id="3873" name="Google Shape;3873;p285"/>
          <p:cNvSpPr txBox="1"/>
          <p:nvPr/>
        </p:nvSpPr>
        <p:spPr>
          <a:xfrm>
            <a:off x="6759575" y="641350"/>
            <a:ext cx="1103313"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Hard Disk</a:t>
            </a:r>
            <a:endParaRPr/>
          </a:p>
        </p:txBody>
      </p:sp>
      <p:graphicFrame>
        <p:nvGraphicFramePr>
          <p:cNvPr id="3874" name="Google Shape;3874;p285"/>
          <p:cNvGraphicFramePr/>
          <p:nvPr/>
        </p:nvGraphicFramePr>
        <p:xfrm>
          <a:off x="5572125" y="1357313"/>
          <a:ext cx="3000000" cy="3000000"/>
        </p:xfrm>
        <a:graphic>
          <a:graphicData uri="http://schemas.openxmlformats.org/drawingml/2006/table">
            <a:tbl>
              <a:tblPr>
                <a:noFill/>
                <a:tableStyleId>{DA31C186-C125-4E34-A739-053F885C22C1}</a:tableStyleId>
              </a:tblPr>
              <a:tblGrid>
                <a:gridCol w="714375"/>
                <a:gridCol w="1428750"/>
                <a:gridCol w="1190625"/>
              </a:tblGrid>
              <a:tr h="7524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PageNo.</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Page/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Sub-table</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Data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Location</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873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Data Item</a:t>
                      </a:r>
                      <a:br>
                        <a:rPr b="0" i="0" lang="en-US" sz="1600" u="none" cap="none" strike="noStrike">
                          <a:solidFill>
                            <a:srgbClr val="000000"/>
                          </a:solidFill>
                          <a:latin typeface="Verdana"/>
                          <a:ea typeface="Verdana"/>
                          <a:cs typeface="Verdana"/>
                          <a:sym typeface="Verdana"/>
                        </a:rPr>
                      </a:br>
                      <a:r>
                        <a:rPr b="0" i="0" lang="en-US" sz="1600" u="none" cap="none" strike="noStrike">
                          <a:solidFill>
                            <a:srgbClr val="000000"/>
                          </a:solidFill>
                          <a:latin typeface="Verdana"/>
                          <a:ea typeface="Verdana"/>
                          <a:cs typeface="Verdana"/>
                          <a:sym typeface="Verdana"/>
                        </a:rPr>
                        <a:t>A 1000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Addr1</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 2000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Addr2</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 700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Addr3</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D 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Addr4</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 950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Addr5</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B 2050</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Addr6</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875" name="Google Shape;3875;p285"/>
          <p:cNvSpPr txBox="1"/>
          <p:nvPr/>
        </p:nvSpPr>
        <p:spPr>
          <a:xfrm>
            <a:off x="6045200" y="1011238"/>
            <a:ext cx="16383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Database table</a:t>
            </a:r>
            <a:endParaRPr/>
          </a:p>
        </p:txBody>
      </p:sp>
      <p:sp>
        <p:nvSpPr>
          <p:cNvPr descr="TextBox 10" id="3876" name="Google Shape;3876;p285"/>
          <p:cNvSpPr txBox="1"/>
          <p:nvPr/>
        </p:nvSpPr>
        <p:spPr>
          <a:xfrm>
            <a:off x="5973763" y="4714875"/>
            <a:ext cx="2436812" cy="3063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US" sz="1400">
                <a:solidFill>
                  <a:srgbClr val="000000"/>
                </a:solidFill>
                <a:latin typeface="Verdana"/>
                <a:ea typeface="Verdana"/>
                <a:cs typeface="Verdana"/>
                <a:sym typeface="Verdana"/>
              </a:rPr>
              <a:t>Shadow Page Directory</a:t>
            </a:r>
            <a:endParaRPr/>
          </a:p>
        </p:txBody>
      </p:sp>
      <p:sp>
        <p:nvSpPr>
          <p:cNvPr descr="TextBox 11" id="3877" name="Google Shape;3877;p285"/>
          <p:cNvSpPr txBox="1"/>
          <p:nvPr/>
        </p:nvSpPr>
        <p:spPr>
          <a:xfrm>
            <a:off x="6500813" y="5000625"/>
            <a:ext cx="2357437" cy="963613"/>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 </a:t>
            </a:r>
            <a:r>
              <a:rPr lang="en-US" sz="1400">
                <a:solidFill>
                  <a:srgbClr val="FF0000"/>
                </a:solidFill>
                <a:latin typeface="Verdana"/>
                <a:ea typeface="Verdana"/>
                <a:cs typeface="Verdana"/>
                <a:sym typeface="Verdana"/>
              </a:rPr>
              <a:t>Addr5</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 </a:t>
            </a:r>
            <a:r>
              <a:rPr lang="en-US" sz="1400">
                <a:solidFill>
                  <a:srgbClr val="FF0000"/>
                </a:solidFill>
                <a:latin typeface="Verdana"/>
                <a:ea typeface="Verdana"/>
                <a:cs typeface="Verdana"/>
                <a:sym typeface="Verdana"/>
              </a:rPr>
              <a:t>Addr6</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TextBox 12" id="3878" name="Google Shape;3878;p285"/>
          <p:cNvSpPr txBox="1"/>
          <p:nvPr/>
        </p:nvSpPr>
        <p:spPr>
          <a:xfrm>
            <a:off x="1403350" y="1641475"/>
            <a:ext cx="1414463" cy="523875"/>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000000"/>
                </a:solidFill>
                <a:latin typeface="Verdana"/>
                <a:ea typeface="Verdana"/>
                <a:cs typeface="Verdana"/>
                <a:sym typeface="Verdana"/>
              </a:rPr>
              <a:t>Current Page</a:t>
            </a:r>
            <a:endParaRPr/>
          </a:p>
          <a:p>
            <a:pPr indent="0" lvl="0" marL="0" marR="0" rtl="0" algn="ctr">
              <a:spcBef>
                <a:spcPts val="0"/>
              </a:spcBef>
              <a:spcAft>
                <a:spcPts val="0"/>
              </a:spcAft>
              <a:buNone/>
            </a:pPr>
            <a:r>
              <a:rPr b="1" lang="en-US" sz="1400">
                <a:solidFill>
                  <a:srgbClr val="000000"/>
                </a:solidFill>
                <a:latin typeface="Verdana"/>
                <a:ea typeface="Verdana"/>
                <a:cs typeface="Verdana"/>
                <a:sym typeface="Verdana"/>
              </a:rPr>
              <a:t>Directory</a:t>
            </a:r>
            <a:endParaRPr/>
          </a:p>
        </p:txBody>
      </p:sp>
      <p:sp>
        <p:nvSpPr>
          <p:cNvPr descr="TextBox 13" id="3879" name="Google Shape;3879;p285"/>
          <p:cNvSpPr txBox="1"/>
          <p:nvPr/>
        </p:nvSpPr>
        <p:spPr>
          <a:xfrm>
            <a:off x="1355725" y="2212975"/>
            <a:ext cx="2071688" cy="965200"/>
          </a:xfrm>
          <a:prstGeom prst="rect">
            <a:avLst/>
          </a:prstGeom>
          <a:noFill/>
          <a:ln cap="flat" cmpd="sng" w="9525">
            <a:solidFill>
              <a:srgbClr val="0066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400">
                <a:solidFill>
                  <a:srgbClr val="000000"/>
                </a:solidFill>
                <a:latin typeface="Verdana"/>
                <a:ea typeface="Verdana"/>
                <a:cs typeface="Verdana"/>
                <a:sym typeface="Verdana"/>
              </a:rPr>
              <a:t>Page 1: Addr1 Addr5</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2: Addr2 Addr6</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3: Addr3</a:t>
            </a:r>
            <a:endParaRPr/>
          </a:p>
          <a:p>
            <a:pPr indent="0" lvl="0" marL="0" marR="0" rtl="0" algn="l">
              <a:spcBef>
                <a:spcPts val="0"/>
              </a:spcBef>
              <a:spcAft>
                <a:spcPts val="0"/>
              </a:spcAft>
              <a:buNone/>
            </a:pPr>
            <a:r>
              <a:rPr lang="en-US" sz="1400">
                <a:solidFill>
                  <a:srgbClr val="000000"/>
                </a:solidFill>
                <a:latin typeface="Verdana"/>
                <a:ea typeface="Verdana"/>
                <a:cs typeface="Verdana"/>
                <a:sym typeface="Verdana"/>
              </a:rPr>
              <a:t>Page 4: Addr4</a:t>
            </a:r>
            <a:endParaRPr/>
          </a:p>
        </p:txBody>
      </p:sp>
      <p:sp>
        <p:nvSpPr>
          <p:cNvPr descr="Rectangle 14" id="3880" name="Google Shape;3880;p285"/>
          <p:cNvSpPr/>
          <p:nvPr/>
        </p:nvSpPr>
        <p:spPr>
          <a:xfrm>
            <a:off x="1069975" y="1570038"/>
            <a:ext cx="2571750" cy="2073275"/>
          </a:xfrm>
          <a:prstGeom prst="rect">
            <a:avLst/>
          </a:prstGeom>
          <a:noFill/>
          <a:ln cap="flat" cmpd="sng" w="28575">
            <a:solidFill>
              <a:srgbClr val="0000FF"/>
            </a:solidFill>
            <a:prstDash val="solid"/>
            <a:round/>
            <a:headEnd len="sm" w="sm" type="none"/>
            <a:tailEnd len="sm" w="sm" type="none"/>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rgbClr val="000000"/>
              </a:solidFill>
              <a:latin typeface="Verdana"/>
              <a:ea typeface="Verdana"/>
              <a:cs typeface="Verdana"/>
              <a:sym typeface="Verdana"/>
            </a:endParaRPr>
          </a:p>
        </p:txBody>
      </p:sp>
      <p:sp>
        <p:nvSpPr>
          <p:cNvPr descr="TextBox 15" id="3881" name="Google Shape;3881;p285"/>
          <p:cNvSpPr txBox="1"/>
          <p:nvPr/>
        </p:nvSpPr>
        <p:spPr>
          <a:xfrm>
            <a:off x="1616075" y="1212850"/>
            <a:ext cx="1473200" cy="3333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C00000"/>
                </a:solidFill>
                <a:latin typeface="Verdana"/>
                <a:ea typeface="Verdana"/>
                <a:cs typeface="Verdana"/>
                <a:sym typeface="Verdana"/>
              </a:rPr>
              <a:t>Main Memory</a:t>
            </a:r>
            <a:endParaRPr/>
          </a:p>
        </p:txBody>
      </p:sp>
      <p:sp>
        <p:nvSpPr>
          <p:cNvPr descr="TextBox 16" id="3882" name="Google Shape;3882;p285"/>
          <p:cNvSpPr txBox="1"/>
          <p:nvPr/>
        </p:nvSpPr>
        <p:spPr>
          <a:xfrm>
            <a:off x="69850" y="3929063"/>
            <a:ext cx="2405063" cy="331787"/>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Transaction operations</a:t>
            </a:r>
            <a:endParaRPr/>
          </a:p>
        </p:txBody>
      </p:sp>
      <p:sp>
        <p:nvSpPr>
          <p:cNvPr descr="TextBox 17" id="3883" name="Google Shape;3883;p285"/>
          <p:cNvSpPr txBox="1"/>
          <p:nvPr/>
        </p:nvSpPr>
        <p:spPr>
          <a:xfrm>
            <a:off x="95250" y="4286250"/>
            <a:ext cx="2557463" cy="1789113"/>
          </a:xfrm>
          <a:prstGeom prst="rect">
            <a:avLst/>
          </a:prstGeom>
          <a:noFill/>
          <a:ln cap="flat" cmpd="sng" w="9525">
            <a:solidFill>
              <a:srgbClr val="000000"/>
            </a:solidFill>
            <a:prstDash val="solid"/>
            <a:round/>
            <a:headEnd len="sm" w="sm" type="none"/>
            <a:tailEnd len="sm" w="sm" type="none"/>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0000"/>
                </a:solidFill>
                <a:latin typeface="Verdana"/>
                <a:ea typeface="Verdana"/>
                <a:cs typeface="Verdana"/>
                <a:sym typeface="Verdana"/>
              </a:rPr>
              <a:t>(Start,T1)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(Write,T1,A,1000,950)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(Write,T1,B,2000,2050)</a:t>
            </a:r>
            <a:endParaRPr/>
          </a:p>
          <a:p>
            <a:pPr indent="0" lvl="0" marL="0" marR="0" rtl="0" algn="l">
              <a:spcBef>
                <a:spcPts val="0"/>
              </a:spcBef>
              <a:spcAft>
                <a:spcPts val="0"/>
              </a:spcAft>
              <a:buNone/>
            </a:pPr>
            <a:r>
              <a:rPr lang="en-US" sz="1600">
                <a:solidFill>
                  <a:srgbClr val="FF00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(Start, T2)</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(Write,T2,C,700,600)</a:t>
            </a:r>
            <a:endParaRPr/>
          </a:p>
          <a:p>
            <a:pPr indent="0" lvl="0" marL="0" marR="0" rtl="0" algn="l">
              <a:spcBef>
                <a:spcPts val="0"/>
              </a:spcBef>
              <a:spcAft>
                <a:spcPts val="0"/>
              </a:spcAft>
              <a:buNone/>
            </a:pPr>
            <a:r>
              <a:rPr lang="en-US" sz="1600">
                <a:solidFill>
                  <a:srgbClr val="000000"/>
                </a:solidFill>
                <a:latin typeface="Verdana"/>
                <a:ea typeface="Verdana"/>
                <a:cs typeface="Verdana"/>
                <a:sym typeface="Verdana"/>
              </a:rPr>
              <a:t>(Write,T2,D,50,30)</a:t>
            </a:r>
            <a:endParaRPr/>
          </a:p>
        </p:txBody>
      </p:sp>
      <p:sp>
        <p:nvSpPr>
          <p:cNvPr descr="TextBox 18" id="3884" name="Google Shape;3884;p285"/>
          <p:cNvSpPr txBox="1"/>
          <p:nvPr/>
        </p:nvSpPr>
        <p:spPr>
          <a:xfrm>
            <a:off x="2757488" y="4143375"/>
            <a:ext cx="2647950" cy="1779588"/>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600">
                <a:solidFill>
                  <a:srgbClr val="006600"/>
                </a:solidFill>
                <a:latin typeface="Verdana"/>
                <a:ea typeface="Verdana"/>
                <a:cs typeface="Verdana"/>
                <a:sym typeface="Verdana"/>
              </a:rPr>
              <a:t>After execution of</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(commit,T1)</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Shadow directory will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be updated and old page</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On the hard disk will be </a:t>
            </a:r>
            <a:endParaRPr/>
          </a:p>
          <a:p>
            <a:pPr indent="0" lvl="0" marL="0" marR="0" rtl="0" algn="l">
              <a:spcBef>
                <a:spcPts val="0"/>
              </a:spcBef>
              <a:spcAft>
                <a:spcPts val="0"/>
              </a:spcAft>
              <a:buNone/>
            </a:pPr>
            <a:r>
              <a:rPr lang="en-US" sz="1600">
                <a:solidFill>
                  <a:srgbClr val="006600"/>
                </a:solidFill>
                <a:latin typeface="Verdana"/>
                <a:ea typeface="Verdana"/>
                <a:cs typeface="Verdana"/>
                <a:sym typeface="Verdana"/>
              </a:rPr>
              <a:t>discarded</a:t>
            </a:r>
            <a:endParaRPr/>
          </a:p>
        </p:txBody>
      </p:sp>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8" name="Shape 3888"/>
        <p:cNvGrpSpPr/>
        <p:nvPr/>
      </p:nvGrpSpPr>
      <p:grpSpPr>
        <a:xfrm>
          <a:off x="0" y="0"/>
          <a:ext cx="0" cy="0"/>
          <a:chOff x="0" y="0"/>
          <a:chExt cx="0" cy="0"/>
        </a:xfrm>
      </p:grpSpPr>
      <p:sp>
        <p:nvSpPr>
          <p:cNvPr descr="Title 1" id="3889" name="Google Shape;3889;p28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Shadow Paging</a:t>
            </a:r>
            <a:endParaRPr/>
          </a:p>
        </p:txBody>
      </p:sp>
      <p:sp>
        <p:nvSpPr>
          <p:cNvPr descr="Date Placeholder 3" id="3890" name="Google Shape;3890;p28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91" name="Google Shape;3891;p28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892" name="Google Shape;3892;p286"/>
          <p:cNvPicPr preferRelativeResize="0"/>
          <p:nvPr/>
        </p:nvPicPr>
        <p:blipFill rotWithShape="1">
          <a:blip r:embed="rId3">
            <a:alphaModFix/>
          </a:blip>
          <a:srcRect b="0" l="0" r="0" t="0"/>
          <a:stretch/>
        </p:blipFill>
        <p:spPr>
          <a:xfrm>
            <a:off x="1069975" y="1317625"/>
            <a:ext cx="7026275" cy="4754563"/>
          </a:xfrm>
          <a:prstGeom prst="rect">
            <a:avLst/>
          </a:prstGeom>
          <a:noFill/>
          <a:ln>
            <a:noFill/>
          </a:ln>
        </p:spPr>
      </p:pic>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6" name="Shape 3896"/>
        <p:cNvGrpSpPr/>
        <p:nvPr/>
      </p:nvGrpSpPr>
      <p:grpSpPr>
        <a:xfrm>
          <a:off x="0" y="0"/>
          <a:ext cx="0" cy="0"/>
          <a:chOff x="0" y="0"/>
          <a:chExt cx="0" cy="0"/>
        </a:xfrm>
      </p:grpSpPr>
      <p:sp>
        <p:nvSpPr>
          <p:cNvPr descr="Title 1" id="3897" name="Google Shape;3897;p28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“ARIES” recovery algorithm</a:t>
            </a:r>
            <a:endParaRPr/>
          </a:p>
        </p:txBody>
      </p:sp>
      <p:sp>
        <p:nvSpPr>
          <p:cNvPr descr="Date Placeholder 3" id="3898" name="Google Shape;3898;p28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899" name="Google Shape;3899;p28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900" name="Google Shape;3900;p287"/>
          <p:cNvPicPr preferRelativeResize="0"/>
          <p:nvPr/>
        </p:nvPicPr>
        <p:blipFill rotWithShape="1">
          <a:blip r:embed="rId3">
            <a:alphaModFix/>
          </a:blip>
          <a:srcRect b="0" l="0" r="0" t="0"/>
          <a:stretch/>
        </p:blipFill>
        <p:spPr>
          <a:xfrm>
            <a:off x="784225" y="1427163"/>
            <a:ext cx="7872413" cy="4073525"/>
          </a:xfrm>
          <a:prstGeom prst="rect">
            <a:avLst/>
          </a:prstGeom>
          <a:noFill/>
          <a:ln>
            <a:noFill/>
          </a:ln>
        </p:spPr>
      </p:pic>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4" name="Shape 3904"/>
        <p:cNvGrpSpPr/>
        <p:nvPr/>
      </p:nvGrpSpPr>
      <p:grpSpPr>
        <a:xfrm>
          <a:off x="0" y="0"/>
          <a:ext cx="0" cy="0"/>
          <a:chOff x="0" y="0"/>
          <a:chExt cx="0" cy="0"/>
        </a:xfrm>
      </p:grpSpPr>
      <p:sp>
        <p:nvSpPr>
          <p:cNvPr descr="Title 1" id="3905" name="Google Shape;3905;p28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“ARIES” recovery algorithm</a:t>
            </a:r>
            <a:endParaRPr/>
          </a:p>
        </p:txBody>
      </p:sp>
      <p:sp>
        <p:nvSpPr>
          <p:cNvPr descr="Date Placeholder 3" id="3906" name="Google Shape;3906;p28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07" name="Google Shape;3907;p28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908" name="Google Shape;3908;p288"/>
          <p:cNvPicPr preferRelativeResize="0"/>
          <p:nvPr/>
        </p:nvPicPr>
        <p:blipFill rotWithShape="1">
          <a:blip r:embed="rId3">
            <a:alphaModFix/>
          </a:blip>
          <a:srcRect b="0" l="0" r="0" t="0"/>
          <a:stretch/>
        </p:blipFill>
        <p:spPr>
          <a:xfrm>
            <a:off x="784225" y="1570038"/>
            <a:ext cx="7750175" cy="3368675"/>
          </a:xfrm>
          <a:prstGeom prst="rect">
            <a:avLst/>
          </a:prstGeom>
          <a:noFill/>
          <a:ln>
            <a:noFill/>
          </a:ln>
        </p:spPr>
      </p:pic>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2" name="Shape 3912"/>
        <p:cNvGrpSpPr/>
        <p:nvPr/>
      </p:nvGrpSpPr>
      <p:grpSpPr>
        <a:xfrm>
          <a:off x="0" y="0"/>
          <a:ext cx="0" cy="0"/>
          <a:chOff x="0" y="0"/>
          <a:chExt cx="0" cy="0"/>
        </a:xfrm>
      </p:grpSpPr>
      <p:sp>
        <p:nvSpPr>
          <p:cNvPr descr="Title 1" id="3913" name="Google Shape;3913;p289"/>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“ARIES” recovery algorithm</a:t>
            </a:r>
            <a:endParaRPr/>
          </a:p>
        </p:txBody>
      </p:sp>
      <p:sp>
        <p:nvSpPr>
          <p:cNvPr descr="Date Placeholder 3" id="3914" name="Google Shape;3914;p289"/>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15" name="Google Shape;3915;p289"/>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916" name="Google Shape;3916;p289"/>
          <p:cNvPicPr preferRelativeResize="0"/>
          <p:nvPr/>
        </p:nvPicPr>
        <p:blipFill rotWithShape="1">
          <a:blip r:embed="rId3">
            <a:alphaModFix/>
          </a:blip>
          <a:srcRect b="0" l="0" r="0" t="0"/>
          <a:stretch/>
        </p:blipFill>
        <p:spPr>
          <a:xfrm>
            <a:off x="427038" y="1427163"/>
            <a:ext cx="8274050" cy="3219450"/>
          </a:xfrm>
          <a:prstGeom prst="rect">
            <a:avLst/>
          </a:prstGeom>
          <a:noFill/>
          <a:ln>
            <a:noFill/>
          </a:ln>
        </p:spPr>
      </p:pic>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0" name="Shape 3920"/>
        <p:cNvGrpSpPr/>
        <p:nvPr/>
      </p:nvGrpSpPr>
      <p:grpSpPr>
        <a:xfrm>
          <a:off x="0" y="0"/>
          <a:ext cx="0" cy="0"/>
          <a:chOff x="0" y="0"/>
          <a:chExt cx="0" cy="0"/>
        </a:xfrm>
      </p:grpSpPr>
      <p:sp>
        <p:nvSpPr>
          <p:cNvPr descr="Rectangle 2" id="3921" name="Google Shape;3921;p290"/>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Next we will learn Deadlocks</a:t>
            </a:r>
            <a:endParaRPr/>
          </a:p>
        </p:txBody>
      </p:sp>
      <p:sp>
        <p:nvSpPr>
          <p:cNvPr descr="Rectangle 3" id="3922" name="Google Shape;3922;p290"/>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l">
              <a:lnSpc>
                <a:spcPct val="80000"/>
              </a:lnSpc>
              <a:spcBef>
                <a:spcPts val="0"/>
              </a:spcBef>
              <a:spcAft>
                <a:spcPts val="0"/>
              </a:spcAft>
              <a:buClr>
                <a:srgbClr val="003366"/>
              </a:buClr>
              <a:buSzPts val="2000"/>
              <a:buFont typeface="Verdana"/>
              <a:buNone/>
            </a:pPr>
            <a:r>
              <a:rPr lang="en-US" sz="2000"/>
              <a:t>Deadlocks occur when each transaction T in a set of two or more transactions is waiting for some item that is locked by some other transaction T’ in the set.</a:t>
            </a:r>
            <a:endParaRPr/>
          </a:p>
        </p:txBody>
      </p:sp>
      <p:sp>
        <p:nvSpPr>
          <p:cNvPr descr="Date Placeholder 1" id="3923" name="Google Shape;3923;p290"/>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3924" name="Google Shape;3924;p290"/>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8" name="Shape 3928"/>
        <p:cNvGrpSpPr/>
        <p:nvPr/>
      </p:nvGrpSpPr>
      <p:grpSpPr>
        <a:xfrm>
          <a:off x="0" y="0"/>
          <a:ext cx="0" cy="0"/>
          <a:chOff x="0" y="0"/>
          <a:chExt cx="0" cy="0"/>
        </a:xfrm>
      </p:grpSpPr>
      <p:sp>
        <p:nvSpPr>
          <p:cNvPr descr="Title 1" id="3929" name="Google Shape;3929;p291"/>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Illustrating Deadlock Problem</a:t>
            </a:r>
            <a:endParaRPr/>
          </a:p>
        </p:txBody>
      </p:sp>
      <p:sp>
        <p:nvSpPr>
          <p:cNvPr descr="Date Placeholder 3" id="3930" name="Google Shape;3930;p291"/>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31" name="Google Shape;3931;p291"/>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2" id="3932" name="Google Shape;3932;p291"/>
          <p:cNvPicPr preferRelativeResize="0"/>
          <p:nvPr/>
        </p:nvPicPr>
        <p:blipFill rotWithShape="1">
          <a:blip r:embed="rId3">
            <a:alphaModFix/>
          </a:blip>
          <a:srcRect b="0" l="0" r="0" t="0"/>
          <a:stretch/>
        </p:blipFill>
        <p:spPr>
          <a:xfrm>
            <a:off x="4284663" y="3859213"/>
            <a:ext cx="4645025" cy="2427287"/>
          </a:xfrm>
          <a:prstGeom prst="rect">
            <a:avLst/>
          </a:prstGeom>
          <a:noFill/>
          <a:ln>
            <a:noFill/>
          </a:ln>
        </p:spPr>
      </p:pic>
      <p:graphicFrame>
        <p:nvGraphicFramePr>
          <p:cNvPr id="3933" name="Google Shape;3933;p291"/>
          <p:cNvGraphicFramePr/>
          <p:nvPr/>
        </p:nvGraphicFramePr>
        <p:xfrm>
          <a:off x="285750" y="1143000"/>
          <a:ext cx="3000000" cy="3000000"/>
        </p:xfrm>
        <a:graphic>
          <a:graphicData uri="http://schemas.openxmlformats.org/drawingml/2006/table">
            <a:tbl>
              <a:tblPr>
                <a:noFill/>
                <a:tableStyleId>{DA31C186-C125-4E34-A739-053F885C22C1}</a:tableStyleId>
              </a:tblPr>
              <a:tblGrid>
                <a:gridCol w="2071700"/>
                <a:gridCol w="2571750"/>
              </a:tblGrid>
              <a:tr h="320675">
                <a:tc>
                  <a:txBody>
                    <a:bodyPr/>
                    <a:lstStyle/>
                    <a:p>
                      <a:pPr indent="0" lvl="0" marL="0" marR="0" rtl="0" algn="ctr">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Transaction A</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Verdana"/>
                        <a:buNone/>
                      </a:pPr>
                      <a:r>
                        <a:rPr b="1" i="0" lang="en-US" sz="1400" u="none" cap="none" strike="noStrike">
                          <a:solidFill>
                            <a:srgbClr val="000000"/>
                          </a:solidFill>
                          <a:latin typeface="Verdana"/>
                          <a:ea typeface="Verdana"/>
                          <a:cs typeface="Verdana"/>
                          <a:sym typeface="Verdana"/>
                        </a:rPr>
                        <a:t>Transaction B</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Read_lock(orders)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Read_item(orders)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Read_lock(accounts)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41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Read_item(accounts)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36575">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Write_lock(accounts)</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(wait for accounts)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36575">
                <a:tc>
                  <a:txBody>
                    <a:bodyPr/>
                    <a:lstStyle/>
                    <a:p>
                      <a:pPr indent="0" lvl="0" marL="0" marR="0" rtl="0" algn="l">
                        <a:lnSpc>
                          <a:spcPct val="100000"/>
                        </a:lnSpc>
                        <a:spcBef>
                          <a:spcPts val="0"/>
                        </a:spcBef>
                        <a:spcAft>
                          <a:spcPts val="0"/>
                        </a:spcAft>
                        <a:buClr>
                          <a:schemeClr val="dk1"/>
                        </a:buClr>
                        <a:buSzPts val="1800"/>
                        <a:buFont typeface="Verdana"/>
                        <a:buNone/>
                      </a:pPr>
                      <a:r>
                        <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Verdana"/>
                        <a:buNone/>
                      </a:pPr>
                      <a:r>
                        <a:rPr b="0" i="0" lang="en-US" sz="1400" u="none" cap="none" strike="noStrike">
                          <a:solidFill>
                            <a:srgbClr val="000000"/>
                          </a:solidFill>
                          <a:latin typeface="Verdana"/>
                          <a:ea typeface="Verdana"/>
                          <a:cs typeface="Verdana"/>
                          <a:sym typeface="Verdana"/>
                        </a:rPr>
                        <a:t>Write_lock(oders)</a:t>
                      </a:r>
                      <a:br>
                        <a:rPr b="0" i="0" lang="en-US" sz="1400" u="none" cap="none" strike="noStrike">
                          <a:solidFill>
                            <a:srgbClr val="000000"/>
                          </a:solidFill>
                          <a:latin typeface="Verdana"/>
                          <a:ea typeface="Verdana"/>
                          <a:cs typeface="Verdana"/>
                          <a:sym typeface="Verdana"/>
                        </a:rPr>
                      </a:br>
                      <a:r>
                        <a:rPr b="0" i="0" lang="en-US" sz="1400" u="none" cap="none" strike="noStrike">
                          <a:solidFill>
                            <a:srgbClr val="000000"/>
                          </a:solidFill>
                          <a:latin typeface="Verdana"/>
                          <a:ea typeface="Verdana"/>
                          <a:cs typeface="Verdana"/>
                          <a:sym typeface="Verdana"/>
                        </a:rPr>
                        <a:t>(wait for oders)</a:t>
                      </a:r>
                      <a:endParaRPr b="0" i="0" sz="18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descr="TextBox 9" id="3934" name="Google Shape;3934;p291"/>
          <p:cNvSpPr txBox="1"/>
          <p:nvPr/>
        </p:nvSpPr>
        <p:spPr>
          <a:xfrm>
            <a:off x="5688013" y="3141663"/>
            <a:ext cx="2389187" cy="65087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800">
                <a:solidFill>
                  <a:srgbClr val="0000FF"/>
                </a:solidFill>
                <a:latin typeface="Verdana"/>
                <a:ea typeface="Verdana"/>
                <a:cs typeface="Verdana"/>
                <a:sym typeface="Verdana"/>
              </a:rPr>
              <a:t>Deadlock between </a:t>
            </a:r>
            <a:endParaRPr/>
          </a:p>
          <a:p>
            <a:pPr indent="0" lvl="0" marL="0" marR="0" rtl="0" algn="l">
              <a:spcBef>
                <a:spcPts val="0"/>
              </a:spcBef>
              <a:spcAft>
                <a:spcPts val="0"/>
              </a:spcAft>
              <a:buNone/>
            </a:pPr>
            <a:r>
              <a:rPr lang="en-US" sz="1800">
                <a:solidFill>
                  <a:srgbClr val="0000FF"/>
                </a:solidFill>
                <a:latin typeface="Verdana"/>
                <a:ea typeface="Verdana"/>
                <a:cs typeface="Verdana"/>
                <a:sym typeface="Verdana"/>
              </a:rPr>
              <a:t>Transaction A and B</a:t>
            </a:r>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8" name="Shape 3938"/>
        <p:cNvGrpSpPr/>
        <p:nvPr/>
      </p:nvGrpSpPr>
      <p:grpSpPr>
        <a:xfrm>
          <a:off x="0" y="0"/>
          <a:ext cx="0" cy="0"/>
          <a:chOff x="0" y="0"/>
          <a:chExt cx="0" cy="0"/>
        </a:xfrm>
      </p:grpSpPr>
      <p:sp>
        <p:nvSpPr>
          <p:cNvPr descr="Title 1" id="3939" name="Google Shape;3939;p292"/>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Approaches for dealing with deadlocks</a:t>
            </a:r>
            <a:endParaRPr/>
          </a:p>
        </p:txBody>
      </p:sp>
      <p:sp>
        <p:nvSpPr>
          <p:cNvPr descr="Content Placeholder 2" id="3940" name="Google Shape;3940;p292"/>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Noto Sans Symbols"/>
              <a:buNone/>
            </a:pPr>
            <a:r>
              <a:rPr lang="en-US" sz="2000">
                <a:solidFill>
                  <a:srgbClr val="C00000"/>
                </a:solidFill>
              </a:rPr>
              <a:t>1.</a:t>
            </a:r>
            <a:r>
              <a:rPr lang="en-US" sz="2000"/>
              <a:t>Deadlock Prevention Protocols</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 </a:t>
            </a:r>
            <a:r>
              <a:rPr lang="en-US" sz="2000"/>
              <a:t>Based on Timestamp</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1.1.1. </a:t>
            </a:r>
            <a:r>
              <a:rPr lang="en-US" sz="2000"/>
              <a:t>Wait-Die</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1.1.2. </a:t>
            </a:r>
            <a:r>
              <a:rPr lang="en-US" sz="2000"/>
              <a:t>Wound-Wait</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a:t>
            </a:r>
            <a:r>
              <a:rPr lang="en-US" sz="2000"/>
              <a:t> Without using timestamp</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1.2.1. </a:t>
            </a:r>
            <a:r>
              <a:rPr lang="en-US" sz="2000"/>
              <a:t>No-waiting</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1.2.2. </a:t>
            </a:r>
            <a:r>
              <a:rPr lang="en-US" sz="2000"/>
              <a:t>Cautious waiting</a:t>
            </a:r>
            <a:endParaRPr/>
          </a:p>
          <a:p>
            <a:pPr indent="-469900" lvl="0" marL="469900" rtl="0" algn="l">
              <a:spcBef>
                <a:spcPts val="700"/>
              </a:spcBef>
              <a:spcAft>
                <a:spcPts val="0"/>
              </a:spcAft>
              <a:buSzPts val="2000"/>
              <a:buFont typeface="Noto Sans Symbols"/>
              <a:buNone/>
            </a:pPr>
            <a:r>
              <a:t/>
            </a:r>
            <a:endParaRPr sz="2000"/>
          </a:p>
          <a:p>
            <a:pPr indent="-469900" lvl="0" marL="469900" rtl="0" algn="l">
              <a:spcBef>
                <a:spcPts val="400"/>
              </a:spcBef>
              <a:spcAft>
                <a:spcPts val="0"/>
              </a:spcAft>
              <a:buSzPts val="2000"/>
              <a:buFont typeface="Noto Sans Symbols"/>
              <a:buNone/>
            </a:pPr>
            <a:r>
              <a:rPr lang="en-US" sz="2000">
                <a:solidFill>
                  <a:srgbClr val="C00000"/>
                </a:solidFill>
              </a:rPr>
              <a:t>2. </a:t>
            </a:r>
            <a:r>
              <a:rPr lang="en-US" sz="2000"/>
              <a:t>Deadlock Detection Protocols</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2.1. </a:t>
            </a:r>
            <a:r>
              <a:rPr lang="en-US" sz="2000"/>
              <a:t>Using wait-for graph</a:t>
            </a:r>
            <a:endParaRPr/>
          </a:p>
          <a:p>
            <a:pPr indent="-469900" lvl="0" marL="469900" rtl="0" algn="l">
              <a:spcBef>
                <a:spcPts val="700"/>
              </a:spcBef>
              <a:spcAft>
                <a:spcPts val="0"/>
              </a:spcAft>
              <a:buSzPts val="2000"/>
              <a:buFont typeface="Noto Sans Symbols"/>
              <a:buNone/>
            </a:pPr>
            <a:r>
              <a:t/>
            </a:r>
            <a:endParaRPr sz="2000"/>
          </a:p>
          <a:p>
            <a:pPr indent="-469900" lvl="0" marL="469900" rtl="0" algn="l">
              <a:spcBef>
                <a:spcPts val="400"/>
              </a:spcBef>
              <a:spcAft>
                <a:spcPts val="0"/>
              </a:spcAft>
              <a:buSzPts val="2000"/>
              <a:buFont typeface="Noto Sans Symbols"/>
              <a:buNone/>
            </a:pPr>
            <a:r>
              <a:rPr lang="en-US" sz="2000">
                <a:solidFill>
                  <a:srgbClr val="C00000"/>
                </a:solidFill>
              </a:rPr>
              <a:t>3.</a:t>
            </a:r>
            <a:r>
              <a:rPr lang="en-US" sz="2000"/>
              <a:t> Timeouts</a:t>
            </a:r>
            <a:endParaRPr sz="2000">
              <a:solidFill>
                <a:srgbClr val="C00000"/>
              </a:solidFill>
            </a:endParaRPr>
          </a:p>
        </p:txBody>
      </p:sp>
      <p:sp>
        <p:nvSpPr>
          <p:cNvPr descr="Date Placeholder 3" id="3941" name="Google Shape;3941;p292"/>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42" name="Google Shape;3942;p292"/>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6" name="Shape 3946"/>
        <p:cNvGrpSpPr/>
        <p:nvPr/>
      </p:nvGrpSpPr>
      <p:grpSpPr>
        <a:xfrm>
          <a:off x="0" y="0"/>
          <a:ext cx="0" cy="0"/>
          <a:chOff x="0" y="0"/>
          <a:chExt cx="0" cy="0"/>
        </a:xfrm>
      </p:grpSpPr>
      <p:sp>
        <p:nvSpPr>
          <p:cNvPr descr="Title 1" id="3947" name="Google Shape;3947;p293"/>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Deadlock Prevention Protocols</a:t>
            </a:r>
            <a:endParaRPr/>
          </a:p>
        </p:txBody>
      </p:sp>
      <p:sp>
        <p:nvSpPr>
          <p:cNvPr descr="Content Placeholder 2" id="3948" name="Google Shape;3948;p293"/>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Noto Sans Symbols"/>
              <a:buNone/>
            </a:pPr>
            <a:r>
              <a:rPr b="1" lang="en-US" sz="2000"/>
              <a:t>Based on Timestamp</a:t>
            </a:r>
            <a:r>
              <a:rPr lang="en-US" sz="2000"/>
              <a:t>: </a:t>
            </a:r>
            <a:r>
              <a:rPr lang="en-US" sz="2000">
                <a:solidFill>
                  <a:srgbClr val="C00000"/>
                </a:solidFill>
              </a:rPr>
              <a:t>1. </a:t>
            </a:r>
            <a:r>
              <a:rPr lang="en-US" sz="2000"/>
              <a:t>Wait-Die 	</a:t>
            </a:r>
            <a:r>
              <a:rPr lang="en-US" sz="2000">
                <a:solidFill>
                  <a:srgbClr val="C00000"/>
                </a:solidFill>
              </a:rPr>
              <a:t>2.</a:t>
            </a:r>
            <a:r>
              <a:rPr lang="en-US" sz="2000"/>
              <a:t>Wound-Wait</a:t>
            </a:r>
            <a:endParaRPr/>
          </a:p>
          <a:p>
            <a:pPr indent="-469900" lvl="0" marL="469900" rtl="0" algn="l">
              <a:lnSpc>
                <a:spcPct val="80000"/>
              </a:lnSpc>
              <a:spcBef>
                <a:spcPts val="400"/>
              </a:spcBef>
              <a:spcAft>
                <a:spcPts val="0"/>
              </a:spcAft>
              <a:buSzPts val="1800"/>
              <a:buFont typeface="Noto Sans Symbols"/>
              <a:buNone/>
            </a:pPr>
            <a:r>
              <a:rPr lang="en-US" sz="1800"/>
              <a:t>Suppose Ti tries to lock an item X but is not able because X is </a:t>
            </a:r>
            <a:endParaRPr/>
          </a:p>
          <a:p>
            <a:pPr indent="-469900" lvl="0" marL="469900" rtl="0" algn="l">
              <a:lnSpc>
                <a:spcPct val="80000"/>
              </a:lnSpc>
              <a:spcBef>
                <a:spcPts val="400"/>
              </a:spcBef>
              <a:spcAft>
                <a:spcPts val="0"/>
              </a:spcAft>
              <a:buSzPts val="1800"/>
              <a:buFont typeface="Noto Sans Symbols"/>
              <a:buNone/>
            </a:pPr>
            <a:r>
              <a:rPr lang="en-US" sz="1800"/>
              <a:t>locked by some other transaction Tj.</a:t>
            </a:r>
            <a:endParaRPr/>
          </a:p>
          <a:p>
            <a:pPr indent="-469900" lvl="0" marL="469900" rtl="0" algn="l">
              <a:lnSpc>
                <a:spcPct val="80000"/>
              </a:lnSpc>
              <a:spcBef>
                <a:spcPts val="400"/>
              </a:spcBef>
              <a:spcAft>
                <a:spcPts val="0"/>
              </a:spcAft>
              <a:buSzPts val="1800"/>
              <a:buFont typeface="Noto Sans Symbols"/>
              <a:buNone/>
            </a:pPr>
            <a:r>
              <a:rPr lang="en-US" sz="1800">
                <a:solidFill>
                  <a:srgbClr val="C00000"/>
                </a:solidFill>
              </a:rPr>
              <a:t>1. wait-die:</a:t>
            </a:r>
            <a:endParaRPr/>
          </a:p>
          <a:p>
            <a:pPr indent="-234950" lvl="1" marL="704850" rtl="0" algn="l">
              <a:lnSpc>
                <a:spcPct val="80000"/>
              </a:lnSpc>
              <a:spcBef>
                <a:spcPts val="300"/>
              </a:spcBef>
              <a:spcAft>
                <a:spcPts val="0"/>
              </a:spcAft>
              <a:buSzPts val="1600"/>
              <a:buFont typeface="Verdana"/>
              <a:buChar char="■"/>
            </a:pPr>
            <a:r>
              <a:rPr lang="en-US" sz="1600"/>
              <a:t>If TS(Ti) &lt; TS(Tj), then (Ti older than Tj), Ti is allowed to wait</a:t>
            </a:r>
            <a:endParaRPr sz="2600"/>
          </a:p>
          <a:p>
            <a:pPr indent="-234950" lvl="1" marL="704850" rtl="0" algn="l">
              <a:lnSpc>
                <a:spcPct val="80000"/>
              </a:lnSpc>
              <a:spcBef>
                <a:spcPts val="300"/>
              </a:spcBef>
              <a:spcAft>
                <a:spcPts val="0"/>
              </a:spcAft>
              <a:buSzPts val="1600"/>
              <a:buFont typeface="Verdana"/>
              <a:buChar char="■"/>
            </a:pPr>
            <a:r>
              <a:rPr lang="en-US" sz="1600"/>
              <a:t>Otherwise (Ti younger than Tj) abort &amp; rollback Ti and restart it using the same timestamp</a:t>
            </a:r>
            <a:endParaRPr sz="2600"/>
          </a:p>
          <a:p>
            <a:pPr indent="-234950" lvl="1" marL="704850" rtl="0" algn="l">
              <a:lnSpc>
                <a:spcPct val="80000"/>
              </a:lnSpc>
              <a:spcBef>
                <a:spcPts val="600"/>
              </a:spcBef>
              <a:spcAft>
                <a:spcPts val="0"/>
              </a:spcAft>
              <a:buSzPts val="1600"/>
              <a:buFont typeface="Noto Sans Symbols"/>
              <a:buNone/>
            </a:pPr>
            <a:r>
              <a:t/>
            </a:r>
            <a:endParaRPr sz="1600"/>
          </a:p>
          <a:p>
            <a:pPr indent="-234950" lvl="1" marL="704850" rtl="0" algn="l">
              <a:lnSpc>
                <a:spcPct val="80000"/>
              </a:lnSpc>
              <a:spcBef>
                <a:spcPts val="600"/>
              </a:spcBef>
              <a:spcAft>
                <a:spcPts val="0"/>
              </a:spcAft>
              <a:buSzPts val="1600"/>
              <a:buFont typeface="Noto Sans Symbols"/>
              <a:buNone/>
            </a:pPr>
            <a:r>
              <a:t/>
            </a:r>
            <a:endParaRPr sz="1600"/>
          </a:p>
          <a:p>
            <a:pPr indent="-234950" lvl="1" marL="704850" rtl="0" algn="l">
              <a:lnSpc>
                <a:spcPct val="80000"/>
              </a:lnSpc>
              <a:spcBef>
                <a:spcPts val="600"/>
              </a:spcBef>
              <a:spcAft>
                <a:spcPts val="0"/>
              </a:spcAft>
              <a:buSzPts val="1600"/>
              <a:buFont typeface="Noto Sans Symbols"/>
              <a:buNone/>
            </a:pPr>
            <a:r>
              <a:t/>
            </a:r>
            <a:endParaRPr sz="1600"/>
          </a:p>
          <a:p>
            <a:pPr indent="-469900" lvl="0" marL="469900" rtl="0" algn="l">
              <a:lnSpc>
                <a:spcPct val="80000"/>
              </a:lnSpc>
              <a:spcBef>
                <a:spcPts val="700"/>
              </a:spcBef>
              <a:spcAft>
                <a:spcPts val="0"/>
              </a:spcAft>
              <a:buSzPts val="1800"/>
              <a:buFont typeface="Noto Sans Symbols"/>
              <a:buNone/>
            </a:pPr>
            <a:r>
              <a:t/>
            </a:r>
            <a:endParaRPr sz="1800"/>
          </a:p>
          <a:p>
            <a:pPr indent="-469900" lvl="0" marL="469900" rtl="0" algn="l">
              <a:lnSpc>
                <a:spcPct val="80000"/>
              </a:lnSpc>
              <a:spcBef>
                <a:spcPts val="700"/>
              </a:spcBef>
              <a:spcAft>
                <a:spcPts val="0"/>
              </a:spcAft>
              <a:buSzPts val="1000"/>
              <a:buFont typeface="Noto Sans Symbols"/>
              <a:buNone/>
            </a:pPr>
            <a:r>
              <a:t/>
            </a:r>
            <a:endParaRPr sz="1000"/>
          </a:p>
          <a:p>
            <a:pPr indent="-469900" lvl="0" marL="469900" rtl="0" algn="l">
              <a:lnSpc>
                <a:spcPct val="80000"/>
              </a:lnSpc>
              <a:spcBef>
                <a:spcPts val="400"/>
              </a:spcBef>
              <a:spcAft>
                <a:spcPts val="0"/>
              </a:spcAft>
              <a:buSzPts val="1800"/>
              <a:buFont typeface="Noto Sans Symbols"/>
              <a:buNone/>
            </a:pPr>
            <a:r>
              <a:rPr lang="en-US" sz="1800">
                <a:solidFill>
                  <a:srgbClr val="C00000"/>
                </a:solidFill>
              </a:rPr>
              <a:t>2. wound-wait:</a:t>
            </a:r>
            <a:endParaRPr/>
          </a:p>
          <a:p>
            <a:pPr indent="-234950" lvl="1" marL="704850" rtl="0" algn="l">
              <a:lnSpc>
                <a:spcPct val="80000"/>
              </a:lnSpc>
              <a:spcBef>
                <a:spcPts val="300"/>
              </a:spcBef>
              <a:spcAft>
                <a:spcPts val="0"/>
              </a:spcAft>
              <a:buSzPts val="1600"/>
              <a:buFont typeface="Verdana"/>
              <a:buChar char="■"/>
            </a:pPr>
            <a:r>
              <a:rPr lang="en-US" sz="1600"/>
              <a:t>If TS(Ti) &lt; TS(Tj), then (Ti older than Tj), abort &amp; rollback Tj, and restart it using the same timestamp</a:t>
            </a:r>
            <a:endParaRPr sz="2600"/>
          </a:p>
          <a:p>
            <a:pPr indent="-234950" lvl="1" marL="704850" rtl="0" algn="l">
              <a:lnSpc>
                <a:spcPct val="80000"/>
              </a:lnSpc>
              <a:spcBef>
                <a:spcPts val="300"/>
              </a:spcBef>
              <a:spcAft>
                <a:spcPts val="0"/>
              </a:spcAft>
              <a:buSzPts val="1600"/>
              <a:buFont typeface="Verdana"/>
              <a:buChar char="■"/>
            </a:pPr>
            <a:r>
              <a:rPr lang="en-US" sz="1600"/>
              <a:t>Otherwise (Ti younger than Tj), Ti is allowed to wait</a:t>
            </a:r>
            <a:endParaRPr/>
          </a:p>
        </p:txBody>
      </p:sp>
      <p:sp>
        <p:nvSpPr>
          <p:cNvPr descr="Date Placeholder 3" id="3949" name="Google Shape;3949;p293"/>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50" name="Google Shape;3950;p293"/>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graphicFrame>
        <p:nvGraphicFramePr>
          <p:cNvPr id="3951" name="Google Shape;3951;p293"/>
          <p:cNvGraphicFramePr/>
          <p:nvPr/>
        </p:nvGraphicFramePr>
        <p:xfrm>
          <a:off x="1143000" y="3121025"/>
          <a:ext cx="3000000" cy="3000000"/>
        </p:xfrm>
        <a:graphic>
          <a:graphicData uri="http://schemas.openxmlformats.org/drawingml/2006/table">
            <a:tbl>
              <a:tblPr>
                <a:noFill/>
                <a:tableStyleId>{DA31C186-C125-4E34-A739-053F885C22C1}</a:tableStyleId>
              </a:tblPr>
              <a:tblGrid>
                <a:gridCol w="3286125"/>
                <a:gridCol w="3810000"/>
              </a:tblGrid>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 Older Transaction </a:t>
                      </a:r>
                      <a:r>
                        <a:rPr b="1" i="0" lang="en-US" sz="1600" u="none" cap="none" strike="noStrike">
                          <a:solidFill>
                            <a:srgbClr val="000000"/>
                          </a:solidFill>
                          <a:latin typeface="Verdana"/>
                          <a:ea typeface="Verdana"/>
                          <a:cs typeface="Verdana"/>
                          <a:sym typeface="Verdana"/>
                        </a:rPr>
                        <a:t>To</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 Younger transaction </a:t>
                      </a:r>
                      <a:r>
                        <a:rPr b="1" i="0" lang="en-US" sz="1600" u="none" cap="none" strike="noStrike">
                          <a:solidFill>
                            <a:srgbClr val="000000"/>
                          </a:solidFill>
                          <a:latin typeface="Verdana"/>
                          <a:ea typeface="Verdana"/>
                          <a:cs typeface="Verdana"/>
                          <a:sym typeface="Verdana"/>
                        </a:rPr>
                        <a:t>Ty</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Then </a:t>
                      </a:r>
                      <a:r>
                        <a:rPr b="1" i="0" lang="en-US" sz="1600" u="none" cap="none" strike="noStrike">
                          <a:solidFill>
                            <a:srgbClr val="000000"/>
                          </a:solidFill>
                          <a:latin typeface="Verdana"/>
                          <a:ea typeface="Verdana"/>
                          <a:cs typeface="Verdana"/>
                          <a:sym typeface="Verdana"/>
                        </a:rPr>
                        <a:t>To</a:t>
                      </a:r>
                      <a:r>
                        <a:rPr b="0" i="0" lang="en-US" sz="1600" u="none" cap="none" strike="noStrike">
                          <a:solidFill>
                            <a:srgbClr val="000000"/>
                          </a:solidFill>
                          <a:latin typeface="Verdana"/>
                          <a:ea typeface="Verdana"/>
                          <a:cs typeface="Verdana"/>
                          <a:sym typeface="Verdana"/>
                        </a:rPr>
                        <a:t> waits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If </a:t>
                      </a:r>
                      <a:r>
                        <a:rPr b="1" i="0" lang="en-US" sz="1600" u="none" cap="none" strike="noStrike">
                          <a:solidFill>
                            <a:srgbClr val="000000"/>
                          </a:solidFill>
                          <a:latin typeface="Verdana"/>
                          <a:ea typeface="Verdana"/>
                          <a:cs typeface="Verdana"/>
                          <a:sym typeface="Verdana"/>
                        </a:rPr>
                        <a:t>Ty</a:t>
                      </a:r>
                      <a:r>
                        <a:rPr b="0" i="0" lang="en-US" sz="1600" u="none" cap="none" strike="noStrike">
                          <a:solidFill>
                            <a:srgbClr val="000000"/>
                          </a:solidFill>
                          <a:latin typeface="Verdana"/>
                          <a:ea typeface="Verdana"/>
                          <a:cs typeface="Verdana"/>
                          <a:sym typeface="Verdana"/>
                        </a:rPr>
                        <a:t> holds X</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0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If </a:t>
                      </a:r>
                      <a:r>
                        <a:rPr b="1" i="0" lang="en-US" sz="1600" u="none" cap="none" strike="noStrike">
                          <a:solidFill>
                            <a:srgbClr val="000000"/>
                          </a:solidFill>
                          <a:latin typeface="Verdana"/>
                          <a:ea typeface="Verdana"/>
                          <a:cs typeface="Verdana"/>
                          <a:sym typeface="Verdana"/>
                        </a:rPr>
                        <a:t>To</a:t>
                      </a:r>
                      <a:r>
                        <a:rPr b="0" i="0" lang="en-US" sz="1600" u="none" cap="none" strike="noStrike">
                          <a:solidFill>
                            <a:srgbClr val="000000"/>
                          </a:solidFill>
                          <a:latin typeface="Verdana"/>
                          <a:ea typeface="Verdana"/>
                          <a:cs typeface="Verdana"/>
                          <a:sym typeface="Verdana"/>
                        </a:rPr>
                        <a:t> holds X</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Then </a:t>
                      </a:r>
                      <a:r>
                        <a:rPr b="1" i="0" lang="en-US" sz="1600" u="none" cap="none" strike="noStrike">
                          <a:solidFill>
                            <a:srgbClr val="000000"/>
                          </a:solidFill>
                          <a:latin typeface="Verdana"/>
                          <a:ea typeface="Verdana"/>
                          <a:cs typeface="Verdana"/>
                          <a:sym typeface="Verdana"/>
                        </a:rPr>
                        <a:t>Ty</a:t>
                      </a:r>
                      <a:r>
                        <a:rPr b="0" i="0" lang="en-US" sz="1600" u="none" cap="none" strike="noStrike">
                          <a:solidFill>
                            <a:srgbClr val="000000"/>
                          </a:solidFill>
                          <a:latin typeface="Verdana"/>
                          <a:ea typeface="Verdana"/>
                          <a:cs typeface="Verdana"/>
                          <a:sym typeface="Verdana"/>
                        </a:rPr>
                        <a:t> is discarded (die)</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3952" name="Google Shape;3952;p293"/>
          <p:cNvGraphicFramePr/>
          <p:nvPr/>
        </p:nvGraphicFramePr>
        <p:xfrm>
          <a:off x="868363" y="5300663"/>
          <a:ext cx="3000000" cy="3000000"/>
        </p:xfrm>
        <a:graphic>
          <a:graphicData uri="http://schemas.openxmlformats.org/drawingml/2006/table">
            <a:tbl>
              <a:tblPr>
                <a:noFill/>
                <a:tableStyleId>{DA31C186-C125-4E34-A739-053F885C22C1}</a:tableStyleId>
              </a:tblPr>
              <a:tblGrid>
                <a:gridCol w="3857625"/>
                <a:gridCol w="3738550"/>
              </a:tblGrid>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4:00pm, Older Transaction </a:t>
                      </a:r>
                      <a:r>
                        <a:rPr b="1" i="0" lang="en-US" sz="1600" u="none" cap="none" strike="noStrike">
                          <a:solidFill>
                            <a:srgbClr val="000000"/>
                          </a:solidFill>
                          <a:latin typeface="Verdana"/>
                          <a:ea typeface="Verdana"/>
                          <a:cs typeface="Verdana"/>
                          <a:sym typeface="Verdana"/>
                        </a:rPr>
                        <a:t>To</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4:05pm, Younger transaction </a:t>
                      </a:r>
                      <a:r>
                        <a:rPr b="1" i="0" lang="en-US" sz="1600" u="none" cap="none" strike="noStrike">
                          <a:solidFill>
                            <a:srgbClr val="000000"/>
                          </a:solidFill>
                          <a:latin typeface="Verdana"/>
                          <a:ea typeface="Verdana"/>
                          <a:cs typeface="Verdana"/>
                          <a:sym typeface="Verdana"/>
                        </a:rPr>
                        <a:t>Ty</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If </a:t>
                      </a:r>
                      <a:r>
                        <a:rPr b="1" i="0" lang="en-US" sz="1600" u="none" cap="none" strike="noStrike">
                          <a:solidFill>
                            <a:srgbClr val="000000"/>
                          </a:solidFill>
                          <a:latin typeface="Verdana"/>
                          <a:ea typeface="Verdana"/>
                          <a:cs typeface="Verdana"/>
                          <a:sym typeface="Verdana"/>
                        </a:rPr>
                        <a:t>To</a:t>
                      </a:r>
                      <a:r>
                        <a:rPr b="0" i="0" lang="en-US" sz="1600" u="none" cap="none" strike="noStrike">
                          <a:solidFill>
                            <a:srgbClr val="000000"/>
                          </a:solidFill>
                          <a:latin typeface="Verdana"/>
                          <a:ea typeface="Verdana"/>
                          <a:cs typeface="Verdana"/>
                          <a:sym typeface="Verdana"/>
                        </a:rPr>
                        <a:t> holds X</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Then </a:t>
                      </a:r>
                      <a:r>
                        <a:rPr b="1" i="0" lang="en-US" sz="1600" u="none" cap="none" strike="noStrike">
                          <a:solidFill>
                            <a:srgbClr val="000000"/>
                          </a:solidFill>
                          <a:latin typeface="Verdana"/>
                          <a:ea typeface="Verdana"/>
                          <a:cs typeface="Verdana"/>
                          <a:sym typeface="Verdana"/>
                        </a:rPr>
                        <a:t>Ty</a:t>
                      </a:r>
                      <a:r>
                        <a:rPr b="0" i="0" lang="en-US" sz="1600" u="none" cap="none" strike="noStrike">
                          <a:solidFill>
                            <a:srgbClr val="000000"/>
                          </a:solidFill>
                          <a:latin typeface="Verdana"/>
                          <a:ea typeface="Verdana"/>
                          <a:cs typeface="Verdana"/>
                          <a:sym typeface="Verdana"/>
                        </a:rPr>
                        <a:t> waits</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475">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Then </a:t>
                      </a:r>
                      <a:r>
                        <a:rPr b="1" i="0" lang="en-US" sz="1600" u="none" cap="none" strike="noStrike">
                          <a:solidFill>
                            <a:srgbClr val="000000"/>
                          </a:solidFill>
                          <a:latin typeface="Verdana"/>
                          <a:ea typeface="Verdana"/>
                          <a:cs typeface="Verdana"/>
                          <a:sym typeface="Verdana"/>
                        </a:rPr>
                        <a:t>To</a:t>
                      </a:r>
                      <a:r>
                        <a:rPr b="0" i="0" lang="en-US" sz="1600" u="none" cap="none" strike="noStrike">
                          <a:solidFill>
                            <a:srgbClr val="000000"/>
                          </a:solidFill>
                          <a:latin typeface="Verdana"/>
                          <a:ea typeface="Verdana"/>
                          <a:cs typeface="Verdana"/>
                          <a:sym typeface="Verdana"/>
                        </a:rPr>
                        <a:t> pre-empts (wounds) </a:t>
                      </a:r>
                      <a:r>
                        <a:rPr b="1" i="0" lang="en-US" sz="1600" u="none" cap="none" strike="noStrike">
                          <a:solidFill>
                            <a:srgbClr val="000000"/>
                          </a:solidFill>
                          <a:latin typeface="Verdana"/>
                          <a:ea typeface="Verdana"/>
                          <a:cs typeface="Verdana"/>
                          <a:sym typeface="Verdana"/>
                        </a:rPr>
                        <a:t>Ty</a:t>
                      </a:r>
                      <a:endParaRPr b="0" i="0" sz="1600" u="none" cap="none" strike="noStrike">
                        <a:solidFill>
                          <a:srgbClr val="000000"/>
                        </a:solidFill>
                        <a:latin typeface="Verdana"/>
                        <a:ea typeface="Verdana"/>
                        <a:cs typeface="Verdana"/>
                        <a:sym typeface="Verdana"/>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If </a:t>
                      </a:r>
                      <a:r>
                        <a:rPr b="1" i="0" lang="en-US" sz="1600" u="none" cap="none" strike="noStrike">
                          <a:solidFill>
                            <a:srgbClr val="000000"/>
                          </a:solidFill>
                          <a:latin typeface="Verdana"/>
                          <a:ea typeface="Verdana"/>
                          <a:cs typeface="Verdana"/>
                          <a:sym typeface="Verdana"/>
                        </a:rPr>
                        <a:t>Ty</a:t>
                      </a:r>
                      <a:r>
                        <a:rPr b="0" i="0" lang="en-US" sz="1600" u="none" cap="none" strike="noStrike">
                          <a:solidFill>
                            <a:srgbClr val="000000"/>
                          </a:solidFill>
                          <a:latin typeface="Verdana"/>
                          <a:ea typeface="Verdana"/>
                          <a:cs typeface="Verdana"/>
                          <a:sym typeface="Verdana"/>
                        </a:rPr>
                        <a:t> holds X</a:t>
                      </a:r>
                      <a:endParaRPr/>
                    </a:p>
                  </a:txBody>
                  <a:tcPr marT="45725" marB="45725" marR="45725" marL="457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6" name="Shape 3956"/>
        <p:cNvGrpSpPr/>
        <p:nvPr/>
      </p:nvGrpSpPr>
      <p:grpSpPr>
        <a:xfrm>
          <a:off x="0" y="0"/>
          <a:ext cx="0" cy="0"/>
          <a:chOff x="0" y="0"/>
          <a:chExt cx="0" cy="0"/>
        </a:xfrm>
      </p:grpSpPr>
      <p:sp>
        <p:nvSpPr>
          <p:cNvPr descr="Title 1" id="3957" name="Google Shape;3957;p294"/>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Deadlock Prevention protocol</a:t>
            </a:r>
            <a:endParaRPr/>
          </a:p>
        </p:txBody>
      </p:sp>
      <p:sp>
        <p:nvSpPr>
          <p:cNvPr descr="Content Placeholder 2" id="3958" name="Google Shape;3958;p294"/>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508000" lvl="0" marL="508000" rtl="0" algn="l">
              <a:spcBef>
                <a:spcPts val="0"/>
              </a:spcBef>
              <a:spcAft>
                <a:spcPts val="0"/>
              </a:spcAft>
              <a:buSzPts val="2000"/>
              <a:buFont typeface="Noto Sans Symbols"/>
              <a:buNone/>
            </a:pPr>
            <a:r>
              <a:rPr b="1" lang="en-US" sz="2000"/>
              <a:t>Without using Timestamp</a:t>
            </a:r>
            <a:endParaRPr/>
          </a:p>
          <a:p>
            <a:pPr indent="-508000" lvl="0" marL="508000" rtl="0" algn="l">
              <a:spcBef>
                <a:spcPts val="400"/>
              </a:spcBef>
              <a:spcAft>
                <a:spcPts val="0"/>
              </a:spcAft>
              <a:buSzPts val="2000"/>
              <a:buFont typeface="Verdana"/>
              <a:buAutoNum type="arabicPeriod"/>
            </a:pPr>
            <a:r>
              <a:rPr lang="en-US" sz="2000"/>
              <a:t>No-Waiting: If transaction cannot get lock it assumes deadlock. So it dies, waits and restarts later</a:t>
            </a:r>
            <a:endParaRPr/>
          </a:p>
          <a:p>
            <a:pPr indent="-381000" lvl="0" marL="508000" rtl="0" algn="l">
              <a:spcBef>
                <a:spcPts val="700"/>
              </a:spcBef>
              <a:spcAft>
                <a:spcPts val="0"/>
              </a:spcAft>
              <a:buSzPts val="2000"/>
              <a:buFont typeface="Verdana"/>
              <a:buNone/>
            </a:pPr>
            <a:r>
              <a:t/>
            </a:r>
            <a:endParaRPr sz="2000"/>
          </a:p>
          <a:p>
            <a:pPr indent="-508000" lvl="0" marL="508000" rtl="0" algn="l">
              <a:spcBef>
                <a:spcPts val="400"/>
              </a:spcBef>
              <a:spcAft>
                <a:spcPts val="0"/>
              </a:spcAft>
              <a:buSzPts val="2000"/>
              <a:buFont typeface="Verdana"/>
              <a:buAutoNum type="arabicPeriod"/>
            </a:pPr>
            <a:r>
              <a:rPr lang="en-US" sz="2000"/>
              <a:t>Cautious Waiting</a:t>
            </a:r>
            <a:endParaRPr/>
          </a:p>
          <a:p>
            <a:pPr indent="-508000" lvl="0" marL="508000" rtl="0" algn="l">
              <a:spcBef>
                <a:spcPts val="400"/>
              </a:spcBef>
              <a:spcAft>
                <a:spcPts val="0"/>
              </a:spcAft>
              <a:buSzPts val="2000"/>
              <a:buFont typeface="Noto Sans Symbols"/>
              <a:buNone/>
            </a:pPr>
            <a:r>
              <a:rPr lang="en-US" sz="2000"/>
              <a:t>If transaction cannot get lock, it check the lock holder</a:t>
            </a:r>
            <a:endParaRPr/>
          </a:p>
          <a:p>
            <a:pPr indent="-508000" lvl="0" marL="508000" rtl="0" algn="l">
              <a:spcBef>
                <a:spcPts val="400"/>
              </a:spcBef>
              <a:spcAft>
                <a:spcPts val="0"/>
              </a:spcAft>
              <a:buSzPts val="2000"/>
              <a:buFont typeface="Noto Sans Symbols"/>
              <a:buNone/>
            </a:pPr>
            <a:r>
              <a:rPr lang="en-US" sz="2000"/>
              <a:t>	- If lock holder is already waiting then transaction dies and restarts later</a:t>
            </a:r>
            <a:endParaRPr/>
          </a:p>
          <a:p>
            <a:pPr indent="-508000" lvl="0" marL="508000" rtl="0" algn="l">
              <a:spcBef>
                <a:spcPts val="400"/>
              </a:spcBef>
              <a:spcAft>
                <a:spcPts val="0"/>
              </a:spcAft>
              <a:buSzPts val="2000"/>
              <a:buFont typeface="Noto Sans Symbols"/>
              <a:buNone/>
            </a:pPr>
            <a:r>
              <a:rPr lang="en-US" sz="2000"/>
              <a:t>	 - If Lock holder is active then transaction waits</a:t>
            </a:r>
            <a:endParaRPr/>
          </a:p>
        </p:txBody>
      </p:sp>
      <p:sp>
        <p:nvSpPr>
          <p:cNvPr descr="Date Placeholder 3" id="3959" name="Google Shape;3959;p294"/>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60" name="Google Shape;3960;p294"/>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4" name="Shape 3964"/>
        <p:cNvGrpSpPr/>
        <p:nvPr/>
      </p:nvGrpSpPr>
      <p:grpSpPr>
        <a:xfrm>
          <a:off x="0" y="0"/>
          <a:ext cx="0" cy="0"/>
          <a:chOff x="0" y="0"/>
          <a:chExt cx="0" cy="0"/>
        </a:xfrm>
      </p:grpSpPr>
      <p:sp>
        <p:nvSpPr>
          <p:cNvPr descr="Title 1" id="3965" name="Google Shape;3965;p295"/>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Deadlock Prevention protocol</a:t>
            </a:r>
            <a:endParaRPr/>
          </a:p>
        </p:txBody>
      </p:sp>
      <p:sp>
        <p:nvSpPr>
          <p:cNvPr descr="Content Placeholder 2" id="3966" name="Google Shape;3966;p295"/>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400"/>
              <a:buFont typeface="Verdana"/>
              <a:buChar char="□"/>
            </a:pPr>
            <a:r>
              <a:rPr b="1" lang="en-US" sz="2400"/>
              <a:t>Timeouts</a:t>
            </a:r>
            <a:r>
              <a:rPr lang="en-US" sz="2400"/>
              <a:t>: If a transaction waits for a period longer than a </a:t>
            </a:r>
            <a:r>
              <a:rPr b="1" lang="en-US" sz="2400"/>
              <a:t>system-defined timeout period</a:t>
            </a:r>
            <a:r>
              <a:rPr lang="en-US" sz="2400"/>
              <a:t>, the system assumes that the transaction may deadlocked and aborts it – regardless of whether a deadlock actually exists or not</a:t>
            </a:r>
            <a:endParaRPr b="1" sz="2400"/>
          </a:p>
        </p:txBody>
      </p:sp>
      <p:sp>
        <p:nvSpPr>
          <p:cNvPr descr="Date Placeholder 3" id="3967" name="Google Shape;3967;p295"/>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68" name="Google Shape;3968;p295"/>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2" name="Shape 3972"/>
        <p:cNvGrpSpPr/>
        <p:nvPr/>
      </p:nvGrpSpPr>
      <p:grpSpPr>
        <a:xfrm>
          <a:off x="0" y="0"/>
          <a:ext cx="0" cy="0"/>
          <a:chOff x="0" y="0"/>
          <a:chExt cx="0" cy="0"/>
        </a:xfrm>
      </p:grpSpPr>
      <p:sp>
        <p:nvSpPr>
          <p:cNvPr descr="Title 1" id="3973" name="Google Shape;3973;p296"/>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Deadlock Detection protocols</a:t>
            </a:r>
            <a:endParaRPr/>
          </a:p>
        </p:txBody>
      </p:sp>
      <p:sp>
        <p:nvSpPr>
          <p:cNvPr descr="Content Placeholder 2" id="3974" name="Google Shape;3974;p296"/>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1800"/>
              <a:buFont typeface="Verdana"/>
              <a:buChar char="□"/>
            </a:pPr>
            <a:r>
              <a:rPr lang="en-US" sz="1800"/>
              <a:t>In this approach, deadlocks are allowed to happen.  The scheduler maintains a </a:t>
            </a:r>
            <a:r>
              <a:rPr b="1" lang="en-US" sz="1800"/>
              <a:t>wait-for-graph</a:t>
            </a:r>
            <a:r>
              <a:rPr lang="en-US" sz="1800"/>
              <a:t> for detecting cycle.  </a:t>
            </a:r>
            <a:r>
              <a:rPr b="1" lang="en-US" sz="1800"/>
              <a:t>If a cycle exists</a:t>
            </a:r>
            <a:r>
              <a:rPr lang="en-US" sz="1800"/>
              <a:t>, then one transaction involved in the cycle is selected (victim) and rolled-back.</a:t>
            </a:r>
            <a:endParaRPr/>
          </a:p>
          <a:p>
            <a:pPr indent="-469900" lvl="0" marL="469900" rtl="0" algn="l">
              <a:spcBef>
                <a:spcPts val="400"/>
              </a:spcBef>
              <a:spcAft>
                <a:spcPts val="0"/>
              </a:spcAft>
              <a:buSzPts val="1800"/>
              <a:buFont typeface="Verdana"/>
              <a:buChar char="□"/>
            </a:pPr>
            <a:r>
              <a:rPr lang="en-US" sz="1800"/>
              <a:t>A wait-for-graph is created using the lock table.  As soon as a transaction is blocked, it is added to the graph.  When a chain like: Ti waits for Tj waits for Tk waits for Ti or Tj occurs, then this creates a cycle. One of the transaction of the cycle is selected and rolled back.</a:t>
            </a:r>
            <a:endParaRPr/>
          </a:p>
        </p:txBody>
      </p:sp>
      <p:sp>
        <p:nvSpPr>
          <p:cNvPr descr="Date Placeholder 3" id="3975" name="Google Shape;3975;p296"/>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76" name="Google Shape;3976;p296"/>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pic>
        <p:nvPicPr>
          <p:cNvPr descr="Picture 3" id="3977" name="Google Shape;3977;p296"/>
          <p:cNvPicPr preferRelativeResize="0"/>
          <p:nvPr/>
        </p:nvPicPr>
        <p:blipFill rotWithShape="1">
          <a:blip r:embed="rId3">
            <a:alphaModFix/>
          </a:blip>
          <a:srcRect b="0" l="0" r="0" t="0"/>
          <a:stretch/>
        </p:blipFill>
        <p:spPr>
          <a:xfrm>
            <a:off x="1570038" y="3929063"/>
            <a:ext cx="5145087" cy="2168525"/>
          </a:xfrm>
          <a:prstGeom prst="rect">
            <a:avLst/>
          </a:prstGeom>
          <a:noFill/>
          <a:ln>
            <a:noFill/>
          </a:ln>
        </p:spPr>
      </p:pic>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1" name="Shape 3981"/>
        <p:cNvGrpSpPr/>
        <p:nvPr/>
      </p:nvGrpSpPr>
      <p:grpSpPr>
        <a:xfrm>
          <a:off x="0" y="0"/>
          <a:ext cx="0" cy="0"/>
          <a:chOff x="0" y="0"/>
          <a:chExt cx="0" cy="0"/>
        </a:xfrm>
      </p:grpSpPr>
      <p:sp>
        <p:nvSpPr>
          <p:cNvPr descr="Title 1" id="3982" name="Google Shape;3982;p297"/>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a:t>Starvation</a:t>
            </a:r>
            <a:endParaRPr/>
          </a:p>
        </p:txBody>
      </p:sp>
      <p:sp>
        <p:nvSpPr>
          <p:cNvPr descr="Content Placeholder 2" id="3983" name="Google Shape;3983;p297"/>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Verdana"/>
              <a:buChar char="□"/>
            </a:pPr>
            <a:r>
              <a:rPr lang="en-US" sz="2000"/>
              <a:t>Starvation occurs when a particular transaction consistently waits or restarted and never gets a chance to proceed further. </a:t>
            </a:r>
            <a:endParaRPr/>
          </a:p>
          <a:p>
            <a:pPr indent="-469900" lvl="0" marL="469900" rtl="0" algn="l">
              <a:spcBef>
                <a:spcPts val="400"/>
              </a:spcBef>
              <a:spcAft>
                <a:spcPts val="0"/>
              </a:spcAft>
              <a:buSzPts val="2000"/>
              <a:buFont typeface="Verdana"/>
              <a:buChar char="□"/>
            </a:pPr>
            <a:r>
              <a:rPr lang="en-US" sz="2000"/>
              <a:t>In a deadlock resolution it is possible that the same transaction may consistently be selected as victim and rolled-back.</a:t>
            </a:r>
            <a:endParaRPr/>
          </a:p>
          <a:p>
            <a:pPr indent="-469900" lvl="0" marL="469900" rtl="0" algn="l">
              <a:spcBef>
                <a:spcPts val="400"/>
              </a:spcBef>
              <a:spcAft>
                <a:spcPts val="0"/>
              </a:spcAft>
              <a:buSzPts val="2000"/>
              <a:buFont typeface="Verdana"/>
              <a:buChar char="□"/>
            </a:pPr>
            <a:r>
              <a:rPr lang="en-US" sz="2000"/>
              <a:t>This limitation is inherent in all priority based scheduling mechanisms.</a:t>
            </a:r>
            <a:endParaRPr/>
          </a:p>
          <a:p>
            <a:pPr indent="-469900" lvl="0" marL="469900" rtl="0" algn="l">
              <a:spcBef>
                <a:spcPts val="400"/>
              </a:spcBef>
              <a:spcAft>
                <a:spcPts val="0"/>
              </a:spcAft>
              <a:buSzPts val="2000"/>
              <a:buFont typeface="Verdana"/>
              <a:buChar char="□"/>
            </a:pPr>
            <a:r>
              <a:rPr lang="en-US" sz="2000"/>
              <a:t>In Wound-Wait scheme a younger transaction may always be wounded (aborted) by a long running older transaction which may create starvation.</a:t>
            </a:r>
            <a:endParaRPr/>
          </a:p>
          <a:p>
            <a:pPr indent="-469900" lvl="0" marL="469900" rtl="0" algn="l">
              <a:spcBef>
                <a:spcPts val="400"/>
              </a:spcBef>
              <a:spcAft>
                <a:spcPts val="0"/>
              </a:spcAft>
              <a:buSzPts val="2000"/>
              <a:buFont typeface="Verdana"/>
              <a:buChar char="□"/>
            </a:pPr>
            <a:r>
              <a:rPr lang="en-US" sz="2000"/>
              <a:t>The algorithm can use higher priorities for transactions that have been aborted multiple times to avoid starvation problem.</a:t>
            </a:r>
            <a:endParaRPr/>
          </a:p>
        </p:txBody>
      </p:sp>
      <p:sp>
        <p:nvSpPr>
          <p:cNvPr descr="Date Placeholder 3" id="3984" name="Google Shape;3984;p297"/>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85" name="Google Shape;3985;p297"/>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9" name="Shape 3989"/>
        <p:cNvGrpSpPr/>
        <p:nvPr/>
      </p:nvGrpSpPr>
      <p:grpSpPr>
        <a:xfrm>
          <a:off x="0" y="0"/>
          <a:ext cx="0" cy="0"/>
          <a:chOff x="0" y="0"/>
          <a:chExt cx="0" cy="0"/>
        </a:xfrm>
      </p:grpSpPr>
      <p:sp>
        <p:nvSpPr>
          <p:cNvPr descr="Title 1" id="3990" name="Google Shape;3990;p298"/>
          <p:cNvSpPr txBox="1"/>
          <p:nvPr>
            <p:ph type="title"/>
          </p:nvPr>
        </p:nvSpPr>
        <p:spPr>
          <a:xfrm>
            <a:off x="574675" y="152400"/>
            <a:ext cx="8001000" cy="7620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Approaches for dealing with deadlocks</a:t>
            </a:r>
            <a:endParaRPr/>
          </a:p>
        </p:txBody>
      </p:sp>
      <p:sp>
        <p:nvSpPr>
          <p:cNvPr descr="Content Placeholder 2" id="3991" name="Google Shape;3991;p298"/>
          <p:cNvSpPr txBox="1"/>
          <p:nvPr>
            <p:ph idx="1" type="body"/>
          </p:nvPr>
        </p:nvSpPr>
        <p:spPr>
          <a:xfrm>
            <a:off x="566738" y="1219200"/>
            <a:ext cx="8001000" cy="5029200"/>
          </a:xfrm>
          <a:prstGeom prst="rect">
            <a:avLst/>
          </a:prstGeom>
          <a:noFill/>
          <a:ln>
            <a:noFill/>
          </a:ln>
        </p:spPr>
        <p:txBody>
          <a:bodyPr anchorCtr="0" anchor="t" bIns="45700" lIns="45700" spcFirstLastPara="1" rIns="45700" wrap="square" tIns="45700">
            <a:noAutofit/>
          </a:bodyPr>
          <a:lstStyle/>
          <a:p>
            <a:pPr indent="-469900" lvl="0" marL="469900" rtl="0" algn="l">
              <a:spcBef>
                <a:spcPts val="0"/>
              </a:spcBef>
              <a:spcAft>
                <a:spcPts val="0"/>
              </a:spcAft>
              <a:buSzPts val="2000"/>
              <a:buFont typeface="Noto Sans Symbols"/>
              <a:buNone/>
            </a:pPr>
            <a:r>
              <a:rPr lang="en-US" sz="2000">
                <a:solidFill>
                  <a:srgbClr val="C00000"/>
                </a:solidFill>
              </a:rPr>
              <a:t>1.</a:t>
            </a:r>
            <a:r>
              <a:rPr lang="en-US" sz="2000"/>
              <a:t>Deadlock Prevention Protocols</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 </a:t>
            </a:r>
            <a:r>
              <a:rPr lang="en-US" sz="2000"/>
              <a:t>Based on Timestamp</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1.1.1. </a:t>
            </a:r>
            <a:r>
              <a:rPr lang="en-US" sz="2000"/>
              <a:t>Wait-Die</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1.1.2. </a:t>
            </a:r>
            <a:r>
              <a:rPr lang="en-US" sz="2000"/>
              <a:t>Wound-Wait</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a:t>
            </a:r>
            <a:r>
              <a:rPr lang="en-US" sz="2000"/>
              <a:t> Without using timestamp</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1.2.1. </a:t>
            </a:r>
            <a:r>
              <a:rPr lang="en-US" sz="2000"/>
              <a:t>No-waiting</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1.2.2. </a:t>
            </a:r>
            <a:r>
              <a:rPr lang="en-US" sz="2000"/>
              <a:t>Cautious waiting</a:t>
            </a:r>
            <a:endParaRPr/>
          </a:p>
          <a:p>
            <a:pPr indent="-469900" lvl="0" marL="469900" rtl="0" algn="l">
              <a:spcBef>
                <a:spcPts val="700"/>
              </a:spcBef>
              <a:spcAft>
                <a:spcPts val="0"/>
              </a:spcAft>
              <a:buSzPts val="2000"/>
              <a:buFont typeface="Noto Sans Symbols"/>
              <a:buNone/>
            </a:pPr>
            <a:r>
              <a:t/>
            </a:r>
            <a:endParaRPr sz="2000"/>
          </a:p>
          <a:p>
            <a:pPr indent="-469900" lvl="0" marL="469900" rtl="0" algn="l">
              <a:spcBef>
                <a:spcPts val="400"/>
              </a:spcBef>
              <a:spcAft>
                <a:spcPts val="0"/>
              </a:spcAft>
              <a:buSzPts val="2000"/>
              <a:buFont typeface="Noto Sans Symbols"/>
              <a:buNone/>
            </a:pPr>
            <a:r>
              <a:rPr lang="en-US" sz="2000">
                <a:solidFill>
                  <a:srgbClr val="C00000"/>
                </a:solidFill>
              </a:rPr>
              <a:t>2. </a:t>
            </a:r>
            <a:r>
              <a:rPr lang="en-US" sz="2000"/>
              <a:t>Deadlock Detection Protocols</a:t>
            </a:r>
            <a:endParaRPr/>
          </a:p>
          <a:p>
            <a:pPr indent="-469900" lvl="0" marL="469900" rtl="0" algn="l">
              <a:spcBef>
                <a:spcPts val="400"/>
              </a:spcBef>
              <a:spcAft>
                <a:spcPts val="0"/>
              </a:spcAft>
              <a:buSzPts val="2000"/>
              <a:buFont typeface="Noto Sans Symbols"/>
              <a:buNone/>
            </a:pPr>
            <a:r>
              <a:rPr lang="en-US" sz="2000"/>
              <a:t>	</a:t>
            </a:r>
            <a:r>
              <a:rPr lang="en-US" sz="2000">
                <a:solidFill>
                  <a:srgbClr val="C00000"/>
                </a:solidFill>
              </a:rPr>
              <a:t>2.1. </a:t>
            </a:r>
            <a:r>
              <a:rPr lang="en-US" sz="2000"/>
              <a:t>Using wait-for graph</a:t>
            </a:r>
            <a:endParaRPr/>
          </a:p>
          <a:p>
            <a:pPr indent="-469900" lvl="0" marL="469900" rtl="0" algn="l">
              <a:spcBef>
                <a:spcPts val="700"/>
              </a:spcBef>
              <a:spcAft>
                <a:spcPts val="0"/>
              </a:spcAft>
              <a:buSzPts val="2000"/>
              <a:buFont typeface="Noto Sans Symbols"/>
              <a:buNone/>
            </a:pPr>
            <a:r>
              <a:t/>
            </a:r>
            <a:endParaRPr sz="2000"/>
          </a:p>
          <a:p>
            <a:pPr indent="-469900" lvl="0" marL="469900" rtl="0" algn="l">
              <a:spcBef>
                <a:spcPts val="400"/>
              </a:spcBef>
              <a:spcAft>
                <a:spcPts val="0"/>
              </a:spcAft>
              <a:buSzPts val="2000"/>
              <a:buFont typeface="Noto Sans Symbols"/>
              <a:buNone/>
            </a:pPr>
            <a:r>
              <a:rPr lang="en-US" sz="2000">
                <a:solidFill>
                  <a:srgbClr val="C00000"/>
                </a:solidFill>
              </a:rPr>
              <a:t>3.</a:t>
            </a:r>
            <a:r>
              <a:rPr lang="en-US" sz="2000"/>
              <a:t> Timeouts</a:t>
            </a:r>
            <a:endParaRPr sz="2000">
              <a:solidFill>
                <a:srgbClr val="C00000"/>
              </a:solidFill>
            </a:endParaRPr>
          </a:p>
        </p:txBody>
      </p:sp>
      <p:sp>
        <p:nvSpPr>
          <p:cNvPr descr="Date Placeholder 3" id="3992" name="Google Shape;3992;p298"/>
          <p:cNvSpPr txBox="1"/>
          <p:nvPr/>
        </p:nvSpPr>
        <p:spPr>
          <a:xfrm>
            <a:off x="654050" y="6402388"/>
            <a:ext cx="18907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5" id="3993" name="Google Shape;3993;p298"/>
          <p:cNvSpPr txBox="1"/>
          <p:nvPr/>
        </p:nvSpPr>
        <p:spPr>
          <a:xfrm>
            <a:off x="8175625" y="6400800"/>
            <a:ext cx="357188"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7" name="Shape 3997"/>
        <p:cNvGrpSpPr/>
        <p:nvPr/>
      </p:nvGrpSpPr>
      <p:grpSpPr>
        <a:xfrm>
          <a:off x="0" y="0"/>
          <a:ext cx="0" cy="0"/>
          <a:chOff x="0" y="0"/>
          <a:chExt cx="0" cy="0"/>
        </a:xfrm>
      </p:grpSpPr>
      <p:sp>
        <p:nvSpPr>
          <p:cNvPr descr="Rectangle 2" id="3998" name="Google Shape;3998;p299"/>
          <p:cNvSpPr txBox="1"/>
          <p:nvPr>
            <p:ph type="title"/>
          </p:nvPr>
        </p:nvSpPr>
        <p:spPr>
          <a:xfrm>
            <a:off x="685800" y="990600"/>
            <a:ext cx="7772400" cy="1371600"/>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None/>
            </a:pPr>
            <a:r>
              <a:rPr lang="en-US" sz="2800"/>
              <a:t>Thanks for Listening</a:t>
            </a:r>
            <a:endParaRPr/>
          </a:p>
        </p:txBody>
      </p:sp>
      <p:sp>
        <p:nvSpPr>
          <p:cNvPr descr="Rectangle 3" id="3999" name="Google Shape;3999;p299"/>
          <p:cNvSpPr txBox="1"/>
          <p:nvPr>
            <p:ph idx="1" type="body"/>
          </p:nvPr>
        </p:nvSpPr>
        <p:spPr>
          <a:xfrm>
            <a:off x="457200" y="3200400"/>
            <a:ext cx="8382000" cy="1600200"/>
          </a:xfrm>
          <a:prstGeom prst="rect">
            <a:avLst/>
          </a:prstGeom>
          <a:noFill/>
          <a:ln>
            <a:noFill/>
          </a:ln>
        </p:spPr>
        <p:txBody>
          <a:bodyPr anchorCtr="0" anchor="t" bIns="45700" lIns="45700" spcFirstLastPara="1" rIns="45700" wrap="square" tIns="45700">
            <a:noAutofit/>
          </a:bodyPr>
          <a:lstStyle/>
          <a:p>
            <a:pPr indent="0" lvl="0" marL="0" rtl="0" algn="ctr">
              <a:lnSpc>
                <a:spcPct val="80000"/>
              </a:lnSpc>
              <a:spcBef>
                <a:spcPts val="0"/>
              </a:spcBef>
              <a:spcAft>
                <a:spcPts val="0"/>
              </a:spcAft>
              <a:buClr>
                <a:srgbClr val="003366"/>
              </a:buClr>
              <a:buSzPts val="2000"/>
              <a:buFont typeface="Verdana"/>
              <a:buNone/>
            </a:pPr>
            <a:r>
              <a:t/>
            </a:r>
            <a:endParaRPr sz="2000"/>
          </a:p>
        </p:txBody>
      </p:sp>
      <p:sp>
        <p:nvSpPr>
          <p:cNvPr descr="Date Placeholder 1" id="4000" name="Google Shape;4000;p299"/>
          <p:cNvSpPr txBox="1"/>
          <p:nvPr/>
        </p:nvSpPr>
        <p:spPr>
          <a:xfrm>
            <a:off x="730250" y="6248400"/>
            <a:ext cx="1814513" cy="263525"/>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US" sz="1200">
                <a:solidFill>
                  <a:srgbClr val="003366"/>
                </a:solidFill>
                <a:latin typeface="Arial"/>
                <a:ea typeface="Arial"/>
                <a:cs typeface="Arial"/>
                <a:sym typeface="Arial"/>
              </a:rPr>
              <a:t>13 January 2023</a:t>
            </a:r>
            <a:endParaRPr/>
          </a:p>
        </p:txBody>
      </p:sp>
      <p:sp>
        <p:nvSpPr>
          <p:cNvPr descr="Slide Number Placeholder 2" id="4001" name="Google Shape;4001;p299"/>
          <p:cNvSpPr txBox="1"/>
          <p:nvPr/>
        </p:nvSpPr>
        <p:spPr>
          <a:xfrm>
            <a:off x="8099425" y="6248400"/>
            <a:ext cx="358775" cy="263525"/>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fld id="{00000000-1234-1234-1234-123412341234}" type="slidenum">
              <a:rPr lang="en-US" sz="1200">
                <a:solidFill>
                  <a:srgbClr val="003366"/>
                </a:solidFill>
                <a:latin typeface="Arial"/>
                <a:ea typeface="Arial"/>
                <a:cs typeface="Arial"/>
                <a:sym typeface="Arial"/>
              </a:rPr>
              <a:t>‹#›</a:t>
            </a:fld>
            <a:endParaRPr sz="1200">
              <a:solidFill>
                <a:srgbClr val="00336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
      <a:dk1>
        <a:srgbClr val="000000"/>
      </a:dk1>
      <a:lt1>
        <a:srgbClr val="FFFFFF"/>
      </a:lt1>
      <a:dk2>
        <a:srgbClr val="A7A7A7"/>
      </a:dk2>
      <a:lt2>
        <a:srgbClr val="535353"/>
      </a:lt2>
      <a:accent1>
        <a:srgbClr val="A3B2C1"/>
      </a:accent1>
      <a:accent2>
        <a:srgbClr val="CC0000"/>
      </a:accent2>
      <a:accent3>
        <a:srgbClr val="FFFFFF"/>
      </a:accent3>
      <a:accent4>
        <a:srgbClr val="000000"/>
      </a:accent4>
      <a:accent5>
        <a:srgbClr val="CED5DD"/>
      </a:accent5>
      <a:accent6>
        <a:srgbClr val="B900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A7A7A7"/>
      </a:dk2>
      <a:lt2>
        <a:srgbClr val="535353"/>
      </a:lt2>
      <a:accent1>
        <a:srgbClr val="A3B2C1"/>
      </a:accent1>
      <a:accent2>
        <a:srgbClr val="CC0000"/>
      </a:accent2>
      <a:accent3>
        <a:srgbClr val="FFFFFF"/>
      </a:accent3>
      <a:accent4>
        <a:srgbClr val="000000"/>
      </a:accent4>
      <a:accent5>
        <a:srgbClr val="CED5DD"/>
      </a:accent5>
      <a:accent6>
        <a:srgbClr val="B900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eme1 - Title Slide">
  <a:themeElements>
    <a:clrScheme name="">
      <a:dk1>
        <a:srgbClr val="000000"/>
      </a:dk1>
      <a:lt1>
        <a:srgbClr val="FFFFFF"/>
      </a:lt1>
      <a:dk2>
        <a:srgbClr val="A7A7A7"/>
      </a:dk2>
      <a:lt2>
        <a:srgbClr val="535353"/>
      </a:lt2>
      <a:accent1>
        <a:srgbClr val="A3B2C1"/>
      </a:accent1>
      <a:accent2>
        <a:srgbClr val="CC0000"/>
      </a:accent2>
      <a:accent3>
        <a:srgbClr val="FFFFFF"/>
      </a:accent3>
      <a:accent4>
        <a:srgbClr val="000000"/>
      </a:accent4>
      <a:accent5>
        <a:srgbClr val="CED5DD"/>
      </a:accent5>
      <a:accent6>
        <a:srgbClr val="B900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prart</dc:creator>
</cp:coreProperties>
</file>